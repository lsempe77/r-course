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comments/modernComment_228_D8B0562E.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72"/>
  </p:notesMasterIdLst>
  <p:sldIdLst>
    <p:sldId id="257" r:id="rId5"/>
    <p:sldId id="550" r:id="rId6"/>
    <p:sldId id="534" r:id="rId7"/>
    <p:sldId id="587" r:id="rId8"/>
    <p:sldId id="553" r:id="rId9"/>
    <p:sldId id="569" r:id="rId10"/>
    <p:sldId id="536" r:id="rId11"/>
    <p:sldId id="541" r:id="rId12"/>
    <p:sldId id="588" r:id="rId13"/>
    <p:sldId id="535" r:id="rId14"/>
    <p:sldId id="576" r:id="rId15"/>
    <p:sldId id="609" r:id="rId16"/>
    <p:sldId id="589" r:id="rId17"/>
    <p:sldId id="623" r:id="rId18"/>
    <p:sldId id="551" r:id="rId20"/>
    <p:sldId id="612" r:id="rId21"/>
    <p:sldId id="552" r:id="rId22"/>
    <p:sldId id="592" r:id="rId23"/>
    <p:sldId id="624" r:id="rId101"/>
    <p:sldId id="611" r:id="rId24"/>
    <p:sldId id="615" r:id="rId25"/>
    <p:sldId id="554" r:id="rId26"/>
    <p:sldId id="595" r:id="rId27"/>
    <p:sldId id="625" r:id="rId102"/>
    <p:sldId id="578" r:id="rId28"/>
    <p:sldId id="575" r:id="rId29"/>
    <p:sldId id="616" r:id="rId30"/>
    <p:sldId id="555" r:id="rId31"/>
    <p:sldId id="598" r:id="rId32"/>
    <p:sldId id="613" r:id="rId33"/>
    <p:sldId id="577" r:id="rId34"/>
    <p:sldId id="597" r:id="rId35"/>
    <p:sldId id="626" r:id="rId103"/>
    <p:sldId id="582" r:id="rId47"/>
    <p:sldId id="621" r:id="rId48"/>
    <p:sldId id="562" r:id="rId49"/>
    <p:sldId id="565" r:id="rId50"/>
    <p:sldId id="566" r:id="rId51"/>
    <p:sldId id="561" r:id="rId52"/>
    <p:sldId id="603" r:id="rId53"/>
    <p:sldId id="563" r:id="rId54"/>
    <p:sldId id="564" r:id="rId55"/>
    <p:sldId id="583" r:id="rId56"/>
    <p:sldId id="622" r:id="rId57"/>
    <p:sldId id="570" r:id="rId58"/>
    <p:sldId id="605" r:id="rId59"/>
    <p:sldId id="567" r:id="rId60"/>
    <p:sldId id="571" r:id="rId61"/>
    <p:sldId id="584" r:id="rId62"/>
    <p:sldId id="586" r:id="rId63"/>
    <p:sldId id="572" r:id="rId64"/>
    <p:sldId id="573" r:id="rId65"/>
    <p:sldId id="574" r:id="rId66"/>
    <p:sldId id="568" r:id="rId67"/>
    <p:sldId id="606" r:id="rId68"/>
    <p:sldId id="627" r:id="rId104"/>
    <p:sldId id="628" r:id="rId105"/>
    <p:sldId id="629" r:id="rId106"/>
    <p:sldId id="272" r:id="rId69"/>
    <p:sldId id="547" r:id="rId70"/>
    <p:sldId id="617" r:id="rId71"/>
    <p:sldId id="590" r:id="rId19"/>
    <p:sldId id="579" r:id="rId36"/>
    <p:sldId id="548" r:id="rId37"/>
    <p:sldId id="549" r:id="rId38"/>
    <p:sldId id="619" r:id="rId39"/>
    <p:sldId id="620" r:id="rId40"/>
    <p:sldId id="556" r:id="rId41"/>
    <p:sldId id="599" r:id="rId42"/>
    <p:sldId id="559" r:id="rId43"/>
    <p:sldId id="600" r:id="rId44"/>
    <p:sldId id="560" r:id="rId45"/>
    <p:sldId id="601" r:id="rId46"/>
  </p:sldIdLst>
  <p:sldSz cx="18288000" cy="10287000"/>
  <p:notesSz cx="6858000" cy="9144000"/>
  <p:custDataLst>
    <p:tags r:id="rId7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93" roundtripDataSignature="AMtx7mgy+VvGv0oMVmdps0yUnUWKUYcuV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018DC35-D68E-24AB-1CEA-F4DC93C8CF9F}" name="Heather  van Buskirk" initials="HvB" userId="S::hvanbuskirk@3ieimpact.org::de358519-0b02-4bc5-bd63-895903087ab3" providerId="AD"/>
  <p188:author id="{1992D9C8-F47E-00E9-86E8-B4F04F997781}" name="Fiona Kastel" initials="FK" userId="S::fkastel@3ieimpact.org::f18663d7-5f72-421d-9a4b-59122b35093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9CE4"/>
    <a:srgbClr val="1B8ED5"/>
    <a:srgbClr val="CA3B2C"/>
    <a:srgbClr val="EE3426"/>
    <a:srgbClr val="153A80"/>
    <a:srgbClr val="007AAD"/>
    <a:srgbClr val="FFFFFF"/>
    <a:srgbClr val="B4D2EE"/>
    <a:srgbClr val="008B8A"/>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ADCDB8-03B6-4706-9FBA-0202337ED8AA}" v="38" dt="2025-12-09T20:45:04.201"/>
  </p1510:revLst>
</p1510:revInfo>
</file>

<file path=ppt/tableStyles.xml><?xml version="1.0" encoding="utf-8"?>
<a:tblStyleLst xmlns:a="http://schemas.openxmlformats.org/drawingml/2006/main" def="{A28B968C-005C-4B5B-AE9B-3227E18335F5}">
  <a:tblStyle styleId="{A28B968C-005C-4B5B-AE9B-3227E18335F5}"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093" autoAdjust="0"/>
  </p:normalViewPr>
  <p:slideViewPr>
    <p:cSldViewPr snapToGrid="0">
      <p:cViewPr varScale="1">
        <p:scale>
          <a:sx n="48" d="100"/>
          <a:sy n="48" d="100"/>
        </p:scale>
        <p:origin x="82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slide" Target="slides/slide57.xml"/><Relationship Id="rId95"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100"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93" Type="http://customschemas.google.com/relationships/presentationmetadata" Target="metadata"/><Relationship Id="rId98"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gs" Target="tags/tag1.xml"/><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  <Relationship Id="rId101" Type="http://schemas.openxmlformats.org/officeDocument/2006/relationships/slide" Target="slides/slide68.xml"/>
  <Relationship Id="rId102" Type="http://schemas.openxmlformats.org/officeDocument/2006/relationships/slide" Target="slides/slide69.xml"/>
  <Relationship Id="rId103" Type="http://schemas.openxmlformats.org/officeDocument/2006/relationships/slide" Target="slides/slide70.xml"/>
  <Relationship Id="rId104" Type="http://schemas.openxmlformats.org/officeDocument/2006/relationships/slide" Target="slides/slide71.xml"/>
  <Relationship Id="rId105" Type="http://schemas.openxmlformats.org/officeDocument/2006/relationships/slide" Target="slides/slide72.xml"/>
  <Relationship Id="rId106" Type="http://schemas.openxmlformats.org/officeDocument/2006/relationships/slide" Target="slides/slide73.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ona Kastel" userId="f18663d7-5f72-421d-9a4b-59122b350935" providerId="ADAL" clId="{546751BD-AEF8-4B96-9222-741456E6BBE5}"/>
    <pc:docChg chg="undo redo custSel addSld delSld modSld sldOrd">
      <pc:chgData name="Fiona Kastel" userId="f18663d7-5f72-421d-9a4b-59122b350935" providerId="ADAL" clId="{546751BD-AEF8-4B96-9222-741456E6BBE5}" dt="2025-12-09T20:46:46.621" v="1634" actId="20577"/>
      <pc:docMkLst>
        <pc:docMk/>
      </pc:docMkLst>
      <pc:sldChg chg="modNotesTx">
        <pc:chgData name="Fiona Kastel" userId="f18663d7-5f72-421d-9a4b-59122b350935" providerId="ADAL" clId="{546751BD-AEF8-4B96-9222-741456E6BBE5}" dt="2025-12-09T20:46:46.621" v="1634" actId="20577"/>
        <pc:sldMkLst>
          <pc:docMk/>
          <pc:sldMk cId="2209205820" sldId="576"/>
        </pc:sldMkLst>
      </pc:sldChg>
      <pc:sldChg chg="addSp modSp add mod">
        <pc:chgData name="Fiona Kastel" userId="f18663d7-5f72-421d-9a4b-59122b350935" providerId="ADAL" clId="{546751BD-AEF8-4B96-9222-741456E6BBE5}" dt="2025-12-03T16:57:02.471" v="823" actId="1076"/>
        <pc:sldMkLst>
          <pc:docMk/>
          <pc:sldMk cId="1655596186" sldId="623"/>
        </pc:sldMkLst>
        <pc:spChg chg="mod">
          <ac:chgData name="Fiona Kastel" userId="f18663d7-5f72-421d-9a4b-59122b350935" providerId="ADAL" clId="{546751BD-AEF8-4B96-9222-741456E6BBE5}" dt="2025-12-03T16:53:24.828" v="803" actId="1076"/>
          <ac:spMkLst>
            <pc:docMk/>
            <pc:sldMk cId="1655596186" sldId="623"/>
            <ac:spMk id="2" creationId="{809E9515-638A-B7D5-A852-BC0288D7BBCD}"/>
          </ac:spMkLst>
        </pc:spChg>
        <pc:spChg chg="add mod">
          <ac:chgData name="Fiona Kastel" userId="f18663d7-5f72-421d-9a4b-59122b350935" providerId="ADAL" clId="{546751BD-AEF8-4B96-9222-741456E6BBE5}" dt="2025-12-03T16:55:20.008" v="818" actId="14100"/>
          <ac:spMkLst>
            <pc:docMk/>
            <pc:sldMk cId="1655596186" sldId="623"/>
            <ac:spMk id="4" creationId="{DA14B49D-FBE6-8848-33F7-4F0B8CECE78E}"/>
          </ac:spMkLst>
        </pc:spChg>
        <pc:spChg chg="add mod">
          <ac:chgData name="Fiona Kastel" userId="f18663d7-5f72-421d-9a4b-59122b350935" providerId="ADAL" clId="{546751BD-AEF8-4B96-9222-741456E6BBE5}" dt="2025-12-03T16:55:23.618" v="819" actId="1076"/>
          <ac:spMkLst>
            <pc:docMk/>
            <pc:sldMk cId="1655596186" sldId="623"/>
            <ac:spMk id="5" creationId="{92505981-47CC-406B-F0A2-A7837850D13C}"/>
          </ac:spMkLst>
        </pc:spChg>
        <pc:spChg chg="add mod">
          <ac:chgData name="Fiona Kastel" userId="f18663d7-5f72-421d-9a4b-59122b350935" providerId="ADAL" clId="{546751BD-AEF8-4B96-9222-741456E6BBE5}" dt="2025-12-03T16:55:35.844" v="821" actId="14100"/>
          <ac:spMkLst>
            <pc:docMk/>
            <pc:sldMk cId="1655596186" sldId="623"/>
            <ac:spMk id="7" creationId="{74D6AD59-D133-C057-4B6D-9943C255169B}"/>
          </ac:spMkLst>
        </pc:spChg>
        <pc:spChg chg="add mod">
          <ac:chgData name="Fiona Kastel" userId="f18663d7-5f72-421d-9a4b-59122b350935" providerId="ADAL" clId="{546751BD-AEF8-4B96-9222-741456E6BBE5}" dt="2025-12-03T16:55:32.701" v="820" actId="1076"/>
          <ac:spMkLst>
            <pc:docMk/>
            <pc:sldMk cId="1655596186" sldId="623"/>
            <ac:spMk id="8" creationId="{B4BC4F4E-CF71-EED1-D29B-E04E0A80A1C6}"/>
          </ac:spMkLst>
        </pc:spChg>
        <pc:spChg chg="add mod">
          <ac:chgData name="Fiona Kastel" userId="f18663d7-5f72-421d-9a4b-59122b350935" providerId="ADAL" clId="{546751BD-AEF8-4B96-9222-741456E6BBE5}" dt="2025-12-03T16:57:02.471" v="823" actId="1076"/>
          <ac:spMkLst>
            <pc:docMk/>
            <pc:sldMk cId="1655596186" sldId="623"/>
            <ac:spMk id="9" creationId="{9814C08C-D1B8-BC6A-991A-345C6EF64E15}"/>
          </ac:spMkLst>
        </pc:spChg>
        <pc:spChg chg="add mod">
          <ac:chgData name="Fiona Kastel" userId="f18663d7-5f72-421d-9a4b-59122b350935" providerId="ADAL" clId="{546751BD-AEF8-4B96-9222-741456E6BBE5}" dt="2025-12-03T16:52:39.465" v="799" actId="208"/>
          <ac:spMkLst>
            <pc:docMk/>
            <pc:sldMk cId="1655596186" sldId="623"/>
            <ac:spMk id="10" creationId="{F5D0B20F-5C3C-E4D1-BED1-E7C583A8D83A}"/>
          </ac:spMkLst>
        </pc:spChg>
      </pc:sldChg>
    </pc:docChg>
  </pc:docChgLst>
</pc:chgInfo>
</file>

<file path=ppt/comments/modernComment_228_D8B0562E.xml><?xml version="1.0" encoding="utf-8"?>
<p188:cmLst xmlns:a="http://schemas.openxmlformats.org/drawingml/2006/main" xmlns:r="http://schemas.openxmlformats.org/officeDocument/2006/relationships" xmlns:p188="http://schemas.microsoft.com/office/powerpoint/2018/8/main">
  <p188:cm id="{DAB3B2FF-2BED-4C4A-B816-B2708A99C410}" authorId="{1992D9C8-F47E-00E9-86E8-B4F04F997781}" created="2025-10-27T17:11:31.859">
    <ac:txMkLst xmlns:ac="http://schemas.microsoft.com/office/drawing/2013/main/command">
      <pc:docMk xmlns:pc="http://schemas.microsoft.com/office/powerpoint/2013/main/command"/>
      <pc:sldMk xmlns:pc="http://schemas.microsoft.com/office/powerpoint/2013/main/command" cId="3635435054" sldId="552"/>
      <ac:spMk id="3" creationId="{B442B776-5D9B-2D67-EAB7-073CCD98E9BE}"/>
      <ac:txMk cp="0" len="12">
        <ac:context len="13" hash="3867138431"/>
      </ac:txMk>
    </ac:txMkLst>
    <p188:pos x="4151086" y="432254"/>
    <p188:txBody>
      <a:bodyPr/>
      <a:lstStyle/>
      <a:p>
        <a:r>
          <a:rPr lang="en-US"/>
          <a:t>Update this and all other non-editable ones with new numbers</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A0E43F-6379-47D6-AC8D-24760D501BF9}"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D171CCED-40A0-43F3-8FC4-A422650EF8EF}">
      <dgm:prSet phldrT="[Text]" custT="1"/>
      <dgm:spPr/>
      <dgm:t>
        <a:bodyPr/>
        <a:lstStyle/>
        <a:p>
          <a:r>
            <a:rPr lang="en-US" sz="2400" dirty="0"/>
            <a:t>Emirate (N=9913)</a:t>
          </a:r>
        </a:p>
      </dgm:t>
    </dgm:pt>
    <dgm:pt modelId="{20154CDD-F0E3-4785-97D7-9056399F36D9}" type="parTrans" cxnId="{1C9612B3-BB62-4809-B312-D8D78583D0AC}">
      <dgm:prSet/>
      <dgm:spPr/>
      <dgm:t>
        <a:bodyPr/>
        <a:lstStyle/>
        <a:p>
          <a:endParaRPr lang="en-US"/>
        </a:p>
      </dgm:t>
    </dgm:pt>
    <dgm:pt modelId="{862C7CE7-5F77-4BD0-A738-4093FC449403}" type="sibTrans" cxnId="{1C9612B3-BB62-4809-B312-D8D78583D0AC}">
      <dgm:prSet/>
      <dgm:spPr/>
      <dgm:t>
        <a:bodyPr/>
        <a:lstStyle/>
        <a:p>
          <a:endParaRPr lang="en-US"/>
        </a:p>
      </dgm:t>
    </dgm:pt>
    <dgm:pt modelId="{CC122682-FA74-48C2-A6D9-83DAFB5FD9EF}" type="asst">
      <dgm:prSet phldrT="[Text]" custT="1"/>
      <dgm:spPr>
        <a:solidFill>
          <a:schemeClr val="bg2"/>
        </a:solidFill>
        <a:ln>
          <a:solidFill>
            <a:schemeClr val="bg2"/>
          </a:solidFill>
        </a:ln>
      </dgm:spPr>
      <dgm:t>
        <a:bodyPr/>
        <a:lstStyle/>
        <a:p>
          <a:r>
            <a:rPr lang="en-US" sz="2200" dirty="0"/>
            <a:t>Treatment Neighborhoods (N=4959)</a:t>
          </a:r>
        </a:p>
      </dgm:t>
    </dgm:pt>
    <dgm:pt modelId="{03F43716-9303-45D3-9C63-1E6C179CA51C}" type="parTrans" cxnId="{2CF34D45-8521-4B41-B06F-C2FA2EA27810}">
      <dgm:prSet/>
      <dgm:spPr/>
      <dgm:t>
        <a:bodyPr/>
        <a:lstStyle/>
        <a:p>
          <a:endParaRPr lang="en-US"/>
        </a:p>
      </dgm:t>
    </dgm:pt>
    <dgm:pt modelId="{232776A4-2EB7-4B56-BADC-35A1E7D20CE0}" type="sibTrans" cxnId="{2CF34D45-8521-4B41-B06F-C2FA2EA27810}">
      <dgm:prSet/>
      <dgm:spPr/>
      <dgm:t>
        <a:bodyPr/>
        <a:lstStyle/>
        <a:p>
          <a:endParaRPr lang="en-US"/>
        </a:p>
      </dgm:t>
    </dgm:pt>
    <dgm:pt modelId="{33B17D5A-FAD0-40FF-BFD5-B36826E4BDD8}">
      <dgm:prSet phldrT="[Text]" custT="1"/>
      <dgm:spPr/>
      <dgm:t>
        <a:bodyPr/>
        <a:lstStyle/>
        <a:p>
          <a:r>
            <a:rPr lang="en-US" sz="2200" dirty="0"/>
            <a:t>Control Neighborhoods (N=4954)</a:t>
          </a:r>
        </a:p>
      </dgm:t>
    </dgm:pt>
    <dgm:pt modelId="{1AA1F213-D704-4DFF-A93A-49728750454F}" type="parTrans" cxnId="{CCFC6E61-CA24-4134-BA69-AF0167F44F3E}">
      <dgm:prSet/>
      <dgm:spPr/>
      <dgm:t>
        <a:bodyPr/>
        <a:lstStyle/>
        <a:p>
          <a:endParaRPr lang="en-US"/>
        </a:p>
      </dgm:t>
    </dgm:pt>
    <dgm:pt modelId="{EFE12002-DAD3-4AC9-9DA4-136D8B8D8BEF}" type="sibTrans" cxnId="{CCFC6E61-CA24-4134-BA69-AF0167F44F3E}">
      <dgm:prSet/>
      <dgm:spPr/>
      <dgm:t>
        <a:bodyPr/>
        <a:lstStyle/>
        <a:p>
          <a:endParaRPr lang="en-US"/>
        </a:p>
      </dgm:t>
    </dgm:pt>
    <dgm:pt modelId="{C7D6D10B-388E-44C1-8527-496478FC61B3}">
      <dgm:prSet custT="1"/>
      <dgm:spPr>
        <a:solidFill>
          <a:schemeClr val="bg2"/>
        </a:solidFill>
        <a:ln>
          <a:solidFill>
            <a:schemeClr val="bg2"/>
          </a:solidFill>
        </a:ln>
      </dgm:spPr>
      <dgm:t>
        <a:bodyPr/>
        <a:lstStyle/>
        <a:p>
          <a:r>
            <a:rPr lang="en-US" sz="2400" dirty="0"/>
            <a:t>Eligible Businesses (N=2964)</a:t>
          </a:r>
        </a:p>
      </dgm:t>
    </dgm:pt>
    <dgm:pt modelId="{6A368535-C534-4A0C-95DA-68E65311CCAC}" type="parTrans" cxnId="{E747D580-4EEF-435A-8F2C-D1657A577BFC}">
      <dgm:prSet/>
      <dgm:spPr/>
      <dgm:t>
        <a:bodyPr/>
        <a:lstStyle/>
        <a:p>
          <a:endParaRPr lang="en-US"/>
        </a:p>
      </dgm:t>
    </dgm:pt>
    <dgm:pt modelId="{B010A0E4-D91A-4E5C-A40F-0CBA78CD2BFF}" type="sibTrans" cxnId="{E747D580-4EEF-435A-8F2C-D1657A577BFC}">
      <dgm:prSet/>
      <dgm:spPr/>
      <dgm:t>
        <a:bodyPr/>
        <a:lstStyle/>
        <a:p>
          <a:endParaRPr lang="en-US"/>
        </a:p>
      </dgm:t>
    </dgm:pt>
    <dgm:pt modelId="{B2220139-725E-4197-AC07-00F783AE2C9E}">
      <dgm:prSet custT="1"/>
      <dgm:spPr/>
      <dgm:t>
        <a:bodyPr/>
        <a:lstStyle/>
        <a:p>
          <a:r>
            <a:rPr lang="en-US" sz="2400" dirty="0"/>
            <a:t>Ineligible Businesses (N=1995)</a:t>
          </a:r>
        </a:p>
      </dgm:t>
    </dgm:pt>
    <dgm:pt modelId="{6AE4250F-400F-4F78-854D-182CB08B0C0F}" type="parTrans" cxnId="{461A846F-7341-4906-BC25-C8C7203D8289}">
      <dgm:prSet/>
      <dgm:spPr/>
      <dgm:t>
        <a:bodyPr/>
        <a:lstStyle/>
        <a:p>
          <a:endParaRPr lang="en-US"/>
        </a:p>
      </dgm:t>
    </dgm:pt>
    <dgm:pt modelId="{96DBC7E4-0F61-41B3-A087-15F7B6A44B34}" type="sibTrans" cxnId="{461A846F-7341-4906-BC25-C8C7203D8289}">
      <dgm:prSet/>
      <dgm:spPr/>
      <dgm:t>
        <a:bodyPr/>
        <a:lstStyle/>
        <a:p>
          <a:endParaRPr lang="en-US"/>
        </a:p>
      </dgm:t>
    </dgm:pt>
    <dgm:pt modelId="{85748094-DD27-4F6B-A972-120C434C8B7B}">
      <dgm:prSet custT="1"/>
      <dgm:spPr/>
      <dgm:t>
        <a:bodyPr/>
        <a:lstStyle/>
        <a:p>
          <a:r>
            <a:rPr lang="en-US" sz="2400" dirty="0"/>
            <a:t>Eligible Businesses (N=2664)</a:t>
          </a:r>
        </a:p>
      </dgm:t>
    </dgm:pt>
    <dgm:pt modelId="{A3A503A6-7B88-4296-AC0C-EE70F516F5EC}" type="parTrans" cxnId="{4CA5B356-98FB-4912-9F78-B29F88E6D8A2}">
      <dgm:prSet/>
      <dgm:spPr/>
      <dgm:t>
        <a:bodyPr/>
        <a:lstStyle/>
        <a:p>
          <a:endParaRPr lang="en-US"/>
        </a:p>
      </dgm:t>
    </dgm:pt>
    <dgm:pt modelId="{56DFB899-63B6-4455-B182-F460EFD4425A}" type="sibTrans" cxnId="{4CA5B356-98FB-4912-9F78-B29F88E6D8A2}">
      <dgm:prSet/>
      <dgm:spPr/>
      <dgm:t>
        <a:bodyPr/>
        <a:lstStyle/>
        <a:p>
          <a:endParaRPr lang="en-US"/>
        </a:p>
      </dgm:t>
    </dgm:pt>
    <dgm:pt modelId="{B230BC40-4317-44D8-9081-1CE1C2DE0EE0}">
      <dgm:prSet custT="1"/>
      <dgm:spPr/>
      <dgm:t>
        <a:bodyPr/>
        <a:lstStyle/>
        <a:p>
          <a:r>
            <a:rPr lang="en-US" sz="2400" dirty="0"/>
            <a:t>Ineligible Businesses (N=2290)</a:t>
          </a:r>
        </a:p>
      </dgm:t>
    </dgm:pt>
    <dgm:pt modelId="{C49AFE4C-6FDC-4BE7-8CAA-CF93A0079E69}" type="parTrans" cxnId="{1779CA06-F488-457B-BFB2-E22AD9E0787C}">
      <dgm:prSet/>
      <dgm:spPr/>
      <dgm:t>
        <a:bodyPr/>
        <a:lstStyle/>
        <a:p>
          <a:endParaRPr lang="en-US"/>
        </a:p>
      </dgm:t>
    </dgm:pt>
    <dgm:pt modelId="{14610360-1FF1-4A09-B800-066A601517CF}" type="sibTrans" cxnId="{1779CA06-F488-457B-BFB2-E22AD9E0787C}">
      <dgm:prSet/>
      <dgm:spPr/>
      <dgm:t>
        <a:bodyPr/>
        <a:lstStyle/>
        <a:p>
          <a:endParaRPr lang="en-US"/>
        </a:p>
      </dgm:t>
    </dgm:pt>
    <dgm:pt modelId="{7AFF4287-4CE7-458E-92C4-E5344735C68E}" type="pres">
      <dgm:prSet presAssocID="{C2A0E43F-6379-47D6-AC8D-24760D501BF9}" presName="mainComposite" presStyleCnt="0">
        <dgm:presLayoutVars>
          <dgm:chPref val="1"/>
          <dgm:dir/>
          <dgm:animOne val="branch"/>
          <dgm:animLvl val="lvl"/>
          <dgm:resizeHandles val="exact"/>
        </dgm:presLayoutVars>
      </dgm:prSet>
      <dgm:spPr/>
    </dgm:pt>
    <dgm:pt modelId="{60188773-52FD-4BDA-AF9D-EEF62FD90E44}" type="pres">
      <dgm:prSet presAssocID="{C2A0E43F-6379-47D6-AC8D-24760D501BF9}" presName="hierFlow" presStyleCnt="0"/>
      <dgm:spPr/>
    </dgm:pt>
    <dgm:pt modelId="{7159C26E-2214-48D5-B8FD-5292431CD583}" type="pres">
      <dgm:prSet presAssocID="{C2A0E43F-6379-47D6-AC8D-24760D501BF9}" presName="hierChild1" presStyleCnt="0">
        <dgm:presLayoutVars>
          <dgm:chPref val="1"/>
          <dgm:animOne val="branch"/>
          <dgm:animLvl val="lvl"/>
        </dgm:presLayoutVars>
      </dgm:prSet>
      <dgm:spPr/>
    </dgm:pt>
    <dgm:pt modelId="{D6506002-948F-4487-AA5C-3CE3C750F6E1}" type="pres">
      <dgm:prSet presAssocID="{D171CCED-40A0-43F3-8FC4-A422650EF8EF}" presName="Name14" presStyleCnt="0"/>
      <dgm:spPr/>
    </dgm:pt>
    <dgm:pt modelId="{BD524016-C6A6-4424-86B8-6559EB145977}" type="pres">
      <dgm:prSet presAssocID="{D171CCED-40A0-43F3-8FC4-A422650EF8EF}" presName="level1Shape" presStyleLbl="node0" presStyleIdx="0" presStyleCnt="1" custScaleX="77453" custScaleY="71114" custLinFactNeighborX="-7310" custLinFactNeighborY="-64404">
        <dgm:presLayoutVars>
          <dgm:chPref val="3"/>
        </dgm:presLayoutVars>
      </dgm:prSet>
      <dgm:spPr/>
    </dgm:pt>
    <dgm:pt modelId="{1E6EC578-54E3-45AF-9F4E-77D8C31230B0}" type="pres">
      <dgm:prSet presAssocID="{D171CCED-40A0-43F3-8FC4-A422650EF8EF}" presName="hierChild2" presStyleCnt="0"/>
      <dgm:spPr/>
    </dgm:pt>
    <dgm:pt modelId="{C2C2F5EF-FC71-4CD7-8F6C-72EBBF91CC78}" type="pres">
      <dgm:prSet presAssocID="{03F43716-9303-45D3-9C63-1E6C179CA51C}" presName="Name19" presStyleLbl="parChTrans1D2" presStyleIdx="0" presStyleCnt="2"/>
      <dgm:spPr/>
    </dgm:pt>
    <dgm:pt modelId="{E27CED65-A962-471B-8942-C36532B059CD}" type="pres">
      <dgm:prSet presAssocID="{CC122682-FA74-48C2-A6D9-83DAFB5FD9EF}" presName="Name21" presStyleCnt="0"/>
      <dgm:spPr/>
    </dgm:pt>
    <dgm:pt modelId="{F5E578BB-DD6A-40FD-942E-F943BCF601F7}" type="pres">
      <dgm:prSet presAssocID="{CC122682-FA74-48C2-A6D9-83DAFB5FD9EF}" presName="level2Shape" presStyleLbl="asst1" presStyleIdx="0" presStyleCnt="1" custScaleX="86389" custScaleY="78259" custLinFactNeighborX="3401" custLinFactNeighborY="-45634"/>
      <dgm:spPr/>
    </dgm:pt>
    <dgm:pt modelId="{3AFF9127-2F42-47F0-A909-9D2F3B8174F0}" type="pres">
      <dgm:prSet presAssocID="{CC122682-FA74-48C2-A6D9-83DAFB5FD9EF}" presName="hierChild3" presStyleCnt="0"/>
      <dgm:spPr/>
    </dgm:pt>
    <dgm:pt modelId="{B6BFF0DD-C082-47B0-9928-6248268AD1D1}" type="pres">
      <dgm:prSet presAssocID="{6A368535-C534-4A0C-95DA-68E65311CCAC}" presName="Name19" presStyleLbl="parChTrans1D3" presStyleIdx="0" presStyleCnt="4"/>
      <dgm:spPr/>
    </dgm:pt>
    <dgm:pt modelId="{1FECEF84-5D45-4F6C-A35D-529985D817B3}" type="pres">
      <dgm:prSet presAssocID="{C7D6D10B-388E-44C1-8527-496478FC61B3}" presName="Name21" presStyleCnt="0"/>
      <dgm:spPr/>
    </dgm:pt>
    <dgm:pt modelId="{EE78876C-8709-4D90-AE72-C0ABF4E11A2F}" type="pres">
      <dgm:prSet presAssocID="{C7D6D10B-388E-44C1-8527-496478FC61B3}" presName="level2Shape" presStyleLbl="node3" presStyleIdx="0" presStyleCnt="4" custScaleX="80080" custScaleY="72519" custLinFactNeighborX="12945" custLinFactNeighborY="-40248"/>
      <dgm:spPr/>
    </dgm:pt>
    <dgm:pt modelId="{21A03A5C-DC4C-4043-A9CA-67414DDAC168}" type="pres">
      <dgm:prSet presAssocID="{C7D6D10B-388E-44C1-8527-496478FC61B3}" presName="hierChild3" presStyleCnt="0"/>
      <dgm:spPr/>
    </dgm:pt>
    <dgm:pt modelId="{83F8B536-39A5-4F07-9F3A-A616B78331C9}" type="pres">
      <dgm:prSet presAssocID="{6AE4250F-400F-4F78-854D-182CB08B0C0F}" presName="Name19" presStyleLbl="parChTrans1D3" presStyleIdx="1" presStyleCnt="4"/>
      <dgm:spPr/>
    </dgm:pt>
    <dgm:pt modelId="{8870C0CA-FAE9-4176-802B-8F8E04070794}" type="pres">
      <dgm:prSet presAssocID="{B2220139-725E-4197-AC07-00F783AE2C9E}" presName="Name21" presStyleCnt="0"/>
      <dgm:spPr/>
    </dgm:pt>
    <dgm:pt modelId="{32911C63-2941-4CC0-AAF3-3ADF0A59B60B}" type="pres">
      <dgm:prSet presAssocID="{B2220139-725E-4197-AC07-00F783AE2C9E}" presName="level2Shape" presStyleLbl="node3" presStyleIdx="1" presStyleCnt="4" custScaleX="80080" custScaleY="72519" custLinFactNeighborX="-9163" custLinFactNeighborY="-40089"/>
      <dgm:spPr/>
    </dgm:pt>
    <dgm:pt modelId="{8DC0066E-46E0-4C33-BE29-0DB0A5BFB22C}" type="pres">
      <dgm:prSet presAssocID="{B2220139-725E-4197-AC07-00F783AE2C9E}" presName="hierChild3" presStyleCnt="0"/>
      <dgm:spPr/>
    </dgm:pt>
    <dgm:pt modelId="{3B1D9D37-5190-4685-812C-9AC25E82F5D8}" type="pres">
      <dgm:prSet presAssocID="{1AA1F213-D704-4DFF-A93A-49728750454F}" presName="Name19" presStyleLbl="parChTrans1D2" presStyleIdx="1" presStyleCnt="2"/>
      <dgm:spPr/>
    </dgm:pt>
    <dgm:pt modelId="{9D23FAF4-3B44-4F01-94AA-FF47FC3B1684}" type="pres">
      <dgm:prSet presAssocID="{33B17D5A-FAD0-40FF-BFD5-B36826E4BDD8}" presName="Name21" presStyleCnt="0"/>
      <dgm:spPr/>
    </dgm:pt>
    <dgm:pt modelId="{E3500144-ADF8-43D6-8860-55D684BB5628}" type="pres">
      <dgm:prSet presAssocID="{33B17D5A-FAD0-40FF-BFD5-B36826E4BDD8}" presName="level2Shape" presStyleLbl="node2" presStyleIdx="0" presStyleCnt="1" custScaleX="86389" custScaleY="78259" custLinFactNeighborX="-17687" custLinFactNeighborY="-45538"/>
      <dgm:spPr/>
    </dgm:pt>
    <dgm:pt modelId="{318D246B-6F25-414B-9FCF-84469C36D7D6}" type="pres">
      <dgm:prSet presAssocID="{33B17D5A-FAD0-40FF-BFD5-B36826E4BDD8}" presName="hierChild3" presStyleCnt="0"/>
      <dgm:spPr/>
    </dgm:pt>
    <dgm:pt modelId="{DCF1C2AF-C506-4F76-83FC-2FA1C8DAE862}" type="pres">
      <dgm:prSet presAssocID="{A3A503A6-7B88-4296-AC0C-EE70F516F5EC}" presName="Name19" presStyleLbl="parChTrans1D3" presStyleIdx="2" presStyleCnt="4"/>
      <dgm:spPr/>
    </dgm:pt>
    <dgm:pt modelId="{83B822BC-7CB5-41B2-A11B-F9BE98AFB040}" type="pres">
      <dgm:prSet presAssocID="{85748094-DD27-4F6B-A972-120C434C8B7B}" presName="Name21" presStyleCnt="0"/>
      <dgm:spPr/>
    </dgm:pt>
    <dgm:pt modelId="{D101BA2D-3963-4017-9498-AD1F623A53DE}" type="pres">
      <dgm:prSet presAssocID="{85748094-DD27-4F6B-A972-120C434C8B7B}" presName="level2Shape" presStyleLbl="node3" presStyleIdx="2" presStyleCnt="4" custScaleX="80080" custScaleY="72519" custLinFactNeighborX="-4302" custLinFactNeighborY="-42345"/>
      <dgm:spPr/>
    </dgm:pt>
    <dgm:pt modelId="{1C547AA2-212B-4C66-B740-4F307EC91A04}" type="pres">
      <dgm:prSet presAssocID="{85748094-DD27-4F6B-A972-120C434C8B7B}" presName="hierChild3" presStyleCnt="0"/>
      <dgm:spPr/>
    </dgm:pt>
    <dgm:pt modelId="{0B2901EB-C3A0-4C1B-93B5-2D4D51508A9F}" type="pres">
      <dgm:prSet presAssocID="{C49AFE4C-6FDC-4BE7-8CAA-CF93A0079E69}" presName="Name19" presStyleLbl="parChTrans1D3" presStyleIdx="3" presStyleCnt="4"/>
      <dgm:spPr/>
    </dgm:pt>
    <dgm:pt modelId="{D9BA8F8B-2A7C-416C-AA09-63B74C3157E2}" type="pres">
      <dgm:prSet presAssocID="{B230BC40-4317-44D8-9081-1CE1C2DE0EE0}" presName="Name21" presStyleCnt="0"/>
      <dgm:spPr/>
    </dgm:pt>
    <dgm:pt modelId="{2B781F50-B329-4AD5-84C9-22B344069048}" type="pres">
      <dgm:prSet presAssocID="{B230BC40-4317-44D8-9081-1CE1C2DE0EE0}" presName="level2Shape" presStyleLbl="node3" presStyleIdx="3" presStyleCnt="4" custScaleX="80080" custScaleY="72519" custLinFactNeighborX="-25898" custLinFactNeighborY="-42351"/>
      <dgm:spPr/>
    </dgm:pt>
    <dgm:pt modelId="{8FFBAA39-6BDF-4697-ABE0-444058DB174B}" type="pres">
      <dgm:prSet presAssocID="{B230BC40-4317-44D8-9081-1CE1C2DE0EE0}" presName="hierChild3" presStyleCnt="0"/>
      <dgm:spPr/>
    </dgm:pt>
    <dgm:pt modelId="{3A4F3CE7-95BE-4D87-817D-D5779BA390F3}" type="pres">
      <dgm:prSet presAssocID="{C2A0E43F-6379-47D6-AC8D-24760D501BF9}" presName="bgShapesFlow" presStyleCnt="0"/>
      <dgm:spPr/>
    </dgm:pt>
  </dgm:ptLst>
  <dgm:cxnLst>
    <dgm:cxn modelId="{1779CA06-F488-457B-BFB2-E22AD9E0787C}" srcId="{33B17D5A-FAD0-40FF-BFD5-B36826E4BDD8}" destId="{B230BC40-4317-44D8-9081-1CE1C2DE0EE0}" srcOrd="1" destOrd="0" parTransId="{C49AFE4C-6FDC-4BE7-8CAA-CF93A0079E69}" sibTransId="{14610360-1FF1-4A09-B800-066A601517CF}"/>
    <dgm:cxn modelId="{62A96F07-C9F0-4C51-80E0-51D25E4B95D5}" type="presOf" srcId="{6AE4250F-400F-4F78-854D-182CB08B0C0F}" destId="{83F8B536-39A5-4F07-9F3A-A616B78331C9}" srcOrd="0" destOrd="0" presId="urn:microsoft.com/office/officeart/2005/8/layout/hierarchy6"/>
    <dgm:cxn modelId="{2889380C-01F3-4C3F-ACE7-C2407BEAC983}" type="presOf" srcId="{1AA1F213-D704-4DFF-A93A-49728750454F}" destId="{3B1D9D37-5190-4685-812C-9AC25E82F5D8}" srcOrd="0" destOrd="0" presId="urn:microsoft.com/office/officeart/2005/8/layout/hierarchy6"/>
    <dgm:cxn modelId="{8150A10D-4EFE-4745-9DE0-69A2C3C584BD}" type="presOf" srcId="{33B17D5A-FAD0-40FF-BFD5-B36826E4BDD8}" destId="{E3500144-ADF8-43D6-8860-55D684BB5628}" srcOrd="0" destOrd="0" presId="urn:microsoft.com/office/officeart/2005/8/layout/hierarchy6"/>
    <dgm:cxn modelId="{2DC44613-84BC-4BFC-8C97-C1450CBBE640}" type="presOf" srcId="{6A368535-C534-4A0C-95DA-68E65311CCAC}" destId="{B6BFF0DD-C082-47B0-9928-6248268AD1D1}" srcOrd="0" destOrd="0" presId="urn:microsoft.com/office/officeart/2005/8/layout/hierarchy6"/>
    <dgm:cxn modelId="{CCFC6E61-CA24-4134-BA69-AF0167F44F3E}" srcId="{D171CCED-40A0-43F3-8FC4-A422650EF8EF}" destId="{33B17D5A-FAD0-40FF-BFD5-B36826E4BDD8}" srcOrd="1" destOrd="0" parTransId="{1AA1F213-D704-4DFF-A93A-49728750454F}" sibTransId="{EFE12002-DAD3-4AC9-9DA4-136D8B8D8BEF}"/>
    <dgm:cxn modelId="{2CF34D45-8521-4B41-B06F-C2FA2EA27810}" srcId="{D171CCED-40A0-43F3-8FC4-A422650EF8EF}" destId="{CC122682-FA74-48C2-A6D9-83DAFB5FD9EF}" srcOrd="0" destOrd="0" parTransId="{03F43716-9303-45D3-9C63-1E6C179CA51C}" sibTransId="{232776A4-2EB7-4B56-BADC-35A1E7D20CE0}"/>
    <dgm:cxn modelId="{400EF06E-C186-4D98-8295-41EB001C9F22}" type="presOf" srcId="{D171CCED-40A0-43F3-8FC4-A422650EF8EF}" destId="{BD524016-C6A6-4424-86B8-6559EB145977}" srcOrd="0" destOrd="0" presId="urn:microsoft.com/office/officeart/2005/8/layout/hierarchy6"/>
    <dgm:cxn modelId="{461A846F-7341-4906-BC25-C8C7203D8289}" srcId="{CC122682-FA74-48C2-A6D9-83DAFB5FD9EF}" destId="{B2220139-725E-4197-AC07-00F783AE2C9E}" srcOrd="1" destOrd="0" parTransId="{6AE4250F-400F-4F78-854D-182CB08B0C0F}" sibTransId="{96DBC7E4-0F61-41B3-A087-15F7B6A44B34}"/>
    <dgm:cxn modelId="{CD379771-9FF5-470D-962E-AD5D44D628D4}" type="presOf" srcId="{B230BC40-4317-44D8-9081-1CE1C2DE0EE0}" destId="{2B781F50-B329-4AD5-84C9-22B344069048}" srcOrd="0" destOrd="0" presId="urn:microsoft.com/office/officeart/2005/8/layout/hierarchy6"/>
    <dgm:cxn modelId="{4CA5B356-98FB-4912-9F78-B29F88E6D8A2}" srcId="{33B17D5A-FAD0-40FF-BFD5-B36826E4BDD8}" destId="{85748094-DD27-4F6B-A972-120C434C8B7B}" srcOrd="0" destOrd="0" parTransId="{A3A503A6-7B88-4296-AC0C-EE70F516F5EC}" sibTransId="{56DFB899-63B6-4455-B182-F460EFD4425A}"/>
    <dgm:cxn modelId="{F559AC5A-0CF8-47A9-9705-2F86EEC750AF}" type="presOf" srcId="{C2A0E43F-6379-47D6-AC8D-24760D501BF9}" destId="{7AFF4287-4CE7-458E-92C4-E5344735C68E}" srcOrd="0" destOrd="0" presId="urn:microsoft.com/office/officeart/2005/8/layout/hierarchy6"/>
    <dgm:cxn modelId="{E747D580-4EEF-435A-8F2C-D1657A577BFC}" srcId="{CC122682-FA74-48C2-A6D9-83DAFB5FD9EF}" destId="{C7D6D10B-388E-44C1-8527-496478FC61B3}" srcOrd="0" destOrd="0" parTransId="{6A368535-C534-4A0C-95DA-68E65311CCAC}" sibTransId="{B010A0E4-D91A-4E5C-A40F-0CBA78CD2BFF}"/>
    <dgm:cxn modelId="{4562B2A4-BC13-4399-A530-A42E41A64DFB}" type="presOf" srcId="{85748094-DD27-4F6B-A972-120C434C8B7B}" destId="{D101BA2D-3963-4017-9498-AD1F623A53DE}" srcOrd="0" destOrd="0" presId="urn:microsoft.com/office/officeart/2005/8/layout/hierarchy6"/>
    <dgm:cxn modelId="{4D82B2A8-A4D7-42F2-ABFB-478B1AFFEEE8}" type="presOf" srcId="{CC122682-FA74-48C2-A6D9-83DAFB5FD9EF}" destId="{F5E578BB-DD6A-40FD-942E-F943BCF601F7}" srcOrd="0" destOrd="0" presId="urn:microsoft.com/office/officeart/2005/8/layout/hierarchy6"/>
    <dgm:cxn modelId="{1C9612B3-BB62-4809-B312-D8D78583D0AC}" srcId="{C2A0E43F-6379-47D6-AC8D-24760D501BF9}" destId="{D171CCED-40A0-43F3-8FC4-A422650EF8EF}" srcOrd="0" destOrd="0" parTransId="{20154CDD-F0E3-4785-97D7-9056399F36D9}" sibTransId="{862C7CE7-5F77-4BD0-A738-4093FC449403}"/>
    <dgm:cxn modelId="{4FB73ECE-BC7A-4C47-A4F1-FAEBC02782C9}" type="presOf" srcId="{B2220139-725E-4197-AC07-00F783AE2C9E}" destId="{32911C63-2941-4CC0-AAF3-3ADF0A59B60B}" srcOrd="0" destOrd="0" presId="urn:microsoft.com/office/officeart/2005/8/layout/hierarchy6"/>
    <dgm:cxn modelId="{1F6BD4D7-B5C2-4D87-A6EB-B38246D1841D}" type="presOf" srcId="{C7D6D10B-388E-44C1-8527-496478FC61B3}" destId="{EE78876C-8709-4D90-AE72-C0ABF4E11A2F}" srcOrd="0" destOrd="0" presId="urn:microsoft.com/office/officeart/2005/8/layout/hierarchy6"/>
    <dgm:cxn modelId="{9D2574F4-BA52-4AEB-9E90-C74D2E1ABBBF}" type="presOf" srcId="{03F43716-9303-45D3-9C63-1E6C179CA51C}" destId="{C2C2F5EF-FC71-4CD7-8F6C-72EBBF91CC78}" srcOrd="0" destOrd="0" presId="urn:microsoft.com/office/officeart/2005/8/layout/hierarchy6"/>
    <dgm:cxn modelId="{EAA18EFC-40A5-40F6-B29E-F652DF232208}" type="presOf" srcId="{A3A503A6-7B88-4296-AC0C-EE70F516F5EC}" destId="{DCF1C2AF-C506-4F76-83FC-2FA1C8DAE862}" srcOrd="0" destOrd="0" presId="urn:microsoft.com/office/officeart/2005/8/layout/hierarchy6"/>
    <dgm:cxn modelId="{9B86D6FF-509A-4EEF-BE1E-757B5031C5B3}" type="presOf" srcId="{C49AFE4C-6FDC-4BE7-8CAA-CF93A0079E69}" destId="{0B2901EB-C3A0-4C1B-93B5-2D4D51508A9F}" srcOrd="0" destOrd="0" presId="urn:microsoft.com/office/officeart/2005/8/layout/hierarchy6"/>
    <dgm:cxn modelId="{B16A9F94-7DB8-4383-AA64-6A9F4C7C0622}" type="presParOf" srcId="{7AFF4287-4CE7-458E-92C4-E5344735C68E}" destId="{60188773-52FD-4BDA-AF9D-EEF62FD90E44}" srcOrd="0" destOrd="0" presId="urn:microsoft.com/office/officeart/2005/8/layout/hierarchy6"/>
    <dgm:cxn modelId="{E37F39AD-D58C-4E8A-8D16-2D119B3BA965}" type="presParOf" srcId="{60188773-52FD-4BDA-AF9D-EEF62FD90E44}" destId="{7159C26E-2214-48D5-B8FD-5292431CD583}" srcOrd="0" destOrd="0" presId="urn:microsoft.com/office/officeart/2005/8/layout/hierarchy6"/>
    <dgm:cxn modelId="{EA1F5AFD-7FBC-40A3-92EB-7D3081BFB775}" type="presParOf" srcId="{7159C26E-2214-48D5-B8FD-5292431CD583}" destId="{D6506002-948F-4487-AA5C-3CE3C750F6E1}" srcOrd="0" destOrd="0" presId="urn:microsoft.com/office/officeart/2005/8/layout/hierarchy6"/>
    <dgm:cxn modelId="{26377267-DEF0-4188-8578-1B519BDB4A69}" type="presParOf" srcId="{D6506002-948F-4487-AA5C-3CE3C750F6E1}" destId="{BD524016-C6A6-4424-86B8-6559EB145977}" srcOrd="0" destOrd="0" presId="urn:microsoft.com/office/officeart/2005/8/layout/hierarchy6"/>
    <dgm:cxn modelId="{C9FD5EB3-6B51-407D-A5D2-CE65F2BE35C0}" type="presParOf" srcId="{D6506002-948F-4487-AA5C-3CE3C750F6E1}" destId="{1E6EC578-54E3-45AF-9F4E-77D8C31230B0}" srcOrd="1" destOrd="0" presId="urn:microsoft.com/office/officeart/2005/8/layout/hierarchy6"/>
    <dgm:cxn modelId="{BCEA01C8-A092-41F1-A50F-875E3878A926}" type="presParOf" srcId="{1E6EC578-54E3-45AF-9F4E-77D8C31230B0}" destId="{C2C2F5EF-FC71-4CD7-8F6C-72EBBF91CC78}" srcOrd="0" destOrd="0" presId="urn:microsoft.com/office/officeart/2005/8/layout/hierarchy6"/>
    <dgm:cxn modelId="{9FBA4E06-21BA-4B40-9D36-27599099B855}" type="presParOf" srcId="{1E6EC578-54E3-45AF-9F4E-77D8C31230B0}" destId="{E27CED65-A962-471B-8942-C36532B059CD}" srcOrd="1" destOrd="0" presId="urn:microsoft.com/office/officeart/2005/8/layout/hierarchy6"/>
    <dgm:cxn modelId="{51BE954B-A4F6-47A0-9FA8-5016A7C1A175}" type="presParOf" srcId="{E27CED65-A962-471B-8942-C36532B059CD}" destId="{F5E578BB-DD6A-40FD-942E-F943BCF601F7}" srcOrd="0" destOrd="0" presId="urn:microsoft.com/office/officeart/2005/8/layout/hierarchy6"/>
    <dgm:cxn modelId="{F8B149A4-11D6-42DB-95AC-07992EE4E27C}" type="presParOf" srcId="{E27CED65-A962-471B-8942-C36532B059CD}" destId="{3AFF9127-2F42-47F0-A909-9D2F3B8174F0}" srcOrd="1" destOrd="0" presId="urn:microsoft.com/office/officeart/2005/8/layout/hierarchy6"/>
    <dgm:cxn modelId="{193F53E4-A139-400D-B5F2-E6DFCBF9FA46}" type="presParOf" srcId="{3AFF9127-2F42-47F0-A909-9D2F3B8174F0}" destId="{B6BFF0DD-C082-47B0-9928-6248268AD1D1}" srcOrd="0" destOrd="0" presId="urn:microsoft.com/office/officeart/2005/8/layout/hierarchy6"/>
    <dgm:cxn modelId="{704C7501-AACD-43E1-AF1C-1121DBF68BA1}" type="presParOf" srcId="{3AFF9127-2F42-47F0-A909-9D2F3B8174F0}" destId="{1FECEF84-5D45-4F6C-A35D-529985D817B3}" srcOrd="1" destOrd="0" presId="urn:microsoft.com/office/officeart/2005/8/layout/hierarchy6"/>
    <dgm:cxn modelId="{D5FFBB30-78AD-4D03-BDEC-639BD62276AC}" type="presParOf" srcId="{1FECEF84-5D45-4F6C-A35D-529985D817B3}" destId="{EE78876C-8709-4D90-AE72-C0ABF4E11A2F}" srcOrd="0" destOrd="0" presId="urn:microsoft.com/office/officeart/2005/8/layout/hierarchy6"/>
    <dgm:cxn modelId="{F90303CB-3BBE-4684-81FD-1F31AC7E66B3}" type="presParOf" srcId="{1FECEF84-5D45-4F6C-A35D-529985D817B3}" destId="{21A03A5C-DC4C-4043-A9CA-67414DDAC168}" srcOrd="1" destOrd="0" presId="urn:microsoft.com/office/officeart/2005/8/layout/hierarchy6"/>
    <dgm:cxn modelId="{B0BD090D-724E-42CE-824E-7A64901748C2}" type="presParOf" srcId="{3AFF9127-2F42-47F0-A909-9D2F3B8174F0}" destId="{83F8B536-39A5-4F07-9F3A-A616B78331C9}" srcOrd="2" destOrd="0" presId="urn:microsoft.com/office/officeart/2005/8/layout/hierarchy6"/>
    <dgm:cxn modelId="{99331DB6-FED7-4B30-B1AC-C197198919DB}" type="presParOf" srcId="{3AFF9127-2F42-47F0-A909-9D2F3B8174F0}" destId="{8870C0CA-FAE9-4176-802B-8F8E04070794}" srcOrd="3" destOrd="0" presId="urn:microsoft.com/office/officeart/2005/8/layout/hierarchy6"/>
    <dgm:cxn modelId="{1AD342DF-90DE-4BB0-8BA4-1DEE7187E6D1}" type="presParOf" srcId="{8870C0CA-FAE9-4176-802B-8F8E04070794}" destId="{32911C63-2941-4CC0-AAF3-3ADF0A59B60B}" srcOrd="0" destOrd="0" presId="urn:microsoft.com/office/officeart/2005/8/layout/hierarchy6"/>
    <dgm:cxn modelId="{F022EBA5-B0D9-43BD-BAAF-A763C4C4AAC1}" type="presParOf" srcId="{8870C0CA-FAE9-4176-802B-8F8E04070794}" destId="{8DC0066E-46E0-4C33-BE29-0DB0A5BFB22C}" srcOrd="1" destOrd="0" presId="urn:microsoft.com/office/officeart/2005/8/layout/hierarchy6"/>
    <dgm:cxn modelId="{53DF2595-1B69-479B-AC1D-F0F9A2060C25}" type="presParOf" srcId="{1E6EC578-54E3-45AF-9F4E-77D8C31230B0}" destId="{3B1D9D37-5190-4685-812C-9AC25E82F5D8}" srcOrd="2" destOrd="0" presId="urn:microsoft.com/office/officeart/2005/8/layout/hierarchy6"/>
    <dgm:cxn modelId="{CF565AD3-5083-4CEF-B1B5-A12DDB2ADA10}" type="presParOf" srcId="{1E6EC578-54E3-45AF-9F4E-77D8C31230B0}" destId="{9D23FAF4-3B44-4F01-94AA-FF47FC3B1684}" srcOrd="3" destOrd="0" presId="urn:microsoft.com/office/officeart/2005/8/layout/hierarchy6"/>
    <dgm:cxn modelId="{CB8BBE48-71E7-41E8-A52C-A998C81CDDEC}" type="presParOf" srcId="{9D23FAF4-3B44-4F01-94AA-FF47FC3B1684}" destId="{E3500144-ADF8-43D6-8860-55D684BB5628}" srcOrd="0" destOrd="0" presId="urn:microsoft.com/office/officeart/2005/8/layout/hierarchy6"/>
    <dgm:cxn modelId="{FF91B7BD-9E88-4B01-B4DF-A0272AAA654B}" type="presParOf" srcId="{9D23FAF4-3B44-4F01-94AA-FF47FC3B1684}" destId="{318D246B-6F25-414B-9FCF-84469C36D7D6}" srcOrd="1" destOrd="0" presId="urn:microsoft.com/office/officeart/2005/8/layout/hierarchy6"/>
    <dgm:cxn modelId="{DE0CF24C-721C-4D51-9CFF-2A9B617712A9}" type="presParOf" srcId="{318D246B-6F25-414B-9FCF-84469C36D7D6}" destId="{DCF1C2AF-C506-4F76-83FC-2FA1C8DAE862}" srcOrd="0" destOrd="0" presId="urn:microsoft.com/office/officeart/2005/8/layout/hierarchy6"/>
    <dgm:cxn modelId="{AC64DF68-DD06-4D35-ADFA-118F9CB3E6AA}" type="presParOf" srcId="{318D246B-6F25-414B-9FCF-84469C36D7D6}" destId="{83B822BC-7CB5-41B2-A11B-F9BE98AFB040}" srcOrd="1" destOrd="0" presId="urn:microsoft.com/office/officeart/2005/8/layout/hierarchy6"/>
    <dgm:cxn modelId="{BE47A4AC-55B4-4655-9485-93E2DAA8A929}" type="presParOf" srcId="{83B822BC-7CB5-41B2-A11B-F9BE98AFB040}" destId="{D101BA2D-3963-4017-9498-AD1F623A53DE}" srcOrd="0" destOrd="0" presId="urn:microsoft.com/office/officeart/2005/8/layout/hierarchy6"/>
    <dgm:cxn modelId="{C131D930-E9DB-4985-A8D9-9BF24D0B6F7A}" type="presParOf" srcId="{83B822BC-7CB5-41B2-A11B-F9BE98AFB040}" destId="{1C547AA2-212B-4C66-B740-4F307EC91A04}" srcOrd="1" destOrd="0" presId="urn:microsoft.com/office/officeart/2005/8/layout/hierarchy6"/>
    <dgm:cxn modelId="{B9386C7A-24E5-4CBA-A21B-1BDCE7304541}" type="presParOf" srcId="{318D246B-6F25-414B-9FCF-84469C36D7D6}" destId="{0B2901EB-C3A0-4C1B-93B5-2D4D51508A9F}" srcOrd="2" destOrd="0" presId="urn:microsoft.com/office/officeart/2005/8/layout/hierarchy6"/>
    <dgm:cxn modelId="{952CFBD8-2481-428F-A752-51BF22881838}" type="presParOf" srcId="{318D246B-6F25-414B-9FCF-84469C36D7D6}" destId="{D9BA8F8B-2A7C-416C-AA09-63B74C3157E2}" srcOrd="3" destOrd="0" presId="urn:microsoft.com/office/officeart/2005/8/layout/hierarchy6"/>
    <dgm:cxn modelId="{F320EF4A-11CE-45C9-81D1-25BD332762E7}" type="presParOf" srcId="{D9BA8F8B-2A7C-416C-AA09-63B74C3157E2}" destId="{2B781F50-B329-4AD5-84C9-22B344069048}" srcOrd="0" destOrd="0" presId="urn:microsoft.com/office/officeart/2005/8/layout/hierarchy6"/>
    <dgm:cxn modelId="{A482B1EC-99FD-43DE-9A21-72F34D90179A}" type="presParOf" srcId="{D9BA8F8B-2A7C-416C-AA09-63B74C3157E2}" destId="{8FFBAA39-6BDF-4697-ABE0-444058DB174B}" srcOrd="1" destOrd="0" presId="urn:microsoft.com/office/officeart/2005/8/layout/hierarchy6"/>
    <dgm:cxn modelId="{0C13AACD-BF2F-42C8-B4AC-830DB2B8BEE4}" type="presParOf" srcId="{7AFF4287-4CE7-458E-92C4-E5344735C68E}" destId="{3A4F3CE7-95BE-4D87-817D-D5779BA390F3}"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A0E43F-6379-47D6-AC8D-24760D501BF9}"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D171CCED-40A0-43F3-8FC4-A422650EF8EF}">
      <dgm:prSet phldrT="[Text]" custT="1"/>
      <dgm:spPr/>
      <dgm:t>
        <a:bodyPr/>
        <a:lstStyle/>
        <a:p>
          <a:r>
            <a:rPr lang="en-US" sz="2400" dirty="0"/>
            <a:t>Emirate (N=9913)</a:t>
          </a:r>
        </a:p>
      </dgm:t>
    </dgm:pt>
    <dgm:pt modelId="{20154CDD-F0E3-4785-97D7-9056399F36D9}" type="parTrans" cxnId="{1C9612B3-BB62-4809-B312-D8D78583D0AC}">
      <dgm:prSet/>
      <dgm:spPr/>
      <dgm:t>
        <a:bodyPr/>
        <a:lstStyle/>
        <a:p>
          <a:endParaRPr lang="en-US"/>
        </a:p>
      </dgm:t>
    </dgm:pt>
    <dgm:pt modelId="{862C7CE7-5F77-4BD0-A738-4093FC449403}" type="sibTrans" cxnId="{1C9612B3-BB62-4809-B312-D8D78583D0AC}">
      <dgm:prSet/>
      <dgm:spPr/>
      <dgm:t>
        <a:bodyPr/>
        <a:lstStyle/>
        <a:p>
          <a:endParaRPr lang="en-US"/>
        </a:p>
      </dgm:t>
    </dgm:pt>
    <dgm:pt modelId="{CC122682-FA74-48C2-A6D9-83DAFB5FD9EF}" type="asst">
      <dgm:prSet phldrT="[Text]" custT="1"/>
      <dgm:spPr>
        <a:solidFill>
          <a:schemeClr val="bg2"/>
        </a:solidFill>
        <a:ln>
          <a:solidFill>
            <a:schemeClr val="bg2"/>
          </a:solidFill>
        </a:ln>
      </dgm:spPr>
      <dgm:t>
        <a:bodyPr/>
        <a:lstStyle/>
        <a:p>
          <a:r>
            <a:rPr lang="en-US" sz="2200" dirty="0"/>
            <a:t>Treatment Neighborhoods (N=4959)</a:t>
          </a:r>
        </a:p>
      </dgm:t>
    </dgm:pt>
    <dgm:pt modelId="{03F43716-9303-45D3-9C63-1E6C179CA51C}" type="parTrans" cxnId="{2CF34D45-8521-4B41-B06F-C2FA2EA27810}">
      <dgm:prSet/>
      <dgm:spPr/>
      <dgm:t>
        <a:bodyPr/>
        <a:lstStyle/>
        <a:p>
          <a:endParaRPr lang="en-US"/>
        </a:p>
      </dgm:t>
    </dgm:pt>
    <dgm:pt modelId="{232776A4-2EB7-4B56-BADC-35A1E7D20CE0}" type="sibTrans" cxnId="{2CF34D45-8521-4B41-B06F-C2FA2EA27810}">
      <dgm:prSet/>
      <dgm:spPr/>
      <dgm:t>
        <a:bodyPr/>
        <a:lstStyle/>
        <a:p>
          <a:endParaRPr lang="en-US"/>
        </a:p>
      </dgm:t>
    </dgm:pt>
    <dgm:pt modelId="{33B17D5A-FAD0-40FF-BFD5-B36826E4BDD8}">
      <dgm:prSet phldrT="[Text]" custT="1"/>
      <dgm:spPr/>
      <dgm:t>
        <a:bodyPr/>
        <a:lstStyle/>
        <a:p>
          <a:r>
            <a:rPr lang="en-US" sz="2200" dirty="0"/>
            <a:t>Control Neighborhoods (N=4954)</a:t>
          </a:r>
        </a:p>
      </dgm:t>
    </dgm:pt>
    <dgm:pt modelId="{1AA1F213-D704-4DFF-A93A-49728750454F}" type="parTrans" cxnId="{CCFC6E61-CA24-4134-BA69-AF0167F44F3E}">
      <dgm:prSet/>
      <dgm:spPr/>
      <dgm:t>
        <a:bodyPr/>
        <a:lstStyle/>
        <a:p>
          <a:endParaRPr lang="en-US"/>
        </a:p>
      </dgm:t>
    </dgm:pt>
    <dgm:pt modelId="{EFE12002-DAD3-4AC9-9DA4-136D8B8D8BEF}" type="sibTrans" cxnId="{CCFC6E61-CA24-4134-BA69-AF0167F44F3E}">
      <dgm:prSet/>
      <dgm:spPr/>
      <dgm:t>
        <a:bodyPr/>
        <a:lstStyle/>
        <a:p>
          <a:endParaRPr lang="en-US"/>
        </a:p>
      </dgm:t>
    </dgm:pt>
    <dgm:pt modelId="{C7D6D10B-388E-44C1-8527-496478FC61B3}">
      <dgm:prSet custT="1"/>
      <dgm:spPr>
        <a:solidFill>
          <a:schemeClr val="bg2"/>
        </a:solidFill>
        <a:ln>
          <a:solidFill>
            <a:schemeClr val="bg2"/>
          </a:solidFill>
        </a:ln>
      </dgm:spPr>
      <dgm:t>
        <a:bodyPr/>
        <a:lstStyle/>
        <a:p>
          <a:r>
            <a:rPr lang="en-US" sz="2400" dirty="0"/>
            <a:t>Eligible Businesses (N=2964)</a:t>
          </a:r>
        </a:p>
      </dgm:t>
    </dgm:pt>
    <dgm:pt modelId="{6A368535-C534-4A0C-95DA-68E65311CCAC}" type="parTrans" cxnId="{E747D580-4EEF-435A-8F2C-D1657A577BFC}">
      <dgm:prSet/>
      <dgm:spPr/>
      <dgm:t>
        <a:bodyPr/>
        <a:lstStyle/>
        <a:p>
          <a:endParaRPr lang="en-US"/>
        </a:p>
      </dgm:t>
    </dgm:pt>
    <dgm:pt modelId="{B010A0E4-D91A-4E5C-A40F-0CBA78CD2BFF}" type="sibTrans" cxnId="{E747D580-4EEF-435A-8F2C-D1657A577BFC}">
      <dgm:prSet/>
      <dgm:spPr/>
      <dgm:t>
        <a:bodyPr/>
        <a:lstStyle/>
        <a:p>
          <a:endParaRPr lang="en-US"/>
        </a:p>
      </dgm:t>
    </dgm:pt>
    <dgm:pt modelId="{B2220139-725E-4197-AC07-00F783AE2C9E}">
      <dgm:prSet custT="1"/>
      <dgm:spPr/>
      <dgm:t>
        <a:bodyPr/>
        <a:lstStyle/>
        <a:p>
          <a:r>
            <a:rPr lang="en-US" sz="2400" dirty="0"/>
            <a:t>Ineligible Businesses (N=1995)</a:t>
          </a:r>
        </a:p>
      </dgm:t>
    </dgm:pt>
    <dgm:pt modelId="{6AE4250F-400F-4F78-854D-182CB08B0C0F}" type="parTrans" cxnId="{461A846F-7341-4906-BC25-C8C7203D8289}">
      <dgm:prSet/>
      <dgm:spPr/>
      <dgm:t>
        <a:bodyPr/>
        <a:lstStyle/>
        <a:p>
          <a:endParaRPr lang="en-US"/>
        </a:p>
      </dgm:t>
    </dgm:pt>
    <dgm:pt modelId="{96DBC7E4-0F61-41B3-A087-15F7B6A44B34}" type="sibTrans" cxnId="{461A846F-7341-4906-BC25-C8C7203D8289}">
      <dgm:prSet/>
      <dgm:spPr/>
      <dgm:t>
        <a:bodyPr/>
        <a:lstStyle/>
        <a:p>
          <a:endParaRPr lang="en-US"/>
        </a:p>
      </dgm:t>
    </dgm:pt>
    <dgm:pt modelId="{85748094-DD27-4F6B-A972-120C434C8B7B}">
      <dgm:prSet custT="1"/>
      <dgm:spPr/>
      <dgm:t>
        <a:bodyPr/>
        <a:lstStyle/>
        <a:p>
          <a:r>
            <a:rPr lang="en-US" sz="2400" dirty="0"/>
            <a:t>Eligible Businesses (N=2664)</a:t>
          </a:r>
        </a:p>
      </dgm:t>
    </dgm:pt>
    <dgm:pt modelId="{A3A503A6-7B88-4296-AC0C-EE70F516F5EC}" type="parTrans" cxnId="{4CA5B356-98FB-4912-9F78-B29F88E6D8A2}">
      <dgm:prSet/>
      <dgm:spPr/>
      <dgm:t>
        <a:bodyPr/>
        <a:lstStyle/>
        <a:p>
          <a:endParaRPr lang="en-US"/>
        </a:p>
      </dgm:t>
    </dgm:pt>
    <dgm:pt modelId="{56DFB899-63B6-4455-B182-F460EFD4425A}" type="sibTrans" cxnId="{4CA5B356-98FB-4912-9F78-B29F88E6D8A2}">
      <dgm:prSet/>
      <dgm:spPr/>
      <dgm:t>
        <a:bodyPr/>
        <a:lstStyle/>
        <a:p>
          <a:endParaRPr lang="en-US"/>
        </a:p>
      </dgm:t>
    </dgm:pt>
    <dgm:pt modelId="{B230BC40-4317-44D8-9081-1CE1C2DE0EE0}">
      <dgm:prSet custT="1"/>
      <dgm:spPr/>
      <dgm:t>
        <a:bodyPr/>
        <a:lstStyle/>
        <a:p>
          <a:r>
            <a:rPr lang="en-US" sz="2400" dirty="0"/>
            <a:t>Ineligible Businesses (N=2290)</a:t>
          </a:r>
        </a:p>
      </dgm:t>
    </dgm:pt>
    <dgm:pt modelId="{C49AFE4C-6FDC-4BE7-8CAA-CF93A0079E69}" type="parTrans" cxnId="{1779CA06-F488-457B-BFB2-E22AD9E0787C}">
      <dgm:prSet/>
      <dgm:spPr/>
      <dgm:t>
        <a:bodyPr/>
        <a:lstStyle/>
        <a:p>
          <a:endParaRPr lang="en-US"/>
        </a:p>
      </dgm:t>
    </dgm:pt>
    <dgm:pt modelId="{14610360-1FF1-4A09-B800-066A601517CF}" type="sibTrans" cxnId="{1779CA06-F488-457B-BFB2-E22AD9E0787C}">
      <dgm:prSet/>
      <dgm:spPr/>
      <dgm:t>
        <a:bodyPr/>
        <a:lstStyle/>
        <a:p>
          <a:endParaRPr lang="en-US"/>
        </a:p>
      </dgm:t>
    </dgm:pt>
    <dgm:pt modelId="{7AFF4287-4CE7-458E-92C4-E5344735C68E}" type="pres">
      <dgm:prSet presAssocID="{C2A0E43F-6379-47D6-AC8D-24760D501BF9}" presName="mainComposite" presStyleCnt="0">
        <dgm:presLayoutVars>
          <dgm:chPref val="1"/>
          <dgm:dir/>
          <dgm:animOne val="branch"/>
          <dgm:animLvl val="lvl"/>
          <dgm:resizeHandles val="exact"/>
        </dgm:presLayoutVars>
      </dgm:prSet>
      <dgm:spPr/>
    </dgm:pt>
    <dgm:pt modelId="{60188773-52FD-4BDA-AF9D-EEF62FD90E44}" type="pres">
      <dgm:prSet presAssocID="{C2A0E43F-6379-47D6-AC8D-24760D501BF9}" presName="hierFlow" presStyleCnt="0"/>
      <dgm:spPr/>
    </dgm:pt>
    <dgm:pt modelId="{7159C26E-2214-48D5-B8FD-5292431CD583}" type="pres">
      <dgm:prSet presAssocID="{C2A0E43F-6379-47D6-AC8D-24760D501BF9}" presName="hierChild1" presStyleCnt="0">
        <dgm:presLayoutVars>
          <dgm:chPref val="1"/>
          <dgm:animOne val="branch"/>
          <dgm:animLvl val="lvl"/>
        </dgm:presLayoutVars>
      </dgm:prSet>
      <dgm:spPr/>
    </dgm:pt>
    <dgm:pt modelId="{D6506002-948F-4487-AA5C-3CE3C750F6E1}" type="pres">
      <dgm:prSet presAssocID="{D171CCED-40A0-43F3-8FC4-A422650EF8EF}" presName="Name14" presStyleCnt="0"/>
      <dgm:spPr/>
    </dgm:pt>
    <dgm:pt modelId="{BD524016-C6A6-4424-86B8-6559EB145977}" type="pres">
      <dgm:prSet presAssocID="{D171CCED-40A0-43F3-8FC4-A422650EF8EF}" presName="level1Shape" presStyleLbl="node0" presStyleIdx="0" presStyleCnt="1" custScaleX="77453" custScaleY="71114" custLinFactNeighborX="-7310" custLinFactNeighborY="-64404">
        <dgm:presLayoutVars>
          <dgm:chPref val="3"/>
        </dgm:presLayoutVars>
      </dgm:prSet>
      <dgm:spPr/>
    </dgm:pt>
    <dgm:pt modelId="{1E6EC578-54E3-45AF-9F4E-77D8C31230B0}" type="pres">
      <dgm:prSet presAssocID="{D171CCED-40A0-43F3-8FC4-A422650EF8EF}" presName="hierChild2" presStyleCnt="0"/>
      <dgm:spPr/>
    </dgm:pt>
    <dgm:pt modelId="{C2C2F5EF-FC71-4CD7-8F6C-72EBBF91CC78}" type="pres">
      <dgm:prSet presAssocID="{03F43716-9303-45D3-9C63-1E6C179CA51C}" presName="Name19" presStyleLbl="parChTrans1D2" presStyleIdx="0" presStyleCnt="2"/>
      <dgm:spPr/>
    </dgm:pt>
    <dgm:pt modelId="{E27CED65-A962-471B-8942-C36532B059CD}" type="pres">
      <dgm:prSet presAssocID="{CC122682-FA74-48C2-A6D9-83DAFB5FD9EF}" presName="Name21" presStyleCnt="0"/>
      <dgm:spPr/>
    </dgm:pt>
    <dgm:pt modelId="{F5E578BB-DD6A-40FD-942E-F943BCF601F7}" type="pres">
      <dgm:prSet presAssocID="{CC122682-FA74-48C2-A6D9-83DAFB5FD9EF}" presName="level2Shape" presStyleLbl="asst1" presStyleIdx="0" presStyleCnt="1" custScaleX="86389" custScaleY="78259" custLinFactNeighborX="3401" custLinFactNeighborY="-45634"/>
      <dgm:spPr/>
    </dgm:pt>
    <dgm:pt modelId="{3AFF9127-2F42-47F0-A909-9D2F3B8174F0}" type="pres">
      <dgm:prSet presAssocID="{CC122682-FA74-48C2-A6D9-83DAFB5FD9EF}" presName="hierChild3" presStyleCnt="0"/>
      <dgm:spPr/>
    </dgm:pt>
    <dgm:pt modelId="{B6BFF0DD-C082-47B0-9928-6248268AD1D1}" type="pres">
      <dgm:prSet presAssocID="{6A368535-C534-4A0C-95DA-68E65311CCAC}" presName="Name19" presStyleLbl="parChTrans1D3" presStyleIdx="0" presStyleCnt="4"/>
      <dgm:spPr/>
    </dgm:pt>
    <dgm:pt modelId="{1FECEF84-5D45-4F6C-A35D-529985D817B3}" type="pres">
      <dgm:prSet presAssocID="{C7D6D10B-388E-44C1-8527-496478FC61B3}" presName="Name21" presStyleCnt="0"/>
      <dgm:spPr/>
    </dgm:pt>
    <dgm:pt modelId="{EE78876C-8709-4D90-AE72-C0ABF4E11A2F}" type="pres">
      <dgm:prSet presAssocID="{C7D6D10B-388E-44C1-8527-496478FC61B3}" presName="level2Shape" presStyleLbl="node3" presStyleIdx="0" presStyleCnt="4" custScaleX="80080" custScaleY="72519" custLinFactNeighborX="12945" custLinFactNeighborY="-40248"/>
      <dgm:spPr/>
    </dgm:pt>
    <dgm:pt modelId="{21A03A5C-DC4C-4043-A9CA-67414DDAC168}" type="pres">
      <dgm:prSet presAssocID="{C7D6D10B-388E-44C1-8527-496478FC61B3}" presName="hierChild3" presStyleCnt="0"/>
      <dgm:spPr/>
    </dgm:pt>
    <dgm:pt modelId="{83F8B536-39A5-4F07-9F3A-A616B78331C9}" type="pres">
      <dgm:prSet presAssocID="{6AE4250F-400F-4F78-854D-182CB08B0C0F}" presName="Name19" presStyleLbl="parChTrans1D3" presStyleIdx="1" presStyleCnt="4"/>
      <dgm:spPr/>
    </dgm:pt>
    <dgm:pt modelId="{8870C0CA-FAE9-4176-802B-8F8E04070794}" type="pres">
      <dgm:prSet presAssocID="{B2220139-725E-4197-AC07-00F783AE2C9E}" presName="Name21" presStyleCnt="0"/>
      <dgm:spPr/>
    </dgm:pt>
    <dgm:pt modelId="{32911C63-2941-4CC0-AAF3-3ADF0A59B60B}" type="pres">
      <dgm:prSet presAssocID="{B2220139-725E-4197-AC07-00F783AE2C9E}" presName="level2Shape" presStyleLbl="node3" presStyleIdx="1" presStyleCnt="4" custScaleX="80080" custScaleY="72519" custLinFactNeighborX="-9163" custLinFactNeighborY="-40089"/>
      <dgm:spPr/>
    </dgm:pt>
    <dgm:pt modelId="{8DC0066E-46E0-4C33-BE29-0DB0A5BFB22C}" type="pres">
      <dgm:prSet presAssocID="{B2220139-725E-4197-AC07-00F783AE2C9E}" presName="hierChild3" presStyleCnt="0"/>
      <dgm:spPr/>
    </dgm:pt>
    <dgm:pt modelId="{3B1D9D37-5190-4685-812C-9AC25E82F5D8}" type="pres">
      <dgm:prSet presAssocID="{1AA1F213-D704-4DFF-A93A-49728750454F}" presName="Name19" presStyleLbl="parChTrans1D2" presStyleIdx="1" presStyleCnt="2"/>
      <dgm:spPr/>
    </dgm:pt>
    <dgm:pt modelId="{9D23FAF4-3B44-4F01-94AA-FF47FC3B1684}" type="pres">
      <dgm:prSet presAssocID="{33B17D5A-FAD0-40FF-BFD5-B36826E4BDD8}" presName="Name21" presStyleCnt="0"/>
      <dgm:spPr/>
    </dgm:pt>
    <dgm:pt modelId="{E3500144-ADF8-43D6-8860-55D684BB5628}" type="pres">
      <dgm:prSet presAssocID="{33B17D5A-FAD0-40FF-BFD5-B36826E4BDD8}" presName="level2Shape" presStyleLbl="node2" presStyleIdx="0" presStyleCnt="1" custScaleX="86389" custScaleY="78259" custLinFactNeighborX="-17687" custLinFactNeighborY="-45538"/>
      <dgm:spPr/>
    </dgm:pt>
    <dgm:pt modelId="{318D246B-6F25-414B-9FCF-84469C36D7D6}" type="pres">
      <dgm:prSet presAssocID="{33B17D5A-FAD0-40FF-BFD5-B36826E4BDD8}" presName="hierChild3" presStyleCnt="0"/>
      <dgm:spPr/>
    </dgm:pt>
    <dgm:pt modelId="{DCF1C2AF-C506-4F76-83FC-2FA1C8DAE862}" type="pres">
      <dgm:prSet presAssocID="{A3A503A6-7B88-4296-AC0C-EE70F516F5EC}" presName="Name19" presStyleLbl="parChTrans1D3" presStyleIdx="2" presStyleCnt="4"/>
      <dgm:spPr/>
    </dgm:pt>
    <dgm:pt modelId="{83B822BC-7CB5-41B2-A11B-F9BE98AFB040}" type="pres">
      <dgm:prSet presAssocID="{85748094-DD27-4F6B-A972-120C434C8B7B}" presName="Name21" presStyleCnt="0"/>
      <dgm:spPr/>
    </dgm:pt>
    <dgm:pt modelId="{D101BA2D-3963-4017-9498-AD1F623A53DE}" type="pres">
      <dgm:prSet presAssocID="{85748094-DD27-4F6B-A972-120C434C8B7B}" presName="level2Shape" presStyleLbl="node3" presStyleIdx="2" presStyleCnt="4" custScaleX="80080" custScaleY="72519" custLinFactNeighborX="-4302" custLinFactNeighborY="-42345"/>
      <dgm:spPr/>
    </dgm:pt>
    <dgm:pt modelId="{1C547AA2-212B-4C66-B740-4F307EC91A04}" type="pres">
      <dgm:prSet presAssocID="{85748094-DD27-4F6B-A972-120C434C8B7B}" presName="hierChild3" presStyleCnt="0"/>
      <dgm:spPr/>
    </dgm:pt>
    <dgm:pt modelId="{0B2901EB-C3A0-4C1B-93B5-2D4D51508A9F}" type="pres">
      <dgm:prSet presAssocID="{C49AFE4C-6FDC-4BE7-8CAA-CF93A0079E69}" presName="Name19" presStyleLbl="parChTrans1D3" presStyleIdx="3" presStyleCnt="4"/>
      <dgm:spPr/>
    </dgm:pt>
    <dgm:pt modelId="{D9BA8F8B-2A7C-416C-AA09-63B74C3157E2}" type="pres">
      <dgm:prSet presAssocID="{B230BC40-4317-44D8-9081-1CE1C2DE0EE0}" presName="Name21" presStyleCnt="0"/>
      <dgm:spPr/>
    </dgm:pt>
    <dgm:pt modelId="{2B781F50-B329-4AD5-84C9-22B344069048}" type="pres">
      <dgm:prSet presAssocID="{B230BC40-4317-44D8-9081-1CE1C2DE0EE0}" presName="level2Shape" presStyleLbl="node3" presStyleIdx="3" presStyleCnt="4" custScaleX="80080" custScaleY="72519" custLinFactNeighborX="-25898" custLinFactNeighborY="-42351"/>
      <dgm:spPr/>
    </dgm:pt>
    <dgm:pt modelId="{8FFBAA39-6BDF-4697-ABE0-444058DB174B}" type="pres">
      <dgm:prSet presAssocID="{B230BC40-4317-44D8-9081-1CE1C2DE0EE0}" presName="hierChild3" presStyleCnt="0"/>
      <dgm:spPr/>
    </dgm:pt>
    <dgm:pt modelId="{3A4F3CE7-95BE-4D87-817D-D5779BA390F3}" type="pres">
      <dgm:prSet presAssocID="{C2A0E43F-6379-47D6-AC8D-24760D501BF9}" presName="bgShapesFlow" presStyleCnt="0"/>
      <dgm:spPr/>
    </dgm:pt>
  </dgm:ptLst>
  <dgm:cxnLst>
    <dgm:cxn modelId="{1779CA06-F488-457B-BFB2-E22AD9E0787C}" srcId="{33B17D5A-FAD0-40FF-BFD5-B36826E4BDD8}" destId="{B230BC40-4317-44D8-9081-1CE1C2DE0EE0}" srcOrd="1" destOrd="0" parTransId="{C49AFE4C-6FDC-4BE7-8CAA-CF93A0079E69}" sibTransId="{14610360-1FF1-4A09-B800-066A601517CF}"/>
    <dgm:cxn modelId="{62A96F07-C9F0-4C51-80E0-51D25E4B95D5}" type="presOf" srcId="{6AE4250F-400F-4F78-854D-182CB08B0C0F}" destId="{83F8B536-39A5-4F07-9F3A-A616B78331C9}" srcOrd="0" destOrd="0" presId="urn:microsoft.com/office/officeart/2005/8/layout/hierarchy6"/>
    <dgm:cxn modelId="{2889380C-01F3-4C3F-ACE7-C2407BEAC983}" type="presOf" srcId="{1AA1F213-D704-4DFF-A93A-49728750454F}" destId="{3B1D9D37-5190-4685-812C-9AC25E82F5D8}" srcOrd="0" destOrd="0" presId="urn:microsoft.com/office/officeart/2005/8/layout/hierarchy6"/>
    <dgm:cxn modelId="{8150A10D-4EFE-4745-9DE0-69A2C3C584BD}" type="presOf" srcId="{33B17D5A-FAD0-40FF-BFD5-B36826E4BDD8}" destId="{E3500144-ADF8-43D6-8860-55D684BB5628}" srcOrd="0" destOrd="0" presId="urn:microsoft.com/office/officeart/2005/8/layout/hierarchy6"/>
    <dgm:cxn modelId="{2DC44613-84BC-4BFC-8C97-C1450CBBE640}" type="presOf" srcId="{6A368535-C534-4A0C-95DA-68E65311CCAC}" destId="{B6BFF0DD-C082-47B0-9928-6248268AD1D1}" srcOrd="0" destOrd="0" presId="urn:microsoft.com/office/officeart/2005/8/layout/hierarchy6"/>
    <dgm:cxn modelId="{CCFC6E61-CA24-4134-BA69-AF0167F44F3E}" srcId="{D171CCED-40A0-43F3-8FC4-A422650EF8EF}" destId="{33B17D5A-FAD0-40FF-BFD5-B36826E4BDD8}" srcOrd="1" destOrd="0" parTransId="{1AA1F213-D704-4DFF-A93A-49728750454F}" sibTransId="{EFE12002-DAD3-4AC9-9DA4-136D8B8D8BEF}"/>
    <dgm:cxn modelId="{2CF34D45-8521-4B41-B06F-C2FA2EA27810}" srcId="{D171CCED-40A0-43F3-8FC4-A422650EF8EF}" destId="{CC122682-FA74-48C2-A6D9-83DAFB5FD9EF}" srcOrd="0" destOrd="0" parTransId="{03F43716-9303-45D3-9C63-1E6C179CA51C}" sibTransId="{232776A4-2EB7-4B56-BADC-35A1E7D20CE0}"/>
    <dgm:cxn modelId="{400EF06E-C186-4D98-8295-41EB001C9F22}" type="presOf" srcId="{D171CCED-40A0-43F3-8FC4-A422650EF8EF}" destId="{BD524016-C6A6-4424-86B8-6559EB145977}" srcOrd="0" destOrd="0" presId="urn:microsoft.com/office/officeart/2005/8/layout/hierarchy6"/>
    <dgm:cxn modelId="{461A846F-7341-4906-BC25-C8C7203D8289}" srcId="{CC122682-FA74-48C2-A6D9-83DAFB5FD9EF}" destId="{B2220139-725E-4197-AC07-00F783AE2C9E}" srcOrd="1" destOrd="0" parTransId="{6AE4250F-400F-4F78-854D-182CB08B0C0F}" sibTransId="{96DBC7E4-0F61-41B3-A087-15F7B6A44B34}"/>
    <dgm:cxn modelId="{CD379771-9FF5-470D-962E-AD5D44D628D4}" type="presOf" srcId="{B230BC40-4317-44D8-9081-1CE1C2DE0EE0}" destId="{2B781F50-B329-4AD5-84C9-22B344069048}" srcOrd="0" destOrd="0" presId="urn:microsoft.com/office/officeart/2005/8/layout/hierarchy6"/>
    <dgm:cxn modelId="{4CA5B356-98FB-4912-9F78-B29F88E6D8A2}" srcId="{33B17D5A-FAD0-40FF-BFD5-B36826E4BDD8}" destId="{85748094-DD27-4F6B-A972-120C434C8B7B}" srcOrd="0" destOrd="0" parTransId="{A3A503A6-7B88-4296-AC0C-EE70F516F5EC}" sibTransId="{56DFB899-63B6-4455-B182-F460EFD4425A}"/>
    <dgm:cxn modelId="{F559AC5A-0CF8-47A9-9705-2F86EEC750AF}" type="presOf" srcId="{C2A0E43F-6379-47D6-AC8D-24760D501BF9}" destId="{7AFF4287-4CE7-458E-92C4-E5344735C68E}" srcOrd="0" destOrd="0" presId="urn:microsoft.com/office/officeart/2005/8/layout/hierarchy6"/>
    <dgm:cxn modelId="{E747D580-4EEF-435A-8F2C-D1657A577BFC}" srcId="{CC122682-FA74-48C2-A6D9-83DAFB5FD9EF}" destId="{C7D6D10B-388E-44C1-8527-496478FC61B3}" srcOrd="0" destOrd="0" parTransId="{6A368535-C534-4A0C-95DA-68E65311CCAC}" sibTransId="{B010A0E4-D91A-4E5C-A40F-0CBA78CD2BFF}"/>
    <dgm:cxn modelId="{4562B2A4-BC13-4399-A530-A42E41A64DFB}" type="presOf" srcId="{85748094-DD27-4F6B-A972-120C434C8B7B}" destId="{D101BA2D-3963-4017-9498-AD1F623A53DE}" srcOrd="0" destOrd="0" presId="urn:microsoft.com/office/officeart/2005/8/layout/hierarchy6"/>
    <dgm:cxn modelId="{4D82B2A8-A4D7-42F2-ABFB-478B1AFFEEE8}" type="presOf" srcId="{CC122682-FA74-48C2-A6D9-83DAFB5FD9EF}" destId="{F5E578BB-DD6A-40FD-942E-F943BCF601F7}" srcOrd="0" destOrd="0" presId="urn:microsoft.com/office/officeart/2005/8/layout/hierarchy6"/>
    <dgm:cxn modelId="{1C9612B3-BB62-4809-B312-D8D78583D0AC}" srcId="{C2A0E43F-6379-47D6-AC8D-24760D501BF9}" destId="{D171CCED-40A0-43F3-8FC4-A422650EF8EF}" srcOrd="0" destOrd="0" parTransId="{20154CDD-F0E3-4785-97D7-9056399F36D9}" sibTransId="{862C7CE7-5F77-4BD0-A738-4093FC449403}"/>
    <dgm:cxn modelId="{4FB73ECE-BC7A-4C47-A4F1-FAEBC02782C9}" type="presOf" srcId="{B2220139-725E-4197-AC07-00F783AE2C9E}" destId="{32911C63-2941-4CC0-AAF3-3ADF0A59B60B}" srcOrd="0" destOrd="0" presId="urn:microsoft.com/office/officeart/2005/8/layout/hierarchy6"/>
    <dgm:cxn modelId="{1F6BD4D7-B5C2-4D87-A6EB-B38246D1841D}" type="presOf" srcId="{C7D6D10B-388E-44C1-8527-496478FC61B3}" destId="{EE78876C-8709-4D90-AE72-C0ABF4E11A2F}" srcOrd="0" destOrd="0" presId="urn:microsoft.com/office/officeart/2005/8/layout/hierarchy6"/>
    <dgm:cxn modelId="{9D2574F4-BA52-4AEB-9E90-C74D2E1ABBBF}" type="presOf" srcId="{03F43716-9303-45D3-9C63-1E6C179CA51C}" destId="{C2C2F5EF-FC71-4CD7-8F6C-72EBBF91CC78}" srcOrd="0" destOrd="0" presId="urn:microsoft.com/office/officeart/2005/8/layout/hierarchy6"/>
    <dgm:cxn modelId="{EAA18EFC-40A5-40F6-B29E-F652DF232208}" type="presOf" srcId="{A3A503A6-7B88-4296-AC0C-EE70F516F5EC}" destId="{DCF1C2AF-C506-4F76-83FC-2FA1C8DAE862}" srcOrd="0" destOrd="0" presId="urn:microsoft.com/office/officeart/2005/8/layout/hierarchy6"/>
    <dgm:cxn modelId="{9B86D6FF-509A-4EEF-BE1E-757B5031C5B3}" type="presOf" srcId="{C49AFE4C-6FDC-4BE7-8CAA-CF93A0079E69}" destId="{0B2901EB-C3A0-4C1B-93B5-2D4D51508A9F}" srcOrd="0" destOrd="0" presId="urn:microsoft.com/office/officeart/2005/8/layout/hierarchy6"/>
    <dgm:cxn modelId="{B16A9F94-7DB8-4383-AA64-6A9F4C7C0622}" type="presParOf" srcId="{7AFF4287-4CE7-458E-92C4-E5344735C68E}" destId="{60188773-52FD-4BDA-AF9D-EEF62FD90E44}" srcOrd="0" destOrd="0" presId="urn:microsoft.com/office/officeart/2005/8/layout/hierarchy6"/>
    <dgm:cxn modelId="{E37F39AD-D58C-4E8A-8D16-2D119B3BA965}" type="presParOf" srcId="{60188773-52FD-4BDA-AF9D-EEF62FD90E44}" destId="{7159C26E-2214-48D5-B8FD-5292431CD583}" srcOrd="0" destOrd="0" presId="urn:microsoft.com/office/officeart/2005/8/layout/hierarchy6"/>
    <dgm:cxn modelId="{EA1F5AFD-7FBC-40A3-92EB-7D3081BFB775}" type="presParOf" srcId="{7159C26E-2214-48D5-B8FD-5292431CD583}" destId="{D6506002-948F-4487-AA5C-3CE3C750F6E1}" srcOrd="0" destOrd="0" presId="urn:microsoft.com/office/officeart/2005/8/layout/hierarchy6"/>
    <dgm:cxn modelId="{26377267-DEF0-4188-8578-1B519BDB4A69}" type="presParOf" srcId="{D6506002-948F-4487-AA5C-3CE3C750F6E1}" destId="{BD524016-C6A6-4424-86B8-6559EB145977}" srcOrd="0" destOrd="0" presId="urn:microsoft.com/office/officeart/2005/8/layout/hierarchy6"/>
    <dgm:cxn modelId="{C9FD5EB3-6B51-407D-A5D2-CE65F2BE35C0}" type="presParOf" srcId="{D6506002-948F-4487-AA5C-3CE3C750F6E1}" destId="{1E6EC578-54E3-45AF-9F4E-77D8C31230B0}" srcOrd="1" destOrd="0" presId="urn:microsoft.com/office/officeart/2005/8/layout/hierarchy6"/>
    <dgm:cxn modelId="{BCEA01C8-A092-41F1-A50F-875E3878A926}" type="presParOf" srcId="{1E6EC578-54E3-45AF-9F4E-77D8C31230B0}" destId="{C2C2F5EF-FC71-4CD7-8F6C-72EBBF91CC78}" srcOrd="0" destOrd="0" presId="urn:microsoft.com/office/officeart/2005/8/layout/hierarchy6"/>
    <dgm:cxn modelId="{9FBA4E06-21BA-4B40-9D36-27599099B855}" type="presParOf" srcId="{1E6EC578-54E3-45AF-9F4E-77D8C31230B0}" destId="{E27CED65-A962-471B-8942-C36532B059CD}" srcOrd="1" destOrd="0" presId="urn:microsoft.com/office/officeart/2005/8/layout/hierarchy6"/>
    <dgm:cxn modelId="{51BE954B-A4F6-47A0-9FA8-5016A7C1A175}" type="presParOf" srcId="{E27CED65-A962-471B-8942-C36532B059CD}" destId="{F5E578BB-DD6A-40FD-942E-F943BCF601F7}" srcOrd="0" destOrd="0" presId="urn:microsoft.com/office/officeart/2005/8/layout/hierarchy6"/>
    <dgm:cxn modelId="{F8B149A4-11D6-42DB-95AC-07992EE4E27C}" type="presParOf" srcId="{E27CED65-A962-471B-8942-C36532B059CD}" destId="{3AFF9127-2F42-47F0-A909-9D2F3B8174F0}" srcOrd="1" destOrd="0" presId="urn:microsoft.com/office/officeart/2005/8/layout/hierarchy6"/>
    <dgm:cxn modelId="{193F53E4-A139-400D-B5F2-E6DFCBF9FA46}" type="presParOf" srcId="{3AFF9127-2F42-47F0-A909-9D2F3B8174F0}" destId="{B6BFF0DD-C082-47B0-9928-6248268AD1D1}" srcOrd="0" destOrd="0" presId="urn:microsoft.com/office/officeart/2005/8/layout/hierarchy6"/>
    <dgm:cxn modelId="{704C7501-AACD-43E1-AF1C-1121DBF68BA1}" type="presParOf" srcId="{3AFF9127-2F42-47F0-A909-9D2F3B8174F0}" destId="{1FECEF84-5D45-4F6C-A35D-529985D817B3}" srcOrd="1" destOrd="0" presId="urn:microsoft.com/office/officeart/2005/8/layout/hierarchy6"/>
    <dgm:cxn modelId="{D5FFBB30-78AD-4D03-BDEC-639BD62276AC}" type="presParOf" srcId="{1FECEF84-5D45-4F6C-A35D-529985D817B3}" destId="{EE78876C-8709-4D90-AE72-C0ABF4E11A2F}" srcOrd="0" destOrd="0" presId="urn:microsoft.com/office/officeart/2005/8/layout/hierarchy6"/>
    <dgm:cxn modelId="{F90303CB-3BBE-4684-81FD-1F31AC7E66B3}" type="presParOf" srcId="{1FECEF84-5D45-4F6C-A35D-529985D817B3}" destId="{21A03A5C-DC4C-4043-A9CA-67414DDAC168}" srcOrd="1" destOrd="0" presId="urn:microsoft.com/office/officeart/2005/8/layout/hierarchy6"/>
    <dgm:cxn modelId="{B0BD090D-724E-42CE-824E-7A64901748C2}" type="presParOf" srcId="{3AFF9127-2F42-47F0-A909-9D2F3B8174F0}" destId="{83F8B536-39A5-4F07-9F3A-A616B78331C9}" srcOrd="2" destOrd="0" presId="urn:microsoft.com/office/officeart/2005/8/layout/hierarchy6"/>
    <dgm:cxn modelId="{99331DB6-FED7-4B30-B1AC-C197198919DB}" type="presParOf" srcId="{3AFF9127-2F42-47F0-A909-9D2F3B8174F0}" destId="{8870C0CA-FAE9-4176-802B-8F8E04070794}" srcOrd="3" destOrd="0" presId="urn:microsoft.com/office/officeart/2005/8/layout/hierarchy6"/>
    <dgm:cxn modelId="{1AD342DF-90DE-4BB0-8BA4-1DEE7187E6D1}" type="presParOf" srcId="{8870C0CA-FAE9-4176-802B-8F8E04070794}" destId="{32911C63-2941-4CC0-AAF3-3ADF0A59B60B}" srcOrd="0" destOrd="0" presId="urn:microsoft.com/office/officeart/2005/8/layout/hierarchy6"/>
    <dgm:cxn modelId="{F022EBA5-B0D9-43BD-BAAF-A763C4C4AAC1}" type="presParOf" srcId="{8870C0CA-FAE9-4176-802B-8F8E04070794}" destId="{8DC0066E-46E0-4C33-BE29-0DB0A5BFB22C}" srcOrd="1" destOrd="0" presId="urn:microsoft.com/office/officeart/2005/8/layout/hierarchy6"/>
    <dgm:cxn modelId="{53DF2595-1B69-479B-AC1D-F0F9A2060C25}" type="presParOf" srcId="{1E6EC578-54E3-45AF-9F4E-77D8C31230B0}" destId="{3B1D9D37-5190-4685-812C-9AC25E82F5D8}" srcOrd="2" destOrd="0" presId="urn:microsoft.com/office/officeart/2005/8/layout/hierarchy6"/>
    <dgm:cxn modelId="{CF565AD3-5083-4CEF-B1B5-A12DDB2ADA10}" type="presParOf" srcId="{1E6EC578-54E3-45AF-9F4E-77D8C31230B0}" destId="{9D23FAF4-3B44-4F01-94AA-FF47FC3B1684}" srcOrd="3" destOrd="0" presId="urn:microsoft.com/office/officeart/2005/8/layout/hierarchy6"/>
    <dgm:cxn modelId="{CB8BBE48-71E7-41E8-A52C-A998C81CDDEC}" type="presParOf" srcId="{9D23FAF4-3B44-4F01-94AA-FF47FC3B1684}" destId="{E3500144-ADF8-43D6-8860-55D684BB5628}" srcOrd="0" destOrd="0" presId="urn:microsoft.com/office/officeart/2005/8/layout/hierarchy6"/>
    <dgm:cxn modelId="{FF91B7BD-9E88-4B01-B4DF-A0272AAA654B}" type="presParOf" srcId="{9D23FAF4-3B44-4F01-94AA-FF47FC3B1684}" destId="{318D246B-6F25-414B-9FCF-84469C36D7D6}" srcOrd="1" destOrd="0" presId="urn:microsoft.com/office/officeart/2005/8/layout/hierarchy6"/>
    <dgm:cxn modelId="{DE0CF24C-721C-4D51-9CFF-2A9B617712A9}" type="presParOf" srcId="{318D246B-6F25-414B-9FCF-84469C36D7D6}" destId="{DCF1C2AF-C506-4F76-83FC-2FA1C8DAE862}" srcOrd="0" destOrd="0" presId="urn:microsoft.com/office/officeart/2005/8/layout/hierarchy6"/>
    <dgm:cxn modelId="{AC64DF68-DD06-4D35-ADFA-118F9CB3E6AA}" type="presParOf" srcId="{318D246B-6F25-414B-9FCF-84469C36D7D6}" destId="{83B822BC-7CB5-41B2-A11B-F9BE98AFB040}" srcOrd="1" destOrd="0" presId="urn:microsoft.com/office/officeart/2005/8/layout/hierarchy6"/>
    <dgm:cxn modelId="{BE47A4AC-55B4-4655-9485-93E2DAA8A929}" type="presParOf" srcId="{83B822BC-7CB5-41B2-A11B-F9BE98AFB040}" destId="{D101BA2D-3963-4017-9498-AD1F623A53DE}" srcOrd="0" destOrd="0" presId="urn:microsoft.com/office/officeart/2005/8/layout/hierarchy6"/>
    <dgm:cxn modelId="{C131D930-E9DB-4985-A8D9-9BF24D0B6F7A}" type="presParOf" srcId="{83B822BC-7CB5-41B2-A11B-F9BE98AFB040}" destId="{1C547AA2-212B-4C66-B740-4F307EC91A04}" srcOrd="1" destOrd="0" presId="urn:microsoft.com/office/officeart/2005/8/layout/hierarchy6"/>
    <dgm:cxn modelId="{B9386C7A-24E5-4CBA-A21B-1BDCE7304541}" type="presParOf" srcId="{318D246B-6F25-414B-9FCF-84469C36D7D6}" destId="{0B2901EB-C3A0-4C1B-93B5-2D4D51508A9F}" srcOrd="2" destOrd="0" presId="urn:microsoft.com/office/officeart/2005/8/layout/hierarchy6"/>
    <dgm:cxn modelId="{952CFBD8-2481-428F-A752-51BF22881838}" type="presParOf" srcId="{318D246B-6F25-414B-9FCF-84469C36D7D6}" destId="{D9BA8F8B-2A7C-416C-AA09-63B74C3157E2}" srcOrd="3" destOrd="0" presId="urn:microsoft.com/office/officeart/2005/8/layout/hierarchy6"/>
    <dgm:cxn modelId="{F320EF4A-11CE-45C9-81D1-25BD332762E7}" type="presParOf" srcId="{D9BA8F8B-2A7C-416C-AA09-63B74C3157E2}" destId="{2B781F50-B329-4AD5-84C9-22B344069048}" srcOrd="0" destOrd="0" presId="urn:microsoft.com/office/officeart/2005/8/layout/hierarchy6"/>
    <dgm:cxn modelId="{A482B1EC-99FD-43DE-9A21-72F34D90179A}" type="presParOf" srcId="{D9BA8F8B-2A7C-416C-AA09-63B74C3157E2}" destId="{8FFBAA39-6BDF-4697-ABE0-444058DB174B}" srcOrd="1" destOrd="0" presId="urn:microsoft.com/office/officeart/2005/8/layout/hierarchy6"/>
    <dgm:cxn modelId="{0C13AACD-BF2F-42C8-B4AC-830DB2B8BEE4}" type="presParOf" srcId="{7AFF4287-4CE7-458E-92C4-E5344735C68E}" destId="{3A4F3CE7-95BE-4D87-817D-D5779BA390F3}"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A0E43F-6379-47D6-AC8D-24760D501BF9}"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D171CCED-40A0-43F3-8FC4-A422650EF8EF}">
      <dgm:prSet phldrT="[Text]" custT="1"/>
      <dgm:spPr/>
      <dgm:t>
        <a:bodyPr/>
        <a:lstStyle/>
        <a:p>
          <a:r>
            <a:rPr lang="en-US" sz="2400" dirty="0"/>
            <a:t>Emirate (N=9913)</a:t>
          </a:r>
        </a:p>
      </dgm:t>
    </dgm:pt>
    <dgm:pt modelId="{20154CDD-F0E3-4785-97D7-9056399F36D9}" type="parTrans" cxnId="{1C9612B3-BB62-4809-B312-D8D78583D0AC}">
      <dgm:prSet/>
      <dgm:spPr/>
      <dgm:t>
        <a:bodyPr/>
        <a:lstStyle/>
        <a:p>
          <a:endParaRPr lang="en-US"/>
        </a:p>
      </dgm:t>
    </dgm:pt>
    <dgm:pt modelId="{862C7CE7-5F77-4BD0-A738-4093FC449403}" type="sibTrans" cxnId="{1C9612B3-BB62-4809-B312-D8D78583D0AC}">
      <dgm:prSet/>
      <dgm:spPr/>
      <dgm:t>
        <a:bodyPr/>
        <a:lstStyle/>
        <a:p>
          <a:endParaRPr lang="en-US"/>
        </a:p>
      </dgm:t>
    </dgm:pt>
    <dgm:pt modelId="{CC122682-FA74-48C2-A6D9-83DAFB5FD9EF}" type="asst">
      <dgm:prSet phldrT="[Text]" custT="1"/>
      <dgm:spPr>
        <a:solidFill>
          <a:schemeClr val="bg2"/>
        </a:solidFill>
        <a:ln>
          <a:solidFill>
            <a:schemeClr val="bg2"/>
          </a:solidFill>
        </a:ln>
      </dgm:spPr>
      <dgm:t>
        <a:bodyPr/>
        <a:lstStyle/>
        <a:p>
          <a:r>
            <a:rPr lang="en-US" sz="2200" dirty="0"/>
            <a:t>100 Treatment Neighborhoods (N=4959)</a:t>
          </a:r>
        </a:p>
      </dgm:t>
    </dgm:pt>
    <dgm:pt modelId="{03F43716-9303-45D3-9C63-1E6C179CA51C}" type="parTrans" cxnId="{2CF34D45-8521-4B41-B06F-C2FA2EA27810}">
      <dgm:prSet/>
      <dgm:spPr/>
      <dgm:t>
        <a:bodyPr/>
        <a:lstStyle/>
        <a:p>
          <a:endParaRPr lang="en-US"/>
        </a:p>
      </dgm:t>
    </dgm:pt>
    <dgm:pt modelId="{232776A4-2EB7-4B56-BADC-35A1E7D20CE0}" type="sibTrans" cxnId="{2CF34D45-8521-4B41-B06F-C2FA2EA27810}">
      <dgm:prSet/>
      <dgm:spPr/>
      <dgm:t>
        <a:bodyPr/>
        <a:lstStyle/>
        <a:p>
          <a:endParaRPr lang="en-US"/>
        </a:p>
      </dgm:t>
    </dgm:pt>
    <dgm:pt modelId="{33B17D5A-FAD0-40FF-BFD5-B36826E4BDD8}">
      <dgm:prSet phldrT="[Text]" custT="1"/>
      <dgm:spPr/>
      <dgm:t>
        <a:bodyPr/>
        <a:lstStyle/>
        <a:p>
          <a:r>
            <a:rPr lang="en-US" sz="2200" dirty="0"/>
            <a:t>100 Control Neighborhoods (N=4954)</a:t>
          </a:r>
        </a:p>
      </dgm:t>
    </dgm:pt>
    <dgm:pt modelId="{1AA1F213-D704-4DFF-A93A-49728750454F}" type="parTrans" cxnId="{CCFC6E61-CA24-4134-BA69-AF0167F44F3E}">
      <dgm:prSet/>
      <dgm:spPr/>
      <dgm:t>
        <a:bodyPr/>
        <a:lstStyle/>
        <a:p>
          <a:endParaRPr lang="en-US"/>
        </a:p>
      </dgm:t>
    </dgm:pt>
    <dgm:pt modelId="{EFE12002-DAD3-4AC9-9DA4-136D8B8D8BEF}" type="sibTrans" cxnId="{CCFC6E61-CA24-4134-BA69-AF0167F44F3E}">
      <dgm:prSet/>
      <dgm:spPr/>
      <dgm:t>
        <a:bodyPr/>
        <a:lstStyle/>
        <a:p>
          <a:endParaRPr lang="en-US"/>
        </a:p>
      </dgm:t>
    </dgm:pt>
    <dgm:pt modelId="{C7D6D10B-388E-44C1-8527-496478FC61B3}">
      <dgm:prSet custT="1"/>
      <dgm:spPr>
        <a:solidFill>
          <a:schemeClr val="bg2"/>
        </a:solidFill>
        <a:ln>
          <a:solidFill>
            <a:schemeClr val="bg2"/>
          </a:solidFill>
        </a:ln>
      </dgm:spPr>
      <dgm:t>
        <a:bodyPr/>
        <a:lstStyle/>
        <a:p>
          <a:r>
            <a:rPr lang="en-US" sz="2400" dirty="0"/>
            <a:t>Eligible Businesses (N=2964)</a:t>
          </a:r>
        </a:p>
      </dgm:t>
    </dgm:pt>
    <dgm:pt modelId="{6A368535-C534-4A0C-95DA-68E65311CCAC}" type="parTrans" cxnId="{E747D580-4EEF-435A-8F2C-D1657A577BFC}">
      <dgm:prSet/>
      <dgm:spPr/>
      <dgm:t>
        <a:bodyPr/>
        <a:lstStyle/>
        <a:p>
          <a:endParaRPr lang="en-US"/>
        </a:p>
      </dgm:t>
    </dgm:pt>
    <dgm:pt modelId="{B010A0E4-D91A-4E5C-A40F-0CBA78CD2BFF}" type="sibTrans" cxnId="{E747D580-4EEF-435A-8F2C-D1657A577BFC}">
      <dgm:prSet/>
      <dgm:spPr/>
      <dgm:t>
        <a:bodyPr/>
        <a:lstStyle/>
        <a:p>
          <a:endParaRPr lang="en-US"/>
        </a:p>
      </dgm:t>
    </dgm:pt>
    <dgm:pt modelId="{B2220139-725E-4197-AC07-00F783AE2C9E}">
      <dgm:prSet custT="1"/>
      <dgm:spPr/>
      <dgm:t>
        <a:bodyPr/>
        <a:lstStyle/>
        <a:p>
          <a:r>
            <a:rPr lang="en-US" sz="2400" dirty="0"/>
            <a:t>Ineligible Businesses (N=1995)</a:t>
          </a:r>
        </a:p>
      </dgm:t>
    </dgm:pt>
    <dgm:pt modelId="{6AE4250F-400F-4F78-854D-182CB08B0C0F}" type="parTrans" cxnId="{461A846F-7341-4906-BC25-C8C7203D8289}">
      <dgm:prSet/>
      <dgm:spPr/>
      <dgm:t>
        <a:bodyPr/>
        <a:lstStyle/>
        <a:p>
          <a:endParaRPr lang="en-US"/>
        </a:p>
      </dgm:t>
    </dgm:pt>
    <dgm:pt modelId="{96DBC7E4-0F61-41B3-A087-15F7B6A44B34}" type="sibTrans" cxnId="{461A846F-7341-4906-BC25-C8C7203D8289}">
      <dgm:prSet/>
      <dgm:spPr/>
      <dgm:t>
        <a:bodyPr/>
        <a:lstStyle/>
        <a:p>
          <a:endParaRPr lang="en-US"/>
        </a:p>
      </dgm:t>
    </dgm:pt>
    <dgm:pt modelId="{85748094-DD27-4F6B-A972-120C434C8B7B}">
      <dgm:prSet custT="1"/>
      <dgm:spPr/>
      <dgm:t>
        <a:bodyPr/>
        <a:lstStyle/>
        <a:p>
          <a:r>
            <a:rPr lang="en-US" sz="2400" dirty="0"/>
            <a:t>Eligible Businesses (N=2664)</a:t>
          </a:r>
        </a:p>
      </dgm:t>
    </dgm:pt>
    <dgm:pt modelId="{A3A503A6-7B88-4296-AC0C-EE70F516F5EC}" type="parTrans" cxnId="{4CA5B356-98FB-4912-9F78-B29F88E6D8A2}">
      <dgm:prSet/>
      <dgm:spPr/>
      <dgm:t>
        <a:bodyPr/>
        <a:lstStyle/>
        <a:p>
          <a:endParaRPr lang="en-US"/>
        </a:p>
      </dgm:t>
    </dgm:pt>
    <dgm:pt modelId="{56DFB899-63B6-4455-B182-F460EFD4425A}" type="sibTrans" cxnId="{4CA5B356-98FB-4912-9F78-B29F88E6D8A2}">
      <dgm:prSet/>
      <dgm:spPr/>
      <dgm:t>
        <a:bodyPr/>
        <a:lstStyle/>
        <a:p>
          <a:endParaRPr lang="en-US"/>
        </a:p>
      </dgm:t>
    </dgm:pt>
    <dgm:pt modelId="{B230BC40-4317-44D8-9081-1CE1C2DE0EE0}">
      <dgm:prSet custT="1"/>
      <dgm:spPr/>
      <dgm:t>
        <a:bodyPr/>
        <a:lstStyle/>
        <a:p>
          <a:r>
            <a:rPr lang="en-US" sz="2400" dirty="0"/>
            <a:t>Ineligible Businesses (N=2290)</a:t>
          </a:r>
        </a:p>
      </dgm:t>
    </dgm:pt>
    <dgm:pt modelId="{C49AFE4C-6FDC-4BE7-8CAA-CF93A0079E69}" type="parTrans" cxnId="{1779CA06-F488-457B-BFB2-E22AD9E0787C}">
      <dgm:prSet/>
      <dgm:spPr/>
      <dgm:t>
        <a:bodyPr/>
        <a:lstStyle/>
        <a:p>
          <a:endParaRPr lang="en-US"/>
        </a:p>
      </dgm:t>
    </dgm:pt>
    <dgm:pt modelId="{14610360-1FF1-4A09-B800-066A601517CF}" type="sibTrans" cxnId="{1779CA06-F488-457B-BFB2-E22AD9E0787C}">
      <dgm:prSet/>
      <dgm:spPr/>
      <dgm:t>
        <a:bodyPr/>
        <a:lstStyle/>
        <a:p>
          <a:endParaRPr lang="en-US"/>
        </a:p>
      </dgm:t>
    </dgm:pt>
    <dgm:pt modelId="{07D76E25-01FD-4F4B-B128-F05B6EC9EC63}">
      <dgm:prSet custT="1"/>
      <dgm:spPr>
        <a:solidFill>
          <a:schemeClr val="bg2"/>
        </a:solidFill>
        <a:ln>
          <a:solidFill>
            <a:schemeClr val="bg2"/>
          </a:solidFill>
        </a:ln>
      </dgm:spPr>
      <dgm:t>
        <a:bodyPr/>
        <a:lstStyle/>
        <a:p>
          <a:r>
            <a:rPr lang="en-US" sz="2000" dirty="0"/>
            <a:t>Decide to enroll (N=2907)</a:t>
          </a:r>
        </a:p>
      </dgm:t>
    </dgm:pt>
    <dgm:pt modelId="{7EDF957E-3CB2-41E6-92EA-6299F04AA51F}" type="parTrans" cxnId="{A2812676-8C5B-4A0B-BE86-172AD5A419D8}">
      <dgm:prSet/>
      <dgm:spPr/>
      <dgm:t>
        <a:bodyPr/>
        <a:lstStyle/>
        <a:p>
          <a:endParaRPr lang="en-US"/>
        </a:p>
      </dgm:t>
    </dgm:pt>
    <dgm:pt modelId="{C0774D13-D569-4677-AFC3-016337BB433B}" type="sibTrans" cxnId="{A2812676-8C5B-4A0B-BE86-172AD5A419D8}">
      <dgm:prSet/>
      <dgm:spPr/>
      <dgm:t>
        <a:bodyPr/>
        <a:lstStyle/>
        <a:p>
          <a:endParaRPr lang="en-US"/>
        </a:p>
      </dgm:t>
    </dgm:pt>
    <dgm:pt modelId="{F224600E-6FA9-4331-9D6F-407346A4B100}">
      <dgm:prSet custT="1"/>
      <dgm:spPr/>
      <dgm:t>
        <a:bodyPr/>
        <a:lstStyle/>
        <a:p>
          <a:r>
            <a:rPr lang="en-US" sz="2000" dirty="0"/>
            <a:t>Decide not to enroll (N=57)</a:t>
          </a:r>
        </a:p>
      </dgm:t>
    </dgm:pt>
    <dgm:pt modelId="{0EE5B3BE-1EE5-4A19-B0BE-8C8EA6D7E16E}" type="parTrans" cxnId="{2E49DA44-F494-4393-B324-CC73424AE167}">
      <dgm:prSet/>
      <dgm:spPr/>
      <dgm:t>
        <a:bodyPr/>
        <a:lstStyle/>
        <a:p>
          <a:endParaRPr lang="en-US"/>
        </a:p>
      </dgm:t>
    </dgm:pt>
    <dgm:pt modelId="{58752B14-172A-4830-A16C-3FB632668FBD}" type="sibTrans" cxnId="{2E49DA44-F494-4393-B324-CC73424AE167}">
      <dgm:prSet/>
      <dgm:spPr/>
      <dgm:t>
        <a:bodyPr/>
        <a:lstStyle/>
        <a:p>
          <a:endParaRPr lang="en-US"/>
        </a:p>
      </dgm:t>
    </dgm:pt>
    <dgm:pt modelId="{7AFF4287-4CE7-458E-92C4-E5344735C68E}" type="pres">
      <dgm:prSet presAssocID="{C2A0E43F-6379-47D6-AC8D-24760D501BF9}" presName="mainComposite" presStyleCnt="0">
        <dgm:presLayoutVars>
          <dgm:chPref val="1"/>
          <dgm:dir/>
          <dgm:animOne val="branch"/>
          <dgm:animLvl val="lvl"/>
          <dgm:resizeHandles val="exact"/>
        </dgm:presLayoutVars>
      </dgm:prSet>
      <dgm:spPr/>
    </dgm:pt>
    <dgm:pt modelId="{60188773-52FD-4BDA-AF9D-EEF62FD90E44}" type="pres">
      <dgm:prSet presAssocID="{C2A0E43F-6379-47D6-AC8D-24760D501BF9}" presName="hierFlow" presStyleCnt="0"/>
      <dgm:spPr/>
    </dgm:pt>
    <dgm:pt modelId="{7159C26E-2214-48D5-B8FD-5292431CD583}" type="pres">
      <dgm:prSet presAssocID="{C2A0E43F-6379-47D6-AC8D-24760D501BF9}" presName="hierChild1" presStyleCnt="0">
        <dgm:presLayoutVars>
          <dgm:chPref val="1"/>
          <dgm:animOne val="branch"/>
          <dgm:animLvl val="lvl"/>
        </dgm:presLayoutVars>
      </dgm:prSet>
      <dgm:spPr/>
    </dgm:pt>
    <dgm:pt modelId="{D6506002-948F-4487-AA5C-3CE3C750F6E1}" type="pres">
      <dgm:prSet presAssocID="{D171CCED-40A0-43F3-8FC4-A422650EF8EF}" presName="Name14" presStyleCnt="0"/>
      <dgm:spPr/>
    </dgm:pt>
    <dgm:pt modelId="{BD524016-C6A6-4424-86B8-6559EB145977}" type="pres">
      <dgm:prSet presAssocID="{D171CCED-40A0-43F3-8FC4-A422650EF8EF}" presName="level1Shape" presStyleLbl="node0" presStyleIdx="0" presStyleCnt="1" custScaleX="77453" custScaleY="71114" custLinFactNeighborX="-7310" custLinFactNeighborY="-64404">
        <dgm:presLayoutVars>
          <dgm:chPref val="3"/>
        </dgm:presLayoutVars>
      </dgm:prSet>
      <dgm:spPr/>
    </dgm:pt>
    <dgm:pt modelId="{1E6EC578-54E3-45AF-9F4E-77D8C31230B0}" type="pres">
      <dgm:prSet presAssocID="{D171CCED-40A0-43F3-8FC4-A422650EF8EF}" presName="hierChild2" presStyleCnt="0"/>
      <dgm:spPr/>
    </dgm:pt>
    <dgm:pt modelId="{C2C2F5EF-FC71-4CD7-8F6C-72EBBF91CC78}" type="pres">
      <dgm:prSet presAssocID="{03F43716-9303-45D3-9C63-1E6C179CA51C}" presName="Name19" presStyleLbl="parChTrans1D2" presStyleIdx="0" presStyleCnt="2"/>
      <dgm:spPr/>
    </dgm:pt>
    <dgm:pt modelId="{E27CED65-A962-471B-8942-C36532B059CD}" type="pres">
      <dgm:prSet presAssocID="{CC122682-FA74-48C2-A6D9-83DAFB5FD9EF}" presName="Name21" presStyleCnt="0"/>
      <dgm:spPr/>
    </dgm:pt>
    <dgm:pt modelId="{F5E578BB-DD6A-40FD-942E-F943BCF601F7}" type="pres">
      <dgm:prSet presAssocID="{CC122682-FA74-48C2-A6D9-83DAFB5FD9EF}" presName="level2Shape" presStyleLbl="asst1" presStyleIdx="0" presStyleCnt="1" custScaleX="86389" custScaleY="78259" custLinFactNeighborX="3401" custLinFactNeighborY="-45634"/>
      <dgm:spPr/>
    </dgm:pt>
    <dgm:pt modelId="{3AFF9127-2F42-47F0-A909-9D2F3B8174F0}" type="pres">
      <dgm:prSet presAssocID="{CC122682-FA74-48C2-A6D9-83DAFB5FD9EF}" presName="hierChild3" presStyleCnt="0"/>
      <dgm:spPr/>
    </dgm:pt>
    <dgm:pt modelId="{B6BFF0DD-C082-47B0-9928-6248268AD1D1}" type="pres">
      <dgm:prSet presAssocID="{6A368535-C534-4A0C-95DA-68E65311CCAC}" presName="Name19" presStyleLbl="parChTrans1D3" presStyleIdx="0" presStyleCnt="4"/>
      <dgm:spPr/>
    </dgm:pt>
    <dgm:pt modelId="{1FECEF84-5D45-4F6C-A35D-529985D817B3}" type="pres">
      <dgm:prSet presAssocID="{C7D6D10B-388E-44C1-8527-496478FC61B3}" presName="Name21" presStyleCnt="0"/>
      <dgm:spPr/>
    </dgm:pt>
    <dgm:pt modelId="{EE78876C-8709-4D90-AE72-C0ABF4E11A2F}" type="pres">
      <dgm:prSet presAssocID="{C7D6D10B-388E-44C1-8527-496478FC61B3}" presName="level2Shape" presStyleLbl="node3" presStyleIdx="0" presStyleCnt="4" custScaleX="80080" custScaleY="72519" custLinFactNeighborX="12945" custLinFactNeighborY="-40248"/>
      <dgm:spPr/>
    </dgm:pt>
    <dgm:pt modelId="{21A03A5C-DC4C-4043-A9CA-67414DDAC168}" type="pres">
      <dgm:prSet presAssocID="{C7D6D10B-388E-44C1-8527-496478FC61B3}" presName="hierChild3" presStyleCnt="0"/>
      <dgm:spPr/>
    </dgm:pt>
    <dgm:pt modelId="{2B29F2B9-1D0E-46EB-957C-1C2695D2804D}" type="pres">
      <dgm:prSet presAssocID="{7EDF957E-3CB2-41E6-92EA-6299F04AA51F}" presName="Name19" presStyleLbl="parChTrans1D4" presStyleIdx="0" presStyleCnt="2"/>
      <dgm:spPr/>
    </dgm:pt>
    <dgm:pt modelId="{16A28490-6576-4E97-98E5-B90A71ECCA51}" type="pres">
      <dgm:prSet presAssocID="{07D76E25-01FD-4F4B-B128-F05B6EC9EC63}" presName="Name21" presStyleCnt="0"/>
      <dgm:spPr/>
    </dgm:pt>
    <dgm:pt modelId="{6519ECA7-B8BE-4ADA-8821-E074A592398D}" type="pres">
      <dgm:prSet presAssocID="{07D76E25-01FD-4F4B-B128-F05B6EC9EC63}" presName="level2Shape" presStyleLbl="node4" presStyleIdx="0" presStyleCnt="2" custScaleX="53987" custScaleY="64852" custLinFactNeighborX="10269"/>
      <dgm:spPr/>
    </dgm:pt>
    <dgm:pt modelId="{5F4B2645-DB78-46F2-9A96-F47073BC2C6F}" type="pres">
      <dgm:prSet presAssocID="{07D76E25-01FD-4F4B-B128-F05B6EC9EC63}" presName="hierChild3" presStyleCnt="0"/>
      <dgm:spPr/>
    </dgm:pt>
    <dgm:pt modelId="{AAE69CCB-C349-4D2C-9AA8-F67107302345}" type="pres">
      <dgm:prSet presAssocID="{0EE5B3BE-1EE5-4A19-B0BE-8C8EA6D7E16E}" presName="Name19" presStyleLbl="parChTrans1D4" presStyleIdx="1" presStyleCnt="2"/>
      <dgm:spPr/>
    </dgm:pt>
    <dgm:pt modelId="{0DCC28E2-FA5B-4221-B252-E7FEBA9E8BE4}" type="pres">
      <dgm:prSet presAssocID="{F224600E-6FA9-4331-9D6F-407346A4B100}" presName="Name21" presStyleCnt="0"/>
      <dgm:spPr/>
    </dgm:pt>
    <dgm:pt modelId="{577D3ECA-BD3B-4057-8376-580CB7D3C923}" type="pres">
      <dgm:prSet presAssocID="{F224600E-6FA9-4331-9D6F-407346A4B100}" presName="level2Shape" presStyleLbl="node4" presStyleIdx="1" presStyleCnt="2" custScaleX="54100" custScaleY="64784" custLinFactNeighborX="3081"/>
      <dgm:spPr/>
    </dgm:pt>
    <dgm:pt modelId="{CC145AA2-F19E-4C8B-BFEA-BBBF482D4283}" type="pres">
      <dgm:prSet presAssocID="{F224600E-6FA9-4331-9D6F-407346A4B100}" presName="hierChild3" presStyleCnt="0"/>
      <dgm:spPr/>
    </dgm:pt>
    <dgm:pt modelId="{83F8B536-39A5-4F07-9F3A-A616B78331C9}" type="pres">
      <dgm:prSet presAssocID="{6AE4250F-400F-4F78-854D-182CB08B0C0F}" presName="Name19" presStyleLbl="parChTrans1D3" presStyleIdx="1" presStyleCnt="4"/>
      <dgm:spPr/>
    </dgm:pt>
    <dgm:pt modelId="{8870C0CA-FAE9-4176-802B-8F8E04070794}" type="pres">
      <dgm:prSet presAssocID="{B2220139-725E-4197-AC07-00F783AE2C9E}" presName="Name21" presStyleCnt="0"/>
      <dgm:spPr/>
    </dgm:pt>
    <dgm:pt modelId="{32911C63-2941-4CC0-AAF3-3ADF0A59B60B}" type="pres">
      <dgm:prSet presAssocID="{B2220139-725E-4197-AC07-00F783AE2C9E}" presName="level2Shape" presStyleLbl="node3" presStyleIdx="1" presStyleCnt="4" custScaleX="80080" custScaleY="72519" custLinFactNeighborX="-9163" custLinFactNeighborY="-40089"/>
      <dgm:spPr/>
    </dgm:pt>
    <dgm:pt modelId="{8DC0066E-46E0-4C33-BE29-0DB0A5BFB22C}" type="pres">
      <dgm:prSet presAssocID="{B2220139-725E-4197-AC07-00F783AE2C9E}" presName="hierChild3" presStyleCnt="0"/>
      <dgm:spPr/>
    </dgm:pt>
    <dgm:pt modelId="{3B1D9D37-5190-4685-812C-9AC25E82F5D8}" type="pres">
      <dgm:prSet presAssocID="{1AA1F213-D704-4DFF-A93A-49728750454F}" presName="Name19" presStyleLbl="parChTrans1D2" presStyleIdx="1" presStyleCnt="2"/>
      <dgm:spPr/>
    </dgm:pt>
    <dgm:pt modelId="{9D23FAF4-3B44-4F01-94AA-FF47FC3B1684}" type="pres">
      <dgm:prSet presAssocID="{33B17D5A-FAD0-40FF-BFD5-B36826E4BDD8}" presName="Name21" presStyleCnt="0"/>
      <dgm:spPr/>
    </dgm:pt>
    <dgm:pt modelId="{E3500144-ADF8-43D6-8860-55D684BB5628}" type="pres">
      <dgm:prSet presAssocID="{33B17D5A-FAD0-40FF-BFD5-B36826E4BDD8}" presName="level2Shape" presStyleLbl="node2" presStyleIdx="0" presStyleCnt="1" custScaleX="86389" custScaleY="78259" custLinFactNeighborX="-17687" custLinFactNeighborY="-45538"/>
      <dgm:spPr/>
    </dgm:pt>
    <dgm:pt modelId="{318D246B-6F25-414B-9FCF-84469C36D7D6}" type="pres">
      <dgm:prSet presAssocID="{33B17D5A-FAD0-40FF-BFD5-B36826E4BDD8}" presName="hierChild3" presStyleCnt="0"/>
      <dgm:spPr/>
    </dgm:pt>
    <dgm:pt modelId="{DCF1C2AF-C506-4F76-83FC-2FA1C8DAE862}" type="pres">
      <dgm:prSet presAssocID="{A3A503A6-7B88-4296-AC0C-EE70F516F5EC}" presName="Name19" presStyleLbl="parChTrans1D3" presStyleIdx="2" presStyleCnt="4"/>
      <dgm:spPr/>
    </dgm:pt>
    <dgm:pt modelId="{83B822BC-7CB5-41B2-A11B-F9BE98AFB040}" type="pres">
      <dgm:prSet presAssocID="{85748094-DD27-4F6B-A972-120C434C8B7B}" presName="Name21" presStyleCnt="0"/>
      <dgm:spPr/>
    </dgm:pt>
    <dgm:pt modelId="{D101BA2D-3963-4017-9498-AD1F623A53DE}" type="pres">
      <dgm:prSet presAssocID="{85748094-DD27-4F6B-A972-120C434C8B7B}" presName="level2Shape" presStyleLbl="node3" presStyleIdx="2" presStyleCnt="4" custScaleX="80080" custScaleY="72519" custLinFactNeighborX="-4302" custLinFactNeighborY="-42345"/>
      <dgm:spPr/>
    </dgm:pt>
    <dgm:pt modelId="{1C547AA2-212B-4C66-B740-4F307EC91A04}" type="pres">
      <dgm:prSet presAssocID="{85748094-DD27-4F6B-A972-120C434C8B7B}" presName="hierChild3" presStyleCnt="0"/>
      <dgm:spPr/>
    </dgm:pt>
    <dgm:pt modelId="{0B2901EB-C3A0-4C1B-93B5-2D4D51508A9F}" type="pres">
      <dgm:prSet presAssocID="{C49AFE4C-6FDC-4BE7-8CAA-CF93A0079E69}" presName="Name19" presStyleLbl="parChTrans1D3" presStyleIdx="3" presStyleCnt="4"/>
      <dgm:spPr/>
    </dgm:pt>
    <dgm:pt modelId="{D9BA8F8B-2A7C-416C-AA09-63B74C3157E2}" type="pres">
      <dgm:prSet presAssocID="{B230BC40-4317-44D8-9081-1CE1C2DE0EE0}" presName="Name21" presStyleCnt="0"/>
      <dgm:spPr/>
    </dgm:pt>
    <dgm:pt modelId="{2B781F50-B329-4AD5-84C9-22B344069048}" type="pres">
      <dgm:prSet presAssocID="{B230BC40-4317-44D8-9081-1CE1C2DE0EE0}" presName="level2Shape" presStyleLbl="node3" presStyleIdx="3" presStyleCnt="4" custScaleX="80080" custScaleY="72519" custLinFactNeighborX="-25898" custLinFactNeighborY="-42351"/>
      <dgm:spPr/>
    </dgm:pt>
    <dgm:pt modelId="{8FFBAA39-6BDF-4697-ABE0-444058DB174B}" type="pres">
      <dgm:prSet presAssocID="{B230BC40-4317-44D8-9081-1CE1C2DE0EE0}" presName="hierChild3" presStyleCnt="0"/>
      <dgm:spPr/>
    </dgm:pt>
    <dgm:pt modelId="{3A4F3CE7-95BE-4D87-817D-D5779BA390F3}" type="pres">
      <dgm:prSet presAssocID="{C2A0E43F-6379-47D6-AC8D-24760D501BF9}" presName="bgShapesFlow" presStyleCnt="0"/>
      <dgm:spPr/>
    </dgm:pt>
  </dgm:ptLst>
  <dgm:cxnLst>
    <dgm:cxn modelId="{1779CA06-F488-457B-BFB2-E22AD9E0787C}" srcId="{33B17D5A-FAD0-40FF-BFD5-B36826E4BDD8}" destId="{B230BC40-4317-44D8-9081-1CE1C2DE0EE0}" srcOrd="1" destOrd="0" parTransId="{C49AFE4C-6FDC-4BE7-8CAA-CF93A0079E69}" sibTransId="{14610360-1FF1-4A09-B800-066A601517CF}"/>
    <dgm:cxn modelId="{62A96F07-C9F0-4C51-80E0-51D25E4B95D5}" type="presOf" srcId="{6AE4250F-400F-4F78-854D-182CB08B0C0F}" destId="{83F8B536-39A5-4F07-9F3A-A616B78331C9}" srcOrd="0" destOrd="0" presId="urn:microsoft.com/office/officeart/2005/8/layout/hierarchy6"/>
    <dgm:cxn modelId="{2889380C-01F3-4C3F-ACE7-C2407BEAC983}" type="presOf" srcId="{1AA1F213-D704-4DFF-A93A-49728750454F}" destId="{3B1D9D37-5190-4685-812C-9AC25E82F5D8}" srcOrd="0" destOrd="0" presId="urn:microsoft.com/office/officeart/2005/8/layout/hierarchy6"/>
    <dgm:cxn modelId="{8150A10D-4EFE-4745-9DE0-69A2C3C584BD}" type="presOf" srcId="{33B17D5A-FAD0-40FF-BFD5-B36826E4BDD8}" destId="{E3500144-ADF8-43D6-8860-55D684BB5628}" srcOrd="0" destOrd="0" presId="urn:microsoft.com/office/officeart/2005/8/layout/hierarchy6"/>
    <dgm:cxn modelId="{2DC44613-84BC-4BFC-8C97-C1450CBBE640}" type="presOf" srcId="{6A368535-C534-4A0C-95DA-68E65311CCAC}" destId="{B6BFF0DD-C082-47B0-9928-6248268AD1D1}" srcOrd="0" destOrd="0" presId="urn:microsoft.com/office/officeart/2005/8/layout/hierarchy6"/>
    <dgm:cxn modelId="{11BF505C-B044-4F46-B64C-9DCFA5AABCB7}" type="presOf" srcId="{F224600E-6FA9-4331-9D6F-407346A4B100}" destId="{577D3ECA-BD3B-4057-8376-580CB7D3C923}" srcOrd="0" destOrd="0" presId="urn:microsoft.com/office/officeart/2005/8/layout/hierarchy6"/>
    <dgm:cxn modelId="{CCFC6E61-CA24-4134-BA69-AF0167F44F3E}" srcId="{D171CCED-40A0-43F3-8FC4-A422650EF8EF}" destId="{33B17D5A-FAD0-40FF-BFD5-B36826E4BDD8}" srcOrd="1" destOrd="0" parTransId="{1AA1F213-D704-4DFF-A93A-49728750454F}" sibTransId="{EFE12002-DAD3-4AC9-9DA4-136D8B8D8BEF}"/>
    <dgm:cxn modelId="{2E49DA44-F494-4393-B324-CC73424AE167}" srcId="{C7D6D10B-388E-44C1-8527-496478FC61B3}" destId="{F224600E-6FA9-4331-9D6F-407346A4B100}" srcOrd="1" destOrd="0" parTransId="{0EE5B3BE-1EE5-4A19-B0BE-8C8EA6D7E16E}" sibTransId="{58752B14-172A-4830-A16C-3FB632668FBD}"/>
    <dgm:cxn modelId="{2CF34D45-8521-4B41-B06F-C2FA2EA27810}" srcId="{D171CCED-40A0-43F3-8FC4-A422650EF8EF}" destId="{CC122682-FA74-48C2-A6D9-83DAFB5FD9EF}" srcOrd="0" destOrd="0" parTransId="{03F43716-9303-45D3-9C63-1E6C179CA51C}" sibTransId="{232776A4-2EB7-4B56-BADC-35A1E7D20CE0}"/>
    <dgm:cxn modelId="{400EF06E-C186-4D98-8295-41EB001C9F22}" type="presOf" srcId="{D171CCED-40A0-43F3-8FC4-A422650EF8EF}" destId="{BD524016-C6A6-4424-86B8-6559EB145977}" srcOrd="0" destOrd="0" presId="urn:microsoft.com/office/officeart/2005/8/layout/hierarchy6"/>
    <dgm:cxn modelId="{461A846F-7341-4906-BC25-C8C7203D8289}" srcId="{CC122682-FA74-48C2-A6D9-83DAFB5FD9EF}" destId="{B2220139-725E-4197-AC07-00F783AE2C9E}" srcOrd="1" destOrd="0" parTransId="{6AE4250F-400F-4F78-854D-182CB08B0C0F}" sibTransId="{96DBC7E4-0F61-41B3-A087-15F7B6A44B34}"/>
    <dgm:cxn modelId="{CD379771-9FF5-470D-962E-AD5D44D628D4}" type="presOf" srcId="{B230BC40-4317-44D8-9081-1CE1C2DE0EE0}" destId="{2B781F50-B329-4AD5-84C9-22B344069048}" srcOrd="0" destOrd="0" presId="urn:microsoft.com/office/officeart/2005/8/layout/hierarchy6"/>
    <dgm:cxn modelId="{A2812676-8C5B-4A0B-BE86-172AD5A419D8}" srcId="{C7D6D10B-388E-44C1-8527-496478FC61B3}" destId="{07D76E25-01FD-4F4B-B128-F05B6EC9EC63}" srcOrd="0" destOrd="0" parTransId="{7EDF957E-3CB2-41E6-92EA-6299F04AA51F}" sibTransId="{C0774D13-D569-4677-AFC3-016337BB433B}"/>
    <dgm:cxn modelId="{4CA5B356-98FB-4912-9F78-B29F88E6D8A2}" srcId="{33B17D5A-FAD0-40FF-BFD5-B36826E4BDD8}" destId="{85748094-DD27-4F6B-A972-120C434C8B7B}" srcOrd="0" destOrd="0" parTransId="{A3A503A6-7B88-4296-AC0C-EE70F516F5EC}" sibTransId="{56DFB899-63B6-4455-B182-F460EFD4425A}"/>
    <dgm:cxn modelId="{F559AC5A-0CF8-47A9-9705-2F86EEC750AF}" type="presOf" srcId="{C2A0E43F-6379-47D6-AC8D-24760D501BF9}" destId="{7AFF4287-4CE7-458E-92C4-E5344735C68E}" srcOrd="0" destOrd="0" presId="urn:microsoft.com/office/officeart/2005/8/layout/hierarchy6"/>
    <dgm:cxn modelId="{E747D580-4EEF-435A-8F2C-D1657A577BFC}" srcId="{CC122682-FA74-48C2-A6D9-83DAFB5FD9EF}" destId="{C7D6D10B-388E-44C1-8527-496478FC61B3}" srcOrd="0" destOrd="0" parTransId="{6A368535-C534-4A0C-95DA-68E65311CCAC}" sibTransId="{B010A0E4-D91A-4E5C-A40F-0CBA78CD2BFF}"/>
    <dgm:cxn modelId="{7F03148C-43D5-43A3-8906-411AFFD5B982}" type="presOf" srcId="{07D76E25-01FD-4F4B-B128-F05B6EC9EC63}" destId="{6519ECA7-B8BE-4ADA-8821-E074A592398D}" srcOrd="0" destOrd="0" presId="urn:microsoft.com/office/officeart/2005/8/layout/hierarchy6"/>
    <dgm:cxn modelId="{4562B2A4-BC13-4399-A530-A42E41A64DFB}" type="presOf" srcId="{85748094-DD27-4F6B-A972-120C434C8B7B}" destId="{D101BA2D-3963-4017-9498-AD1F623A53DE}" srcOrd="0" destOrd="0" presId="urn:microsoft.com/office/officeart/2005/8/layout/hierarchy6"/>
    <dgm:cxn modelId="{ADD18AA5-4E1D-4526-88D4-5C960ED98500}" type="presOf" srcId="{0EE5B3BE-1EE5-4A19-B0BE-8C8EA6D7E16E}" destId="{AAE69CCB-C349-4D2C-9AA8-F67107302345}" srcOrd="0" destOrd="0" presId="urn:microsoft.com/office/officeart/2005/8/layout/hierarchy6"/>
    <dgm:cxn modelId="{4D82B2A8-A4D7-42F2-ABFB-478B1AFFEEE8}" type="presOf" srcId="{CC122682-FA74-48C2-A6D9-83DAFB5FD9EF}" destId="{F5E578BB-DD6A-40FD-942E-F943BCF601F7}" srcOrd="0" destOrd="0" presId="urn:microsoft.com/office/officeart/2005/8/layout/hierarchy6"/>
    <dgm:cxn modelId="{1C9612B3-BB62-4809-B312-D8D78583D0AC}" srcId="{C2A0E43F-6379-47D6-AC8D-24760D501BF9}" destId="{D171CCED-40A0-43F3-8FC4-A422650EF8EF}" srcOrd="0" destOrd="0" parTransId="{20154CDD-F0E3-4785-97D7-9056399F36D9}" sibTransId="{862C7CE7-5F77-4BD0-A738-4093FC449403}"/>
    <dgm:cxn modelId="{4FB73ECE-BC7A-4C47-A4F1-FAEBC02782C9}" type="presOf" srcId="{B2220139-725E-4197-AC07-00F783AE2C9E}" destId="{32911C63-2941-4CC0-AAF3-3ADF0A59B60B}" srcOrd="0" destOrd="0" presId="urn:microsoft.com/office/officeart/2005/8/layout/hierarchy6"/>
    <dgm:cxn modelId="{287AD9D5-2A84-4CA7-8289-DAB8EAA4806E}" type="presOf" srcId="{7EDF957E-3CB2-41E6-92EA-6299F04AA51F}" destId="{2B29F2B9-1D0E-46EB-957C-1C2695D2804D}" srcOrd="0" destOrd="0" presId="urn:microsoft.com/office/officeart/2005/8/layout/hierarchy6"/>
    <dgm:cxn modelId="{1F6BD4D7-B5C2-4D87-A6EB-B38246D1841D}" type="presOf" srcId="{C7D6D10B-388E-44C1-8527-496478FC61B3}" destId="{EE78876C-8709-4D90-AE72-C0ABF4E11A2F}" srcOrd="0" destOrd="0" presId="urn:microsoft.com/office/officeart/2005/8/layout/hierarchy6"/>
    <dgm:cxn modelId="{9D2574F4-BA52-4AEB-9E90-C74D2E1ABBBF}" type="presOf" srcId="{03F43716-9303-45D3-9C63-1E6C179CA51C}" destId="{C2C2F5EF-FC71-4CD7-8F6C-72EBBF91CC78}" srcOrd="0" destOrd="0" presId="urn:microsoft.com/office/officeart/2005/8/layout/hierarchy6"/>
    <dgm:cxn modelId="{EAA18EFC-40A5-40F6-B29E-F652DF232208}" type="presOf" srcId="{A3A503A6-7B88-4296-AC0C-EE70F516F5EC}" destId="{DCF1C2AF-C506-4F76-83FC-2FA1C8DAE862}" srcOrd="0" destOrd="0" presId="urn:microsoft.com/office/officeart/2005/8/layout/hierarchy6"/>
    <dgm:cxn modelId="{9B86D6FF-509A-4EEF-BE1E-757B5031C5B3}" type="presOf" srcId="{C49AFE4C-6FDC-4BE7-8CAA-CF93A0079E69}" destId="{0B2901EB-C3A0-4C1B-93B5-2D4D51508A9F}" srcOrd="0" destOrd="0" presId="urn:microsoft.com/office/officeart/2005/8/layout/hierarchy6"/>
    <dgm:cxn modelId="{B16A9F94-7DB8-4383-AA64-6A9F4C7C0622}" type="presParOf" srcId="{7AFF4287-4CE7-458E-92C4-E5344735C68E}" destId="{60188773-52FD-4BDA-AF9D-EEF62FD90E44}" srcOrd="0" destOrd="0" presId="urn:microsoft.com/office/officeart/2005/8/layout/hierarchy6"/>
    <dgm:cxn modelId="{E37F39AD-D58C-4E8A-8D16-2D119B3BA965}" type="presParOf" srcId="{60188773-52FD-4BDA-AF9D-EEF62FD90E44}" destId="{7159C26E-2214-48D5-B8FD-5292431CD583}" srcOrd="0" destOrd="0" presId="urn:microsoft.com/office/officeart/2005/8/layout/hierarchy6"/>
    <dgm:cxn modelId="{EA1F5AFD-7FBC-40A3-92EB-7D3081BFB775}" type="presParOf" srcId="{7159C26E-2214-48D5-B8FD-5292431CD583}" destId="{D6506002-948F-4487-AA5C-3CE3C750F6E1}" srcOrd="0" destOrd="0" presId="urn:microsoft.com/office/officeart/2005/8/layout/hierarchy6"/>
    <dgm:cxn modelId="{26377267-DEF0-4188-8578-1B519BDB4A69}" type="presParOf" srcId="{D6506002-948F-4487-AA5C-3CE3C750F6E1}" destId="{BD524016-C6A6-4424-86B8-6559EB145977}" srcOrd="0" destOrd="0" presId="urn:microsoft.com/office/officeart/2005/8/layout/hierarchy6"/>
    <dgm:cxn modelId="{C9FD5EB3-6B51-407D-A5D2-CE65F2BE35C0}" type="presParOf" srcId="{D6506002-948F-4487-AA5C-3CE3C750F6E1}" destId="{1E6EC578-54E3-45AF-9F4E-77D8C31230B0}" srcOrd="1" destOrd="0" presId="urn:microsoft.com/office/officeart/2005/8/layout/hierarchy6"/>
    <dgm:cxn modelId="{BCEA01C8-A092-41F1-A50F-875E3878A926}" type="presParOf" srcId="{1E6EC578-54E3-45AF-9F4E-77D8C31230B0}" destId="{C2C2F5EF-FC71-4CD7-8F6C-72EBBF91CC78}" srcOrd="0" destOrd="0" presId="urn:microsoft.com/office/officeart/2005/8/layout/hierarchy6"/>
    <dgm:cxn modelId="{9FBA4E06-21BA-4B40-9D36-27599099B855}" type="presParOf" srcId="{1E6EC578-54E3-45AF-9F4E-77D8C31230B0}" destId="{E27CED65-A962-471B-8942-C36532B059CD}" srcOrd="1" destOrd="0" presId="urn:microsoft.com/office/officeart/2005/8/layout/hierarchy6"/>
    <dgm:cxn modelId="{51BE954B-A4F6-47A0-9FA8-5016A7C1A175}" type="presParOf" srcId="{E27CED65-A962-471B-8942-C36532B059CD}" destId="{F5E578BB-DD6A-40FD-942E-F943BCF601F7}" srcOrd="0" destOrd="0" presId="urn:microsoft.com/office/officeart/2005/8/layout/hierarchy6"/>
    <dgm:cxn modelId="{F8B149A4-11D6-42DB-95AC-07992EE4E27C}" type="presParOf" srcId="{E27CED65-A962-471B-8942-C36532B059CD}" destId="{3AFF9127-2F42-47F0-A909-9D2F3B8174F0}" srcOrd="1" destOrd="0" presId="urn:microsoft.com/office/officeart/2005/8/layout/hierarchy6"/>
    <dgm:cxn modelId="{193F53E4-A139-400D-B5F2-E6DFCBF9FA46}" type="presParOf" srcId="{3AFF9127-2F42-47F0-A909-9D2F3B8174F0}" destId="{B6BFF0DD-C082-47B0-9928-6248268AD1D1}" srcOrd="0" destOrd="0" presId="urn:microsoft.com/office/officeart/2005/8/layout/hierarchy6"/>
    <dgm:cxn modelId="{704C7501-AACD-43E1-AF1C-1121DBF68BA1}" type="presParOf" srcId="{3AFF9127-2F42-47F0-A909-9D2F3B8174F0}" destId="{1FECEF84-5D45-4F6C-A35D-529985D817B3}" srcOrd="1" destOrd="0" presId="urn:microsoft.com/office/officeart/2005/8/layout/hierarchy6"/>
    <dgm:cxn modelId="{D5FFBB30-78AD-4D03-BDEC-639BD62276AC}" type="presParOf" srcId="{1FECEF84-5D45-4F6C-A35D-529985D817B3}" destId="{EE78876C-8709-4D90-AE72-C0ABF4E11A2F}" srcOrd="0" destOrd="0" presId="urn:microsoft.com/office/officeart/2005/8/layout/hierarchy6"/>
    <dgm:cxn modelId="{F90303CB-3BBE-4684-81FD-1F31AC7E66B3}" type="presParOf" srcId="{1FECEF84-5D45-4F6C-A35D-529985D817B3}" destId="{21A03A5C-DC4C-4043-A9CA-67414DDAC168}" srcOrd="1" destOrd="0" presId="urn:microsoft.com/office/officeart/2005/8/layout/hierarchy6"/>
    <dgm:cxn modelId="{7B6D4B60-9988-4474-BF41-B5C9C3A67591}" type="presParOf" srcId="{21A03A5C-DC4C-4043-A9CA-67414DDAC168}" destId="{2B29F2B9-1D0E-46EB-957C-1C2695D2804D}" srcOrd="0" destOrd="0" presId="urn:microsoft.com/office/officeart/2005/8/layout/hierarchy6"/>
    <dgm:cxn modelId="{CA0D2B86-A277-4546-BD56-9D9AD9214F25}" type="presParOf" srcId="{21A03A5C-DC4C-4043-A9CA-67414DDAC168}" destId="{16A28490-6576-4E97-98E5-B90A71ECCA51}" srcOrd="1" destOrd="0" presId="urn:microsoft.com/office/officeart/2005/8/layout/hierarchy6"/>
    <dgm:cxn modelId="{E853C35C-920B-47F4-A914-08FB0225E982}" type="presParOf" srcId="{16A28490-6576-4E97-98E5-B90A71ECCA51}" destId="{6519ECA7-B8BE-4ADA-8821-E074A592398D}" srcOrd="0" destOrd="0" presId="urn:microsoft.com/office/officeart/2005/8/layout/hierarchy6"/>
    <dgm:cxn modelId="{545D11B6-C1B0-49C1-9110-6C30789EBE2C}" type="presParOf" srcId="{16A28490-6576-4E97-98E5-B90A71ECCA51}" destId="{5F4B2645-DB78-46F2-9A96-F47073BC2C6F}" srcOrd="1" destOrd="0" presId="urn:microsoft.com/office/officeart/2005/8/layout/hierarchy6"/>
    <dgm:cxn modelId="{BF4E55C8-7CEA-4FA5-84C2-FF51B812CB48}" type="presParOf" srcId="{21A03A5C-DC4C-4043-A9CA-67414DDAC168}" destId="{AAE69CCB-C349-4D2C-9AA8-F67107302345}" srcOrd="2" destOrd="0" presId="urn:microsoft.com/office/officeart/2005/8/layout/hierarchy6"/>
    <dgm:cxn modelId="{B4A59309-68A8-44BB-8C6A-E2D192F8BA19}" type="presParOf" srcId="{21A03A5C-DC4C-4043-A9CA-67414DDAC168}" destId="{0DCC28E2-FA5B-4221-B252-E7FEBA9E8BE4}" srcOrd="3" destOrd="0" presId="urn:microsoft.com/office/officeart/2005/8/layout/hierarchy6"/>
    <dgm:cxn modelId="{5353FB69-4D9F-4099-A5E8-9A3CC123811C}" type="presParOf" srcId="{0DCC28E2-FA5B-4221-B252-E7FEBA9E8BE4}" destId="{577D3ECA-BD3B-4057-8376-580CB7D3C923}" srcOrd="0" destOrd="0" presId="urn:microsoft.com/office/officeart/2005/8/layout/hierarchy6"/>
    <dgm:cxn modelId="{9F5969A6-991C-475E-B758-C8415D0557D3}" type="presParOf" srcId="{0DCC28E2-FA5B-4221-B252-E7FEBA9E8BE4}" destId="{CC145AA2-F19E-4C8B-BFEA-BBBF482D4283}" srcOrd="1" destOrd="0" presId="urn:microsoft.com/office/officeart/2005/8/layout/hierarchy6"/>
    <dgm:cxn modelId="{B0BD090D-724E-42CE-824E-7A64901748C2}" type="presParOf" srcId="{3AFF9127-2F42-47F0-A909-9D2F3B8174F0}" destId="{83F8B536-39A5-4F07-9F3A-A616B78331C9}" srcOrd="2" destOrd="0" presId="urn:microsoft.com/office/officeart/2005/8/layout/hierarchy6"/>
    <dgm:cxn modelId="{99331DB6-FED7-4B30-B1AC-C197198919DB}" type="presParOf" srcId="{3AFF9127-2F42-47F0-A909-9D2F3B8174F0}" destId="{8870C0CA-FAE9-4176-802B-8F8E04070794}" srcOrd="3" destOrd="0" presId="urn:microsoft.com/office/officeart/2005/8/layout/hierarchy6"/>
    <dgm:cxn modelId="{1AD342DF-90DE-4BB0-8BA4-1DEE7187E6D1}" type="presParOf" srcId="{8870C0CA-FAE9-4176-802B-8F8E04070794}" destId="{32911C63-2941-4CC0-AAF3-3ADF0A59B60B}" srcOrd="0" destOrd="0" presId="urn:microsoft.com/office/officeart/2005/8/layout/hierarchy6"/>
    <dgm:cxn modelId="{F022EBA5-B0D9-43BD-BAAF-A763C4C4AAC1}" type="presParOf" srcId="{8870C0CA-FAE9-4176-802B-8F8E04070794}" destId="{8DC0066E-46E0-4C33-BE29-0DB0A5BFB22C}" srcOrd="1" destOrd="0" presId="urn:microsoft.com/office/officeart/2005/8/layout/hierarchy6"/>
    <dgm:cxn modelId="{53DF2595-1B69-479B-AC1D-F0F9A2060C25}" type="presParOf" srcId="{1E6EC578-54E3-45AF-9F4E-77D8C31230B0}" destId="{3B1D9D37-5190-4685-812C-9AC25E82F5D8}" srcOrd="2" destOrd="0" presId="urn:microsoft.com/office/officeart/2005/8/layout/hierarchy6"/>
    <dgm:cxn modelId="{CF565AD3-5083-4CEF-B1B5-A12DDB2ADA10}" type="presParOf" srcId="{1E6EC578-54E3-45AF-9F4E-77D8C31230B0}" destId="{9D23FAF4-3B44-4F01-94AA-FF47FC3B1684}" srcOrd="3" destOrd="0" presId="urn:microsoft.com/office/officeart/2005/8/layout/hierarchy6"/>
    <dgm:cxn modelId="{CB8BBE48-71E7-41E8-A52C-A998C81CDDEC}" type="presParOf" srcId="{9D23FAF4-3B44-4F01-94AA-FF47FC3B1684}" destId="{E3500144-ADF8-43D6-8860-55D684BB5628}" srcOrd="0" destOrd="0" presId="urn:microsoft.com/office/officeart/2005/8/layout/hierarchy6"/>
    <dgm:cxn modelId="{FF91B7BD-9E88-4B01-B4DF-A0272AAA654B}" type="presParOf" srcId="{9D23FAF4-3B44-4F01-94AA-FF47FC3B1684}" destId="{318D246B-6F25-414B-9FCF-84469C36D7D6}" srcOrd="1" destOrd="0" presId="urn:microsoft.com/office/officeart/2005/8/layout/hierarchy6"/>
    <dgm:cxn modelId="{DE0CF24C-721C-4D51-9CFF-2A9B617712A9}" type="presParOf" srcId="{318D246B-6F25-414B-9FCF-84469C36D7D6}" destId="{DCF1C2AF-C506-4F76-83FC-2FA1C8DAE862}" srcOrd="0" destOrd="0" presId="urn:microsoft.com/office/officeart/2005/8/layout/hierarchy6"/>
    <dgm:cxn modelId="{AC64DF68-DD06-4D35-ADFA-118F9CB3E6AA}" type="presParOf" srcId="{318D246B-6F25-414B-9FCF-84469C36D7D6}" destId="{83B822BC-7CB5-41B2-A11B-F9BE98AFB040}" srcOrd="1" destOrd="0" presId="urn:microsoft.com/office/officeart/2005/8/layout/hierarchy6"/>
    <dgm:cxn modelId="{BE47A4AC-55B4-4655-9485-93E2DAA8A929}" type="presParOf" srcId="{83B822BC-7CB5-41B2-A11B-F9BE98AFB040}" destId="{D101BA2D-3963-4017-9498-AD1F623A53DE}" srcOrd="0" destOrd="0" presId="urn:microsoft.com/office/officeart/2005/8/layout/hierarchy6"/>
    <dgm:cxn modelId="{C131D930-E9DB-4985-A8D9-9BF24D0B6F7A}" type="presParOf" srcId="{83B822BC-7CB5-41B2-A11B-F9BE98AFB040}" destId="{1C547AA2-212B-4C66-B740-4F307EC91A04}" srcOrd="1" destOrd="0" presId="urn:microsoft.com/office/officeart/2005/8/layout/hierarchy6"/>
    <dgm:cxn modelId="{B9386C7A-24E5-4CBA-A21B-1BDCE7304541}" type="presParOf" srcId="{318D246B-6F25-414B-9FCF-84469C36D7D6}" destId="{0B2901EB-C3A0-4C1B-93B5-2D4D51508A9F}" srcOrd="2" destOrd="0" presId="urn:microsoft.com/office/officeart/2005/8/layout/hierarchy6"/>
    <dgm:cxn modelId="{952CFBD8-2481-428F-A752-51BF22881838}" type="presParOf" srcId="{318D246B-6F25-414B-9FCF-84469C36D7D6}" destId="{D9BA8F8B-2A7C-416C-AA09-63B74C3157E2}" srcOrd="3" destOrd="0" presId="urn:microsoft.com/office/officeart/2005/8/layout/hierarchy6"/>
    <dgm:cxn modelId="{F320EF4A-11CE-45C9-81D1-25BD332762E7}" type="presParOf" srcId="{D9BA8F8B-2A7C-416C-AA09-63B74C3157E2}" destId="{2B781F50-B329-4AD5-84C9-22B344069048}" srcOrd="0" destOrd="0" presId="urn:microsoft.com/office/officeart/2005/8/layout/hierarchy6"/>
    <dgm:cxn modelId="{A482B1EC-99FD-43DE-9A21-72F34D90179A}" type="presParOf" srcId="{D9BA8F8B-2A7C-416C-AA09-63B74C3157E2}" destId="{8FFBAA39-6BDF-4697-ABE0-444058DB174B}" srcOrd="1" destOrd="0" presId="urn:microsoft.com/office/officeart/2005/8/layout/hierarchy6"/>
    <dgm:cxn modelId="{0C13AACD-BF2F-42C8-B4AC-830DB2B8BEE4}" type="presParOf" srcId="{7AFF4287-4CE7-458E-92C4-E5344735C68E}" destId="{3A4F3CE7-95BE-4D87-817D-D5779BA390F3}"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524016-C6A6-4424-86B8-6559EB145977}">
      <dsp:nvSpPr>
        <dsp:cNvPr id="0" name=""/>
        <dsp:cNvSpPr/>
      </dsp:nvSpPr>
      <dsp:spPr>
        <a:xfrm>
          <a:off x="6967289" y="0"/>
          <a:ext cx="2709858" cy="165871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Emirate (N=9913)</a:t>
          </a:r>
        </a:p>
      </dsp:txBody>
      <dsp:txXfrm>
        <a:off x="7015871" y="48582"/>
        <a:ext cx="2612694" cy="1561552"/>
      </dsp:txXfrm>
    </dsp:sp>
    <dsp:sp modelId="{C2C2F5EF-FC71-4CD7-8F6C-72EBBF91CC78}">
      <dsp:nvSpPr>
        <dsp:cNvPr id="0" name=""/>
        <dsp:cNvSpPr/>
      </dsp:nvSpPr>
      <dsp:spPr>
        <a:xfrm>
          <a:off x="4845582" y="1658716"/>
          <a:ext cx="3476636" cy="180992"/>
        </a:xfrm>
        <a:custGeom>
          <a:avLst/>
          <a:gdLst/>
          <a:ahLst/>
          <a:cxnLst/>
          <a:rect l="0" t="0" r="0" b="0"/>
          <a:pathLst>
            <a:path>
              <a:moveTo>
                <a:pt x="3476636" y="0"/>
              </a:moveTo>
              <a:lnTo>
                <a:pt x="3476636" y="90496"/>
              </a:lnTo>
              <a:lnTo>
                <a:pt x="0" y="90496"/>
              </a:lnTo>
              <a:lnTo>
                <a:pt x="0" y="18099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E578BB-DD6A-40FD-942E-F943BCF601F7}">
      <dsp:nvSpPr>
        <dsp:cNvPr id="0" name=""/>
        <dsp:cNvSpPr/>
      </dsp:nvSpPr>
      <dsp:spPr>
        <a:xfrm>
          <a:off x="3334330" y="1839709"/>
          <a:ext cx="3022503" cy="1825371"/>
        </a:xfrm>
        <a:prstGeom prst="roundRect">
          <a:avLst>
            <a:gd name="adj" fmla="val 10000"/>
          </a:avLst>
        </a:prstGeom>
        <a:solidFill>
          <a:schemeClr val="bg2"/>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Treatment Neighborhoods (N=4959)</a:t>
          </a:r>
        </a:p>
      </dsp:txBody>
      <dsp:txXfrm>
        <a:off x="3387793" y="1893172"/>
        <a:ext cx="2915577" cy="1718445"/>
      </dsp:txXfrm>
    </dsp:sp>
    <dsp:sp modelId="{B6BFF0DD-C082-47B0-9928-6248268AD1D1}">
      <dsp:nvSpPr>
        <dsp:cNvPr id="0" name=""/>
        <dsp:cNvSpPr/>
      </dsp:nvSpPr>
      <dsp:spPr>
        <a:xfrm>
          <a:off x="3253807" y="3665081"/>
          <a:ext cx="1591774" cy="1058617"/>
        </a:xfrm>
        <a:custGeom>
          <a:avLst/>
          <a:gdLst/>
          <a:ahLst/>
          <a:cxnLst/>
          <a:rect l="0" t="0" r="0" b="0"/>
          <a:pathLst>
            <a:path>
              <a:moveTo>
                <a:pt x="1591774" y="0"/>
              </a:moveTo>
              <a:lnTo>
                <a:pt x="1591774" y="529308"/>
              </a:lnTo>
              <a:lnTo>
                <a:pt x="0" y="529308"/>
              </a:lnTo>
              <a:lnTo>
                <a:pt x="0" y="105861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78876C-8709-4D90-AE72-C0ABF4E11A2F}">
      <dsp:nvSpPr>
        <dsp:cNvPr id="0" name=""/>
        <dsp:cNvSpPr/>
      </dsp:nvSpPr>
      <dsp:spPr>
        <a:xfrm>
          <a:off x="1852922" y="4723698"/>
          <a:ext cx="2801769" cy="1691487"/>
        </a:xfrm>
        <a:prstGeom prst="roundRect">
          <a:avLst>
            <a:gd name="adj" fmla="val 10000"/>
          </a:avLst>
        </a:prstGeom>
        <a:solidFill>
          <a:schemeClr val="bg2"/>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Eligible Businesses (N=2964)</a:t>
          </a:r>
        </a:p>
      </dsp:txBody>
      <dsp:txXfrm>
        <a:off x="1902464" y="4773240"/>
        <a:ext cx="2702685" cy="1592403"/>
      </dsp:txXfrm>
    </dsp:sp>
    <dsp:sp modelId="{83F8B536-39A5-4F07-9F3A-A616B78331C9}">
      <dsp:nvSpPr>
        <dsp:cNvPr id="0" name=""/>
        <dsp:cNvSpPr/>
      </dsp:nvSpPr>
      <dsp:spPr>
        <a:xfrm>
          <a:off x="4845582" y="3665081"/>
          <a:ext cx="1486113" cy="1062325"/>
        </a:xfrm>
        <a:custGeom>
          <a:avLst/>
          <a:gdLst/>
          <a:ahLst/>
          <a:cxnLst/>
          <a:rect l="0" t="0" r="0" b="0"/>
          <a:pathLst>
            <a:path>
              <a:moveTo>
                <a:pt x="0" y="0"/>
              </a:moveTo>
              <a:lnTo>
                <a:pt x="0" y="531162"/>
              </a:lnTo>
              <a:lnTo>
                <a:pt x="1486113" y="531162"/>
              </a:lnTo>
              <a:lnTo>
                <a:pt x="1486113" y="106232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911C63-2941-4CC0-AAF3-3ADF0A59B60B}">
      <dsp:nvSpPr>
        <dsp:cNvPr id="0" name=""/>
        <dsp:cNvSpPr/>
      </dsp:nvSpPr>
      <dsp:spPr>
        <a:xfrm>
          <a:off x="4930810" y="4727407"/>
          <a:ext cx="2801769" cy="169148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Ineligible Businesses (N=1995)</a:t>
          </a:r>
        </a:p>
      </dsp:txBody>
      <dsp:txXfrm>
        <a:off x="4980352" y="4776949"/>
        <a:ext cx="2702685" cy="1592403"/>
      </dsp:txXfrm>
    </dsp:sp>
    <dsp:sp modelId="{3B1D9D37-5190-4685-812C-9AC25E82F5D8}">
      <dsp:nvSpPr>
        <dsp:cNvPr id="0" name=""/>
        <dsp:cNvSpPr/>
      </dsp:nvSpPr>
      <dsp:spPr>
        <a:xfrm>
          <a:off x="8322218" y="1658716"/>
          <a:ext cx="3488322" cy="183232"/>
        </a:xfrm>
        <a:custGeom>
          <a:avLst/>
          <a:gdLst/>
          <a:ahLst/>
          <a:cxnLst/>
          <a:rect l="0" t="0" r="0" b="0"/>
          <a:pathLst>
            <a:path>
              <a:moveTo>
                <a:pt x="0" y="0"/>
              </a:moveTo>
              <a:lnTo>
                <a:pt x="0" y="91616"/>
              </a:lnTo>
              <a:lnTo>
                <a:pt x="3488322" y="91616"/>
              </a:lnTo>
              <a:lnTo>
                <a:pt x="3488322" y="18323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500144-ADF8-43D6-8860-55D684BB5628}">
      <dsp:nvSpPr>
        <dsp:cNvPr id="0" name=""/>
        <dsp:cNvSpPr/>
      </dsp:nvSpPr>
      <dsp:spPr>
        <a:xfrm>
          <a:off x="10299288" y="1841948"/>
          <a:ext cx="3022503" cy="182537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Control Neighborhoods (N=4954)</a:t>
          </a:r>
        </a:p>
      </dsp:txBody>
      <dsp:txXfrm>
        <a:off x="10352751" y="1895411"/>
        <a:ext cx="2915577" cy="1718445"/>
      </dsp:txXfrm>
    </dsp:sp>
    <dsp:sp modelId="{DCF1C2AF-C506-4F76-83FC-2FA1C8DAE862}">
      <dsp:nvSpPr>
        <dsp:cNvPr id="0" name=""/>
        <dsp:cNvSpPr/>
      </dsp:nvSpPr>
      <dsp:spPr>
        <a:xfrm>
          <a:off x="10353151" y="3667320"/>
          <a:ext cx="1457389" cy="1007466"/>
        </a:xfrm>
        <a:custGeom>
          <a:avLst/>
          <a:gdLst/>
          <a:ahLst/>
          <a:cxnLst/>
          <a:rect l="0" t="0" r="0" b="0"/>
          <a:pathLst>
            <a:path>
              <a:moveTo>
                <a:pt x="1457389" y="0"/>
              </a:moveTo>
              <a:lnTo>
                <a:pt x="1457389" y="503733"/>
              </a:lnTo>
              <a:lnTo>
                <a:pt x="0" y="503733"/>
              </a:lnTo>
              <a:lnTo>
                <a:pt x="0" y="100746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01BA2D-3963-4017-9498-AD1F623A53DE}">
      <dsp:nvSpPr>
        <dsp:cNvPr id="0" name=""/>
        <dsp:cNvSpPr/>
      </dsp:nvSpPr>
      <dsp:spPr>
        <a:xfrm>
          <a:off x="8952266" y="4674786"/>
          <a:ext cx="2801769" cy="169148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Eligible Businesses (N=2664)</a:t>
          </a:r>
        </a:p>
      </dsp:txBody>
      <dsp:txXfrm>
        <a:off x="9001808" y="4724328"/>
        <a:ext cx="2702685" cy="1592403"/>
      </dsp:txXfrm>
    </dsp:sp>
    <dsp:sp modelId="{0B2901EB-C3A0-4C1B-93B5-2D4D51508A9F}">
      <dsp:nvSpPr>
        <dsp:cNvPr id="0" name=""/>
        <dsp:cNvSpPr/>
      </dsp:nvSpPr>
      <dsp:spPr>
        <a:xfrm>
          <a:off x="11810540" y="3667320"/>
          <a:ext cx="1638412" cy="1007326"/>
        </a:xfrm>
        <a:custGeom>
          <a:avLst/>
          <a:gdLst/>
          <a:ahLst/>
          <a:cxnLst/>
          <a:rect l="0" t="0" r="0" b="0"/>
          <a:pathLst>
            <a:path>
              <a:moveTo>
                <a:pt x="0" y="0"/>
              </a:moveTo>
              <a:lnTo>
                <a:pt x="0" y="503663"/>
              </a:lnTo>
              <a:lnTo>
                <a:pt x="1638412" y="503663"/>
              </a:lnTo>
              <a:lnTo>
                <a:pt x="1638412" y="10073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781F50-B329-4AD5-84C9-22B344069048}">
      <dsp:nvSpPr>
        <dsp:cNvPr id="0" name=""/>
        <dsp:cNvSpPr/>
      </dsp:nvSpPr>
      <dsp:spPr>
        <a:xfrm>
          <a:off x="12048068" y="4674646"/>
          <a:ext cx="2801769" cy="169148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Ineligible Businesses (N=2290)</a:t>
          </a:r>
        </a:p>
      </dsp:txBody>
      <dsp:txXfrm>
        <a:off x="12097610" y="4724188"/>
        <a:ext cx="2702685" cy="15924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524016-C6A6-4424-86B8-6559EB145977}">
      <dsp:nvSpPr>
        <dsp:cNvPr id="0" name=""/>
        <dsp:cNvSpPr/>
      </dsp:nvSpPr>
      <dsp:spPr>
        <a:xfrm>
          <a:off x="6967289" y="0"/>
          <a:ext cx="2709858" cy="165871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Emirate (N=9913)</a:t>
          </a:r>
        </a:p>
      </dsp:txBody>
      <dsp:txXfrm>
        <a:off x="7015871" y="48582"/>
        <a:ext cx="2612694" cy="1561552"/>
      </dsp:txXfrm>
    </dsp:sp>
    <dsp:sp modelId="{C2C2F5EF-FC71-4CD7-8F6C-72EBBF91CC78}">
      <dsp:nvSpPr>
        <dsp:cNvPr id="0" name=""/>
        <dsp:cNvSpPr/>
      </dsp:nvSpPr>
      <dsp:spPr>
        <a:xfrm>
          <a:off x="4845582" y="1658716"/>
          <a:ext cx="3476636" cy="180992"/>
        </a:xfrm>
        <a:custGeom>
          <a:avLst/>
          <a:gdLst/>
          <a:ahLst/>
          <a:cxnLst/>
          <a:rect l="0" t="0" r="0" b="0"/>
          <a:pathLst>
            <a:path>
              <a:moveTo>
                <a:pt x="3476636" y="0"/>
              </a:moveTo>
              <a:lnTo>
                <a:pt x="3476636" y="90496"/>
              </a:lnTo>
              <a:lnTo>
                <a:pt x="0" y="90496"/>
              </a:lnTo>
              <a:lnTo>
                <a:pt x="0" y="18099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E578BB-DD6A-40FD-942E-F943BCF601F7}">
      <dsp:nvSpPr>
        <dsp:cNvPr id="0" name=""/>
        <dsp:cNvSpPr/>
      </dsp:nvSpPr>
      <dsp:spPr>
        <a:xfrm>
          <a:off x="3334330" y="1839709"/>
          <a:ext cx="3022503" cy="1825371"/>
        </a:xfrm>
        <a:prstGeom prst="roundRect">
          <a:avLst>
            <a:gd name="adj" fmla="val 10000"/>
          </a:avLst>
        </a:prstGeom>
        <a:solidFill>
          <a:schemeClr val="bg2"/>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Treatment Neighborhoods (N=4959)</a:t>
          </a:r>
        </a:p>
      </dsp:txBody>
      <dsp:txXfrm>
        <a:off x="3387793" y="1893172"/>
        <a:ext cx="2915577" cy="1718445"/>
      </dsp:txXfrm>
    </dsp:sp>
    <dsp:sp modelId="{B6BFF0DD-C082-47B0-9928-6248268AD1D1}">
      <dsp:nvSpPr>
        <dsp:cNvPr id="0" name=""/>
        <dsp:cNvSpPr/>
      </dsp:nvSpPr>
      <dsp:spPr>
        <a:xfrm>
          <a:off x="3253807" y="3665081"/>
          <a:ext cx="1591774" cy="1058617"/>
        </a:xfrm>
        <a:custGeom>
          <a:avLst/>
          <a:gdLst/>
          <a:ahLst/>
          <a:cxnLst/>
          <a:rect l="0" t="0" r="0" b="0"/>
          <a:pathLst>
            <a:path>
              <a:moveTo>
                <a:pt x="1591774" y="0"/>
              </a:moveTo>
              <a:lnTo>
                <a:pt x="1591774" y="529308"/>
              </a:lnTo>
              <a:lnTo>
                <a:pt x="0" y="529308"/>
              </a:lnTo>
              <a:lnTo>
                <a:pt x="0" y="105861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78876C-8709-4D90-AE72-C0ABF4E11A2F}">
      <dsp:nvSpPr>
        <dsp:cNvPr id="0" name=""/>
        <dsp:cNvSpPr/>
      </dsp:nvSpPr>
      <dsp:spPr>
        <a:xfrm>
          <a:off x="1852922" y="4723698"/>
          <a:ext cx="2801769" cy="1691487"/>
        </a:xfrm>
        <a:prstGeom prst="roundRect">
          <a:avLst>
            <a:gd name="adj" fmla="val 10000"/>
          </a:avLst>
        </a:prstGeom>
        <a:solidFill>
          <a:schemeClr val="bg2"/>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Eligible Businesses (N=2964)</a:t>
          </a:r>
        </a:p>
      </dsp:txBody>
      <dsp:txXfrm>
        <a:off x="1902464" y="4773240"/>
        <a:ext cx="2702685" cy="1592403"/>
      </dsp:txXfrm>
    </dsp:sp>
    <dsp:sp modelId="{83F8B536-39A5-4F07-9F3A-A616B78331C9}">
      <dsp:nvSpPr>
        <dsp:cNvPr id="0" name=""/>
        <dsp:cNvSpPr/>
      </dsp:nvSpPr>
      <dsp:spPr>
        <a:xfrm>
          <a:off x="4845582" y="3665081"/>
          <a:ext cx="1486113" cy="1062325"/>
        </a:xfrm>
        <a:custGeom>
          <a:avLst/>
          <a:gdLst/>
          <a:ahLst/>
          <a:cxnLst/>
          <a:rect l="0" t="0" r="0" b="0"/>
          <a:pathLst>
            <a:path>
              <a:moveTo>
                <a:pt x="0" y="0"/>
              </a:moveTo>
              <a:lnTo>
                <a:pt x="0" y="531162"/>
              </a:lnTo>
              <a:lnTo>
                <a:pt x="1486113" y="531162"/>
              </a:lnTo>
              <a:lnTo>
                <a:pt x="1486113" y="106232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911C63-2941-4CC0-AAF3-3ADF0A59B60B}">
      <dsp:nvSpPr>
        <dsp:cNvPr id="0" name=""/>
        <dsp:cNvSpPr/>
      </dsp:nvSpPr>
      <dsp:spPr>
        <a:xfrm>
          <a:off x="4930810" y="4727407"/>
          <a:ext cx="2801769" cy="169148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Ineligible Businesses (N=1995)</a:t>
          </a:r>
        </a:p>
      </dsp:txBody>
      <dsp:txXfrm>
        <a:off x="4980352" y="4776949"/>
        <a:ext cx="2702685" cy="1592403"/>
      </dsp:txXfrm>
    </dsp:sp>
    <dsp:sp modelId="{3B1D9D37-5190-4685-812C-9AC25E82F5D8}">
      <dsp:nvSpPr>
        <dsp:cNvPr id="0" name=""/>
        <dsp:cNvSpPr/>
      </dsp:nvSpPr>
      <dsp:spPr>
        <a:xfrm>
          <a:off x="8322218" y="1658716"/>
          <a:ext cx="3488322" cy="183232"/>
        </a:xfrm>
        <a:custGeom>
          <a:avLst/>
          <a:gdLst/>
          <a:ahLst/>
          <a:cxnLst/>
          <a:rect l="0" t="0" r="0" b="0"/>
          <a:pathLst>
            <a:path>
              <a:moveTo>
                <a:pt x="0" y="0"/>
              </a:moveTo>
              <a:lnTo>
                <a:pt x="0" y="91616"/>
              </a:lnTo>
              <a:lnTo>
                <a:pt x="3488322" y="91616"/>
              </a:lnTo>
              <a:lnTo>
                <a:pt x="3488322" y="18323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500144-ADF8-43D6-8860-55D684BB5628}">
      <dsp:nvSpPr>
        <dsp:cNvPr id="0" name=""/>
        <dsp:cNvSpPr/>
      </dsp:nvSpPr>
      <dsp:spPr>
        <a:xfrm>
          <a:off x="10299288" y="1841948"/>
          <a:ext cx="3022503" cy="182537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Control Neighborhoods (N=4954)</a:t>
          </a:r>
        </a:p>
      </dsp:txBody>
      <dsp:txXfrm>
        <a:off x="10352751" y="1895411"/>
        <a:ext cx="2915577" cy="1718445"/>
      </dsp:txXfrm>
    </dsp:sp>
    <dsp:sp modelId="{DCF1C2AF-C506-4F76-83FC-2FA1C8DAE862}">
      <dsp:nvSpPr>
        <dsp:cNvPr id="0" name=""/>
        <dsp:cNvSpPr/>
      </dsp:nvSpPr>
      <dsp:spPr>
        <a:xfrm>
          <a:off x="10353151" y="3667320"/>
          <a:ext cx="1457389" cy="1007466"/>
        </a:xfrm>
        <a:custGeom>
          <a:avLst/>
          <a:gdLst/>
          <a:ahLst/>
          <a:cxnLst/>
          <a:rect l="0" t="0" r="0" b="0"/>
          <a:pathLst>
            <a:path>
              <a:moveTo>
                <a:pt x="1457389" y="0"/>
              </a:moveTo>
              <a:lnTo>
                <a:pt x="1457389" y="503733"/>
              </a:lnTo>
              <a:lnTo>
                <a:pt x="0" y="503733"/>
              </a:lnTo>
              <a:lnTo>
                <a:pt x="0" y="100746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01BA2D-3963-4017-9498-AD1F623A53DE}">
      <dsp:nvSpPr>
        <dsp:cNvPr id="0" name=""/>
        <dsp:cNvSpPr/>
      </dsp:nvSpPr>
      <dsp:spPr>
        <a:xfrm>
          <a:off x="8952266" y="4674786"/>
          <a:ext cx="2801769" cy="169148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Eligible Businesses (N=2664)</a:t>
          </a:r>
        </a:p>
      </dsp:txBody>
      <dsp:txXfrm>
        <a:off x="9001808" y="4724328"/>
        <a:ext cx="2702685" cy="1592403"/>
      </dsp:txXfrm>
    </dsp:sp>
    <dsp:sp modelId="{0B2901EB-C3A0-4C1B-93B5-2D4D51508A9F}">
      <dsp:nvSpPr>
        <dsp:cNvPr id="0" name=""/>
        <dsp:cNvSpPr/>
      </dsp:nvSpPr>
      <dsp:spPr>
        <a:xfrm>
          <a:off x="11810540" y="3667320"/>
          <a:ext cx="1638412" cy="1007326"/>
        </a:xfrm>
        <a:custGeom>
          <a:avLst/>
          <a:gdLst/>
          <a:ahLst/>
          <a:cxnLst/>
          <a:rect l="0" t="0" r="0" b="0"/>
          <a:pathLst>
            <a:path>
              <a:moveTo>
                <a:pt x="0" y="0"/>
              </a:moveTo>
              <a:lnTo>
                <a:pt x="0" y="503663"/>
              </a:lnTo>
              <a:lnTo>
                <a:pt x="1638412" y="503663"/>
              </a:lnTo>
              <a:lnTo>
                <a:pt x="1638412" y="10073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781F50-B329-4AD5-84C9-22B344069048}">
      <dsp:nvSpPr>
        <dsp:cNvPr id="0" name=""/>
        <dsp:cNvSpPr/>
      </dsp:nvSpPr>
      <dsp:spPr>
        <a:xfrm>
          <a:off x="12048068" y="4674646"/>
          <a:ext cx="2801769" cy="169148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Ineligible Businesses (N=2290)</a:t>
          </a:r>
        </a:p>
      </dsp:txBody>
      <dsp:txXfrm>
        <a:off x="12097610" y="4724188"/>
        <a:ext cx="2702685" cy="15924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524016-C6A6-4424-86B8-6559EB145977}">
      <dsp:nvSpPr>
        <dsp:cNvPr id="0" name=""/>
        <dsp:cNvSpPr/>
      </dsp:nvSpPr>
      <dsp:spPr>
        <a:xfrm>
          <a:off x="7743883" y="0"/>
          <a:ext cx="2048624" cy="12539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Emirate (N=9913)</a:t>
          </a:r>
        </a:p>
      </dsp:txBody>
      <dsp:txXfrm>
        <a:off x="7780611" y="36728"/>
        <a:ext cx="1975168" cy="1180516"/>
      </dsp:txXfrm>
    </dsp:sp>
    <dsp:sp modelId="{C2C2F5EF-FC71-4CD7-8F6C-72EBBF91CC78}">
      <dsp:nvSpPr>
        <dsp:cNvPr id="0" name=""/>
        <dsp:cNvSpPr/>
      </dsp:nvSpPr>
      <dsp:spPr>
        <a:xfrm>
          <a:off x="6139894" y="1253972"/>
          <a:ext cx="2628300" cy="147723"/>
        </a:xfrm>
        <a:custGeom>
          <a:avLst/>
          <a:gdLst/>
          <a:ahLst/>
          <a:cxnLst/>
          <a:rect l="0" t="0" r="0" b="0"/>
          <a:pathLst>
            <a:path>
              <a:moveTo>
                <a:pt x="2628300" y="0"/>
              </a:moveTo>
              <a:lnTo>
                <a:pt x="2628300" y="73861"/>
              </a:lnTo>
              <a:lnTo>
                <a:pt x="0" y="73861"/>
              </a:lnTo>
              <a:lnTo>
                <a:pt x="0" y="14772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E578BB-DD6A-40FD-942E-F943BCF601F7}">
      <dsp:nvSpPr>
        <dsp:cNvPr id="0" name=""/>
        <dsp:cNvSpPr/>
      </dsp:nvSpPr>
      <dsp:spPr>
        <a:xfrm>
          <a:off x="4997404" y="1401696"/>
          <a:ext cx="2284980" cy="1379962"/>
        </a:xfrm>
        <a:prstGeom prst="roundRect">
          <a:avLst>
            <a:gd name="adj" fmla="val 10000"/>
          </a:avLst>
        </a:prstGeom>
        <a:solidFill>
          <a:schemeClr val="bg2"/>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100 Treatment Neighborhoods (N=4959)</a:t>
          </a:r>
        </a:p>
      </dsp:txBody>
      <dsp:txXfrm>
        <a:off x="5037822" y="1442114"/>
        <a:ext cx="2204144" cy="1299126"/>
      </dsp:txXfrm>
    </dsp:sp>
    <dsp:sp modelId="{B6BFF0DD-C082-47B0-9928-6248268AD1D1}">
      <dsp:nvSpPr>
        <dsp:cNvPr id="0" name=""/>
        <dsp:cNvSpPr/>
      </dsp:nvSpPr>
      <dsp:spPr>
        <a:xfrm>
          <a:off x="4936530" y="2781658"/>
          <a:ext cx="1203364" cy="800303"/>
        </a:xfrm>
        <a:custGeom>
          <a:avLst/>
          <a:gdLst/>
          <a:ahLst/>
          <a:cxnLst/>
          <a:rect l="0" t="0" r="0" b="0"/>
          <a:pathLst>
            <a:path>
              <a:moveTo>
                <a:pt x="1203364" y="0"/>
              </a:moveTo>
              <a:lnTo>
                <a:pt x="1203364" y="400151"/>
              </a:lnTo>
              <a:lnTo>
                <a:pt x="0" y="400151"/>
              </a:lnTo>
              <a:lnTo>
                <a:pt x="0" y="80030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78876C-8709-4D90-AE72-C0ABF4E11A2F}">
      <dsp:nvSpPr>
        <dsp:cNvPr id="0" name=""/>
        <dsp:cNvSpPr/>
      </dsp:nvSpPr>
      <dsp:spPr>
        <a:xfrm>
          <a:off x="3877475" y="3581961"/>
          <a:ext cx="2118108" cy="1278747"/>
        </a:xfrm>
        <a:prstGeom prst="roundRect">
          <a:avLst>
            <a:gd name="adj" fmla="val 10000"/>
          </a:avLst>
        </a:prstGeom>
        <a:solidFill>
          <a:schemeClr val="bg2"/>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Eligible Businesses (N=2964)</a:t>
          </a:r>
        </a:p>
      </dsp:txBody>
      <dsp:txXfrm>
        <a:off x="3914928" y="3619414"/>
        <a:ext cx="2043202" cy="1203841"/>
      </dsp:txXfrm>
    </dsp:sp>
    <dsp:sp modelId="{2B29F2B9-1D0E-46EB-957C-1C2695D2804D}">
      <dsp:nvSpPr>
        <dsp:cNvPr id="0" name=""/>
        <dsp:cNvSpPr/>
      </dsp:nvSpPr>
      <dsp:spPr>
        <a:xfrm>
          <a:off x="3753531" y="4860708"/>
          <a:ext cx="1182998" cy="1415034"/>
        </a:xfrm>
        <a:custGeom>
          <a:avLst/>
          <a:gdLst/>
          <a:ahLst/>
          <a:cxnLst/>
          <a:rect l="0" t="0" r="0" b="0"/>
          <a:pathLst>
            <a:path>
              <a:moveTo>
                <a:pt x="1182998" y="0"/>
              </a:moveTo>
              <a:lnTo>
                <a:pt x="1182998" y="707517"/>
              </a:lnTo>
              <a:lnTo>
                <a:pt x="0" y="707517"/>
              </a:lnTo>
              <a:lnTo>
                <a:pt x="0" y="14150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19ECA7-B8BE-4ADA-8821-E074A592398D}">
      <dsp:nvSpPr>
        <dsp:cNvPr id="0" name=""/>
        <dsp:cNvSpPr/>
      </dsp:nvSpPr>
      <dsp:spPr>
        <a:xfrm>
          <a:off x="3039556" y="6275743"/>
          <a:ext cx="1427951" cy="1143552"/>
        </a:xfrm>
        <a:prstGeom prst="roundRect">
          <a:avLst>
            <a:gd name="adj" fmla="val 10000"/>
          </a:avLst>
        </a:prstGeom>
        <a:solidFill>
          <a:schemeClr val="bg2"/>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Decide to enroll (N=2907)</a:t>
          </a:r>
        </a:p>
      </dsp:txBody>
      <dsp:txXfrm>
        <a:off x="3073049" y="6309236"/>
        <a:ext cx="1360965" cy="1076566"/>
      </dsp:txXfrm>
    </dsp:sp>
    <dsp:sp modelId="{AAE69CCB-C349-4D2C-9AA8-F67107302345}">
      <dsp:nvSpPr>
        <dsp:cNvPr id="0" name=""/>
        <dsp:cNvSpPr/>
      </dsp:nvSpPr>
      <dsp:spPr>
        <a:xfrm>
          <a:off x="4936530" y="4860708"/>
          <a:ext cx="849822" cy="1415034"/>
        </a:xfrm>
        <a:custGeom>
          <a:avLst/>
          <a:gdLst/>
          <a:ahLst/>
          <a:cxnLst/>
          <a:rect l="0" t="0" r="0" b="0"/>
          <a:pathLst>
            <a:path>
              <a:moveTo>
                <a:pt x="0" y="0"/>
              </a:moveTo>
              <a:lnTo>
                <a:pt x="0" y="707517"/>
              </a:lnTo>
              <a:lnTo>
                <a:pt x="849822" y="707517"/>
              </a:lnTo>
              <a:lnTo>
                <a:pt x="849822" y="14150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7D3ECA-BD3B-4057-8376-580CB7D3C923}">
      <dsp:nvSpPr>
        <dsp:cNvPr id="0" name=""/>
        <dsp:cNvSpPr/>
      </dsp:nvSpPr>
      <dsp:spPr>
        <a:xfrm>
          <a:off x="5070882" y="6275743"/>
          <a:ext cx="1430939" cy="114235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Decide not to enroll (N=57)</a:t>
          </a:r>
        </a:p>
      </dsp:txBody>
      <dsp:txXfrm>
        <a:off x="5104340" y="6309201"/>
        <a:ext cx="1364023" cy="1075437"/>
      </dsp:txXfrm>
    </dsp:sp>
    <dsp:sp modelId="{83F8B536-39A5-4F07-9F3A-A616B78331C9}">
      <dsp:nvSpPr>
        <dsp:cNvPr id="0" name=""/>
        <dsp:cNvSpPr/>
      </dsp:nvSpPr>
      <dsp:spPr>
        <a:xfrm>
          <a:off x="6139894" y="2781658"/>
          <a:ext cx="1123486" cy="803107"/>
        </a:xfrm>
        <a:custGeom>
          <a:avLst/>
          <a:gdLst/>
          <a:ahLst/>
          <a:cxnLst/>
          <a:rect l="0" t="0" r="0" b="0"/>
          <a:pathLst>
            <a:path>
              <a:moveTo>
                <a:pt x="0" y="0"/>
              </a:moveTo>
              <a:lnTo>
                <a:pt x="0" y="401553"/>
              </a:lnTo>
              <a:lnTo>
                <a:pt x="1123486" y="401553"/>
              </a:lnTo>
              <a:lnTo>
                <a:pt x="1123486" y="8031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911C63-2941-4CC0-AAF3-3ADF0A59B60B}">
      <dsp:nvSpPr>
        <dsp:cNvPr id="0" name=""/>
        <dsp:cNvSpPr/>
      </dsp:nvSpPr>
      <dsp:spPr>
        <a:xfrm>
          <a:off x="6204326" y="3584765"/>
          <a:ext cx="2118108" cy="127874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Ineligible Businesses (N=1995)</a:t>
          </a:r>
        </a:p>
      </dsp:txBody>
      <dsp:txXfrm>
        <a:off x="6241779" y="3622218"/>
        <a:ext cx="2043202" cy="1203841"/>
      </dsp:txXfrm>
    </dsp:sp>
    <dsp:sp modelId="{3B1D9D37-5190-4685-812C-9AC25E82F5D8}">
      <dsp:nvSpPr>
        <dsp:cNvPr id="0" name=""/>
        <dsp:cNvSpPr/>
      </dsp:nvSpPr>
      <dsp:spPr>
        <a:xfrm>
          <a:off x="8768195" y="1253972"/>
          <a:ext cx="2637134" cy="149416"/>
        </a:xfrm>
        <a:custGeom>
          <a:avLst/>
          <a:gdLst/>
          <a:ahLst/>
          <a:cxnLst/>
          <a:rect l="0" t="0" r="0" b="0"/>
          <a:pathLst>
            <a:path>
              <a:moveTo>
                <a:pt x="0" y="0"/>
              </a:moveTo>
              <a:lnTo>
                <a:pt x="0" y="74708"/>
              </a:lnTo>
              <a:lnTo>
                <a:pt x="2637134" y="74708"/>
              </a:lnTo>
              <a:lnTo>
                <a:pt x="2637134" y="1494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500144-ADF8-43D6-8860-55D684BB5628}">
      <dsp:nvSpPr>
        <dsp:cNvPr id="0" name=""/>
        <dsp:cNvSpPr/>
      </dsp:nvSpPr>
      <dsp:spPr>
        <a:xfrm>
          <a:off x="10262840" y="1403388"/>
          <a:ext cx="2284980" cy="13799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100 Control Neighborhoods (N=4954)</a:t>
          </a:r>
        </a:p>
      </dsp:txBody>
      <dsp:txXfrm>
        <a:off x="10303258" y="1443806"/>
        <a:ext cx="2204144" cy="1299126"/>
      </dsp:txXfrm>
    </dsp:sp>
    <dsp:sp modelId="{DCF1C2AF-C506-4F76-83FC-2FA1C8DAE862}">
      <dsp:nvSpPr>
        <dsp:cNvPr id="0" name=""/>
        <dsp:cNvSpPr/>
      </dsp:nvSpPr>
      <dsp:spPr>
        <a:xfrm>
          <a:off x="10303559" y="2783350"/>
          <a:ext cx="1101770" cy="761633"/>
        </a:xfrm>
        <a:custGeom>
          <a:avLst/>
          <a:gdLst/>
          <a:ahLst/>
          <a:cxnLst/>
          <a:rect l="0" t="0" r="0" b="0"/>
          <a:pathLst>
            <a:path>
              <a:moveTo>
                <a:pt x="1101770" y="0"/>
              </a:moveTo>
              <a:lnTo>
                <a:pt x="1101770" y="380816"/>
              </a:lnTo>
              <a:lnTo>
                <a:pt x="0" y="380816"/>
              </a:lnTo>
              <a:lnTo>
                <a:pt x="0" y="76163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01BA2D-3963-4017-9498-AD1F623A53DE}">
      <dsp:nvSpPr>
        <dsp:cNvPr id="0" name=""/>
        <dsp:cNvSpPr/>
      </dsp:nvSpPr>
      <dsp:spPr>
        <a:xfrm>
          <a:off x="9244505" y="3544984"/>
          <a:ext cx="2118108" cy="127874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Eligible Businesses (N=2664)</a:t>
          </a:r>
        </a:p>
      </dsp:txBody>
      <dsp:txXfrm>
        <a:off x="9281958" y="3582437"/>
        <a:ext cx="2043202" cy="1203841"/>
      </dsp:txXfrm>
    </dsp:sp>
    <dsp:sp modelId="{0B2901EB-C3A0-4C1B-93B5-2D4D51508A9F}">
      <dsp:nvSpPr>
        <dsp:cNvPr id="0" name=""/>
        <dsp:cNvSpPr/>
      </dsp:nvSpPr>
      <dsp:spPr>
        <a:xfrm>
          <a:off x="11405330" y="2783350"/>
          <a:ext cx="1238622" cy="761528"/>
        </a:xfrm>
        <a:custGeom>
          <a:avLst/>
          <a:gdLst/>
          <a:ahLst/>
          <a:cxnLst/>
          <a:rect l="0" t="0" r="0" b="0"/>
          <a:pathLst>
            <a:path>
              <a:moveTo>
                <a:pt x="0" y="0"/>
              </a:moveTo>
              <a:lnTo>
                <a:pt x="0" y="380764"/>
              </a:lnTo>
              <a:lnTo>
                <a:pt x="1238622" y="380764"/>
              </a:lnTo>
              <a:lnTo>
                <a:pt x="1238622" y="76152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781F50-B329-4AD5-84C9-22B344069048}">
      <dsp:nvSpPr>
        <dsp:cNvPr id="0" name=""/>
        <dsp:cNvSpPr/>
      </dsp:nvSpPr>
      <dsp:spPr>
        <a:xfrm>
          <a:off x="11584898" y="3544879"/>
          <a:ext cx="2118108" cy="127874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Ineligible Businesses (N=2290)</a:t>
          </a:r>
        </a:p>
      </dsp:txBody>
      <dsp:txXfrm>
        <a:off x="11622351" y="3582332"/>
        <a:ext cx="2043202" cy="120384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[Welcome &amp; introduce module facilitators]</a:t>
            </a:r>
          </a:p>
        </p:txBody>
      </p:sp>
      <p:sp>
        <p:nvSpPr>
          <p:cNvPr id="4" name="Slide Number Placeholder 3"/>
          <p:cNvSpPr>
            <a:spLocks noGrp="1"/>
          </p:cNvSpPr>
          <p:nvPr>
            <p:ph type="sldNum" sz="quarter" idx="5"/>
          </p:nvPr>
        </p:nvSpPr>
        <p:spPr/>
        <p:txBody>
          <a:bodyPr/>
          <a:lstStyle/>
          <a:p>
            <a:fld id="{3BAD56CD-6F1A-4FF5-AF07-66FBE3AA070F}" type="slidenum">
              <a:rPr lang="en-US" smtClean="0"/>
              <a:t>1</a:t>
            </a:fld>
            <a:endParaRPr lang="en-US"/>
          </a:p>
        </p:txBody>
      </p:sp>
    </p:spTree>
    <p:extLst>
      <p:ext uri="{BB962C8B-B14F-4D97-AF65-F5344CB8AC3E}">
        <p14:creationId xmlns:p14="http://schemas.microsoft.com/office/powerpoint/2010/main" val="147908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47B76-DF14-2DBC-821C-ADA6E899C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789B0A-A238-CB3B-71EF-28B5B0E76A8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58041D-1306-3C60-3F30-E56220346D37}"/>
              </a:ext>
            </a:extLst>
          </p:cNvPr>
          <p:cNvSpPr>
            <a:spLocks noGrp="1"/>
          </p:cNvSpPr>
          <p:nvPr>
            <p:ph type="body" idx="1"/>
          </p:nvPr>
        </p:nvSpPr>
        <p:spPr/>
        <p:txBody>
          <a:bodyPr/>
          <a:lstStyle/>
          <a:p>
            <a:pPr lvl="0"/>
            <a:r>
              <a:rPr lang="en-GB" sz="1100" b="1" i="0" u="none" strike="noStrike" cap="none" dirty="0">
                <a:solidFill>
                  <a:srgbClr val="000000"/>
                </a:solidFill>
                <a:effectLst/>
                <a:latin typeface="Arial"/>
                <a:ea typeface="Arial"/>
                <a:cs typeface="Arial"/>
                <a:sym typeface="Arial"/>
              </a:rPr>
              <a:t>Geographic</a:t>
            </a:r>
            <a:r>
              <a:rPr lang="en-GB" sz="800" b="0" i="0" u="none" strike="noStrike" cap="none" dirty="0">
                <a:solidFill>
                  <a:srgbClr val="000000"/>
                </a:solidFill>
                <a:effectLst/>
                <a:latin typeface="Arial"/>
                <a:ea typeface="Arial"/>
                <a:cs typeface="Arial"/>
                <a:sym typeface="Arial"/>
              </a:rPr>
              <a:t> </a:t>
            </a:r>
            <a:r>
              <a:rPr lang="en-GB" sz="1100" b="1" i="0" u="none" strike="noStrike" cap="none" dirty="0">
                <a:solidFill>
                  <a:srgbClr val="000000"/>
                </a:solidFill>
                <a:effectLst/>
                <a:latin typeface="Arial"/>
                <a:ea typeface="Arial"/>
                <a:cs typeface="Arial"/>
                <a:sym typeface="Arial"/>
              </a:rPr>
              <a:t>Coverage</a:t>
            </a:r>
            <a:r>
              <a:rPr lang="en-GB" sz="1100" b="0" i="0" u="none" strike="noStrike" cap="none" dirty="0">
                <a:solidFill>
                  <a:srgbClr val="000000"/>
                </a:solidFill>
                <a:effectLst/>
                <a:latin typeface="Arial"/>
                <a:ea typeface="Arial"/>
                <a:cs typeface="Arial"/>
                <a:sym typeface="Arial"/>
              </a:rPr>
              <a:t>:</a:t>
            </a:r>
            <a:endParaRPr lang="en-US" sz="1100" b="0" i="0" u="none" strike="noStrike" cap="none" dirty="0">
              <a:solidFill>
                <a:srgbClr val="000000"/>
              </a:solidFill>
              <a:effectLst/>
              <a:latin typeface="Arial"/>
              <a:ea typeface="Arial"/>
              <a:cs typeface="Arial"/>
              <a:sym typeface="Arial"/>
            </a:endParaRPr>
          </a:p>
          <a:p>
            <a:pPr lvl="1"/>
            <a:r>
              <a:rPr lang="en-GB" sz="1100" b="0" i="0" u="none" strike="noStrike" cap="none" dirty="0">
                <a:solidFill>
                  <a:srgbClr val="000000"/>
                </a:solidFill>
                <a:effectLst/>
                <a:latin typeface="Arial"/>
                <a:ea typeface="Arial"/>
                <a:cs typeface="Arial"/>
                <a:sym typeface="Arial"/>
              </a:rPr>
              <a:t>100 treatment </a:t>
            </a:r>
            <a:r>
              <a:rPr lang="en-GB" sz="1100" b="0" i="0" u="none" strike="noStrike" cap="none" dirty="0" err="1">
                <a:solidFill>
                  <a:srgbClr val="000000"/>
                </a:solidFill>
                <a:effectLst/>
                <a:latin typeface="Arial"/>
                <a:ea typeface="Arial"/>
                <a:cs typeface="Arial"/>
                <a:sym typeface="Arial"/>
              </a:rPr>
              <a:t>neighborhoods</a:t>
            </a:r>
            <a:r>
              <a:rPr lang="en-GB" sz="1100" b="0" i="0" u="none" strike="noStrike" cap="none" dirty="0">
                <a:solidFill>
                  <a:srgbClr val="000000"/>
                </a:solidFill>
                <a:effectLst/>
                <a:latin typeface="Arial"/>
                <a:ea typeface="Arial"/>
                <a:cs typeface="Arial"/>
                <a:sym typeface="Arial"/>
              </a:rPr>
              <a:t> where the program was implemented (</a:t>
            </a:r>
            <a:r>
              <a:rPr lang="en-GB" sz="1100" b="0" i="0" u="none" strike="noStrike" cap="none" dirty="0" err="1">
                <a:solidFill>
                  <a:srgbClr val="000000"/>
                </a:solidFill>
                <a:effectLst/>
                <a:latin typeface="Arial"/>
                <a:ea typeface="Arial"/>
                <a:cs typeface="Arial"/>
                <a:sym typeface="Arial"/>
              </a:rPr>
              <a:t>treatment_zone</a:t>
            </a:r>
            <a:r>
              <a:rPr lang="en-GB" sz="1100" b="0" i="0" u="none" strike="noStrike" cap="none" dirty="0">
                <a:solidFill>
                  <a:srgbClr val="000000"/>
                </a:solidFill>
                <a:effectLst/>
                <a:latin typeface="Arial"/>
                <a:ea typeface="Arial"/>
                <a:cs typeface="Arial"/>
                <a:sym typeface="Arial"/>
              </a:rPr>
              <a:t> = 1)</a:t>
            </a:r>
            <a:endParaRPr lang="en-US" sz="1100" b="0" i="0" u="none" strike="noStrike" cap="none" dirty="0">
              <a:solidFill>
                <a:srgbClr val="000000"/>
              </a:solidFill>
              <a:effectLst/>
              <a:latin typeface="Arial"/>
              <a:ea typeface="Arial"/>
              <a:cs typeface="Arial"/>
              <a:sym typeface="Arial"/>
            </a:endParaRPr>
          </a:p>
          <a:p>
            <a:pPr lvl="1"/>
            <a:r>
              <a:rPr lang="en-GB" sz="1100" b="0" i="0" u="none" strike="noStrike" cap="none" dirty="0">
                <a:solidFill>
                  <a:srgbClr val="000000"/>
                </a:solidFill>
                <a:effectLst/>
                <a:latin typeface="Arial"/>
                <a:ea typeface="Arial"/>
                <a:cs typeface="Arial"/>
                <a:sym typeface="Arial"/>
              </a:rPr>
              <a:t>100 control </a:t>
            </a:r>
            <a:r>
              <a:rPr lang="en-GB" sz="1100" b="0" i="0" u="none" strike="noStrike" cap="none" dirty="0" err="1">
                <a:solidFill>
                  <a:srgbClr val="000000"/>
                </a:solidFill>
                <a:effectLst/>
                <a:latin typeface="Arial"/>
                <a:ea typeface="Arial"/>
                <a:cs typeface="Arial"/>
                <a:sym typeface="Arial"/>
              </a:rPr>
              <a:t>neighborhoods</a:t>
            </a:r>
            <a:r>
              <a:rPr lang="en-GB" sz="1100" b="0" i="0" u="none" strike="noStrike" cap="none" dirty="0">
                <a:solidFill>
                  <a:srgbClr val="000000"/>
                </a:solidFill>
                <a:effectLst/>
                <a:latin typeface="Arial"/>
                <a:ea typeface="Arial"/>
                <a:cs typeface="Arial"/>
                <a:sym typeface="Arial"/>
              </a:rPr>
              <a:t> where the program was not available (</a:t>
            </a:r>
            <a:r>
              <a:rPr lang="en-GB" sz="1100" b="0" i="0" u="none" strike="noStrike" cap="none" dirty="0" err="1">
                <a:solidFill>
                  <a:srgbClr val="000000"/>
                </a:solidFill>
                <a:effectLst/>
                <a:latin typeface="Arial"/>
                <a:ea typeface="Arial"/>
                <a:cs typeface="Arial"/>
                <a:sym typeface="Arial"/>
              </a:rPr>
              <a:t>treatment_zone</a:t>
            </a:r>
            <a:r>
              <a:rPr lang="en-GB" sz="1100" b="0" i="0" u="none" strike="noStrike" cap="none" dirty="0">
                <a:solidFill>
                  <a:srgbClr val="000000"/>
                </a:solidFill>
                <a:effectLst/>
                <a:latin typeface="Arial"/>
                <a:ea typeface="Arial"/>
                <a:cs typeface="Arial"/>
                <a:sym typeface="Arial"/>
              </a:rPr>
              <a:t> = 0)</a:t>
            </a:r>
            <a:endParaRPr lang="en-US" sz="1100" b="0" i="0" u="none" strike="noStrike" cap="none" dirty="0">
              <a:solidFill>
                <a:srgbClr val="000000"/>
              </a:solidFill>
              <a:effectLst/>
              <a:latin typeface="Arial"/>
              <a:ea typeface="Arial"/>
              <a:cs typeface="Arial"/>
              <a:sym typeface="Arial"/>
            </a:endParaRPr>
          </a:p>
          <a:p>
            <a:pPr lvl="0"/>
            <a:r>
              <a:rPr lang="en-GB" sz="1100" b="1" i="0" u="none" strike="noStrike" cap="none" dirty="0">
                <a:solidFill>
                  <a:srgbClr val="000000"/>
                </a:solidFill>
                <a:effectLst/>
                <a:latin typeface="Arial"/>
                <a:ea typeface="Arial"/>
                <a:cs typeface="Arial"/>
                <a:sym typeface="Arial"/>
              </a:rPr>
              <a:t>Eligibility Criteria</a:t>
            </a:r>
            <a:r>
              <a:rPr lang="en-GB" sz="1100" b="0" i="0" u="none" strike="noStrike" cap="none" dirty="0">
                <a:solidFill>
                  <a:srgbClr val="000000"/>
                </a:solidFill>
                <a:effectLst/>
                <a:latin typeface="Arial"/>
                <a:ea typeface="Arial"/>
                <a:cs typeface="Arial"/>
                <a:sym typeface="Arial"/>
              </a:rPr>
              <a:t>:</a:t>
            </a:r>
            <a:endParaRPr lang="en-US" sz="1100" b="0" i="0" u="none" strike="noStrike" cap="none" dirty="0">
              <a:solidFill>
                <a:srgbClr val="000000"/>
              </a:solidFill>
              <a:effectLst/>
              <a:latin typeface="Arial"/>
              <a:ea typeface="Arial"/>
              <a:cs typeface="Arial"/>
              <a:sym typeface="Arial"/>
            </a:endParaRPr>
          </a:p>
          <a:p>
            <a:pPr lvl="1"/>
            <a:r>
              <a:rPr lang="en-GB" sz="1100" b="0" i="0" u="none" strike="noStrike" cap="none" dirty="0">
                <a:solidFill>
                  <a:srgbClr val="000000"/>
                </a:solidFill>
                <a:effectLst/>
                <a:latin typeface="Arial"/>
                <a:ea typeface="Arial"/>
                <a:cs typeface="Arial"/>
                <a:sym typeface="Arial"/>
              </a:rPr>
              <a:t>Eligibility was determined by a waste management efficiency index, which is calculated through a proxy means test that assigned each business in the community a score between 20 and 100 based on various characteristics of the business (recycling, filtration, water treatment, proximity to recycling </a:t>
            </a:r>
            <a:r>
              <a:rPr lang="en-GB" sz="1100" b="0" i="0" u="none" strike="noStrike" cap="none" dirty="0" err="1">
                <a:solidFill>
                  <a:srgbClr val="000000"/>
                </a:solidFill>
                <a:effectLst/>
                <a:latin typeface="Arial"/>
                <a:ea typeface="Arial"/>
                <a:cs typeface="Arial"/>
                <a:sym typeface="Arial"/>
              </a:rPr>
              <a:t>center</a:t>
            </a:r>
            <a:r>
              <a:rPr lang="en-GB" sz="1100" b="0" i="0" u="none" strike="noStrike" cap="none" dirty="0">
                <a:solidFill>
                  <a:srgbClr val="000000"/>
                </a:solidFill>
                <a:effectLst/>
                <a:latin typeface="Arial"/>
                <a:ea typeface="Arial"/>
                <a:cs typeface="Arial"/>
                <a:sym typeface="Arial"/>
              </a:rPr>
              <a:t>, size of business). </a:t>
            </a:r>
            <a:endParaRPr lang="en-US" sz="1100" b="0" i="0" u="none" strike="noStrike" cap="none" dirty="0">
              <a:solidFill>
                <a:srgbClr val="000000"/>
              </a:solidFill>
              <a:effectLst/>
              <a:latin typeface="Arial"/>
              <a:ea typeface="Arial"/>
              <a:cs typeface="Arial"/>
              <a:sym typeface="Arial"/>
            </a:endParaRPr>
          </a:p>
          <a:p>
            <a:pPr lvl="1"/>
            <a:r>
              <a:rPr lang="en-GB" sz="1100" b="0" i="0" u="none" strike="noStrike" cap="none" dirty="0">
                <a:solidFill>
                  <a:srgbClr val="000000"/>
                </a:solidFill>
                <a:effectLst/>
                <a:latin typeface="Arial"/>
                <a:ea typeface="Arial"/>
                <a:cs typeface="Arial"/>
                <a:sym typeface="Arial"/>
              </a:rPr>
              <a:t>Businesses with an </a:t>
            </a:r>
            <a:r>
              <a:rPr lang="en-GB" sz="1100" b="0" i="0" u="none" strike="noStrike" cap="none" dirty="0" err="1">
                <a:solidFill>
                  <a:srgbClr val="000000"/>
                </a:solidFill>
                <a:effectLst/>
                <a:latin typeface="Arial"/>
                <a:ea typeface="Arial"/>
                <a:cs typeface="Arial"/>
                <a:sym typeface="Arial"/>
              </a:rPr>
              <a:t>efficiency_index</a:t>
            </a:r>
            <a:r>
              <a:rPr lang="en-GB" sz="1100" b="0" i="0" u="none" strike="noStrike" cap="none" dirty="0">
                <a:solidFill>
                  <a:srgbClr val="000000"/>
                </a:solidFill>
                <a:effectLst/>
                <a:latin typeface="Arial"/>
                <a:ea typeface="Arial"/>
                <a:cs typeface="Arial"/>
                <a:sym typeface="Arial"/>
              </a:rPr>
              <a:t> below 58 were eligible.</a:t>
            </a:r>
            <a:endParaRPr lang="en-US" sz="1100" b="0" i="0" u="none" strike="noStrike" cap="none" dirty="0">
              <a:solidFill>
                <a:srgbClr val="000000"/>
              </a:solidFill>
              <a:effectLst/>
              <a:latin typeface="Arial"/>
              <a:ea typeface="Arial"/>
              <a:cs typeface="Arial"/>
              <a:sym typeface="Arial"/>
            </a:endParaRPr>
          </a:p>
          <a:p>
            <a:pPr lvl="1"/>
            <a:r>
              <a:rPr lang="en-GB" sz="1100" b="0" i="0" u="none" strike="noStrike" cap="none" dirty="0">
                <a:solidFill>
                  <a:srgbClr val="000000"/>
                </a:solidFill>
                <a:effectLst/>
                <a:latin typeface="Arial"/>
                <a:ea typeface="Arial"/>
                <a:cs typeface="Arial"/>
                <a:sym typeface="Arial"/>
              </a:rPr>
              <a:t>The program was only available to eligible businesses in treatment </a:t>
            </a:r>
            <a:r>
              <a:rPr lang="en-GB" sz="1100" b="0" i="0" u="none" strike="noStrike" cap="none" dirty="0" err="1">
                <a:solidFill>
                  <a:srgbClr val="000000"/>
                </a:solidFill>
                <a:effectLst/>
                <a:latin typeface="Arial"/>
                <a:ea typeface="Arial"/>
                <a:cs typeface="Arial"/>
                <a:sym typeface="Arial"/>
              </a:rPr>
              <a:t>neighborhoods</a:t>
            </a:r>
            <a:r>
              <a:rPr lang="en-GB" sz="1100" b="0" i="0" u="none" strike="noStrike" cap="none" dirty="0">
                <a:solidFill>
                  <a:srgbClr val="000000"/>
                </a:solidFill>
                <a:effectLst/>
                <a:latin typeface="Arial"/>
                <a:ea typeface="Arial"/>
                <a:cs typeface="Arial"/>
                <a:sym typeface="Arial"/>
              </a:rPr>
              <a:t>.</a:t>
            </a:r>
            <a:endParaRPr lang="en-US" sz="1100" b="0" i="0" u="none" strike="noStrike" cap="none" dirty="0">
              <a:solidFill>
                <a:srgbClr val="000000"/>
              </a:solidFill>
              <a:effectLst/>
              <a:latin typeface="Arial"/>
              <a:ea typeface="Arial"/>
              <a:cs typeface="Arial"/>
              <a:sym typeface="Arial"/>
            </a:endParaRPr>
          </a:p>
          <a:p>
            <a:pPr lvl="0"/>
            <a:r>
              <a:rPr lang="en-GB" sz="1100" b="1" i="0" u="none" strike="noStrike" cap="none" dirty="0" err="1">
                <a:solidFill>
                  <a:srgbClr val="000000"/>
                </a:solidFill>
                <a:effectLst/>
                <a:latin typeface="Arial"/>
                <a:ea typeface="Arial"/>
                <a:cs typeface="Arial"/>
                <a:sym typeface="Arial"/>
              </a:rPr>
              <a:t>Enrollment</a:t>
            </a:r>
            <a:r>
              <a:rPr lang="en-GB" sz="1100" b="1" i="0" u="none" strike="noStrike" cap="none" dirty="0">
                <a:solidFill>
                  <a:srgbClr val="000000"/>
                </a:solidFill>
                <a:effectLst/>
                <a:latin typeface="Arial"/>
                <a:ea typeface="Arial"/>
                <a:cs typeface="Arial"/>
                <a:sym typeface="Arial"/>
              </a:rPr>
              <a:t> Process</a:t>
            </a:r>
            <a:r>
              <a:rPr lang="en-GB" sz="1100" b="0" i="0" u="none" strike="noStrike" cap="none" dirty="0">
                <a:solidFill>
                  <a:srgbClr val="000000"/>
                </a:solidFill>
                <a:effectLst/>
                <a:latin typeface="Arial"/>
                <a:ea typeface="Arial"/>
                <a:cs typeface="Arial"/>
                <a:sym typeface="Arial"/>
              </a:rPr>
              <a:t>:</a:t>
            </a:r>
            <a:endParaRPr lang="en-US" sz="1100" b="0" i="0" u="none" strike="noStrike" cap="none" dirty="0">
              <a:solidFill>
                <a:srgbClr val="000000"/>
              </a:solidFill>
              <a:effectLst/>
              <a:latin typeface="Arial"/>
              <a:ea typeface="Arial"/>
              <a:cs typeface="Arial"/>
              <a:sym typeface="Arial"/>
            </a:endParaRPr>
          </a:p>
          <a:p>
            <a:pPr lvl="1"/>
            <a:r>
              <a:rPr lang="en-GB" sz="1100" b="0" i="0" u="none" strike="noStrike" cap="none" dirty="0">
                <a:solidFill>
                  <a:srgbClr val="000000"/>
                </a:solidFill>
                <a:effectLst/>
                <a:latin typeface="Arial"/>
                <a:ea typeface="Arial"/>
                <a:cs typeface="Arial"/>
                <a:sym typeface="Arial"/>
              </a:rPr>
              <a:t>Eligible businesses in treatment </a:t>
            </a:r>
            <a:r>
              <a:rPr lang="en-GB" sz="1100" b="0" i="0" u="none" strike="noStrike" cap="none" dirty="0" err="1">
                <a:solidFill>
                  <a:srgbClr val="000000"/>
                </a:solidFill>
                <a:effectLst/>
                <a:latin typeface="Arial"/>
                <a:ea typeface="Arial"/>
                <a:cs typeface="Arial"/>
                <a:sym typeface="Arial"/>
              </a:rPr>
              <a:t>neighborhoods</a:t>
            </a:r>
            <a:r>
              <a:rPr lang="en-GB" sz="1100" b="0" i="0" u="none" strike="noStrike" cap="none" dirty="0">
                <a:solidFill>
                  <a:srgbClr val="000000"/>
                </a:solidFill>
                <a:effectLst/>
                <a:latin typeface="Arial"/>
                <a:ea typeface="Arial"/>
                <a:cs typeface="Arial"/>
                <a:sym typeface="Arial"/>
              </a:rPr>
              <a:t> </a:t>
            </a:r>
            <a:r>
              <a:rPr lang="en-GB" sz="1100" b="0" i="0" u="none" strike="noStrike" cap="none" dirty="0" err="1">
                <a:solidFill>
                  <a:srgbClr val="000000"/>
                </a:solidFill>
                <a:effectLst/>
                <a:latin typeface="Arial"/>
                <a:ea typeface="Arial"/>
                <a:cs typeface="Arial"/>
                <a:sym typeface="Arial"/>
              </a:rPr>
              <a:t>enroll</a:t>
            </a:r>
            <a:r>
              <a:rPr lang="en-GB" sz="1100" b="0" i="0" u="none" strike="noStrike" cap="none" dirty="0">
                <a:solidFill>
                  <a:srgbClr val="000000"/>
                </a:solidFill>
                <a:effectLst/>
                <a:latin typeface="Arial"/>
                <a:ea typeface="Arial"/>
                <a:cs typeface="Arial"/>
                <a:sym typeface="Arial"/>
              </a:rPr>
              <a:t> voluntarily. </a:t>
            </a:r>
            <a:endParaRPr lang="en-US" sz="1100" b="0" i="0" u="none" strike="noStrike" cap="none" dirty="0">
              <a:solidFill>
                <a:srgbClr val="000000"/>
              </a:solidFill>
              <a:effectLst/>
              <a:latin typeface="Arial"/>
              <a:ea typeface="Arial"/>
              <a:cs typeface="Arial"/>
              <a:sym typeface="Arial"/>
            </a:endParaRPr>
          </a:p>
          <a:p>
            <a:pPr lvl="0"/>
            <a:r>
              <a:rPr lang="en-GB" sz="1100" b="1" i="0" u="none" strike="noStrike" cap="none" dirty="0">
                <a:solidFill>
                  <a:srgbClr val="000000"/>
                </a:solidFill>
                <a:effectLst/>
                <a:latin typeface="Arial"/>
                <a:ea typeface="Arial"/>
                <a:cs typeface="Arial"/>
                <a:sym typeface="Arial"/>
              </a:rPr>
              <a:t>Timeline</a:t>
            </a:r>
            <a:r>
              <a:rPr lang="en-GB" sz="1100" b="0" i="0" u="none" strike="noStrike" cap="none" dirty="0">
                <a:solidFill>
                  <a:srgbClr val="000000"/>
                </a:solidFill>
                <a:effectLst/>
                <a:latin typeface="Arial"/>
                <a:ea typeface="Arial"/>
                <a:cs typeface="Arial"/>
                <a:sym typeface="Arial"/>
              </a:rPr>
              <a:t>:</a:t>
            </a:r>
            <a:endParaRPr lang="en-US" sz="1100" b="0" i="0" u="none" strike="noStrike" cap="none" dirty="0">
              <a:solidFill>
                <a:srgbClr val="000000"/>
              </a:solidFill>
              <a:effectLst/>
              <a:latin typeface="Arial"/>
              <a:ea typeface="Arial"/>
              <a:cs typeface="Arial"/>
              <a:sym typeface="Arial"/>
            </a:endParaRPr>
          </a:p>
          <a:p>
            <a:pPr lvl="1"/>
            <a:r>
              <a:rPr lang="en-GB" sz="1100" b="0" i="0" u="none" strike="noStrike" cap="none" dirty="0">
                <a:solidFill>
                  <a:srgbClr val="000000"/>
                </a:solidFill>
                <a:effectLst/>
                <a:latin typeface="Arial"/>
                <a:ea typeface="Arial"/>
                <a:cs typeface="Arial"/>
                <a:sym typeface="Arial"/>
              </a:rPr>
              <a:t>Baseline data was collected in September 2022, before program implementation (round = 0)</a:t>
            </a:r>
            <a:endParaRPr lang="en-US" sz="1100" b="0" i="0" u="none" strike="noStrike" cap="none" dirty="0">
              <a:solidFill>
                <a:srgbClr val="000000"/>
              </a:solidFill>
              <a:effectLst/>
              <a:latin typeface="Arial"/>
              <a:ea typeface="Arial"/>
              <a:cs typeface="Arial"/>
              <a:sym typeface="Arial"/>
            </a:endParaRPr>
          </a:p>
          <a:p>
            <a:pPr lvl="1"/>
            <a:r>
              <a:rPr lang="en-GB" sz="1100" b="0" i="0" u="none" strike="noStrike" cap="none" dirty="0">
                <a:solidFill>
                  <a:srgbClr val="000000"/>
                </a:solidFill>
                <a:effectLst/>
                <a:latin typeface="Arial"/>
                <a:ea typeface="Arial"/>
                <a:cs typeface="Arial"/>
                <a:sym typeface="Arial"/>
              </a:rPr>
              <a:t>Follow-up data was collected in November 2023, 12 months after implementation (round = 1)</a:t>
            </a:r>
            <a:endParaRPr lang="en-US" sz="1100" b="0" i="0" u="none" strike="noStrike" cap="none" dirty="0">
              <a:solidFill>
                <a:srgbClr val="000000"/>
              </a:solidFill>
              <a:effectLst/>
              <a:latin typeface="Arial"/>
              <a:ea typeface="Arial"/>
              <a:cs typeface="Arial"/>
              <a:sym typeface="Arial"/>
            </a:endParaRPr>
          </a:p>
          <a:p>
            <a:pPr marL="158750" indent="0">
              <a:buNone/>
            </a:pPr>
            <a:endParaRPr lang="en-US" dirty="0"/>
          </a:p>
        </p:txBody>
      </p:sp>
    </p:spTree>
    <p:extLst>
      <p:ext uri="{BB962C8B-B14F-4D97-AF65-F5344CB8AC3E}">
        <p14:creationId xmlns:p14="http://schemas.microsoft.com/office/powerpoint/2010/main" val="3803099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3352-7C03-3F29-60A6-726DFC808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99AC3-96A7-5222-56C5-82C9A8EDD7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143CF96-250C-1FA4-3D55-A95C9DF2516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26403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Business area: categorical variable coded as numeric for sector/type of business </a:t>
            </a:r>
          </a:p>
          <a:p>
            <a:pPr lvl="1"/>
            <a:r>
              <a:rPr lang="en-US" dirty="0"/>
              <a:t>This is an assumption because it appears to be categorical ids, varies across neighborhoods (there are many neighborhoods and businesses with diff business types) but is consistent within the same business ID (same business has same type)</a:t>
            </a:r>
          </a:p>
          <a:p>
            <a:r>
              <a:rPr lang="en-US" dirty="0"/>
              <a:t>Water treatment system: whether businesses has a water treatment system (0/1), or in other words, treats/removes waste-related wastewater on-site.</a:t>
            </a:r>
          </a:p>
          <a:p>
            <a:r>
              <a:rPr lang="en-US" dirty="0"/>
              <a:t>Advanced filtration: whether businesses has an advanced waste sorting/filtration system in place (0/1). This means equipment or processes that </a:t>
            </a:r>
            <a:r>
              <a:rPr lang="en-US" b="0" dirty="0"/>
              <a:t>filter/sort contaminants and separate recyclable materials from mixed waste </a:t>
            </a:r>
            <a:r>
              <a:rPr lang="en-US" dirty="0"/>
              <a:t>more effectively than standard bins. Exact technology may vary but examples could include on-site sorting/filtration units or smart/optical separation.</a:t>
            </a:r>
          </a:p>
        </p:txBody>
      </p:sp>
    </p:spTree>
    <p:extLst>
      <p:ext uri="{BB962C8B-B14F-4D97-AF65-F5344CB8AC3E}">
        <p14:creationId xmlns:p14="http://schemas.microsoft.com/office/powerpoint/2010/main" val="1930809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55307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46454-EFDE-E45F-D811-95906970A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7999A-AF8E-7E5A-AAF2-B52C2D53E64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93136E0-0A2D-B98C-0E5B-5B373374AAA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31865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65E10-3FE4-8768-8AC2-0685A87FE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2BB39D-1B25-A814-7FAF-77188295747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EB315C4-63A7-E9D2-1C05-708D134483D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11434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454BF-C654-6BF5-C48C-0EBDA0EF8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7DE84-7381-5629-FBC7-A1F4F2ADE2A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BE7FFA4-40CD-67A6-FECB-FF178A2132C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4995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8998B-E5F4-88EC-7778-73ACA9F92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9FC82-B20E-8770-3F64-E66B2135140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BE499AC-001E-FF88-6721-9E9943C53BA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80483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4B356-0D77-84D9-33F5-67CF7E8DE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B2723-76B3-F0DE-4852-DD7F147E18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86153B6-77BB-396F-E39E-8C69F0BC35C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69027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AD499-7995-EE93-B3E1-4D6FE4B72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E80F7-C217-0F79-EAD4-8C6BC152FE8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40AFCCA-FF45-7864-7E77-AE692BAE4EFB}"/>
              </a:ext>
            </a:extLst>
          </p:cNvPr>
          <p:cNvSpPr>
            <a:spLocks noGrp="1"/>
          </p:cNvSpPr>
          <p:nvPr>
            <p:ph type="body" idx="1"/>
          </p:nvPr>
        </p:nvSpPr>
        <p:spPr/>
        <p:txBody>
          <a:bodyPr/>
          <a:lstStyle/>
          <a:p>
            <a:r>
              <a:rPr lang="en-US" dirty="0"/>
              <a:t>For the RCT, we compare the eligible businesses within randomly assigned treatment neighborhoods to the eligible businesses within the randomly assigned control neighborhoods</a:t>
            </a:r>
          </a:p>
        </p:txBody>
      </p:sp>
    </p:spTree>
    <p:extLst>
      <p:ext uri="{BB962C8B-B14F-4D97-AF65-F5344CB8AC3E}">
        <p14:creationId xmlns:p14="http://schemas.microsoft.com/office/powerpoint/2010/main" val="2224261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EC4DB-9580-D2A1-3414-6B1770E72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4FA96-7903-D4F8-3CF4-3CC1CCA00AC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50AF94-4ED6-4292-4D96-5C8DF65584C4}"/>
              </a:ext>
            </a:extLst>
          </p:cNvPr>
          <p:cNvSpPr>
            <a:spLocks noGrp="1"/>
          </p:cNvSpPr>
          <p:nvPr>
            <p:ph type="body" idx="1"/>
          </p:nvPr>
        </p:nvSpPr>
        <p:spPr/>
        <p:txBody>
          <a:bodyPr/>
          <a:lstStyle/>
          <a:p>
            <a:r>
              <a:rPr lang="en-US" dirty="0"/>
              <a:t>For the RCT, we compare the eligible businesses within randomly assigned treatment neighborhoods to the eligible businesses within the randomly assigned control neighborhoods</a:t>
            </a:r>
          </a:p>
        </p:txBody>
      </p:sp>
    </p:spTree>
    <p:extLst>
      <p:ext uri="{BB962C8B-B14F-4D97-AF65-F5344CB8AC3E}">
        <p14:creationId xmlns:p14="http://schemas.microsoft.com/office/powerpoint/2010/main" val="3676121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Of all the eligible businesses, the program is only available to those in treatment neighborhoods (blue) that are also eligible</a:t>
            </a:r>
          </a:p>
          <a:p>
            <a:r>
              <a:rPr lang="en-US" dirty="0"/>
              <a:t>For example, X neighborhood has 30 eligible businesses, 20 non-eligible</a:t>
            </a:r>
          </a:p>
          <a:p>
            <a:r>
              <a:rPr lang="en-US" dirty="0"/>
              <a:t>29 of those that are eligible choose to enroll, 1 eligible chooses not to enroll</a:t>
            </a:r>
          </a:p>
        </p:txBody>
      </p:sp>
    </p:spTree>
    <p:extLst>
      <p:ext uri="{BB962C8B-B14F-4D97-AF65-F5344CB8AC3E}">
        <p14:creationId xmlns:p14="http://schemas.microsoft.com/office/powerpoint/2010/main" val="39739375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DE454-7AD7-C608-1D68-D5D56FB25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FA26D-FCCF-2F10-E4CA-9CFC408AAC0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CC83DE3-D8B4-45B5-C9EB-BF89503960B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91688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406A7-EEFB-6DAE-91E4-4F40724BF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4D00F-1F9E-488D-2233-0699465C19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144978-BD79-91E8-5A3E-EC956C8B6B03}"/>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Of all the eligible businesses, the program is only available to those in treatment neighborhoods (blue) that are also eligible</a:t>
            </a:r>
          </a:p>
          <a:p>
            <a:r>
              <a:rPr lang="en-US" dirty="0"/>
              <a:t>For example, X neighborhood has 30 eligible businesses, 20 non-eligible</a:t>
            </a:r>
          </a:p>
          <a:p>
            <a:r>
              <a:rPr lang="en-US" dirty="0"/>
              <a:t>29 of those that are eligible choose to enroll, 1 eligible chooses not to enroll</a:t>
            </a:r>
          </a:p>
        </p:txBody>
      </p:sp>
    </p:spTree>
    <p:extLst>
      <p:ext uri="{BB962C8B-B14F-4D97-AF65-F5344CB8AC3E}">
        <p14:creationId xmlns:p14="http://schemas.microsoft.com/office/powerpoint/2010/main" val="4110271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8C5E4-5F2A-20AB-1468-98D602E84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4482B-4527-5795-6D27-4346503DCBB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AB6473D-CB6D-3C9E-485F-82BE5A5F18F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52541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second stage is the link between participation on our outcomes of interest. This second stage is the effect of the *encouragement* on the outcome (referred to as the “reduced form”). This is also known as the Intention-to-Treat (ITT) Effect or the effect on outcomes based on the original randomization, regardless of the actual treatment or compliance with the program.</a:t>
            </a:r>
          </a:p>
          <a:p>
            <a:r>
              <a:rPr lang="en-US" dirty="0"/>
              <a:t>ITT Results: - Promotion directly reduces waste management costs by ___. This is the policy-relevant effect of offering promotion, but it underestimates the effect on those who actually enroll</a:t>
            </a:r>
          </a:p>
        </p:txBody>
      </p:sp>
    </p:spTree>
    <p:extLst>
      <p:ext uri="{BB962C8B-B14F-4D97-AF65-F5344CB8AC3E}">
        <p14:creationId xmlns:p14="http://schemas.microsoft.com/office/powerpoint/2010/main" val="996043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still don’t know the effect of the participation on outcomes, which is what we want. To get the estimate of interest (effect of participation on outcomes), we need to divide the “reduced form” (the effect of encouragement on outcomes) by the first stage (effect of encouragement on participation).</a:t>
            </a:r>
          </a:p>
          <a:p>
            <a:r>
              <a:rPr lang="en-US" dirty="0"/>
              <a:t> Ultimately, we are able to isolate the effect of the program, by using the instrument. What we have now is called the LATE (local average treatment effect) – we have an estimate of an impact that is attributable to the program for those who complied with the promotion</a:t>
            </a:r>
          </a:p>
          <a:p>
            <a:r>
              <a:rPr lang="en-US" dirty="0"/>
              <a:t>This estimates the effect for "compliers": industries that enrolled because of the promotion but would not have enrolled otherwise</a:t>
            </a:r>
          </a:p>
        </p:txBody>
      </p:sp>
    </p:spTree>
    <p:extLst>
      <p:ext uri="{BB962C8B-B14F-4D97-AF65-F5344CB8AC3E}">
        <p14:creationId xmlns:p14="http://schemas.microsoft.com/office/powerpoint/2010/main" val="36787737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BB812-B611-0390-036E-5806F08A9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AB64F4-9709-0794-AF2D-3F6BA0027CA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7BF29F4-8017-F272-9734-FE9D003F296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80842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No evidence of "bunching" just below cutoff- Formal McCrary density test confirms- Households do not appear to manipulate their scores</a:t>
            </a:r>
          </a:p>
        </p:txBody>
      </p:sp>
    </p:spTree>
    <p:extLst>
      <p:ext uri="{BB962C8B-B14F-4D97-AF65-F5344CB8AC3E}">
        <p14:creationId xmlns:p14="http://schemas.microsoft.com/office/powerpoint/2010/main" val="3489027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Clear discontinuity at cutoff (58)- Waste expenditures jump higher above the threshold- Linear relationship within each group- Visual evidence of program impact</a:t>
            </a:r>
          </a:p>
        </p:txBody>
      </p:sp>
    </p:spTree>
    <p:extLst>
      <p:ext uri="{BB962C8B-B14F-4D97-AF65-F5344CB8AC3E}">
        <p14:creationId xmlns:p14="http://schemas.microsoft.com/office/powerpoint/2010/main" val="1611120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RDD estimates are robust across different specifications- Effect is statistically significant but below the $10,000 threshold- Results are similar to the IV estimates</a:t>
            </a:r>
          </a:p>
        </p:txBody>
      </p:sp>
    </p:spTree>
    <p:extLst>
      <p:ext uri="{BB962C8B-B14F-4D97-AF65-F5344CB8AC3E}">
        <p14:creationId xmlns:p14="http://schemas.microsoft.com/office/powerpoint/2010/main" val="3296721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A6C6C-954C-8E4E-FC32-D49E1B1D7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5DC3A-BB0F-4C5B-6F75-91F61F67307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21E044-16F6-B103-8B32-171DF763209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183860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Enrolled vs not enrolled in treat neighborhoods</a:t>
            </a:r>
          </a:p>
          <a:p>
            <a:r>
              <a:rPr lang="en-US" dirty="0"/>
              <a:t>- Initial difference: Enrolled industries spent $`r round  (abs(</a:t>
            </a:r>
            <a:r>
              <a:rPr lang="en-US" dirty="0" err="1"/>
              <a:t>out_did$coefficients</a:t>
            </a:r>
            <a:r>
              <a:rPr lang="en-US" dirty="0"/>
              <a:t>[3]),1)` less at baseline- Time trend: Non-enrolled industries increased spending by $`r round  (</a:t>
            </a:r>
            <a:r>
              <a:rPr lang="en-US" dirty="0" err="1"/>
              <a:t>out_did$coefficients</a:t>
            </a:r>
            <a:r>
              <a:rPr lang="en-US" dirty="0"/>
              <a:t>[2],1)`- **Treatment effect**: Program reduced expenditures by $`r round  (abs(</a:t>
            </a:r>
            <a:r>
              <a:rPr lang="en-US" dirty="0" err="1"/>
              <a:t>out_did$coefficients</a:t>
            </a:r>
            <a:r>
              <a:rPr lang="en-US" dirty="0"/>
              <a:t>[4]),1)`- Result is statistically significant but below the $10,000 threshold</a:t>
            </a:r>
          </a:p>
        </p:txBody>
      </p:sp>
    </p:spTree>
    <p:extLst>
      <p:ext uri="{BB962C8B-B14F-4D97-AF65-F5344CB8AC3E}">
        <p14:creationId xmlns:p14="http://schemas.microsoft.com/office/powerpoint/2010/main" val="24683639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We compare changes in waste expenditures for enrolled vs. non-enrolled industries- Both groups are in treatment zones (where the program was offered)- We have data for two periods: before and after the program implementation- </a:t>
            </a:r>
            <a:r>
              <a:rPr lang="en-US" dirty="0" err="1"/>
              <a:t>DiD</a:t>
            </a:r>
            <a:r>
              <a:rPr lang="en-US" dirty="0"/>
              <a:t> can help address selection bias if trends would be parallel without the program</a:t>
            </a:r>
          </a:p>
        </p:txBody>
      </p:sp>
    </p:spTree>
    <p:extLst>
      <p:ext uri="{BB962C8B-B14F-4D97-AF65-F5344CB8AC3E}">
        <p14:creationId xmlns:p14="http://schemas.microsoft.com/office/powerpoint/2010/main" val="426796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DC9F4-5252-B258-7B04-7E35C6802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136DC-FDAE-E8D1-9931-AD7A1B51571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47291BB-0321-18CA-0BDA-58C2A37C4314}"/>
              </a:ext>
            </a:extLst>
          </p:cNvPr>
          <p:cNvSpPr>
            <a:spLocks noGrp="1"/>
          </p:cNvSpPr>
          <p:nvPr>
            <p:ph type="body" idx="1"/>
          </p:nvPr>
        </p:nvSpPr>
        <p:spPr/>
        <p:txBody>
          <a:bodyPr/>
          <a:lstStyle/>
          <a:p>
            <a:r>
              <a:rPr lang="en-US" dirty="0"/>
              <a:t>Enrolled vs not enrolled - in treat neighborhoods (2,965) vs. all other neighborhoods (6,949)</a:t>
            </a:r>
          </a:p>
        </p:txBody>
      </p:sp>
    </p:spTree>
    <p:extLst>
      <p:ext uri="{BB962C8B-B14F-4D97-AF65-F5344CB8AC3E}">
        <p14:creationId xmlns:p14="http://schemas.microsoft.com/office/powerpoint/2010/main" val="13732339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**Common support** = overlap in propensity scores between groups- Essential for valid comparisons- Without common support, we can't find comparable units</a:t>
            </a:r>
          </a:p>
        </p:txBody>
      </p:sp>
    </p:spTree>
    <p:extLst>
      <p:ext uri="{BB962C8B-B14F-4D97-AF65-F5344CB8AC3E}">
        <p14:creationId xmlns:p14="http://schemas.microsoft.com/office/powerpoint/2010/main" val="7672304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**Mean Diff** should be closer to zero after matching- Standardized mean differences (not shown) should be &lt; 0.25- Good balance ensures we're comparing similar facilities</a:t>
            </a:r>
          </a:p>
        </p:txBody>
      </p:sp>
    </p:spTree>
    <p:extLst>
      <p:ext uri="{BB962C8B-B14F-4D97-AF65-F5344CB8AC3E}">
        <p14:creationId xmlns:p14="http://schemas.microsoft.com/office/powerpoint/2010/main" val="22790180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Enrolled vs. not across all of Emirate, after weights from PSM </a:t>
            </a:r>
          </a:p>
        </p:txBody>
      </p:sp>
    </p:spTree>
    <p:extLst>
      <p:ext uri="{BB962C8B-B14F-4D97-AF65-F5344CB8AC3E}">
        <p14:creationId xmlns:p14="http://schemas.microsoft.com/office/powerpoint/2010/main" val="28257674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Each icon represents 10 businesses</a:t>
            </a:r>
          </a:p>
          <a:p>
            <a:r>
              <a:rPr lang="en-US" dirty="0"/>
              <a:t>Each neighborhood has multiple eligible and ineligible businesses (e.g., X neighborhood has __ eligible businesses)</a:t>
            </a:r>
          </a:p>
          <a:p>
            <a:r>
              <a:rPr lang="en-US" dirty="0"/>
              <a:t>The program is only available to those in treatment neighborhoods (blue) that are also eligible (those with an efficacy score&lt;58). </a:t>
            </a:r>
          </a:p>
        </p:txBody>
      </p:sp>
    </p:spTree>
    <p:extLst>
      <p:ext uri="{BB962C8B-B14F-4D97-AF65-F5344CB8AC3E}">
        <p14:creationId xmlns:p14="http://schemas.microsoft.com/office/powerpoint/2010/main" val="4836468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A0D00-134E-6B10-FCF0-1BB4B572D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FA6E3-EC97-33DF-E1D9-7BD76508050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1923F20-4304-D3FF-0D3F-C0A7A5498853}"/>
              </a:ext>
            </a:extLst>
          </p:cNvPr>
          <p:cNvSpPr>
            <a:spLocks noGrp="1"/>
          </p:cNvSpPr>
          <p:nvPr>
            <p:ph type="body" idx="1"/>
          </p:nvPr>
        </p:nvSpPr>
        <p:spPr/>
        <p:txBody>
          <a:bodyPr/>
          <a:lstStyle/>
          <a:p>
            <a:r>
              <a:rPr lang="en-US" dirty="0"/>
              <a:t>Each icon represents 10 businesses</a:t>
            </a:r>
          </a:p>
          <a:p>
            <a:r>
              <a:rPr lang="en-US" dirty="0"/>
              <a:t>Each neighborhood has multiple eligible and ineligible businesses (e.g., X neighborhood has __ eligible businesses)</a:t>
            </a:r>
          </a:p>
          <a:p>
            <a:r>
              <a:rPr lang="en-US" dirty="0"/>
              <a:t>The program is only available to those in treatment neighborhoods (blue) that are also eligible (those with an efficacy score&lt;58). </a:t>
            </a:r>
          </a:p>
        </p:txBody>
      </p:sp>
    </p:spTree>
    <p:extLst>
      <p:ext uri="{BB962C8B-B14F-4D97-AF65-F5344CB8AC3E}">
        <p14:creationId xmlns:p14="http://schemas.microsoft.com/office/powerpoint/2010/main" val="118810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Master slide">
    <p:spTree>
      <p:nvGrpSpPr>
        <p:cNvPr id="1" name=""/>
        <p:cNvGrpSpPr/>
        <p:nvPr/>
      </p:nvGrpSpPr>
      <p:grpSpPr>
        <a:xfrm>
          <a:off x="0" y="0"/>
          <a:ext cx="0" cy="0"/>
          <a:chOff x="0" y="0"/>
          <a:chExt cx="0" cy="0"/>
        </a:xfrm>
      </p:grpSpPr>
      <p:cxnSp>
        <p:nvCxnSpPr>
          <p:cNvPr id="5" name="Google Shape;11;p2">
            <a:extLst>
              <a:ext uri="{FF2B5EF4-FFF2-40B4-BE49-F238E27FC236}">
                <a16:creationId xmlns:a16="http://schemas.microsoft.com/office/drawing/2014/main" id="{5EE0C905-91A9-539E-0AC5-9BD4E32D9ED6}"/>
              </a:ext>
            </a:extLst>
          </p:cNvPr>
          <p:cNvCxnSpPr>
            <a:cxnSpLocks/>
          </p:cNvCxnSpPr>
          <p:nvPr userDrawn="1"/>
        </p:nvCxnSpPr>
        <p:spPr>
          <a:xfrm>
            <a:off x="550699" y="874643"/>
            <a:ext cx="0" cy="9412357"/>
          </a:xfrm>
          <a:prstGeom prst="straightConnector1">
            <a:avLst/>
          </a:prstGeom>
          <a:noFill/>
          <a:ln w="57150" cap="flat" cmpd="sng">
            <a:solidFill>
              <a:srgbClr val="B4D2EE"/>
            </a:solidFill>
            <a:prstDash val="solid"/>
            <a:round/>
            <a:headEnd type="none" w="med" len="med"/>
            <a:tailEnd type="none" w="med" len="med"/>
          </a:ln>
        </p:spPr>
      </p:cxnSp>
      <p:sp>
        <p:nvSpPr>
          <p:cNvPr id="13" name="Rectangle 12">
            <a:extLst>
              <a:ext uri="{FF2B5EF4-FFF2-40B4-BE49-F238E27FC236}">
                <a16:creationId xmlns:a16="http://schemas.microsoft.com/office/drawing/2014/main" id="{D368498E-C6BD-4B16-ACA9-FEB4BF8E840D}"/>
              </a:ext>
            </a:extLst>
          </p:cNvPr>
          <p:cNvSpPr/>
          <p:nvPr userDrawn="1"/>
        </p:nvSpPr>
        <p:spPr>
          <a:xfrm>
            <a:off x="0" y="579636"/>
            <a:ext cx="914401" cy="587177"/>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76EC4E9-F8B3-6EA1-819F-588B21CC213C}"/>
              </a:ext>
            </a:extLst>
          </p:cNvPr>
          <p:cNvGrpSpPr/>
          <p:nvPr userDrawn="1"/>
        </p:nvGrpSpPr>
        <p:grpSpPr>
          <a:xfrm>
            <a:off x="182882" y="9381120"/>
            <a:ext cx="731520" cy="731520"/>
            <a:chOff x="159594" y="9449672"/>
            <a:chExt cx="731520" cy="731520"/>
          </a:xfrm>
        </p:grpSpPr>
        <p:sp>
          <p:nvSpPr>
            <p:cNvPr id="12" name="Google Shape;12;p2">
              <a:extLst>
                <a:ext uri="{FF2B5EF4-FFF2-40B4-BE49-F238E27FC236}">
                  <a16:creationId xmlns:a16="http://schemas.microsoft.com/office/drawing/2014/main" id="{A914C3BC-3063-8481-CE0E-E1653F4A1348}"/>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141;g10a0fa76d9d_1_0">
              <a:extLst>
                <a:ext uri="{FF2B5EF4-FFF2-40B4-BE49-F238E27FC236}">
                  <a16:creationId xmlns:a16="http://schemas.microsoft.com/office/drawing/2014/main" id="{508985DF-2939-6E68-8502-19F4AD48DFFC}"/>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
        <p:nvSpPr>
          <p:cNvPr id="7" name="Google Shape;87;p1">
            <a:extLst>
              <a:ext uri="{FF2B5EF4-FFF2-40B4-BE49-F238E27FC236}">
                <a16:creationId xmlns:a16="http://schemas.microsoft.com/office/drawing/2014/main" id="{0024AAB1-CC8B-C6E6-129A-A83209A143EA}"/>
              </a:ext>
            </a:extLst>
          </p:cNvPr>
          <p:cNvSpPr txBox="1"/>
          <p:nvPr userDrawn="1"/>
        </p:nvSpPr>
        <p:spPr>
          <a:xfrm>
            <a:off x="927102" y="5993131"/>
            <a:ext cx="1941300"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5300"/>
              <a:buFont typeface="Arial"/>
              <a:buNone/>
            </a:pPr>
            <a:r>
              <a:rPr lang="en-US" sz="6000" b="0" i="0" u="none" strike="noStrike" cap="none">
                <a:solidFill>
                  <a:srgbClr val="153A80"/>
                </a:solidFill>
                <a:latin typeface="Arial"/>
                <a:ea typeface="Arial"/>
                <a:cs typeface="Arial"/>
                <a:sym typeface="Arial"/>
              </a:rPr>
              <a:t>Arial</a:t>
            </a:r>
            <a:endParaRPr sz="6000" b="0" i="0" u="none" strike="noStrike" cap="none">
              <a:solidFill>
                <a:srgbClr val="153A80"/>
              </a:solidFill>
              <a:latin typeface="Arial"/>
              <a:ea typeface="Arial"/>
              <a:cs typeface="Arial"/>
              <a:sym typeface="Arial"/>
            </a:endParaRPr>
          </a:p>
        </p:txBody>
      </p:sp>
      <p:cxnSp>
        <p:nvCxnSpPr>
          <p:cNvPr id="8" name="Google Shape;88;p1">
            <a:extLst>
              <a:ext uri="{FF2B5EF4-FFF2-40B4-BE49-F238E27FC236}">
                <a16:creationId xmlns:a16="http://schemas.microsoft.com/office/drawing/2014/main" id="{4E273EEC-8F8B-2DBE-0FEA-7CD5D51069C5}"/>
              </a:ext>
            </a:extLst>
          </p:cNvPr>
          <p:cNvCxnSpPr/>
          <p:nvPr userDrawn="1"/>
        </p:nvCxnSpPr>
        <p:spPr>
          <a:xfrm rot="-5400000">
            <a:off x="2656088" y="6386789"/>
            <a:ext cx="770700" cy="0"/>
          </a:xfrm>
          <a:prstGeom prst="straightConnector1">
            <a:avLst/>
          </a:prstGeom>
          <a:noFill/>
          <a:ln w="50800" cap="flat" cmpd="sng">
            <a:solidFill>
              <a:srgbClr val="007AAD"/>
            </a:solidFill>
            <a:prstDash val="solid"/>
            <a:round/>
            <a:headEnd type="none" w="sm" len="sm"/>
            <a:tailEnd type="none" w="sm" len="sm"/>
          </a:ln>
        </p:spPr>
      </p:cxnSp>
      <p:sp>
        <p:nvSpPr>
          <p:cNvPr id="9" name="Google Shape;89;p1">
            <a:extLst>
              <a:ext uri="{FF2B5EF4-FFF2-40B4-BE49-F238E27FC236}">
                <a16:creationId xmlns:a16="http://schemas.microsoft.com/office/drawing/2014/main" id="{E186273E-34BD-7ACE-D03E-1950C5F11E84}"/>
              </a:ext>
            </a:extLst>
          </p:cNvPr>
          <p:cNvSpPr txBox="1"/>
          <p:nvPr userDrawn="1"/>
        </p:nvSpPr>
        <p:spPr>
          <a:xfrm>
            <a:off x="928914" y="356138"/>
            <a:ext cx="10912914"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6400"/>
              <a:buFont typeface="Arial"/>
              <a:buNone/>
            </a:pPr>
            <a:r>
              <a:rPr lang="en-US" sz="6000" b="1" i="0" u="none" strike="noStrike" cap="none">
                <a:solidFill>
                  <a:srgbClr val="007AAD"/>
                </a:solidFill>
                <a:latin typeface="Arial"/>
                <a:ea typeface="Arial"/>
                <a:cs typeface="Arial"/>
                <a:sym typeface="Arial"/>
              </a:rPr>
              <a:t>Master Slide</a:t>
            </a:r>
            <a:endParaRPr sz="6000" b="1" i="0" u="none" strike="noStrike" cap="none">
              <a:solidFill>
                <a:srgbClr val="007AAD"/>
              </a:solidFill>
              <a:latin typeface="Arial"/>
              <a:ea typeface="Arial"/>
              <a:cs typeface="Arial"/>
              <a:sym typeface="Arial"/>
            </a:endParaRPr>
          </a:p>
        </p:txBody>
      </p:sp>
      <p:sp>
        <p:nvSpPr>
          <p:cNvPr id="10" name="Google Shape;90;p1">
            <a:extLst>
              <a:ext uri="{FF2B5EF4-FFF2-40B4-BE49-F238E27FC236}">
                <a16:creationId xmlns:a16="http://schemas.microsoft.com/office/drawing/2014/main" id="{D8CC3633-9B8E-91AE-3E93-2E4D3910F09D}"/>
              </a:ext>
            </a:extLst>
          </p:cNvPr>
          <p:cNvSpPr txBox="1"/>
          <p:nvPr userDrawn="1"/>
        </p:nvSpPr>
        <p:spPr>
          <a:xfrm>
            <a:off x="927102" y="2100718"/>
            <a:ext cx="107841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99"/>
              <a:buFont typeface="Arial"/>
              <a:buNone/>
            </a:pPr>
            <a:r>
              <a:rPr lang="en-US" sz="3600" b="1" i="0" strike="noStrike" cap="none">
                <a:solidFill>
                  <a:srgbClr val="153A80"/>
                </a:solidFill>
                <a:latin typeface="Arial"/>
                <a:ea typeface="Arial"/>
                <a:cs typeface="Arial"/>
                <a:sym typeface="Arial"/>
              </a:rPr>
              <a:t>Colors Used</a:t>
            </a:r>
            <a:endParaRPr sz="3600" b="1" i="0" strike="noStrike" cap="none">
              <a:solidFill>
                <a:srgbClr val="153A80"/>
              </a:solidFill>
              <a:latin typeface="Arial"/>
              <a:ea typeface="Arial"/>
              <a:cs typeface="Arial"/>
              <a:sym typeface="Arial"/>
            </a:endParaRPr>
          </a:p>
        </p:txBody>
      </p:sp>
      <p:sp>
        <p:nvSpPr>
          <p:cNvPr id="15" name="Google Shape;91;p1">
            <a:extLst>
              <a:ext uri="{FF2B5EF4-FFF2-40B4-BE49-F238E27FC236}">
                <a16:creationId xmlns:a16="http://schemas.microsoft.com/office/drawing/2014/main" id="{B3C1E408-61C4-62DE-98B5-CDEEC10A8D6E}"/>
              </a:ext>
            </a:extLst>
          </p:cNvPr>
          <p:cNvSpPr txBox="1"/>
          <p:nvPr userDrawn="1"/>
        </p:nvSpPr>
        <p:spPr>
          <a:xfrm>
            <a:off x="927102" y="5240581"/>
            <a:ext cx="107841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99"/>
              <a:buFont typeface="Arial"/>
              <a:buNone/>
            </a:pPr>
            <a:r>
              <a:rPr lang="en-US" sz="3600" b="1" i="0" strike="noStrike" cap="none">
                <a:solidFill>
                  <a:srgbClr val="153A80"/>
                </a:solidFill>
                <a:latin typeface="Arial"/>
                <a:ea typeface="Arial"/>
                <a:cs typeface="Arial"/>
                <a:sym typeface="Arial"/>
              </a:rPr>
              <a:t>Fonts Used</a:t>
            </a:r>
            <a:endParaRPr sz="3600" b="1" i="0" strike="noStrike" cap="none">
              <a:solidFill>
                <a:srgbClr val="153A80"/>
              </a:solidFill>
              <a:latin typeface="Arial"/>
              <a:ea typeface="Arial"/>
              <a:cs typeface="Arial"/>
              <a:sym typeface="Arial"/>
            </a:endParaRPr>
          </a:p>
        </p:txBody>
      </p:sp>
      <p:sp>
        <p:nvSpPr>
          <p:cNvPr id="16" name="Google Shape;92;p1">
            <a:extLst>
              <a:ext uri="{FF2B5EF4-FFF2-40B4-BE49-F238E27FC236}">
                <a16:creationId xmlns:a16="http://schemas.microsoft.com/office/drawing/2014/main" id="{02B7C66D-09F0-413B-8AB1-02E81B3E69BE}"/>
              </a:ext>
            </a:extLst>
          </p:cNvPr>
          <p:cNvSpPr txBox="1"/>
          <p:nvPr userDrawn="1"/>
        </p:nvSpPr>
        <p:spPr>
          <a:xfrm>
            <a:off x="927102" y="6921044"/>
            <a:ext cx="19413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3700"/>
              <a:buFont typeface="Arial"/>
              <a:buNone/>
            </a:pPr>
            <a:r>
              <a:rPr lang="en-US" sz="2400" b="0" i="0" u="none" strike="noStrike" cap="none">
                <a:solidFill>
                  <a:srgbClr val="153A80"/>
                </a:solidFill>
                <a:latin typeface="Arial"/>
                <a:ea typeface="Arial"/>
                <a:cs typeface="Arial"/>
                <a:sym typeface="Arial"/>
              </a:rPr>
              <a:t>Regular</a:t>
            </a:r>
            <a:endParaRPr sz="2400" b="0" i="0" u="none" strike="noStrike" cap="none">
              <a:solidFill>
                <a:srgbClr val="153A80"/>
              </a:solidFill>
              <a:latin typeface="Arial"/>
              <a:ea typeface="Arial"/>
              <a:cs typeface="Arial"/>
              <a:sym typeface="Arial"/>
            </a:endParaRPr>
          </a:p>
        </p:txBody>
      </p:sp>
      <p:sp>
        <p:nvSpPr>
          <p:cNvPr id="17" name="Google Shape;93;p1">
            <a:extLst>
              <a:ext uri="{FF2B5EF4-FFF2-40B4-BE49-F238E27FC236}">
                <a16:creationId xmlns:a16="http://schemas.microsoft.com/office/drawing/2014/main" id="{0D75E585-A43D-7833-15D1-DFFDCC2E43D7}"/>
              </a:ext>
            </a:extLst>
          </p:cNvPr>
          <p:cNvSpPr txBox="1"/>
          <p:nvPr userDrawn="1"/>
        </p:nvSpPr>
        <p:spPr>
          <a:xfrm>
            <a:off x="3158948" y="6921044"/>
            <a:ext cx="19413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3700"/>
              <a:buFont typeface="Arial"/>
              <a:buNone/>
            </a:pPr>
            <a:r>
              <a:rPr lang="en-US" sz="2400" b="1" i="0" u="none" strike="noStrike" cap="none">
                <a:solidFill>
                  <a:srgbClr val="153A80"/>
                </a:solidFill>
                <a:latin typeface="Arial"/>
                <a:ea typeface="Arial"/>
                <a:cs typeface="Arial"/>
                <a:sym typeface="Arial"/>
              </a:rPr>
              <a:t>Bold</a:t>
            </a:r>
            <a:endParaRPr sz="2400" b="1" i="0" u="none" strike="noStrike" cap="none">
              <a:solidFill>
                <a:srgbClr val="153A80"/>
              </a:solidFill>
              <a:latin typeface="Arial"/>
              <a:ea typeface="Arial"/>
              <a:cs typeface="Arial"/>
              <a:sym typeface="Arial"/>
            </a:endParaRPr>
          </a:p>
        </p:txBody>
      </p:sp>
      <p:sp>
        <p:nvSpPr>
          <p:cNvPr id="18" name="Google Shape;94;p1">
            <a:extLst>
              <a:ext uri="{FF2B5EF4-FFF2-40B4-BE49-F238E27FC236}">
                <a16:creationId xmlns:a16="http://schemas.microsoft.com/office/drawing/2014/main" id="{4E0BEDA2-9FF1-320E-FB3A-E9C4489850B5}"/>
              </a:ext>
            </a:extLst>
          </p:cNvPr>
          <p:cNvSpPr txBox="1"/>
          <p:nvPr userDrawn="1"/>
        </p:nvSpPr>
        <p:spPr>
          <a:xfrm>
            <a:off x="3679233" y="6071869"/>
            <a:ext cx="94662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Arial"/>
              <a:buNone/>
            </a:pPr>
            <a:r>
              <a:rPr lang="en-US" sz="2400" b="0" i="0" u="none" strike="noStrike" cap="none">
                <a:solidFill>
                  <a:srgbClr val="153A80"/>
                </a:solidFill>
                <a:latin typeface="Arial"/>
                <a:ea typeface="Arial"/>
                <a:cs typeface="Arial"/>
                <a:sym typeface="Arial"/>
              </a:rPr>
              <a:t>ABCDEFGHIJKLMNOPQRSTUVWXYZ</a:t>
            </a:r>
            <a:endParaRPr sz="2400" b="0" i="0" u="none" strike="noStrike" cap="none">
              <a:solidFill>
                <a:srgbClr val="153A80"/>
              </a:solidFill>
              <a:latin typeface="Arial"/>
              <a:ea typeface="Arial"/>
              <a:cs typeface="Arial"/>
              <a:sym typeface="Arial"/>
            </a:endParaRPr>
          </a:p>
        </p:txBody>
      </p:sp>
      <p:sp>
        <p:nvSpPr>
          <p:cNvPr id="19" name="Google Shape;95;p1">
            <a:extLst>
              <a:ext uri="{FF2B5EF4-FFF2-40B4-BE49-F238E27FC236}">
                <a16:creationId xmlns:a16="http://schemas.microsoft.com/office/drawing/2014/main" id="{21BA2060-376B-C95F-4FAE-BA0AE39BC7C8}"/>
              </a:ext>
            </a:extLst>
          </p:cNvPr>
          <p:cNvSpPr txBox="1"/>
          <p:nvPr userDrawn="1"/>
        </p:nvSpPr>
        <p:spPr>
          <a:xfrm>
            <a:off x="3679233" y="6452869"/>
            <a:ext cx="94662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Arial"/>
              <a:buNone/>
            </a:pPr>
            <a:r>
              <a:rPr lang="en-US" sz="2400" b="0" i="0" u="none" strike="noStrike" cap="none" err="1">
                <a:solidFill>
                  <a:srgbClr val="153A80"/>
                </a:solidFill>
                <a:latin typeface="Arial"/>
                <a:ea typeface="Arial"/>
                <a:cs typeface="Arial"/>
                <a:sym typeface="Arial"/>
              </a:rPr>
              <a:t>abcdefghijklmnopqrstuvwxyz</a:t>
            </a:r>
            <a:endParaRPr sz="2400" b="0" i="0" u="none" strike="noStrike" cap="none">
              <a:solidFill>
                <a:srgbClr val="153A80"/>
              </a:solidFill>
              <a:latin typeface="Arial"/>
              <a:ea typeface="Arial"/>
              <a:cs typeface="Arial"/>
              <a:sym typeface="Arial"/>
            </a:endParaRPr>
          </a:p>
        </p:txBody>
      </p:sp>
      <p:grpSp>
        <p:nvGrpSpPr>
          <p:cNvPr id="20" name="Google Shape;96;p1">
            <a:extLst>
              <a:ext uri="{FF2B5EF4-FFF2-40B4-BE49-F238E27FC236}">
                <a16:creationId xmlns:a16="http://schemas.microsoft.com/office/drawing/2014/main" id="{21F1C217-CF26-8E68-BD66-60DA508E2C90}"/>
              </a:ext>
            </a:extLst>
          </p:cNvPr>
          <p:cNvGrpSpPr/>
          <p:nvPr userDrawn="1"/>
        </p:nvGrpSpPr>
        <p:grpSpPr>
          <a:xfrm>
            <a:off x="1028701" y="2806476"/>
            <a:ext cx="3611450" cy="907586"/>
            <a:chOff x="0" y="0"/>
            <a:chExt cx="4815266" cy="1332726"/>
          </a:xfrm>
        </p:grpSpPr>
        <p:sp>
          <p:nvSpPr>
            <p:cNvPr id="21" name="Google Shape;97;p1">
              <a:extLst>
                <a:ext uri="{FF2B5EF4-FFF2-40B4-BE49-F238E27FC236}">
                  <a16:creationId xmlns:a16="http://schemas.microsoft.com/office/drawing/2014/main" id="{96D9D1E2-AF1A-D430-770C-020500F482D8}"/>
                </a:ext>
              </a:extLst>
            </p:cNvPr>
            <p:cNvSpPr/>
            <p:nvPr/>
          </p:nvSpPr>
          <p:spPr>
            <a:xfrm rot="5400000">
              <a:off x="1325604" y="-1325603"/>
              <a:ext cx="1332007" cy="3983214"/>
            </a:xfrm>
            <a:custGeom>
              <a:avLst/>
              <a:gdLst/>
              <a:ahLst/>
              <a:cxnLst/>
              <a:rect l="l" t="t" r="r" b="b"/>
              <a:pathLst>
                <a:path w="2353310" h="7037301" extrusionOk="0">
                  <a:moveTo>
                    <a:pt x="784860" y="6969992"/>
                  </a:moveTo>
                  <a:cubicBezTo>
                    <a:pt x="905510" y="7010632"/>
                    <a:pt x="1042670" y="7037301"/>
                    <a:pt x="1177290" y="7037301"/>
                  </a:cubicBezTo>
                  <a:cubicBezTo>
                    <a:pt x="1311910" y="7037301"/>
                    <a:pt x="1441450" y="7014442"/>
                    <a:pt x="1560830" y="6973801"/>
                  </a:cubicBezTo>
                  <a:cubicBezTo>
                    <a:pt x="1563370" y="6972532"/>
                    <a:pt x="1565910" y="6972532"/>
                    <a:pt x="1568450" y="6971262"/>
                  </a:cubicBezTo>
                  <a:cubicBezTo>
                    <a:pt x="2016760" y="6808701"/>
                    <a:pt x="2346960" y="6379442"/>
                    <a:pt x="2353310" y="5864966"/>
                  </a:cubicBezTo>
                  <a:lnTo>
                    <a:pt x="2353310" y="0"/>
                  </a:lnTo>
                  <a:lnTo>
                    <a:pt x="0" y="0"/>
                  </a:lnTo>
                  <a:lnTo>
                    <a:pt x="0" y="5860490"/>
                  </a:lnTo>
                  <a:cubicBezTo>
                    <a:pt x="6350" y="6381982"/>
                    <a:pt x="331470" y="6811242"/>
                    <a:pt x="784860" y="6969992"/>
                  </a:cubicBezTo>
                  <a:close/>
                </a:path>
              </a:pathLst>
            </a:custGeom>
            <a:solidFill>
              <a:srgbClr val="007AA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98;p1">
              <a:extLst>
                <a:ext uri="{FF2B5EF4-FFF2-40B4-BE49-F238E27FC236}">
                  <a16:creationId xmlns:a16="http://schemas.microsoft.com/office/drawing/2014/main" id="{F5832CA0-4455-C4C6-4CE9-8A36D572201D}"/>
                </a:ext>
              </a:extLst>
            </p:cNvPr>
            <p:cNvSpPr/>
            <p:nvPr/>
          </p:nvSpPr>
          <p:spPr>
            <a:xfrm rot="-5400000">
              <a:off x="2157656" y="-1324884"/>
              <a:ext cx="1332006" cy="3983215"/>
            </a:xfrm>
            <a:custGeom>
              <a:avLst/>
              <a:gdLst/>
              <a:ahLst/>
              <a:cxnLst/>
              <a:rect l="l" t="t" r="r" b="b"/>
              <a:pathLst>
                <a:path w="2353310" h="7037301" extrusionOk="0">
                  <a:moveTo>
                    <a:pt x="784860" y="6969992"/>
                  </a:moveTo>
                  <a:cubicBezTo>
                    <a:pt x="905510" y="7010632"/>
                    <a:pt x="1042670" y="7037301"/>
                    <a:pt x="1177290" y="7037301"/>
                  </a:cubicBezTo>
                  <a:cubicBezTo>
                    <a:pt x="1311910" y="7037301"/>
                    <a:pt x="1441450" y="7014442"/>
                    <a:pt x="1560830" y="6973801"/>
                  </a:cubicBezTo>
                  <a:cubicBezTo>
                    <a:pt x="1563370" y="6972532"/>
                    <a:pt x="1565910" y="6972532"/>
                    <a:pt x="1568450" y="6971262"/>
                  </a:cubicBezTo>
                  <a:cubicBezTo>
                    <a:pt x="2016760" y="6808701"/>
                    <a:pt x="2346960" y="6379442"/>
                    <a:pt x="2353310" y="5864966"/>
                  </a:cubicBezTo>
                  <a:lnTo>
                    <a:pt x="2353310" y="0"/>
                  </a:lnTo>
                  <a:lnTo>
                    <a:pt x="0" y="0"/>
                  </a:lnTo>
                  <a:lnTo>
                    <a:pt x="0" y="5860490"/>
                  </a:lnTo>
                  <a:cubicBezTo>
                    <a:pt x="6350" y="6381982"/>
                    <a:pt x="331470" y="6811242"/>
                    <a:pt x="784860" y="6969992"/>
                  </a:cubicBezTo>
                  <a:close/>
                </a:path>
              </a:pathLst>
            </a:custGeom>
            <a:solidFill>
              <a:srgbClr val="007AA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 name="Google Shape;99;p1">
            <a:extLst>
              <a:ext uri="{FF2B5EF4-FFF2-40B4-BE49-F238E27FC236}">
                <a16:creationId xmlns:a16="http://schemas.microsoft.com/office/drawing/2014/main" id="{A75BDEC7-AA6E-D015-53B1-319946227493}"/>
              </a:ext>
            </a:extLst>
          </p:cNvPr>
          <p:cNvGrpSpPr/>
          <p:nvPr userDrawn="1"/>
        </p:nvGrpSpPr>
        <p:grpSpPr>
          <a:xfrm>
            <a:off x="4327039" y="2806476"/>
            <a:ext cx="3770722" cy="907586"/>
            <a:chOff x="0" y="0"/>
            <a:chExt cx="5027629" cy="1332726"/>
          </a:xfrm>
        </p:grpSpPr>
        <p:sp>
          <p:nvSpPr>
            <p:cNvPr id="24" name="Google Shape;100;p1">
              <a:extLst>
                <a:ext uri="{FF2B5EF4-FFF2-40B4-BE49-F238E27FC236}">
                  <a16:creationId xmlns:a16="http://schemas.microsoft.com/office/drawing/2014/main" id="{BCA782C3-60A6-1FC1-AE5E-01E9A68EC517}"/>
                </a:ext>
              </a:extLst>
            </p:cNvPr>
            <p:cNvSpPr/>
            <p:nvPr/>
          </p:nvSpPr>
          <p:spPr>
            <a:xfrm rot="5400000">
              <a:off x="1325604" y="-1325603"/>
              <a:ext cx="1332007" cy="3983214"/>
            </a:xfrm>
            <a:custGeom>
              <a:avLst/>
              <a:gdLst/>
              <a:ahLst/>
              <a:cxnLst/>
              <a:rect l="l" t="t" r="r" b="b"/>
              <a:pathLst>
                <a:path w="2353310" h="7037301" extrusionOk="0">
                  <a:moveTo>
                    <a:pt x="784860" y="6969992"/>
                  </a:moveTo>
                  <a:cubicBezTo>
                    <a:pt x="905510" y="7010632"/>
                    <a:pt x="1042670" y="7037301"/>
                    <a:pt x="1177290" y="7037301"/>
                  </a:cubicBezTo>
                  <a:cubicBezTo>
                    <a:pt x="1311910" y="7037301"/>
                    <a:pt x="1441450" y="7014442"/>
                    <a:pt x="1560830" y="6973801"/>
                  </a:cubicBezTo>
                  <a:cubicBezTo>
                    <a:pt x="1563370" y="6972532"/>
                    <a:pt x="1565910" y="6972532"/>
                    <a:pt x="1568450" y="6971262"/>
                  </a:cubicBezTo>
                  <a:cubicBezTo>
                    <a:pt x="2016760" y="6808701"/>
                    <a:pt x="2346960" y="6379442"/>
                    <a:pt x="2353310" y="5864966"/>
                  </a:cubicBezTo>
                  <a:lnTo>
                    <a:pt x="2353310" y="0"/>
                  </a:lnTo>
                  <a:lnTo>
                    <a:pt x="0" y="0"/>
                  </a:lnTo>
                  <a:lnTo>
                    <a:pt x="0" y="5860490"/>
                  </a:lnTo>
                  <a:cubicBezTo>
                    <a:pt x="6350" y="6381982"/>
                    <a:pt x="331470" y="6811242"/>
                    <a:pt x="784860" y="6969992"/>
                  </a:cubicBezTo>
                  <a:close/>
                </a:path>
              </a:pathLst>
            </a:custGeom>
            <a:solidFill>
              <a:srgbClr val="B4D2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101;p1">
              <a:extLst>
                <a:ext uri="{FF2B5EF4-FFF2-40B4-BE49-F238E27FC236}">
                  <a16:creationId xmlns:a16="http://schemas.microsoft.com/office/drawing/2014/main" id="{61660C6F-80B8-5D8E-B9D3-BE667F964687}"/>
                </a:ext>
              </a:extLst>
            </p:cNvPr>
            <p:cNvSpPr/>
            <p:nvPr/>
          </p:nvSpPr>
          <p:spPr>
            <a:xfrm rot="-5400000">
              <a:off x="2370019" y="-1324884"/>
              <a:ext cx="1332007" cy="3983214"/>
            </a:xfrm>
            <a:custGeom>
              <a:avLst/>
              <a:gdLst/>
              <a:ahLst/>
              <a:cxnLst/>
              <a:rect l="l" t="t" r="r" b="b"/>
              <a:pathLst>
                <a:path w="2353310" h="7037301" extrusionOk="0">
                  <a:moveTo>
                    <a:pt x="784860" y="6969992"/>
                  </a:moveTo>
                  <a:cubicBezTo>
                    <a:pt x="905510" y="7010632"/>
                    <a:pt x="1042670" y="7037301"/>
                    <a:pt x="1177290" y="7037301"/>
                  </a:cubicBezTo>
                  <a:cubicBezTo>
                    <a:pt x="1311910" y="7037301"/>
                    <a:pt x="1441450" y="7014442"/>
                    <a:pt x="1560830" y="6973801"/>
                  </a:cubicBezTo>
                  <a:cubicBezTo>
                    <a:pt x="1563370" y="6972532"/>
                    <a:pt x="1565910" y="6972532"/>
                    <a:pt x="1568450" y="6971262"/>
                  </a:cubicBezTo>
                  <a:cubicBezTo>
                    <a:pt x="2016760" y="6808701"/>
                    <a:pt x="2346960" y="6379442"/>
                    <a:pt x="2353310" y="5864966"/>
                  </a:cubicBezTo>
                  <a:lnTo>
                    <a:pt x="2353310" y="0"/>
                  </a:lnTo>
                  <a:lnTo>
                    <a:pt x="0" y="0"/>
                  </a:lnTo>
                  <a:lnTo>
                    <a:pt x="0" y="5860490"/>
                  </a:lnTo>
                  <a:cubicBezTo>
                    <a:pt x="6350" y="6381982"/>
                    <a:pt x="331470" y="6811242"/>
                    <a:pt x="784860" y="6969992"/>
                  </a:cubicBezTo>
                  <a:close/>
                </a:path>
              </a:pathLst>
            </a:custGeom>
            <a:solidFill>
              <a:srgbClr val="B4D2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 name="Google Shape;102;p1">
            <a:extLst>
              <a:ext uri="{FF2B5EF4-FFF2-40B4-BE49-F238E27FC236}">
                <a16:creationId xmlns:a16="http://schemas.microsoft.com/office/drawing/2014/main" id="{BAEEBE2B-12D3-680F-71E7-BD6178355952}"/>
              </a:ext>
            </a:extLst>
          </p:cNvPr>
          <p:cNvGrpSpPr/>
          <p:nvPr userDrawn="1"/>
        </p:nvGrpSpPr>
        <p:grpSpPr>
          <a:xfrm>
            <a:off x="7869165" y="2806476"/>
            <a:ext cx="3753008" cy="907586"/>
            <a:chOff x="0" y="0"/>
            <a:chExt cx="5004011" cy="1332726"/>
          </a:xfrm>
        </p:grpSpPr>
        <p:sp>
          <p:nvSpPr>
            <p:cNvPr id="27" name="Google Shape;103;p1">
              <a:extLst>
                <a:ext uri="{FF2B5EF4-FFF2-40B4-BE49-F238E27FC236}">
                  <a16:creationId xmlns:a16="http://schemas.microsoft.com/office/drawing/2014/main" id="{7B7F0210-24B9-47BA-DC45-07DFC0B62EF0}"/>
                </a:ext>
              </a:extLst>
            </p:cNvPr>
            <p:cNvSpPr/>
            <p:nvPr/>
          </p:nvSpPr>
          <p:spPr>
            <a:xfrm rot="5400000">
              <a:off x="1325604" y="-1325603"/>
              <a:ext cx="1332007" cy="3983214"/>
            </a:xfrm>
            <a:custGeom>
              <a:avLst/>
              <a:gdLst/>
              <a:ahLst/>
              <a:cxnLst/>
              <a:rect l="l" t="t" r="r" b="b"/>
              <a:pathLst>
                <a:path w="2353310" h="7037301" extrusionOk="0">
                  <a:moveTo>
                    <a:pt x="784860" y="6969992"/>
                  </a:moveTo>
                  <a:cubicBezTo>
                    <a:pt x="905510" y="7010632"/>
                    <a:pt x="1042670" y="7037301"/>
                    <a:pt x="1177290" y="7037301"/>
                  </a:cubicBezTo>
                  <a:cubicBezTo>
                    <a:pt x="1311910" y="7037301"/>
                    <a:pt x="1441450" y="7014442"/>
                    <a:pt x="1560830" y="6973801"/>
                  </a:cubicBezTo>
                  <a:cubicBezTo>
                    <a:pt x="1563370" y="6972532"/>
                    <a:pt x="1565910" y="6972532"/>
                    <a:pt x="1568450" y="6971262"/>
                  </a:cubicBezTo>
                  <a:cubicBezTo>
                    <a:pt x="2016760" y="6808701"/>
                    <a:pt x="2346960" y="6379442"/>
                    <a:pt x="2353310" y="5864966"/>
                  </a:cubicBezTo>
                  <a:lnTo>
                    <a:pt x="2353310" y="0"/>
                  </a:lnTo>
                  <a:lnTo>
                    <a:pt x="0" y="0"/>
                  </a:lnTo>
                  <a:lnTo>
                    <a:pt x="0" y="5860490"/>
                  </a:lnTo>
                  <a:cubicBezTo>
                    <a:pt x="6350" y="6381982"/>
                    <a:pt x="331470" y="6811242"/>
                    <a:pt x="784860" y="6969992"/>
                  </a:cubicBezTo>
                  <a:close/>
                </a:path>
              </a:pathLst>
            </a:custGeom>
            <a:solidFill>
              <a:srgbClr val="153A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104;p1">
              <a:extLst>
                <a:ext uri="{FF2B5EF4-FFF2-40B4-BE49-F238E27FC236}">
                  <a16:creationId xmlns:a16="http://schemas.microsoft.com/office/drawing/2014/main" id="{B8B17516-14D2-1805-B852-6764AB6F840D}"/>
                </a:ext>
              </a:extLst>
            </p:cNvPr>
            <p:cNvSpPr/>
            <p:nvPr/>
          </p:nvSpPr>
          <p:spPr>
            <a:xfrm rot="-5400000">
              <a:off x="2346401" y="-1324884"/>
              <a:ext cx="1332007" cy="3983214"/>
            </a:xfrm>
            <a:custGeom>
              <a:avLst/>
              <a:gdLst/>
              <a:ahLst/>
              <a:cxnLst/>
              <a:rect l="l" t="t" r="r" b="b"/>
              <a:pathLst>
                <a:path w="2353310" h="7037301" extrusionOk="0">
                  <a:moveTo>
                    <a:pt x="784860" y="6969992"/>
                  </a:moveTo>
                  <a:cubicBezTo>
                    <a:pt x="905510" y="7010632"/>
                    <a:pt x="1042670" y="7037301"/>
                    <a:pt x="1177290" y="7037301"/>
                  </a:cubicBezTo>
                  <a:cubicBezTo>
                    <a:pt x="1311910" y="7037301"/>
                    <a:pt x="1441450" y="7014442"/>
                    <a:pt x="1560830" y="6973801"/>
                  </a:cubicBezTo>
                  <a:cubicBezTo>
                    <a:pt x="1563370" y="6972532"/>
                    <a:pt x="1565910" y="6972532"/>
                    <a:pt x="1568450" y="6971262"/>
                  </a:cubicBezTo>
                  <a:cubicBezTo>
                    <a:pt x="2016760" y="6808701"/>
                    <a:pt x="2346960" y="6379442"/>
                    <a:pt x="2353310" y="5864966"/>
                  </a:cubicBezTo>
                  <a:lnTo>
                    <a:pt x="2353310" y="0"/>
                  </a:lnTo>
                  <a:lnTo>
                    <a:pt x="0" y="0"/>
                  </a:lnTo>
                  <a:lnTo>
                    <a:pt x="0" y="5860490"/>
                  </a:lnTo>
                  <a:cubicBezTo>
                    <a:pt x="6350" y="6381982"/>
                    <a:pt x="331470" y="6811242"/>
                    <a:pt x="784860" y="6969992"/>
                  </a:cubicBezTo>
                  <a:close/>
                </a:path>
              </a:pathLst>
            </a:custGeom>
            <a:solidFill>
              <a:srgbClr val="153A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 name="Google Shape;105;p1">
            <a:extLst>
              <a:ext uri="{FF2B5EF4-FFF2-40B4-BE49-F238E27FC236}">
                <a16:creationId xmlns:a16="http://schemas.microsoft.com/office/drawing/2014/main" id="{4CB1BF2E-8881-129E-9F7B-0FFFFB772583}"/>
              </a:ext>
            </a:extLst>
          </p:cNvPr>
          <p:cNvSpPr txBox="1"/>
          <p:nvPr userDrawn="1"/>
        </p:nvSpPr>
        <p:spPr>
          <a:xfrm>
            <a:off x="1686225" y="3087639"/>
            <a:ext cx="19413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500"/>
              <a:buFont typeface="Arial"/>
              <a:buNone/>
            </a:pPr>
            <a:r>
              <a:rPr lang="en-US" sz="2400" b="1" i="0" u="none" strike="noStrike" cap="none">
                <a:solidFill>
                  <a:srgbClr val="FFFFFF"/>
                </a:solidFill>
                <a:latin typeface="Arial"/>
                <a:ea typeface="Arial"/>
                <a:cs typeface="Arial"/>
                <a:sym typeface="Arial"/>
              </a:rPr>
              <a:t>#0079AD</a:t>
            </a:r>
            <a:endParaRPr sz="2400" b="1" i="0" u="none" strike="noStrike" cap="none">
              <a:solidFill>
                <a:srgbClr val="000000"/>
              </a:solidFill>
              <a:latin typeface="Arial"/>
              <a:ea typeface="Arial"/>
              <a:cs typeface="Arial"/>
              <a:sym typeface="Arial"/>
            </a:endParaRPr>
          </a:p>
        </p:txBody>
      </p:sp>
      <p:sp>
        <p:nvSpPr>
          <p:cNvPr id="30" name="Google Shape;106;p1">
            <a:extLst>
              <a:ext uri="{FF2B5EF4-FFF2-40B4-BE49-F238E27FC236}">
                <a16:creationId xmlns:a16="http://schemas.microsoft.com/office/drawing/2014/main" id="{3CBFEBF4-6323-FD3B-C4A0-2FF9EBC2A29D}"/>
              </a:ext>
            </a:extLst>
          </p:cNvPr>
          <p:cNvSpPr txBox="1"/>
          <p:nvPr userDrawn="1"/>
        </p:nvSpPr>
        <p:spPr>
          <a:xfrm>
            <a:off x="4925900" y="3087639"/>
            <a:ext cx="19413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500"/>
              <a:buFont typeface="Arial"/>
              <a:buNone/>
            </a:pPr>
            <a:r>
              <a:rPr lang="en-US" sz="2400" b="1" i="0" u="none" strike="noStrike" cap="none">
                <a:solidFill>
                  <a:srgbClr val="FFFFFF"/>
                </a:solidFill>
                <a:latin typeface="Arial"/>
                <a:ea typeface="Arial"/>
                <a:cs typeface="Arial"/>
                <a:sym typeface="Arial"/>
              </a:rPr>
              <a:t>#B4D2EE</a:t>
            </a:r>
            <a:endParaRPr sz="2400" b="1" i="0" u="none" strike="noStrike" cap="none">
              <a:solidFill>
                <a:srgbClr val="000000"/>
              </a:solidFill>
              <a:latin typeface="Arial"/>
              <a:ea typeface="Arial"/>
              <a:cs typeface="Arial"/>
              <a:sym typeface="Arial"/>
            </a:endParaRPr>
          </a:p>
        </p:txBody>
      </p:sp>
      <p:sp>
        <p:nvSpPr>
          <p:cNvPr id="31" name="Google Shape;107;p1">
            <a:extLst>
              <a:ext uri="{FF2B5EF4-FFF2-40B4-BE49-F238E27FC236}">
                <a16:creationId xmlns:a16="http://schemas.microsoft.com/office/drawing/2014/main" id="{9D6FC2B4-D743-5484-D82F-8D7121DD744E}"/>
              </a:ext>
            </a:extLst>
          </p:cNvPr>
          <p:cNvSpPr txBox="1"/>
          <p:nvPr userDrawn="1"/>
        </p:nvSpPr>
        <p:spPr>
          <a:xfrm>
            <a:off x="8455938" y="3087639"/>
            <a:ext cx="19413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500"/>
              <a:buFont typeface="Arial"/>
              <a:buNone/>
            </a:pPr>
            <a:r>
              <a:rPr lang="en-US" sz="2400" b="1" i="0" u="none" strike="noStrike" cap="none">
                <a:solidFill>
                  <a:srgbClr val="FFFFFF"/>
                </a:solidFill>
                <a:latin typeface="Arial"/>
                <a:ea typeface="Arial"/>
                <a:cs typeface="Arial"/>
                <a:sym typeface="Arial"/>
              </a:rPr>
              <a:t>##153A80</a:t>
            </a:r>
            <a:endParaRPr sz="2400" b="1" i="0" u="none" strike="noStrike" cap="none">
              <a:solidFill>
                <a:srgbClr val="000000"/>
              </a:solidFill>
              <a:latin typeface="Arial"/>
              <a:ea typeface="Arial"/>
              <a:cs typeface="Arial"/>
              <a:sym typeface="Arial"/>
            </a:endParaRPr>
          </a:p>
        </p:txBody>
      </p:sp>
      <p:sp>
        <p:nvSpPr>
          <p:cNvPr id="32" name="Google Shape;108;p1">
            <a:extLst>
              <a:ext uri="{FF2B5EF4-FFF2-40B4-BE49-F238E27FC236}">
                <a16:creationId xmlns:a16="http://schemas.microsoft.com/office/drawing/2014/main" id="{9285F933-FE10-DDAF-5C0B-E1242AED9754}"/>
              </a:ext>
            </a:extLst>
          </p:cNvPr>
          <p:cNvSpPr txBox="1"/>
          <p:nvPr userDrawn="1"/>
        </p:nvSpPr>
        <p:spPr>
          <a:xfrm>
            <a:off x="1709593" y="4389712"/>
            <a:ext cx="12603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Arial"/>
              <a:buNone/>
            </a:pPr>
            <a:r>
              <a:rPr lang="en-US" sz="1800" b="0" i="0" u="none" strike="noStrike" cap="none">
                <a:solidFill>
                  <a:srgbClr val="153A80"/>
                </a:solidFill>
                <a:latin typeface="Arial"/>
                <a:ea typeface="Arial"/>
                <a:cs typeface="Arial"/>
                <a:sym typeface="Arial"/>
              </a:rPr>
              <a:t>Primary</a:t>
            </a:r>
            <a:endParaRPr sz="1800" b="0" i="0" u="none" strike="noStrike" cap="none">
              <a:solidFill>
                <a:srgbClr val="153A80"/>
              </a:solidFill>
              <a:latin typeface="Arial"/>
              <a:ea typeface="Arial"/>
              <a:cs typeface="Arial"/>
              <a:sym typeface="Arial"/>
            </a:endParaRPr>
          </a:p>
        </p:txBody>
      </p:sp>
      <p:sp>
        <p:nvSpPr>
          <p:cNvPr id="33" name="Google Shape;109;p1">
            <a:extLst>
              <a:ext uri="{FF2B5EF4-FFF2-40B4-BE49-F238E27FC236}">
                <a16:creationId xmlns:a16="http://schemas.microsoft.com/office/drawing/2014/main" id="{704A3EF1-5B0B-A221-7463-8FAE7C330D9C}"/>
              </a:ext>
            </a:extLst>
          </p:cNvPr>
          <p:cNvSpPr txBox="1"/>
          <p:nvPr userDrawn="1"/>
        </p:nvSpPr>
        <p:spPr>
          <a:xfrm>
            <a:off x="4869223" y="4389712"/>
            <a:ext cx="15516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Arial"/>
              <a:buNone/>
            </a:pPr>
            <a:r>
              <a:rPr lang="en-US" sz="1800" b="0" i="0" u="none" strike="noStrike" cap="none">
                <a:solidFill>
                  <a:srgbClr val="153A80"/>
                </a:solidFill>
                <a:latin typeface="Arial"/>
                <a:ea typeface="Arial"/>
                <a:cs typeface="Arial"/>
                <a:sym typeface="Arial"/>
              </a:rPr>
              <a:t>Secondary</a:t>
            </a:r>
            <a:endParaRPr sz="1800" b="0" i="0" u="none" strike="noStrike" cap="none">
              <a:solidFill>
                <a:srgbClr val="153A80"/>
              </a:solidFill>
              <a:latin typeface="Arial"/>
              <a:ea typeface="Arial"/>
              <a:cs typeface="Arial"/>
              <a:sym typeface="Arial"/>
            </a:endParaRPr>
          </a:p>
        </p:txBody>
      </p:sp>
      <p:sp>
        <p:nvSpPr>
          <p:cNvPr id="34" name="Google Shape;110;p1">
            <a:extLst>
              <a:ext uri="{FF2B5EF4-FFF2-40B4-BE49-F238E27FC236}">
                <a16:creationId xmlns:a16="http://schemas.microsoft.com/office/drawing/2014/main" id="{0D061FFC-EA51-7BDA-15E9-A9B5E9B9975E}"/>
              </a:ext>
            </a:extLst>
          </p:cNvPr>
          <p:cNvSpPr txBox="1"/>
          <p:nvPr userDrawn="1"/>
        </p:nvSpPr>
        <p:spPr>
          <a:xfrm>
            <a:off x="8455938" y="4389712"/>
            <a:ext cx="19413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Arial"/>
              <a:buNone/>
            </a:pPr>
            <a:r>
              <a:rPr lang="en-US" sz="1800" b="0" i="0" u="none" strike="noStrike" cap="none">
                <a:solidFill>
                  <a:srgbClr val="153A80"/>
                </a:solidFill>
                <a:latin typeface="Arial"/>
                <a:ea typeface="Arial"/>
                <a:cs typeface="Arial"/>
                <a:sym typeface="Arial"/>
              </a:rPr>
              <a:t>Secondary</a:t>
            </a:r>
            <a:endParaRPr sz="1800" b="0" i="0" u="none" strike="noStrike" cap="none">
              <a:solidFill>
                <a:srgbClr val="153A80"/>
              </a:solidFill>
              <a:latin typeface="Arial"/>
              <a:ea typeface="Arial"/>
              <a:cs typeface="Arial"/>
              <a:sym typeface="Arial"/>
            </a:endParaRPr>
          </a:p>
        </p:txBody>
      </p:sp>
      <p:sp>
        <p:nvSpPr>
          <p:cNvPr id="35" name="Google Shape;112;p1">
            <a:extLst>
              <a:ext uri="{FF2B5EF4-FFF2-40B4-BE49-F238E27FC236}">
                <a16:creationId xmlns:a16="http://schemas.microsoft.com/office/drawing/2014/main" id="{4838C4EB-09C2-84A6-8B30-74D419C86A0C}"/>
              </a:ext>
            </a:extLst>
          </p:cNvPr>
          <p:cNvSpPr txBox="1"/>
          <p:nvPr userDrawn="1"/>
        </p:nvSpPr>
        <p:spPr>
          <a:xfrm>
            <a:off x="928914" y="8040946"/>
            <a:ext cx="10912914"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99"/>
              <a:buFont typeface="Arial"/>
              <a:buNone/>
            </a:pPr>
            <a:r>
              <a:rPr lang="en-US" sz="3600" b="1" i="0" strike="noStrike" cap="none">
                <a:solidFill>
                  <a:srgbClr val="153A80"/>
                </a:solidFill>
                <a:latin typeface="Arial"/>
                <a:ea typeface="Arial"/>
                <a:cs typeface="Arial"/>
                <a:sym typeface="Arial"/>
              </a:rPr>
              <a:t>Standard Font Sizes</a:t>
            </a:r>
            <a:endParaRPr sz="3600" b="1" i="0" strike="noStrike" cap="none">
              <a:solidFill>
                <a:srgbClr val="153A80"/>
              </a:solidFill>
              <a:latin typeface="Arial"/>
              <a:ea typeface="Arial"/>
              <a:cs typeface="Arial"/>
              <a:sym typeface="Arial"/>
            </a:endParaRPr>
          </a:p>
        </p:txBody>
      </p:sp>
      <p:sp>
        <p:nvSpPr>
          <p:cNvPr id="36" name="Google Shape;113;p1">
            <a:extLst>
              <a:ext uri="{FF2B5EF4-FFF2-40B4-BE49-F238E27FC236}">
                <a16:creationId xmlns:a16="http://schemas.microsoft.com/office/drawing/2014/main" id="{D1D3BABF-E356-56D7-1905-48BEBF323FA4}"/>
              </a:ext>
            </a:extLst>
          </p:cNvPr>
          <p:cNvSpPr txBox="1"/>
          <p:nvPr userDrawn="1"/>
        </p:nvSpPr>
        <p:spPr>
          <a:xfrm>
            <a:off x="4869223" y="8855338"/>
            <a:ext cx="2064322" cy="83099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3700"/>
              <a:buFont typeface="Arial"/>
              <a:buNone/>
            </a:pPr>
            <a:r>
              <a:rPr lang="en-US" sz="5400" b="1" i="0" u="none" strike="noStrike" cap="none">
                <a:solidFill>
                  <a:srgbClr val="153A80"/>
                </a:solidFill>
                <a:latin typeface="Arial"/>
                <a:ea typeface="Arial"/>
                <a:cs typeface="Arial"/>
                <a:sym typeface="Arial"/>
              </a:rPr>
              <a:t>L1: 54</a:t>
            </a:r>
            <a:endParaRPr sz="5400" b="1" i="0" u="none" strike="noStrike" cap="none">
              <a:solidFill>
                <a:srgbClr val="153A80"/>
              </a:solidFill>
              <a:latin typeface="Arial"/>
              <a:ea typeface="Arial"/>
              <a:cs typeface="Arial"/>
              <a:sym typeface="Arial"/>
            </a:endParaRPr>
          </a:p>
        </p:txBody>
      </p:sp>
      <p:sp>
        <p:nvSpPr>
          <p:cNvPr id="37" name="Google Shape;114;p1">
            <a:extLst>
              <a:ext uri="{FF2B5EF4-FFF2-40B4-BE49-F238E27FC236}">
                <a16:creationId xmlns:a16="http://schemas.microsoft.com/office/drawing/2014/main" id="{E305357D-ABB0-DC5B-29C1-520FEB29661A}"/>
              </a:ext>
            </a:extLst>
          </p:cNvPr>
          <p:cNvSpPr txBox="1"/>
          <p:nvPr userDrawn="1"/>
        </p:nvSpPr>
        <p:spPr>
          <a:xfrm>
            <a:off x="13336690" y="8839948"/>
            <a:ext cx="1846622"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3700"/>
              <a:buFont typeface="Arial"/>
              <a:buNone/>
            </a:pPr>
            <a:r>
              <a:rPr lang="en-US" sz="2400" b="0" i="0" u="none" strike="noStrike" cap="none">
                <a:solidFill>
                  <a:srgbClr val="153A80"/>
                </a:solidFill>
                <a:latin typeface="Arial"/>
                <a:ea typeface="Arial"/>
                <a:cs typeface="Arial"/>
                <a:sym typeface="Arial"/>
              </a:rPr>
              <a:t>Body text: 24</a:t>
            </a:r>
            <a:endParaRPr sz="2400" b="0" i="0" u="none" strike="noStrike" cap="none">
              <a:solidFill>
                <a:srgbClr val="153A80"/>
              </a:solidFill>
              <a:latin typeface="Arial"/>
              <a:ea typeface="Arial"/>
              <a:cs typeface="Arial"/>
              <a:sym typeface="Arial"/>
            </a:endParaRPr>
          </a:p>
        </p:txBody>
      </p:sp>
      <p:sp>
        <p:nvSpPr>
          <p:cNvPr id="38" name="Google Shape;116;p1">
            <a:extLst>
              <a:ext uri="{FF2B5EF4-FFF2-40B4-BE49-F238E27FC236}">
                <a16:creationId xmlns:a16="http://schemas.microsoft.com/office/drawing/2014/main" id="{1F8E3C0D-68C2-9F67-ACD8-224F73D11E16}"/>
              </a:ext>
            </a:extLst>
          </p:cNvPr>
          <p:cNvSpPr txBox="1"/>
          <p:nvPr userDrawn="1"/>
        </p:nvSpPr>
        <p:spPr>
          <a:xfrm>
            <a:off x="7445925" y="8855338"/>
            <a:ext cx="1906366" cy="7386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3700"/>
              <a:buFont typeface="Arial"/>
              <a:buNone/>
            </a:pPr>
            <a:r>
              <a:rPr lang="en-US" sz="4800" b="1">
                <a:solidFill>
                  <a:srgbClr val="153A80"/>
                </a:solidFill>
              </a:rPr>
              <a:t>L</a:t>
            </a:r>
            <a:r>
              <a:rPr lang="en-US" sz="4800" b="1" i="0" u="none" strike="noStrike" cap="none">
                <a:solidFill>
                  <a:srgbClr val="153A80"/>
                </a:solidFill>
                <a:latin typeface="Arial"/>
                <a:ea typeface="Arial"/>
                <a:cs typeface="Arial"/>
                <a:sym typeface="Arial"/>
              </a:rPr>
              <a:t>2: 44</a:t>
            </a:r>
            <a:endParaRPr sz="4800" b="1" i="0" u="none" strike="noStrike" cap="none">
              <a:solidFill>
                <a:srgbClr val="153A80"/>
              </a:solidFill>
              <a:latin typeface="Arial"/>
              <a:ea typeface="Arial"/>
              <a:cs typeface="Arial"/>
              <a:sym typeface="Arial"/>
            </a:endParaRPr>
          </a:p>
        </p:txBody>
      </p:sp>
      <p:sp>
        <p:nvSpPr>
          <p:cNvPr id="39" name="Google Shape;117;p1">
            <a:extLst>
              <a:ext uri="{FF2B5EF4-FFF2-40B4-BE49-F238E27FC236}">
                <a16:creationId xmlns:a16="http://schemas.microsoft.com/office/drawing/2014/main" id="{EF5BE73A-4576-880D-535E-051BDB9A2E6A}"/>
              </a:ext>
            </a:extLst>
          </p:cNvPr>
          <p:cNvSpPr txBox="1"/>
          <p:nvPr userDrawn="1"/>
        </p:nvSpPr>
        <p:spPr>
          <a:xfrm>
            <a:off x="9864671" y="8839948"/>
            <a:ext cx="13933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3700"/>
              <a:buFont typeface="Arial"/>
              <a:buNone/>
            </a:pPr>
            <a:r>
              <a:rPr lang="en-US" sz="3600" b="1" i="0" u="none" strike="noStrike" cap="none">
                <a:solidFill>
                  <a:srgbClr val="153A80"/>
                </a:solidFill>
                <a:latin typeface="Arial"/>
                <a:ea typeface="Arial"/>
                <a:cs typeface="Arial"/>
                <a:sym typeface="Arial"/>
              </a:rPr>
              <a:t>L3: 36</a:t>
            </a:r>
            <a:endParaRPr sz="3600" b="1" i="0" u="none" strike="noStrike" cap="none">
              <a:solidFill>
                <a:srgbClr val="153A80"/>
              </a:solidFill>
              <a:latin typeface="Arial"/>
              <a:ea typeface="Arial"/>
              <a:cs typeface="Arial"/>
              <a:sym typeface="Arial"/>
            </a:endParaRPr>
          </a:p>
        </p:txBody>
      </p:sp>
      <p:sp>
        <p:nvSpPr>
          <p:cNvPr id="40" name="Google Shape;118;p1">
            <a:extLst>
              <a:ext uri="{FF2B5EF4-FFF2-40B4-BE49-F238E27FC236}">
                <a16:creationId xmlns:a16="http://schemas.microsoft.com/office/drawing/2014/main" id="{62D7A80F-6831-D89D-B50E-C8FEFD38DC9D}"/>
              </a:ext>
            </a:extLst>
          </p:cNvPr>
          <p:cNvSpPr txBox="1"/>
          <p:nvPr userDrawn="1"/>
        </p:nvSpPr>
        <p:spPr>
          <a:xfrm>
            <a:off x="11770351" y="8856182"/>
            <a:ext cx="1053959"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3700"/>
              <a:buFont typeface="Arial"/>
              <a:buNone/>
            </a:pPr>
            <a:r>
              <a:rPr lang="en-US" sz="2800" b="1" i="0" u="none" strike="noStrike" cap="none">
                <a:solidFill>
                  <a:srgbClr val="153A80"/>
                </a:solidFill>
                <a:latin typeface="Arial"/>
                <a:ea typeface="Arial"/>
                <a:cs typeface="Arial"/>
                <a:sym typeface="Arial"/>
              </a:rPr>
              <a:t>L4: 28</a:t>
            </a:r>
            <a:endParaRPr sz="2800" b="1" i="0" u="none" strike="noStrike" cap="none">
              <a:solidFill>
                <a:srgbClr val="153A80"/>
              </a:solidFill>
              <a:latin typeface="Arial"/>
              <a:ea typeface="Arial"/>
              <a:cs typeface="Arial"/>
              <a:sym typeface="Arial"/>
            </a:endParaRPr>
          </a:p>
        </p:txBody>
      </p:sp>
      <p:sp>
        <p:nvSpPr>
          <p:cNvPr id="41" name="Google Shape;119;p1">
            <a:extLst>
              <a:ext uri="{FF2B5EF4-FFF2-40B4-BE49-F238E27FC236}">
                <a16:creationId xmlns:a16="http://schemas.microsoft.com/office/drawing/2014/main" id="{B31551FB-D761-2519-D390-EC07D780EF63}"/>
              </a:ext>
            </a:extLst>
          </p:cNvPr>
          <p:cNvSpPr txBox="1"/>
          <p:nvPr userDrawn="1"/>
        </p:nvSpPr>
        <p:spPr>
          <a:xfrm>
            <a:off x="1533825" y="3790781"/>
            <a:ext cx="31062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500"/>
              <a:buFont typeface="Arial"/>
              <a:buNone/>
            </a:pPr>
            <a:r>
              <a:rPr lang="en-US" sz="2400" b="1" i="0" u="none" strike="noStrike" cap="none">
                <a:solidFill>
                  <a:srgbClr val="007AAD"/>
                </a:solidFill>
                <a:latin typeface="Arial"/>
                <a:ea typeface="Arial"/>
                <a:cs typeface="Arial"/>
                <a:sym typeface="Arial"/>
              </a:rPr>
              <a:t>RGB: 0 | 122 | 173</a:t>
            </a:r>
            <a:endParaRPr sz="2400" b="1" i="0" u="none" strike="noStrike" cap="none">
              <a:solidFill>
                <a:srgbClr val="007AAD"/>
              </a:solidFill>
              <a:latin typeface="Arial"/>
              <a:ea typeface="Arial"/>
              <a:cs typeface="Arial"/>
              <a:sym typeface="Arial"/>
            </a:endParaRPr>
          </a:p>
        </p:txBody>
      </p:sp>
      <p:sp>
        <p:nvSpPr>
          <p:cNvPr id="42" name="Google Shape;120;p1">
            <a:extLst>
              <a:ext uri="{FF2B5EF4-FFF2-40B4-BE49-F238E27FC236}">
                <a16:creationId xmlns:a16="http://schemas.microsoft.com/office/drawing/2014/main" id="{D2DA82B7-A3CB-AC38-86DB-5A4C561BAA8F}"/>
              </a:ext>
            </a:extLst>
          </p:cNvPr>
          <p:cNvSpPr txBox="1"/>
          <p:nvPr userDrawn="1"/>
        </p:nvSpPr>
        <p:spPr>
          <a:xfrm>
            <a:off x="4659300" y="3790781"/>
            <a:ext cx="31062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500"/>
              <a:buFont typeface="Arial"/>
              <a:buNone/>
            </a:pPr>
            <a:r>
              <a:rPr lang="en-US" sz="2400" b="1" i="0" u="none" strike="noStrike" cap="none">
                <a:solidFill>
                  <a:srgbClr val="B4D2EE"/>
                </a:solidFill>
                <a:latin typeface="Arial"/>
                <a:ea typeface="Arial"/>
                <a:cs typeface="Arial"/>
                <a:sym typeface="Arial"/>
              </a:rPr>
              <a:t>RGB: </a:t>
            </a:r>
            <a:r>
              <a:rPr lang="en-US" sz="2400" b="1">
                <a:solidFill>
                  <a:srgbClr val="B4D2EE"/>
                </a:solidFill>
              </a:rPr>
              <a:t>18</a:t>
            </a:r>
            <a:r>
              <a:rPr lang="en-US" sz="2400" b="1" i="0" u="none" strike="noStrike" cap="none">
                <a:solidFill>
                  <a:srgbClr val="B4D2EE"/>
                </a:solidFill>
                <a:latin typeface="Arial"/>
                <a:ea typeface="Arial"/>
                <a:cs typeface="Arial"/>
                <a:sym typeface="Arial"/>
              </a:rPr>
              <a:t>0 | 210 | 238</a:t>
            </a:r>
            <a:endParaRPr sz="2400" b="1" i="0" u="none" strike="noStrike" cap="none">
              <a:solidFill>
                <a:srgbClr val="B4D2EE"/>
              </a:solidFill>
              <a:latin typeface="Arial"/>
              <a:ea typeface="Arial"/>
              <a:cs typeface="Arial"/>
              <a:sym typeface="Arial"/>
            </a:endParaRPr>
          </a:p>
        </p:txBody>
      </p:sp>
      <p:sp>
        <p:nvSpPr>
          <p:cNvPr id="43" name="Google Shape;121;p1">
            <a:extLst>
              <a:ext uri="{FF2B5EF4-FFF2-40B4-BE49-F238E27FC236}">
                <a16:creationId xmlns:a16="http://schemas.microsoft.com/office/drawing/2014/main" id="{35B753A9-53E9-61ED-E4E7-F1FD97F0ED81}"/>
              </a:ext>
            </a:extLst>
          </p:cNvPr>
          <p:cNvSpPr txBox="1"/>
          <p:nvPr userDrawn="1"/>
        </p:nvSpPr>
        <p:spPr>
          <a:xfrm>
            <a:off x="8097750" y="3790781"/>
            <a:ext cx="31062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500"/>
              <a:buFont typeface="Arial"/>
              <a:buNone/>
            </a:pPr>
            <a:r>
              <a:rPr lang="en-US" sz="2400" b="1" i="0" u="none" strike="noStrike" cap="none">
                <a:solidFill>
                  <a:srgbClr val="153A80"/>
                </a:solidFill>
                <a:latin typeface="Arial"/>
                <a:ea typeface="Arial"/>
                <a:cs typeface="Arial"/>
                <a:sym typeface="Arial"/>
              </a:rPr>
              <a:t>RGB: 21 | </a:t>
            </a:r>
            <a:r>
              <a:rPr lang="en-US" sz="2400" b="1">
                <a:solidFill>
                  <a:srgbClr val="153A80"/>
                </a:solidFill>
              </a:rPr>
              <a:t>58</a:t>
            </a:r>
            <a:r>
              <a:rPr lang="en-US" sz="2400" b="1" i="0" u="none" strike="noStrike" cap="none">
                <a:solidFill>
                  <a:srgbClr val="153A80"/>
                </a:solidFill>
                <a:latin typeface="Arial"/>
                <a:ea typeface="Arial"/>
                <a:cs typeface="Arial"/>
                <a:sym typeface="Arial"/>
              </a:rPr>
              <a:t> | 128</a:t>
            </a:r>
            <a:endParaRPr sz="2400" b="1" i="0" u="none" strike="noStrike" cap="none">
              <a:solidFill>
                <a:srgbClr val="153A80"/>
              </a:solidFill>
              <a:latin typeface="Arial"/>
              <a:ea typeface="Arial"/>
              <a:cs typeface="Arial"/>
              <a:sym typeface="Arial"/>
            </a:endParaRPr>
          </a:p>
        </p:txBody>
      </p:sp>
      <p:sp>
        <p:nvSpPr>
          <p:cNvPr id="44" name="Google Shape;113;p1">
            <a:extLst>
              <a:ext uri="{FF2B5EF4-FFF2-40B4-BE49-F238E27FC236}">
                <a16:creationId xmlns:a16="http://schemas.microsoft.com/office/drawing/2014/main" id="{01110B60-0FE3-A367-93F7-D435D0A52D3C}"/>
              </a:ext>
            </a:extLst>
          </p:cNvPr>
          <p:cNvSpPr txBox="1"/>
          <p:nvPr userDrawn="1"/>
        </p:nvSpPr>
        <p:spPr>
          <a:xfrm>
            <a:off x="956906" y="8855338"/>
            <a:ext cx="3399937"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3700"/>
              <a:buFont typeface="Arial"/>
              <a:buNone/>
            </a:pPr>
            <a:r>
              <a:rPr lang="en-US" sz="6000" b="1" i="0" u="none" strike="noStrike" cap="none">
                <a:solidFill>
                  <a:srgbClr val="153A80"/>
                </a:solidFill>
                <a:latin typeface="Arial"/>
                <a:ea typeface="Arial"/>
                <a:cs typeface="Arial"/>
                <a:sym typeface="Arial"/>
              </a:rPr>
              <a:t>Titles: </a:t>
            </a:r>
            <a:r>
              <a:rPr lang="en-US" sz="6000" b="1">
                <a:solidFill>
                  <a:srgbClr val="153A80"/>
                </a:solidFill>
              </a:rPr>
              <a:t>60</a:t>
            </a:r>
            <a:endParaRPr sz="6000" b="1" i="0" u="none" strike="noStrike" cap="none">
              <a:solidFill>
                <a:srgbClr val="153A80"/>
              </a:solidFill>
              <a:latin typeface="Arial"/>
              <a:ea typeface="Arial"/>
              <a:cs typeface="Arial"/>
              <a:sym typeface="Arial"/>
            </a:endParaRPr>
          </a:p>
        </p:txBody>
      </p:sp>
      <p:sp>
        <p:nvSpPr>
          <p:cNvPr id="45" name="Google Shape;114;p1">
            <a:extLst>
              <a:ext uri="{FF2B5EF4-FFF2-40B4-BE49-F238E27FC236}">
                <a16:creationId xmlns:a16="http://schemas.microsoft.com/office/drawing/2014/main" id="{14C7D58B-6464-9672-94CB-467A3CE0B3A8}"/>
              </a:ext>
            </a:extLst>
          </p:cNvPr>
          <p:cNvSpPr txBox="1"/>
          <p:nvPr userDrawn="1"/>
        </p:nvSpPr>
        <p:spPr>
          <a:xfrm>
            <a:off x="15695692" y="8855434"/>
            <a:ext cx="1566339"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3700"/>
              <a:buFont typeface="Arial"/>
              <a:buNone/>
            </a:pPr>
            <a:r>
              <a:rPr lang="en-US" sz="1800" b="0" i="0" u="none" strike="noStrike" cap="none">
                <a:solidFill>
                  <a:srgbClr val="153A80"/>
                </a:solidFill>
                <a:latin typeface="Arial"/>
                <a:ea typeface="Arial"/>
                <a:cs typeface="Arial"/>
                <a:sym typeface="Arial"/>
              </a:rPr>
              <a:t>Footnotes - 18</a:t>
            </a:r>
            <a:endParaRPr sz="1800" b="0" i="0" u="none" strike="noStrike" cap="none">
              <a:solidFill>
                <a:srgbClr val="153A80"/>
              </a:solidFill>
              <a:latin typeface="Arial"/>
              <a:ea typeface="Arial"/>
              <a:cs typeface="Arial"/>
              <a:sym typeface="Arial"/>
            </a:endParaRPr>
          </a:p>
        </p:txBody>
      </p:sp>
    </p:spTree>
    <p:extLst>
      <p:ext uri="{BB962C8B-B14F-4D97-AF65-F5344CB8AC3E}">
        <p14:creationId xmlns:p14="http://schemas.microsoft.com/office/powerpoint/2010/main" val="817587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reserve="1" userDrawn="1">
  <p:cSld name="2 Title Slide">
    <p:bg>
      <p:bgPr>
        <a:solidFill>
          <a:srgbClr val="FFFFFF"/>
        </a:solidFill>
        <a:effectLst/>
      </p:bgPr>
    </p:bg>
    <p:spTree>
      <p:nvGrpSpPr>
        <p:cNvPr id="1" name="Shape 15"/>
        <p:cNvGrpSpPr/>
        <p:nvPr/>
      </p:nvGrpSpPr>
      <p:grpSpPr>
        <a:xfrm>
          <a:off x="0" y="0"/>
          <a:ext cx="0" cy="0"/>
          <a:chOff x="0" y="0"/>
          <a:chExt cx="0" cy="0"/>
        </a:xfrm>
      </p:grpSpPr>
      <p:sp>
        <p:nvSpPr>
          <p:cNvPr id="36" name="Google Shape;146;p8">
            <a:extLst>
              <a:ext uri="{FF2B5EF4-FFF2-40B4-BE49-F238E27FC236}">
                <a16:creationId xmlns:a16="http://schemas.microsoft.com/office/drawing/2014/main" id="{15B80253-C3A4-4010-9E73-4BFBD48AA90B}"/>
              </a:ext>
            </a:extLst>
          </p:cNvPr>
          <p:cNvSpPr/>
          <p:nvPr userDrawn="1"/>
        </p:nvSpPr>
        <p:spPr>
          <a:xfrm>
            <a:off x="-236" y="0"/>
            <a:ext cx="18288000" cy="8795658"/>
          </a:xfrm>
          <a:prstGeom prst="rect">
            <a:avLst/>
          </a:prstGeom>
          <a:solidFill>
            <a:srgbClr val="B4D2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Rectangle 66">
            <a:extLst>
              <a:ext uri="{FF2B5EF4-FFF2-40B4-BE49-F238E27FC236}">
                <a16:creationId xmlns:a16="http://schemas.microsoft.com/office/drawing/2014/main" id="{FFDAB864-5B66-4201-A0B5-C1A14472BC5E}"/>
              </a:ext>
            </a:extLst>
          </p:cNvPr>
          <p:cNvSpPr/>
          <p:nvPr userDrawn="1"/>
        </p:nvSpPr>
        <p:spPr>
          <a:xfrm>
            <a:off x="-235" y="7704824"/>
            <a:ext cx="18298622" cy="938212"/>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59B960B4-64F6-4DA8-A238-A0B4AB462AF7}"/>
              </a:ext>
            </a:extLst>
          </p:cNvPr>
          <p:cNvSpPr>
            <a:spLocks noGrp="1"/>
          </p:cNvSpPr>
          <p:nvPr>
            <p:ph type="body" sz="quarter" idx="10" hasCustomPrompt="1"/>
          </p:nvPr>
        </p:nvSpPr>
        <p:spPr>
          <a:xfrm>
            <a:off x="901700" y="319710"/>
            <a:ext cx="16467138" cy="3192115"/>
          </a:xfrm>
          <a:prstGeom prst="rect">
            <a:avLst/>
          </a:prstGeom>
        </p:spPr>
        <p:txBody>
          <a:bodyPr/>
          <a:lstStyle>
            <a:lvl1pPr>
              <a:defRPr sz="6000" b="1">
                <a:solidFill>
                  <a:srgbClr val="153A80"/>
                </a:solidFill>
              </a:defRPr>
            </a:lvl1pPr>
          </a:lstStyle>
          <a:p>
            <a:pPr lvl="0"/>
            <a:r>
              <a:rPr lang="en-US"/>
              <a:t>Presentation title </a:t>
            </a:r>
            <a:br>
              <a:rPr lang="en-US"/>
            </a:br>
            <a:r>
              <a:rPr lang="en-US"/>
              <a:t>(select text elements to edit)</a:t>
            </a:r>
          </a:p>
        </p:txBody>
      </p:sp>
      <p:sp>
        <p:nvSpPr>
          <p:cNvPr id="5" name="Text Placeholder 4">
            <a:extLst>
              <a:ext uri="{FF2B5EF4-FFF2-40B4-BE49-F238E27FC236}">
                <a16:creationId xmlns:a16="http://schemas.microsoft.com/office/drawing/2014/main" id="{003F548F-8937-41A0-81CA-EDB8CD81E143}"/>
              </a:ext>
            </a:extLst>
          </p:cNvPr>
          <p:cNvSpPr>
            <a:spLocks noGrp="1"/>
          </p:cNvSpPr>
          <p:nvPr>
            <p:ph type="body" sz="quarter" idx="11" hasCustomPrompt="1"/>
          </p:nvPr>
        </p:nvSpPr>
        <p:spPr>
          <a:xfrm>
            <a:off x="901700" y="3538398"/>
            <a:ext cx="16467138" cy="1817135"/>
          </a:xfrm>
          <a:prstGeom prst="rect">
            <a:avLst/>
          </a:prstGeom>
        </p:spPr>
        <p:txBody>
          <a:bodyPr/>
          <a:lstStyle>
            <a:lvl1pPr>
              <a:defRPr sz="4400" b="0">
                <a:solidFill>
                  <a:srgbClr val="153A80"/>
                </a:solidFill>
              </a:defRPr>
            </a:lvl1pPr>
          </a:lstStyle>
          <a:p>
            <a:pPr lvl="0"/>
            <a:r>
              <a:rPr lang="en-US"/>
              <a:t>Subtitle</a:t>
            </a:r>
          </a:p>
        </p:txBody>
      </p:sp>
      <p:sp>
        <p:nvSpPr>
          <p:cNvPr id="7" name="Text Placeholder 6">
            <a:extLst>
              <a:ext uri="{FF2B5EF4-FFF2-40B4-BE49-F238E27FC236}">
                <a16:creationId xmlns:a16="http://schemas.microsoft.com/office/drawing/2014/main" id="{95B267DF-FBC1-4126-B414-9110383AB98D}"/>
              </a:ext>
            </a:extLst>
          </p:cNvPr>
          <p:cNvSpPr>
            <a:spLocks noGrp="1"/>
          </p:cNvSpPr>
          <p:nvPr>
            <p:ph type="body" sz="quarter" idx="12" hasCustomPrompt="1"/>
          </p:nvPr>
        </p:nvSpPr>
        <p:spPr>
          <a:xfrm>
            <a:off x="9144001" y="5614993"/>
            <a:ext cx="8224838" cy="887412"/>
          </a:xfrm>
          <a:prstGeom prst="rect">
            <a:avLst/>
          </a:prstGeom>
        </p:spPr>
        <p:txBody>
          <a:bodyPr/>
          <a:lstStyle>
            <a:lvl1pPr algn="r">
              <a:defRPr sz="3600" b="1">
                <a:solidFill>
                  <a:srgbClr val="153A80"/>
                </a:solidFill>
              </a:defRPr>
            </a:lvl1pPr>
          </a:lstStyle>
          <a:p>
            <a:pPr lvl="0"/>
            <a:r>
              <a:rPr lang="en-US"/>
              <a:t>Name</a:t>
            </a:r>
          </a:p>
        </p:txBody>
      </p:sp>
      <p:sp>
        <p:nvSpPr>
          <p:cNvPr id="9" name="Text Placeholder 8">
            <a:extLst>
              <a:ext uri="{FF2B5EF4-FFF2-40B4-BE49-F238E27FC236}">
                <a16:creationId xmlns:a16="http://schemas.microsoft.com/office/drawing/2014/main" id="{0FD43BEA-34E2-4B7A-8D4B-2B1F1E2896A5}"/>
              </a:ext>
            </a:extLst>
          </p:cNvPr>
          <p:cNvSpPr>
            <a:spLocks noGrp="1"/>
          </p:cNvSpPr>
          <p:nvPr>
            <p:ph type="body" sz="quarter" idx="13" hasCustomPrompt="1"/>
          </p:nvPr>
        </p:nvSpPr>
        <p:spPr>
          <a:xfrm>
            <a:off x="9144001" y="6524630"/>
            <a:ext cx="8224837" cy="393363"/>
          </a:xfrm>
          <a:prstGeom prst="rect">
            <a:avLst/>
          </a:prstGeom>
        </p:spPr>
        <p:txBody>
          <a:bodyPr/>
          <a:lstStyle>
            <a:lvl1pPr algn="r">
              <a:defRPr sz="2400">
                <a:solidFill>
                  <a:srgbClr val="153A80"/>
                </a:solidFill>
              </a:defRPr>
            </a:lvl1pPr>
          </a:lstStyle>
          <a:p>
            <a:pPr lvl="0"/>
            <a:r>
              <a:rPr lang="en-US"/>
              <a:t>Your title, 3ie </a:t>
            </a:r>
          </a:p>
        </p:txBody>
      </p:sp>
      <p:sp>
        <p:nvSpPr>
          <p:cNvPr id="41" name="Text Placeholder 8">
            <a:extLst>
              <a:ext uri="{FF2B5EF4-FFF2-40B4-BE49-F238E27FC236}">
                <a16:creationId xmlns:a16="http://schemas.microsoft.com/office/drawing/2014/main" id="{DC0C7BCE-5A83-47EC-A054-EE6619239368}"/>
              </a:ext>
            </a:extLst>
          </p:cNvPr>
          <p:cNvSpPr>
            <a:spLocks noGrp="1"/>
          </p:cNvSpPr>
          <p:nvPr>
            <p:ph type="body" sz="quarter" idx="17" hasCustomPrompt="1"/>
          </p:nvPr>
        </p:nvSpPr>
        <p:spPr>
          <a:xfrm>
            <a:off x="9141429" y="6974448"/>
            <a:ext cx="8224837" cy="456646"/>
          </a:xfrm>
          <a:prstGeom prst="rect">
            <a:avLst/>
          </a:prstGeom>
        </p:spPr>
        <p:txBody>
          <a:bodyPr/>
          <a:lstStyle>
            <a:lvl1pPr algn="r">
              <a:defRPr sz="2400">
                <a:solidFill>
                  <a:srgbClr val="153A80"/>
                </a:solidFill>
              </a:defRPr>
            </a:lvl1pPr>
          </a:lstStyle>
          <a:p>
            <a:pPr lvl="0"/>
            <a:r>
              <a:rPr lang="en-US"/>
              <a:t>Email ID (optional) </a:t>
            </a:r>
            <a:r>
              <a:rPr lang="en-US" err="1"/>
              <a:t>abc</a:t>
            </a:r>
            <a:r>
              <a:rPr lang="en-US"/>
              <a:t>(at)3ieimpact.org</a:t>
            </a:r>
          </a:p>
        </p:txBody>
      </p:sp>
      <p:pic>
        <p:nvPicPr>
          <p:cNvPr id="21" name="Picture 20" descr="Text&#10;&#10;Description automatically generated with medium confidence">
            <a:extLst>
              <a:ext uri="{FF2B5EF4-FFF2-40B4-BE49-F238E27FC236}">
                <a16:creationId xmlns:a16="http://schemas.microsoft.com/office/drawing/2014/main" id="{01FAE1C4-4624-4B5F-AD7A-BE2F7F2AE9A5}"/>
              </a:ext>
            </a:extLst>
          </p:cNvPr>
          <p:cNvPicPr>
            <a:picLocks noChangeAspect="1"/>
          </p:cNvPicPr>
          <p:nvPr userDrawn="1"/>
        </p:nvPicPr>
        <p:blipFill>
          <a:blip r:embed="rId2"/>
          <a:stretch>
            <a:fillRect/>
          </a:stretch>
        </p:blipFill>
        <p:spPr>
          <a:xfrm>
            <a:off x="901700" y="8993425"/>
            <a:ext cx="2794000" cy="899551"/>
          </a:xfrm>
          <a:prstGeom prst="rect">
            <a:avLst/>
          </a:prstGeom>
        </p:spPr>
      </p:pic>
      <p:sp>
        <p:nvSpPr>
          <p:cNvPr id="51" name="Text Placeholder 10">
            <a:extLst>
              <a:ext uri="{FF2B5EF4-FFF2-40B4-BE49-F238E27FC236}">
                <a16:creationId xmlns:a16="http://schemas.microsoft.com/office/drawing/2014/main" id="{96B9AF75-12B1-42F9-8FEA-8235A5EAE3CD}"/>
              </a:ext>
            </a:extLst>
          </p:cNvPr>
          <p:cNvSpPr>
            <a:spLocks noGrp="1"/>
          </p:cNvSpPr>
          <p:nvPr>
            <p:ph type="body" sz="quarter" idx="14" hasCustomPrompt="1"/>
          </p:nvPr>
        </p:nvSpPr>
        <p:spPr>
          <a:xfrm>
            <a:off x="913285" y="7745520"/>
            <a:ext cx="12280198" cy="828573"/>
          </a:xfrm>
          <a:prstGeom prst="rect">
            <a:avLst/>
          </a:prstGeom>
        </p:spPr>
        <p:txBody>
          <a:bodyPr anchor="ctr"/>
          <a:lstStyle>
            <a:lvl1pPr>
              <a:defRPr sz="2400" b="0">
                <a:solidFill>
                  <a:srgbClr val="FFFFFF"/>
                </a:solidFill>
              </a:defRPr>
            </a:lvl1pPr>
          </a:lstStyle>
          <a:p>
            <a:pPr lvl="0"/>
            <a:r>
              <a:rPr lang="en-US"/>
              <a:t>Event title / Event # hashtag</a:t>
            </a:r>
            <a:br>
              <a:rPr lang="en-US"/>
            </a:br>
            <a:r>
              <a:rPr lang="en-US"/>
              <a:t>(select text elements to edit)</a:t>
            </a:r>
          </a:p>
        </p:txBody>
      </p:sp>
      <p:sp>
        <p:nvSpPr>
          <p:cNvPr id="53" name="Text Placeholder 14">
            <a:extLst>
              <a:ext uri="{FF2B5EF4-FFF2-40B4-BE49-F238E27FC236}">
                <a16:creationId xmlns:a16="http://schemas.microsoft.com/office/drawing/2014/main" id="{5E832DE3-BAC2-4AF9-A5DF-D0D6875359CD}"/>
              </a:ext>
            </a:extLst>
          </p:cNvPr>
          <p:cNvSpPr>
            <a:spLocks noGrp="1"/>
          </p:cNvSpPr>
          <p:nvPr>
            <p:ph type="body" sz="quarter" idx="16" hasCustomPrompt="1"/>
          </p:nvPr>
        </p:nvSpPr>
        <p:spPr>
          <a:xfrm>
            <a:off x="13647761" y="7745519"/>
            <a:ext cx="3726954" cy="794327"/>
          </a:xfrm>
          <a:prstGeom prst="rect">
            <a:avLst/>
          </a:prstGeom>
        </p:spPr>
        <p:txBody>
          <a:bodyPr anchor="ctr"/>
          <a:lstStyle>
            <a:lvl1pPr algn="l">
              <a:defRPr sz="2400" b="1">
                <a:solidFill>
                  <a:srgbClr val="FFFFFF"/>
                </a:solidFill>
              </a:defRPr>
            </a:lvl1pPr>
          </a:lstStyle>
          <a:p>
            <a:pPr lvl="0"/>
            <a:r>
              <a:rPr lang="en-US"/>
              <a:t>00 Month 20XX</a:t>
            </a:r>
          </a:p>
        </p:txBody>
      </p:sp>
      <p:sp>
        <p:nvSpPr>
          <p:cNvPr id="14" name="Rectangle 13">
            <a:extLst>
              <a:ext uri="{FF2B5EF4-FFF2-40B4-BE49-F238E27FC236}">
                <a16:creationId xmlns:a16="http://schemas.microsoft.com/office/drawing/2014/main" id="{3AF96129-9CBA-4D10-BED3-E0AE6DF2AEF1}"/>
              </a:ext>
            </a:extLst>
          </p:cNvPr>
          <p:cNvSpPr/>
          <p:nvPr userDrawn="1"/>
        </p:nvSpPr>
        <p:spPr>
          <a:xfrm>
            <a:off x="1" y="579636"/>
            <a:ext cx="771998" cy="587177"/>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517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reserve="1" userDrawn="1">
  <p:cSld name="3 Title Slide">
    <p:bg>
      <p:bgPr>
        <a:solidFill>
          <a:srgbClr val="FFFFFF"/>
        </a:solidFill>
        <a:effectLst/>
      </p:bgPr>
    </p:bg>
    <p:spTree>
      <p:nvGrpSpPr>
        <p:cNvPr id="1" name="Shape 15"/>
        <p:cNvGrpSpPr/>
        <p:nvPr/>
      </p:nvGrpSpPr>
      <p:grpSpPr>
        <a:xfrm>
          <a:off x="0" y="0"/>
          <a:ext cx="0" cy="0"/>
          <a:chOff x="0" y="0"/>
          <a:chExt cx="0" cy="0"/>
        </a:xfrm>
      </p:grpSpPr>
      <p:sp>
        <p:nvSpPr>
          <p:cNvPr id="36" name="Google Shape;146;p8">
            <a:extLst>
              <a:ext uri="{FF2B5EF4-FFF2-40B4-BE49-F238E27FC236}">
                <a16:creationId xmlns:a16="http://schemas.microsoft.com/office/drawing/2014/main" id="{15B80253-C3A4-4010-9E73-4BFBD48AA90B}"/>
              </a:ext>
            </a:extLst>
          </p:cNvPr>
          <p:cNvSpPr/>
          <p:nvPr userDrawn="1"/>
        </p:nvSpPr>
        <p:spPr>
          <a:xfrm>
            <a:off x="-236" y="0"/>
            <a:ext cx="18288000" cy="8758989"/>
          </a:xfrm>
          <a:prstGeom prst="rect">
            <a:avLst/>
          </a:prstGeom>
          <a:solidFill>
            <a:srgbClr val="B4D2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Rectangle 18">
            <a:extLst>
              <a:ext uri="{FF2B5EF4-FFF2-40B4-BE49-F238E27FC236}">
                <a16:creationId xmlns:a16="http://schemas.microsoft.com/office/drawing/2014/main" id="{7A98137B-D300-41AC-835B-554613766C8B}"/>
              </a:ext>
            </a:extLst>
          </p:cNvPr>
          <p:cNvSpPr/>
          <p:nvPr userDrawn="1"/>
        </p:nvSpPr>
        <p:spPr>
          <a:xfrm>
            <a:off x="1" y="0"/>
            <a:ext cx="12751220" cy="8643036"/>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Background pattern&#10;&#10;Description automatically generated">
            <a:extLst>
              <a:ext uri="{FF2B5EF4-FFF2-40B4-BE49-F238E27FC236}">
                <a16:creationId xmlns:a16="http://schemas.microsoft.com/office/drawing/2014/main" id="{13E14F1C-8B3C-4C74-804C-707D8B080F90}"/>
              </a:ext>
            </a:extLst>
          </p:cNvPr>
          <p:cNvPicPr>
            <a:picLocks noChangeAspect="1"/>
          </p:cNvPicPr>
          <p:nvPr userDrawn="1"/>
        </p:nvPicPr>
        <p:blipFill rotWithShape="1">
          <a:blip r:embed="rId2">
            <a:alphaModFix amt="20000"/>
          </a:blip>
          <a:srcRect t="34811" b="22328"/>
          <a:stretch/>
        </p:blipFill>
        <p:spPr>
          <a:xfrm>
            <a:off x="13647" y="0"/>
            <a:ext cx="12732076" cy="7704824"/>
          </a:xfrm>
          <a:prstGeom prst="rect">
            <a:avLst/>
          </a:prstGeom>
        </p:spPr>
      </p:pic>
      <p:sp>
        <p:nvSpPr>
          <p:cNvPr id="67" name="Rectangle 66">
            <a:extLst>
              <a:ext uri="{FF2B5EF4-FFF2-40B4-BE49-F238E27FC236}">
                <a16:creationId xmlns:a16="http://schemas.microsoft.com/office/drawing/2014/main" id="{FFDAB864-5B66-4201-A0B5-C1A14472BC5E}"/>
              </a:ext>
            </a:extLst>
          </p:cNvPr>
          <p:cNvSpPr/>
          <p:nvPr userDrawn="1"/>
        </p:nvSpPr>
        <p:spPr>
          <a:xfrm>
            <a:off x="13647" y="7704824"/>
            <a:ext cx="18288000" cy="938212"/>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95B267DF-FBC1-4126-B414-9110383AB98D}"/>
              </a:ext>
            </a:extLst>
          </p:cNvPr>
          <p:cNvSpPr>
            <a:spLocks noGrp="1"/>
          </p:cNvSpPr>
          <p:nvPr>
            <p:ph type="body" sz="quarter" idx="12" hasCustomPrompt="1"/>
          </p:nvPr>
        </p:nvSpPr>
        <p:spPr>
          <a:xfrm>
            <a:off x="12931112" y="4459496"/>
            <a:ext cx="4437725" cy="1062246"/>
          </a:xfrm>
          <a:prstGeom prst="rect">
            <a:avLst/>
          </a:prstGeom>
        </p:spPr>
        <p:txBody>
          <a:bodyPr/>
          <a:lstStyle>
            <a:lvl1pPr algn="r">
              <a:defRPr sz="3600" b="1">
                <a:solidFill>
                  <a:srgbClr val="153A80"/>
                </a:solidFill>
              </a:defRPr>
            </a:lvl1pPr>
          </a:lstStyle>
          <a:p>
            <a:pPr lvl="0"/>
            <a:r>
              <a:rPr lang="en-US"/>
              <a:t>Name</a:t>
            </a:r>
          </a:p>
        </p:txBody>
      </p:sp>
      <p:sp>
        <p:nvSpPr>
          <p:cNvPr id="9" name="Text Placeholder 8">
            <a:extLst>
              <a:ext uri="{FF2B5EF4-FFF2-40B4-BE49-F238E27FC236}">
                <a16:creationId xmlns:a16="http://schemas.microsoft.com/office/drawing/2014/main" id="{0FD43BEA-34E2-4B7A-8D4B-2B1F1E2896A5}"/>
              </a:ext>
            </a:extLst>
          </p:cNvPr>
          <p:cNvSpPr>
            <a:spLocks noGrp="1"/>
          </p:cNvSpPr>
          <p:nvPr>
            <p:ph type="body" sz="quarter" idx="13" hasCustomPrompt="1"/>
          </p:nvPr>
        </p:nvSpPr>
        <p:spPr>
          <a:xfrm>
            <a:off x="12931112" y="5769256"/>
            <a:ext cx="4437725" cy="1062246"/>
          </a:xfrm>
          <a:prstGeom prst="rect">
            <a:avLst/>
          </a:prstGeom>
        </p:spPr>
        <p:txBody>
          <a:bodyPr/>
          <a:lstStyle>
            <a:lvl1pPr algn="r">
              <a:defRPr sz="2400">
                <a:solidFill>
                  <a:srgbClr val="153A80"/>
                </a:solidFill>
              </a:defRPr>
            </a:lvl1pPr>
          </a:lstStyle>
          <a:p>
            <a:pPr lvl="0"/>
            <a:r>
              <a:rPr lang="en-US"/>
              <a:t>Your title,</a:t>
            </a:r>
            <a:br>
              <a:rPr lang="en-US"/>
            </a:br>
            <a:r>
              <a:rPr lang="en-US"/>
              <a:t>3ie </a:t>
            </a:r>
          </a:p>
        </p:txBody>
      </p:sp>
      <p:sp>
        <p:nvSpPr>
          <p:cNvPr id="41" name="Text Placeholder 8">
            <a:extLst>
              <a:ext uri="{FF2B5EF4-FFF2-40B4-BE49-F238E27FC236}">
                <a16:creationId xmlns:a16="http://schemas.microsoft.com/office/drawing/2014/main" id="{DC0C7BCE-5A83-47EC-A054-EE6619239368}"/>
              </a:ext>
            </a:extLst>
          </p:cNvPr>
          <p:cNvSpPr>
            <a:spLocks noGrp="1"/>
          </p:cNvSpPr>
          <p:nvPr>
            <p:ph type="body" sz="quarter" idx="17" hasCustomPrompt="1"/>
          </p:nvPr>
        </p:nvSpPr>
        <p:spPr>
          <a:xfrm>
            <a:off x="12931010" y="6974448"/>
            <a:ext cx="4435255" cy="456646"/>
          </a:xfrm>
          <a:prstGeom prst="rect">
            <a:avLst/>
          </a:prstGeom>
        </p:spPr>
        <p:txBody>
          <a:bodyPr/>
          <a:lstStyle>
            <a:lvl1pPr algn="r">
              <a:defRPr sz="2400">
                <a:solidFill>
                  <a:srgbClr val="153A80"/>
                </a:solidFill>
              </a:defRPr>
            </a:lvl1pPr>
          </a:lstStyle>
          <a:p>
            <a:pPr lvl="0"/>
            <a:r>
              <a:rPr lang="en-US"/>
              <a:t>Email ID </a:t>
            </a:r>
            <a:r>
              <a:rPr lang="en-US" err="1"/>
              <a:t>abc</a:t>
            </a:r>
            <a:r>
              <a:rPr lang="en-US"/>
              <a:t>(at)3ieimpact.org</a:t>
            </a:r>
          </a:p>
        </p:txBody>
      </p:sp>
      <p:pic>
        <p:nvPicPr>
          <p:cNvPr id="21" name="Picture 20" descr="Text&#10;&#10;Description automatically generated with medium confidence">
            <a:extLst>
              <a:ext uri="{FF2B5EF4-FFF2-40B4-BE49-F238E27FC236}">
                <a16:creationId xmlns:a16="http://schemas.microsoft.com/office/drawing/2014/main" id="{01FAE1C4-4624-4B5F-AD7A-BE2F7F2AE9A5}"/>
              </a:ext>
            </a:extLst>
          </p:cNvPr>
          <p:cNvPicPr>
            <a:picLocks noChangeAspect="1"/>
          </p:cNvPicPr>
          <p:nvPr userDrawn="1"/>
        </p:nvPicPr>
        <p:blipFill>
          <a:blip r:embed="rId3"/>
          <a:stretch>
            <a:fillRect/>
          </a:stretch>
        </p:blipFill>
        <p:spPr>
          <a:xfrm>
            <a:off x="901700" y="8993425"/>
            <a:ext cx="2794000" cy="899551"/>
          </a:xfrm>
          <a:prstGeom prst="rect">
            <a:avLst/>
          </a:prstGeom>
        </p:spPr>
      </p:pic>
      <p:sp>
        <p:nvSpPr>
          <p:cNvPr id="53" name="Text Placeholder 14">
            <a:extLst>
              <a:ext uri="{FF2B5EF4-FFF2-40B4-BE49-F238E27FC236}">
                <a16:creationId xmlns:a16="http://schemas.microsoft.com/office/drawing/2014/main" id="{5E832DE3-BAC2-4AF9-A5DF-D0D6875359CD}"/>
              </a:ext>
            </a:extLst>
          </p:cNvPr>
          <p:cNvSpPr>
            <a:spLocks noGrp="1"/>
          </p:cNvSpPr>
          <p:nvPr>
            <p:ph type="body" sz="quarter" idx="16" hasCustomPrompt="1"/>
          </p:nvPr>
        </p:nvSpPr>
        <p:spPr>
          <a:xfrm>
            <a:off x="13543721" y="7745519"/>
            <a:ext cx="3830993" cy="794327"/>
          </a:xfrm>
          <a:prstGeom prst="rect">
            <a:avLst/>
          </a:prstGeom>
        </p:spPr>
        <p:txBody>
          <a:bodyPr anchor="ctr"/>
          <a:lstStyle>
            <a:lvl1pPr algn="l">
              <a:defRPr sz="2400" b="1">
                <a:solidFill>
                  <a:srgbClr val="FFFFFF"/>
                </a:solidFill>
              </a:defRPr>
            </a:lvl1pPr>
          </a:lstStyle>
          <a:p>
            <a:pPr lvl="0"/>
            <a:r>
              <a:rPr lang="en-US"/>
              <a:t>00 Month 20XX</a:t>
            </a:r>
          </a:p>
        </p:txBody>
      </p:sp>
      <p:pic>
        <p:nvPicPr>
          <p:cNvPr id="55" name="Graphic 54" descr="Daily calendar with solid fill">
            <a:extLst>
              <a:ext uri="{FF2B5EF4-FFF2-40B4-BE49-F238E27FC236}">
                <a16:creationId xmlns:a16="http://schemas.microsoft.com/office/drawing/2014/main" id="{8EB03005-7B34-49E7-AEC6-5DC1F0681C9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31113" y="7900298"/>
            <a:ext cx="490889" cy="490889"/>
          </a:xfrm>
          <a:prstGeom prst="rect">
            <a:avLst/>
          </a:prstGeom>
        </p:spPr>
      </p:pic>
      <p:sp>
        <p:nvSpPr>
          <p:cNvPr id="3" name="Text Placeholder 2">
            <a:extLst>
              <a:ext uri="{FF2B5EF4-FFF2-40B4-BE49-F238E27FC236}">
                <a16:creationId xmlns:a16="http://schemas.microsoft.com/office/drawing/2014/main" id="{59B960B4-64F6-4DA8-A238-A0B4AB462AF7}"/>
              </a:ext>
            </a:extLst>
          </p:cNvPr>
          <p:cNvSpPr>
            <a:spLocks noGrp="1"/>
          </p:cNvSpPr>
          <p:nvPr>
            <p:ph type="body" sz="quarter" idx="10" hasCustomPrompt="1"/>
          </p:nvPr>
        </p:nvSpPr>
        <p:spPr>
          <a:xfrm>
            <a:off x="901700" y="571499"/>
            <a:ext cx="11581847" cy="4950243"/>
          </a:xfrm>
          <a:prstGeom prst="rect">
            <a:avLst/>
          </a:prstGeom>
        </p:spPr>
        <p:txBody>
          <a:bodyPr/>
          <a:lstStyle>
            <a:lvl1pPr>
              <a:defRPr sz="6000" b="1">
                <a:solidFill>
                  <a:srgbClr val="FFFFFF"/>
                </a:solidFill>
              </a:defRPr>
            </a:lvl1pPr>
          </a:lstStyle>
          <a:p>
            <a:pPr lvl="0"/>
            <a:r>
              <a:rPr lang="en-US"/>
              <a:t>Presentation title </a:t>
            </a:r>
            <a:br>
              <a:rPr lang="en-US"/>
            </a:br>
            <a:r>
              <a:rPr lang="en-US"/>
              <a:t>(select text elements to edit)</a:t>
            </a:r>
          </a:p>
        </p:txBody>
      </p:sp>
      <p:sp>
        <p:nvSpPr>
          <p:cNvPr id="5" name="Text Placeholder 4">
            <a:extLst>
              <a:ext uri="{FF2B5EF4-FFF2-40B4-BE49-F238E27FC236}">
                <a16:creationId xmlns:a16="http://schemas.microsoft.com/office/drawing/2014/main" id="{003F548F-8937-41A0-81CA-EDB8CD81E143}"/>
              </a:ext>
            </a:extLst>
          </p:cNvPr>
          <p:cNvSpPr>
            <a:spLocks noGrp="1"/>
          </p:cNvSpPr>
          <p:nvPr>
            <p:ph type="body" sz="quarter" idx="11" hasCustomPrompt="1"/>
          </p:nvPr>
        </p:nvSpPr>
        <p:spPr>
          <a:xfrm>
            <a:off x="901700" y="5719509"/>
            <a:ext cx="11581847" cy="1711585"/>
          </a:xfrm>
          <a:prstGeom prst="rect">
            <a:avLst/>
          </a:prstGeom>
        </p:spPr>
        <p:txBody>
          <a:bodyPr/>
          <a:lstStyle>
            <a:lvl1pPr>
              <a:defRPr sz="4400" b="0">
                <a:solidFill>
                  <a:srgbClr val="FFFFFF"/>
                </a:solidFill>
              </a:defRPr>
            </a:lvl1pPr>
          </a:lstStyle>
          <a:p>
            <a:pPr lvl="0"/>
            <a:r>
              <a:rPr lang="en-US"/>
              <a:t>Subtitle (optional)</a:t>
            </a:r>
          </a:p>
        </p:txBody>
      </p:sp>
      <p:sp>
        <p:nvSpPr>
          <p:cNvPr id="51" name="Text Placeholder 10">
            <a:extLst>
              <a:ext uri="{FF2B5EF4-FFF2-40B4-BE49-F238E27FC236}">
                <a16:creationId xmlns:a16="http://schemas.microsoft.com/office/drawing/2014/main" id="{96B9AF75-12B1-42F9-8FEA-8235A5EAE3CD}"/>
              </a:ext>
            </a:extLst>
          </p:cNvPr>
          <p:cNvSpPr>
            <a:spLocks noGrp="1"/>
          </p:cNvSpPr>
          <p:nvPr>
            <p:ph type="body" sz="quarter" idx="14" hasCustomPrompt="1"/>
          </p:nvPr>
        </p:nvSpPr>
        <p:spPr>
          <a:xfrm>
            <a:off x="913284" y="7745520"/>
            <a:ext cx="11570259" cy="828573"/>
          </a:xfrm>
          <a:prstGeom prst="rect">
            <a:avLst/>
          </a:prstGeom>
        </p:spPr>
        <p:txBody>
          <a:bodyPr anchor="ctr"/>
          <a:lstStyle>
            <a:lvl1pPr>
              <a:defRPr sz="2400" b="0">
                <a:solidFill>
                  <a:srgbClr val="FFFFFF"/>
                </a:solidFill>
              </a:defRPr>
            </a:lvl1pPr>
          </a:lstStyle>
          <a:p>
            <a:pPr lvl="0"/>
            <a:r>
              <a:rPr lang="en-US"/>
              <a:t>Event title / Event # hashtag / Location</a:t>
            </a:r>
            <a:br>
              <a:rPr lang="en-US"/>
            </a:br>
            <a:r>
              <a:rPr lang="en-US"/>
              <a:t>(select text elements to edit)</a:t>
            </a:r>
          </a:p>
        </p:txBody>
      </p:sp>
      <p:cxnSp>
        <p:nvCxnSpPr>
          <p:cNvPr id="57" name="Straight Connector 56">
            <a:extLst>
              <a:ext uri="{FF2B5EF4-FFF2-40B4-BE49-F238E27FC236}">
                <a16:creationId xmlns:a16="http://schemas.microsoft.com/office/drawing/2014/main" id="{146700B8-EA64-423C-9154-ECACFA52B255}"/>
              </a:ext>
            </a:extLst>
          </p:cNvPr>
          <p:cNvCxnSpPr>
            <a:cxnSpLocks/>
          </p:cNvCxnSpPr>
          <p:nvPr userDrawn="1"/>
        </p:nvCxnSpPr>
        <p:spPr>
          <a:xfrm>
            <a:off x="12748590" y="7772815"/>
            <a:ext cx="0" cy="79432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393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Section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6AEFA38-DA3F-D058-589D-41FF1841FEF2}"/>
              </a:ext>
            </a:extLst>
          </p:cNvPr>
          <p:cNvSpPr/>
          <p:nvPr userDrawn="1"/>
        </p:nvSpPr>
        <p:spPr>
          <a:xfrm>
            <a:off x="-542" y="-21112"/>
            <a:ext cx="18288542" cy="10308112"/>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Google Shape;11;p2">
            <a:extLst>
              <a:ext uri="{FF2B5EF4-FFF2-40B4-BE49-F238E27FC236}">
                <a16:creationId xmlns:a16="http://schemas.microsoft.com/office/drawing/2014/main" id="{C10639EA-C8C7-40C4-A2D3-EB18AF030238}"/>
              </a:ext>
            </a:extLst>
          </p:cNvPr>
          <p:cNvCxnSpPr>
            <a:cxnSpLocks/>
          </p:cNvCxnSpPr>
          <p:nvPr userDrawn="1"/>
        </p:nvCxnSpPr>
        <p:spPr>
          <a:xfrm>
            <a:off x="-542" y="5160066"/>
            <a:ext cx="18288000" cy="0"/>
          </a:xfrm>
          <a:prstGeom prst="straightConnector1">
            <a:avLst/>
          </a:prstGeom>
          <a:noFill/>
          <a:ln w="57150" cap="flat" cmpd="sng">
            <a:solidFill>
              <a:srgbClr val="B4D2EE"/>
            </a:solidFill>
            <a:prstDash val="solid"/>
            <a:round/>
            <a:headEnd type="none" w="med" len="med"/>
            <a:tailEnd type="none" w="med" len="med"/>
          </a:ln>
        </p:spPr>
      </p:cxnSp>
      <p:grpSp>
        <p:nvGrpSpPr>
          <p:cNvPr id="21" name="Group 20">
            <a:extLst>
              <a:ext uri="{FF2B5EF4-FFF2-40B4-BE49-F238E27FC236}">
                <a16:creationId xmlns:a16="http://schemas.microsoft.com/office/drawing/2014/main" id="{2CDCC4B9-0250-8F81-B648-4E17D289969A}"/>
              </a:ext>
            </a:extLst>
          </p:cNvPr>
          <p:cNvGrpSpPr/>
          <p:nvPr userDrawn="1"/>
        </p:nvGrpSpPr>
        <p:grpSpPr>
          <a:xfrm>
            <a:off x="182882" y="9381120"/>
            <a:ext cx="731520" cy="731520"/>
            <a:chOff x="159594" y="9449672"/>
            <a:chExt cx="731520" cy="731520"/>
          </a:xfrm>
        </p:grpSpPr>
        <p:sp>
          <p:nvSpPr>
            <p:cNvPr id="8" name="Google Shape;12;p2">
              <a:extLst>
                <a:ext uri="{FF2B5EF4-FFF2-40B4-BE49-F238E27FC236}">
                  <a16:creationId xmlns:a16="http://schemas.microsoft.com/office/drawing/2014/main" id="{0EE11E7E-FBE6-4748-9406-D014C5E9B988}"/>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41;g10a0fa76d9d_1_0">
              <a:extLst>
                <a:ext uri="{FF2B5EF4-FFF2-40B4-BE49-F238E27FC236}">
                  <a16:creationId xmlns:a16="http://schemas.microsoft.com/office/drawing/2014/main" id="{8CF2FF04-9293-4CA8-B7EF-CC287177CE5B}"/>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
        <p:nvSpPr>
          <p:cNvPr id="12" name="Google Shape;176;p8">
            <a:extLst>
              <a:ext uri="{FF2B5EF4-FFF2-40B4-BE49-F238E27FC236}">
                <a16:creationId xmlns:a16="http://schemas.microsoft.com/office/drawing/2014/main" id="{3F8D8820-88A3-CE3E-7904-C8E3DBE7632E}"/>
              </a:ext>
            </a:extLst>
          </p:cNvPr>
          <p:cNvSpPr/>
          <p:nvPr userDrawn="1"/>
        </p:nvSpPr>
        <p:spPr>
          <a:xfrm>
            <a:off x="914402" y="4245666"/>
            <a:ext cx="1828800" cy="1828800"/>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B4D2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Text Placeholder 16">
            <a:extLst>
              <a:ext uri="{FF2B5EF4-FFF2-40B4-BE49-F238E27FC236}">
                <a16:creationId xmlns:a16="http://schemas.microsoft.com/office/drawing/2014/main" id="{12C6EC4D-28AB-64F2-3053-C6AD99DA0FAD}"/>
              </a:ext>
            </a:extLst>
          </p:cNvPr>
          <p:cNvSpPr>
            <a:spLocks noGrp="1"/>
          </p:cNvSpPr>
          <p:nvPr>
            <p:ph type="body" sz="quarter" idx="19" hasCustomPrompt="1"/>
          </p:nvPr>
        </p:nvSpPr>
        <p:spPr>
          <a:xfrm>
            <a:off x="2875723" y="4229098"/>
            <a:ext cx="14640279" cy="1828801"/>
          </a:xfrm>
          <a:prstGeom prst="rect">
            <a:avLst/>
          </a:prstGeom>
          <a:solidFill>
            <a:srgbClr val="007AAD"/>
          </a:solidFill>
        </p:spPr>
        <p:txBody>
          <a:bodyPr anchor="ctr"/>
          <a:lstStyle>
            <a:lvl1pPr>
              <a:defRPr sz="6000" b="1">
                <a:solidFill>
                  <a:schemeClr val="bg1"/>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t>Part 1 section title  </a:t>
            </a:r>
          </a:p>
        </p:txBody>
      </p:sp>
      <p:sp>
        <p:nvSpPr>
          <p:cNvPr id="20" name="Text Placeholder 19">
            <a:extLst>
              <a:ext uri="{FF2B5EF4-FFF2-40B4-BE49-F238E27FC236}">
                <a16:creationId xmlns:a16="http://schemas.microsoft.com/office/drawing/2014/main" id="{EB39E969-94A8-26A2-368C-DBD0B44E8E54}"/>
              </a:ext>
            </a:extLst>
          </p:cNvPr>
          <p:cNvSpPr>
            <a:spLocks noGrp="1"/>
          </p:cNvSpPr>
          <p:nvPr>
            <p:ph type="body" sz="quarter" idx="20" hasCustomPrompt="1"/>
          </p:nvPr>
        </p:nvSpPr>
        <p:spPr>
          <a:xfrm>
            <a:off x="914402" y="4245666"/>
            <a:ext cx="1829342" cy="1828800"/>
          </a:xfrm>
          <a:prstGeom prst="rect">
            <a:avLst/>
          </a:prstGeom>
        </p:spPr>
        <p:txBody>
          <a:bodyPr anchor="ctr"/>
          <a:lstStyle>
            <a:lvl1pPr algn="ctr">
              <a:defRPr sz="9600">
                <a:solidFill>
                  <a:srgbClr val="153A80"/>
                </a:solidFill>
              </a:defRPr>
            </a:lvl1pPr>
          </a:lstStyle>
          <a:p>
            <a:pPr lvl="0"/>
            <a:r>
              <a:rPr lang="en-US"/>
              <a:t>1</a:t>
            </a:r>
          </a:p>
        </p:txBody>
      </p:sp>
    </p:spTree>
    <p:extLst>
      <p:ext uri="{BB962C8B-B14F-4D97-AF65-F5344CB8AC3E}">
        <p14:creationId xmlns:p14="http://schemas.microsoft.com/office/powerpoint/2010/main" val="2005879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Text-only">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AB55F932-DEA0-485D-B829-70E836FE1E76}"/>
              </a:ext>
            </a:extLst>
          </p:cNvPr>
          <p:cNvSpPr>
            <a:spLocks noGrp="1"/>
          </p:cNvSpPr>
          <p:nvPr>
            <p:ph type="body" sz="quarter" idx="12" hasCustomPrompt="1"/>
          </p:nvPr>
        </p:nvSpPr>
        <p:spPr>
          <a:xfrm>
            <a:off x="936170" y="1496742"/>
            <a:ext cx="16886034" cy="7484462"/>
          </a:xfrm>
          <a:prstGeom prst="rect">
            <a:avLst/>
          </a:prstGeom>
        </p:spPr>
        <p:txBody>
          <a:bodyPr>
            <a:normAutofit/>
          </a:bodyPr>
          <a:lstStyle>
            <a:lvl1pPr marL="0" indent="0">
              <a:spcBef>
                <a:spcPts val="0"/>
              </a:spcBef>
              <a:buNone/>
              <a:tabLst/>
              <a:defRPr lang="en-US" sz="2400" kern="1200" dirty="0" smtClean="0">
                <a:solidFill>
                  <a:srgbClr val="153A80"/>
                </a:solidFill>
                <a:latin typeface="+mn-lt"/>
                <a:ea typeface="+mn-ea"/>
                <a:cs typeface="+mn-cs"/>
              </a:defRPr>
            </a:lvl1pPr>
            <a:lvl2pPr marL="557213" indent="-214313">
              <a:buFont typeface="Arial" panose="020B0604020202020204" pitchFamily="34" charset="0"/>
              <a:buChar char="•"/>
              <a:defRPr lang="en-US" sz="2400" kern="1200" baseline="0" dirty="0" smtClean="0">
                <a:solidFill>
                  <a:srgbClr val="153A80"/>
                </a:solidFill>
                <a:latin typeface="+mn-lt"/>
                <a:ea typeface="+mn-ea"/>
                <a:cs typeface="+mn-cs"/>
              </a:defRPr>
            </a:lvl2pPr>
            <a:lvl3pPr>
              <a:defRPr lang="en-US" sz="2000" kern="1200" baseline="0" dirty="0" smtClean="0">
                <a:solidFill>
                  <a:srgbClr val="153A80"/>
                </a:solidFill>
                <a:latin typeface="+mn-lt"/>
                <a:ea typeface="+mn-ea"/>
                <a:cs typeface="+mn-cs"/>
              </a:defRPr>
            </a:lvl3pPr>
            <a:lvl4pPr marL="1200150" indent="-171450">
              <a:buFont typeface="Arial" panose="020B0604020202020204" pitchFamily="34" charset="0"/>
              <a:buChar char="•"/>
              <a:defRPr lang="en-US" sz="1800" kern="1200" baseline="0" dirty="0" smtClean="0">
                <a:solidFill>
                  <a:srgbClr val="153A80"/>
                </a:solidFill>
                <a:latin typeface="+mn-lt"/>
                <a:ea typeface="+mn-ea"/>
                <a:cs typeface="+mn-cs"/>
              </a:defRPr>
            </a:lvl4pPr>
            <a:lvl5pPr marL="1543050" indent="-171450">
              <a:buFont typeface="Arial" panose="020B0604020202020204" pitchFamily="34" charset="0"/>
              <a:buChar char="•"/>
              <a:defRPr lang="en-US" sz="1800" kern="1200" dirty="0" smtClean="0">
                <a:solidFill>
                  <a:srgbClr val="153A80"/>
                </a:solidFill>
                <a:latin typeface="+mn-lt"/>
                <a:ea typeface="+mn-ea"/>
                <a:cs typeface="+mn-cs"/>
              </a:defRPr>
            </a:lvl5pPr>
          </a:lstStyle>
          <a:p>
            <a:pPr lvl="0"/>
            <a:r>
              <a:rPr lang="en-US"/>
              <a:t>Body text </a:t>
            </a:r>
          </a:p>
          <a:p>
            <a:pPr lvl="0"/>
            <a:endParaRPr lang="en-GB"/>
          </a:p>
        </p:txBody>
      </p:sp>
      <p:sp>
        <p:nvSpPr>
          <p:cNvPr id="12" name="Text Placeholder 2">
            <a:extLst>
              <a:ext uri="{FF2B5EF4-FFF2-40B4-BE49-F238E27FC236}">
                <a16:creationId xmlns:a16="http://schemas.microsoft.com/office/drawing/2014/main" id="{7465A4B1-E11B-4999-841E-BC3B3EA4AFC0}"/>
              </a:ext>
            </a:extLst>
          </p:cNvPr>
          <p:cNvSpPr>
            <a:spLocks noGrp="1"/>
          </p:cNvSpPr>
          <p:nvPr>
            <p:ph type="body" sz="quarter" idx="17" hasCustomPrompt="1"/>
          </p:nvPr>
        </p:nvSpPr>
        <p:spPr>
          <a:xfrm>
            <a:off x="914399" y="384175"/>
            <a:ext cx="16907801" cy="782638"/>
          </a:xfrm>
          <a:prstGeom prst="rect">
            <a:avLst/>
          </a:prstGeom>
        </p:spPr>
        <p:txBody>
          <a:bodyPr/>
          <a:lstStyle>
            <a:lvl1pPr>
              <a:defRPr sz="5400" b="1">
                <a:solidFill>
                  <a:srgbClr val="007AAD"/>
                </a:solidFill>
              </a:defRPr>
            </a:lvl1pPr>
          </a:lstStyle>
          <a:p>
            <a:pPr lvl="0"/>
            <a:r>
              <a:rPr lang="en-US"/>
              <a:t>Main heading (Level 1 heading)</a:t>
            </a:r>
          </a:p>
        </p:txBody>
      </p:sp>
      <p:sp>
        <p:nvSpPr>
          <p:cNvPr id="13" name="Text Placeholder 20">
            <a:extLst>
              <a:ext uri="{FF2B5EF4-FFF2-40B4-BE49-F238E27FC236}">
                <a16:creationId xmlns:a16="http://schemas.microsoft.com/office/drawing/2014/main" id="{0270AEB5-EEEE-4467-9473-23D4F2A276B4}"/>
              </a:ext>
            </a:extLst>
          </p:cNvPr>
          <p:cNvSpPr>
            <a:spLocks noGrp="1"/>
          </p:cNvSpPr>
          <p:nvPr>
            <p:ph type="body" sz="quarter" idx="21" hasCustomPrompt="1"/>
          </p:nvPr>
        </p:nvSpPr>
        <p:spPr>
          <a:xfrm>
            <a:off x="936171" y="9094959"/>
            <a:ext cx="16886030" cy="612405"/>
          </a:xfrm>
          <a:prstGeom prst="rect">
            <a:avLst/>
          </a:prstGeom>
        </p:spPr>
        <p:txBody>
          <a:bodyPr/>
          <a:lstStyle>
            <a:lvl1pPr>
              <a:defRPr sz="1800">
                <a:solidFill>
                  <a:srgbClr val="153A80"/>
                </a:solidFill>
              </a:defRPr>
            </a:lvl1pPr>
          </a:lstStyle>
          <a:p>
            <a:pPr lvl="0"/>
            <a:r>
              <a:rPr lang="en-US"/>
              <a:t>Footnote/Source/Note/</a:t>
            </a:r>
            <a:r>
              <a:rPr lang="en-US" err="1"/>
              <a:t>Etc</a:t>
            </a:r>
            <a:endParaRPr lang="en-US"/>
          </a:p>
        </p:txBody>
      </p:sp>
      <p:cxnSp>
        <p:nvCxnSpPr>
          <p:cNvPr id="9" name="Google Shape;11;p2">
            <a:extLst>
              <a:ext uri="{FF2B5EF4-FFF2-40B4-BE49-F238E27FC236}">
                <a16:creationId xmlns:a16="http://schemas.microsoft.com/office/drawing/2014/main" id="{6B8855B4-0F55-A209-6925-D772683292F3}"/>
              </a:ext>
            </a:extLst>
          </p:cNvPr>
          <p:cNvCxnSpPr>
            <a:cxnSpLocks/>
          </p:cNvCxnSpPr>
          <p:nvPr userDrawn="1"/>
        </p:nvCxnSpPr>
        <p:spPr>
          <a:xfrm>
            <a:off x="0" y="9747178"/>
            <a:ext cx="18288000" cy="0"/>
          </a:xfrm>
          <a:prstGeom prst="straightConnector1">
            <a:avLst/>
          </a:prstGeom>
          <a:noFill/>
          <a:ln w="57150" cap="flat" cmpd="sng">
            <a:solidFill>
              <a:srgbClr val="B4D2EE"/>
            </a:solidFill>
            <a:prstDash val="solid"/>
            <a:round/>
            <a:headEnd type="none" w="med" len="med"/>
            <a:tailEnd type="none" w="med" len="med"/>
          </a:ln>
        </p:spPr>
      </p:cxnSp>
      <p:grpSp>
        <p:nvGrpSpPr>
          <p:cNvPr id="15" name="Group 14">
            <a:extLst>
              <a:ext uri="{FF2B5EF4-FFF2-40B4-BE49-F238E27FC236}">
                <a16:creationId xmlns:a16="http://schemas.microsoft.com/office/drawing/2014/main" id="{581875B3-DF70-CA97-8556-F6AB5FDA404A}"/>
              </a:ext>
            </a:extLst>
          </p:cNvPr>
          <p:cNvGrpSpPr/>
          <p:nvPr userDrawn="1"/>
        </p:nvGrpSpPr>
        <p:grpSpPr>
          <a:xfrm>
            <a:off x="182882" y="9381120"/>
            <a:ext cx="731520" cy="731520"/>
            <a:chOff x="159594" y="9449672"/>
            <a:chExt cx="731520" cy="731520"/>
          </a:xfrm>
        </p:grpSpPr>
        <p:sp>
          <p:nvSpPr>
            <p:cNvPr id="16" name="Google Shape;12;p2">
              <a:extLst>
                <a:ext uri="{FF2B5EF4-FFF2-40B4-BE49-F238E27FC236}">
                  <a16:creationId xmlns:a16="http://schemas.microsoft.com/office/drawing/2014/main" id="{91AE397C-8454-4043-7557-111964D4D6BE}"/>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141;g10a0fa76d9d_1_0">
              <a:extLst>
                <a:ext uri="{FF2B5EF4-FFF2-40B4-BE49-F238E27FC236}">
                  <a16:creationId xmlns:a16="http://schemas.microsoft.com/office/drawing/2014/main" id="{22001529-D32C-5C41-AEE8-286F89012427}"/>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
        <p:nvSpPr>
          <p:cNvPr id="10" name="Rectangle 9">
            <a:extLst>
              <a:ext uri="{FF2B5EF4-FFF2-40B4-BE49-F238E27FC236}">
                <a16:creationId xmlns:a16="http://schemas.microsoft.com/office/drawing/2014/main" id="{84B8FA44-F500-49D5-AB6F-9E2C17900F1F}"/>
              </a:ext>
            </a:extLst>
          </p:cNvPr>
          <p:cNvSpPr/>
          <p:nvPr userDrawn="1"/>
        </p:nvSpPr>
        <p:spPr>
          <a:xfrm>
            <a:off x="1" y="579636"/>
            <a:ext cx="914398" cy="587177"/>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1176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Text/Chart/Table/Multimedia">
    <p:spTree>
      <p:nvGrpSpPr>
        <p:cNvPr id="1" name=""/>
        <p:cNvGrpSpPr/>
        <p:nvPr/>
      </p:nvGrpSpPr>
      <p:grpSpPr>
        <a:xfrm>
          <a:off x="0" y="0"/>
          <a:ext cx="0" cy="0"/>
          <a:chOff x="0" y="0"/>
          <a:chExt cx="0" cy="0"/>
        </a:xfrm>
      </p:grpSpPr>
      <p:sp>
        <p:nvSpPr>
          <p:cNvPr id="8" name="Text Placeholder 20">
            <a:extLst>
              <a:ext uri="{FF2B5EF4-FFF2-40B4-BE49-F238E27FC236}">
                <a16:creationId xmlns:a16="http://schemas.microsoft.com/office/drawing/2014/main" id="{897BE64F-FC7E-438F-9029-D0ECE09CA3E5}"/>
              </a:ext>
            </a:extLst>
          </p:cNvPr>
          <p:cNvSpPr>
            <a:spLocks noGrp="1"/>
          </p:cNvSpPr>
          <p:nvPr>
            <p:ph type="body" sz="quarter" idx="21" hasCustomPrompt="1"/>
          </p:nvPr>
        </p:nvSpPr>
        <p:spPr>
          <a:xfrm>
            <a:off x="927099" y="9499970"/>
            <a:ext cx="16938855" cy="628307"/>
          </a:xfrm>
          <a:prstGeom prst="rect">
            <a:avLst/>
          </a:prstGeom>
        </p:spPr>
        <p:txBody>
          <a:bodyPr/>
          <a:lstStyle>
            <a:lvl1pPr>
              <a:defRPr sz="1800">
                <a:solidFill>
                  <a:srgbClr val="153A80"/>
                </a:solidFill>
              </a:defRPr>
            </a:lvl1pPr>
          </a:lstStyle>
          <a:p>
            <a:pPr lvl="0"/>
            <a:r>
              <a:rPr lang="en-US"/>
              <a:t>Footnote/Source/Note/</a:t>
            </a:r>
            <a:r>
              <a:rPr lang="en-US" err="1"/>
              <a:t>Etc</a:t>
            </a:r>
            <a:endParaRPr lang="en-US"/>
          </a:p>
        </p:txBody>
      </p:sp>
      <p:sp>
        <p:nvSpPr>
          <p:cNvPr id="9" name="Text Placeholder 2">
            <a:extLst>
              <a:ext uri="{FF2B5EF4-FFF2-40B4-BE49-F238E27FC236}">
                <a16:creationId xmlns:a16="http://schemas.microsoft.com/office/drawing/2014/main" id="{71EB59D8-09E8-4C60-90ED-79C9C3D96B41}"/>
              </a:ext>
            </a:extLst>
          </p:cNvPr>
          <p:cNvSpPr>
            <a:spLocks noGrp="1"/>
          </p:cNvSpPr>
          <p:nvPr>
            <p:ph type="body" sz="quarter" idx="18" hasCustomPrompt="1"/>
          </p:nvPr>
        </p:nvSpPr>
        <p:spPr>
          <a:xfrm>
            <a:off x="927100" y="384175"/>
            <a:ext cx="16939088" cy="782638"/>
          </a:xfrm>
          <a:prstGeom prst="rect">
            <a:avLst/>
          </a:prstGeom>
        </p:spPr>
        <p:txBody>
          <a:bodyPr/>
          <a:lstStyle>
            <a:lvl1pPr>
              <a:defRPr sz="5400" b="1">
                <a:solidFill>
                  <a:srgbClr val="007AAD"/>
                </a:solidFill>
              </a:defRPr>
            </a:lvl1pPr>
          </a:lstStyle>
          <a:p>
            <a:pPr lvl="0"/>
            <a:r>
              <a:rPr lang="en-US"/>
              <a:t>Main heading (Level 1 heading)</a:t>
            </a:r>
          </a:p>
        </p:txBody>
      </p:sp>
      <p:sp>
        <p:nvSpPr>
          <p:cNvPr id="4" name="Text Placeholder 3">
            <a:extLst>
              <a:ext uri="{FF2B5EF4-FFF2-40B4-BE49-F238E27FC236}">
                <a16:creationId xmlns:a16="http://schemas.microsoft.com/office/drawing/2014/main" id="{3F865D9A-A92D-4955-9D4E-C146B12C9C89}"/>
              </a:ext>
            </a:extLst>
          </p:cNvPr>
          <p:cNvSpPr>
            <a:spLocks noGrp="1"/>
          </p:cNvSpPr>
          <p:nvPr>
            <p:ph type="body" sz="quarter" idx="22" hasCustomPrompt="1"/>
          </p:nvPr>
        </p:nvSpPr>
        <p:spPr>
          <a:xfrm>
            <a:off x="927099" y="1497013"/>
            <a:ext cx="16938855" cy="519112"/>
          </a:xfrm>
          <a:prstGeom prst="rect">
            <a:avLst/>
          </a:prstGeom>
        </p:spPr>
        <p:txBody>
          <a:bodyPr/>
          <a:lstStyle>
            <a:lvl1pPr>
              <a:defRPr sz="2800" b="1">
                <a:solidFill>
                  <a:srgbClr val="153A80"/>
                </a:solidFill>
              </a:defRPr>
            </a:lvl1pPr>
          </a:lstStyle>
          <a:p>
            <a:pPr lvl="0"/>
            <a:r>
              <a:rPr lang="en-US"/>
              <a:t>Title (You can show a nice infographic/figure/table/multimedia here)</a:t>
            </a:r>
          </a:p>
        </p:txBody>
      </p:sp>
      <p:sp>
        <p:nvSpPr>
          <p:cNvPr id="22" name="Content Placeholder 4">
            <a:extLst>
              <a:ext uri="{FF2B5EF4-FFF2-40B4-BE49-F238E27FC236}">
                <a16:creationId xmlns:a16="http://schemas.microsoft.com/office/drawing/2014/main" id="{81142C6F-3E03-43FA-96F7-5F3C9D19BBE1}"/>
              </a:ext>
            </a:extLst>
          </p:cNvPr>
          <p:cNvSpPr>
            <a:spLocks noGrp="1"/>
          </p:cNvSpPr>
          <p:nvPr>
            <p:ph sz="quarter" idx="23" hasCustomPrompt="1"/>
          </p:nvPr>
        </p:nvSpPr>
        <p:spPr>
          <a:xfrm>
            <a:off x="926615" y="2016125"/>
            <a:ext cx="16939353" cy="7360103"/>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cxnSp>
        <p:nvCxnSpPr>
          <p:cNvPr id="11" name="Google Shape;11;p2">
            <a:extLst>
              <a:ext uri="{FF2B5EF4-FFF2-40B4-BE49-F238E27FC236}">
                <a16:creationId xmlns:a16="http://schemas.microsoft.com/office/drawing/2014/main" id="{FE2E823E-0B24-1703-421A-180F30FECB1F}"/>
              </a:ext>
            </a:extLst>
          </p:cNvPr>
          <p:cNvCxnSpPr>
            <a:cxnSpLocks/>
          </p:cNvCxnSpPr>
          <p:nvPr userDrawn="1"/>
        </p:nvCxnSpPr>
        <p:spPr>
          <a:xfrm>
            <a:off x="550699" y="874643"/>
            <a:ext cx="0" cy="9412357"/>
          </a:xfrm>
          <a:prstGeom prst="straightConnector1">
            <a:avLst/>
          </a:prstGeom>
          <a:noFill/>
          <a:ln w="57150" cap="flat" cmpd="sng">
            <a:solidFill>
              <a:srgbClr val="B4D2EE"/>
            </a:solidFill>
            <a:prstDash val="solid"/>
            <a:round/>
            <a:headEnd type="none" w="med" len="med"/>
            <a:tailEnd type="none" w="med" len="med"/>
          </a:ln>
        </p:spPr>
      </p:cxnSp>
      <p:grpSp>
        <p:nvGrpSpPr>
          <p:cNvPr id="13" name="Group 12">
            <a:extLst>
              <a:ext uri="{FF2B5EF4-FFF2-40B4-BE49-F238E27FC236}">
                <a16:creationId xmlns:a16="http://schemas.microsoft.com/office/drawing/2014/main" id="{DAF72C76-332D-9F53-AB80-37B149CC2921}"/>
              </a:ext>
            </a:extLst>
          </p:cNvPr>
          <p:cNvGrpSpPr/>
          <p:nvPr userDrawn="1"/>
        </p:nvGrpSpPr>
        <p:grpSpPr>
          <a:xfrm>
            <a:off x="182882" y="9381120"/>
            <a:ext cx="731520" cy="731520"/>
            <a:chOff x="159594" y="9449672"/>
            <a:chExt cx="731520" cy="731520"/>
          </a:xfrm>
        </p:grpSpPr>
        <p:sp>
          <p:nvSpPr>
            <p:cNvPr id="15" name="Google Shape;12;p2">
              <a:extLst>
                <a:ext uri="{FF2B5EF4-FFF2-40B4-BE49-F238E27FC236}">
                  <a16:creationId xmlns:a16="http://schemas.microsoft.com/office/drawing/2014/main" id="{2544729F-9509-0C4B-6D9E-3BE5A5AA7D10}"/>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141;g10a0fa76d9d_1_0">
              <a:extLst>
                <a:ext uri="{FF2B5EF4-FFF2-40B4-BE49-F238E27FC236}">
                  <a16:creationId xmlns:a16="http://schemas.microsoft.com/office/drawing/2014/main" id="{4068927B-69CB-0FB3-9485-D04DD43DD3B1}"/>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
        <p:nvSpPr>
          <p:cNvPr id="12" name="Rectangle 11">
            <a:extLst>
              <a:ext uri="{FF2B5EF4-FFF2-40B4-BE49-F238E27FC236}">
                <a16:creationId xmlns:a16="http://schemas.microsoft.com/office/drawing/2014/main" id="{51212A8A-0076-44DF-BCE2-F152D75A1D38}"/>
              </a:ext>
            </a:extLst>
          </p:cNvPr>
          <p:cNvSpPr/>
          <p:nvPr userDrawn="1"/>
        </p:nvSpPr>
        <p:spPr>
          <a:xfrm>
            <a:off x="0" y="579636"/>
            <a:ext cx="914401" cy="587177"/>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7983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Blank-slide-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7C0508A-EE47-45CF-A289-5051B796FE63}"/>
              </a:ext>
            </a:extLst>
          </p:cNvPr>
          <p:cNvSpPr/>
          <p:nvPr userDrawn="1"/>
        </p:nvSpPr>
        <p:spPr>
          <a:xfrm>
            <a:off x="0" y="579636"/>
            <a:ext cx="914401" cy="587177"/>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Google Shape;11;p2">
            <a:extLst>
              <a:ext uri="{FF2B5EF4-FFF2-40B4-BE49-F238E27FC236}">
                <a16:creationId xmlns:a16="http://schemas.microsoft.com/office/drawing/2014/main" id="{C294F093-3239-FE6E-4B81-B8DCAE1076D3}"/>
              </a:ext>
            </a:extLst>
          </p:cNvPr>
          <p:cNvCxnSpPr>
            <a:cxnSpLocks/>
          </p:cNvCxnSpPr>
          <p:nvPr userDrawn="1"/>
        </p:nvCxnSpPr>
        <p:spPr>
          <a:xfrm>
            <a:off x="0" y="9747178"/>
            <a:ext cx="18288000" cy="0"/>
          </a:xfrm>
          <a:prstGeom prst="straightConnector1">
            <a:avLst/>
          </a:prstGeom>
          <a:noFill/>
          <a:ln w="57150" cap="flat" cmpd="sng">
            <a:solidFill>
              <a:srgbClr val="B4D2EE"/>
            </a:solidFill>
            <a:prstDash val="solid"/>
            <a:round/>
            <a:headEnd type="none" w="med" len="med"/>
            <a:tailEnd type="none" w="med" len="med"/>
          </a:ln>
        </p:spPr>
      </p:cxnSp>
      <p:grpSp>
        <p:nvGrpSpPr>
          <p:cNvPr id="11" name="Group 10">
            <a:extLst>
              <a:ext uri="{FF2B5EF4-FFF2-40B4-BE49-F238E27FC236}">
                <a16:creationId xmlns:a16="http://schemas.microsoft.com/office/drawing/2014/main" id="{47386454-C6C5-72E5-6883-0B83177FFF67}"/>
              </a:ext>
            </a:extLst>
          </p:cNvPr>
          <p:cNvGrpSpPr/>
          <p:nvPr userDrawn="1"/>
        </p:nvGrpSpPr>
        <p:grpSpPr>
          <a:xfrm>
            <a:off x="182882" y="9381120"/>
            <a:ext cx="731520" cy="731520"/>
            <a:chOff x="159594" y="9449672"/>
            <a:chExt cx="731520" cy="731520"/>
          </a:xfrm>
        </p:grpSpPr>
        <p:sp>
          <p:nvSpPr>
            <p:cNvPr id="12" name="Google Shape;12;p2">
              <a:extLst>
                <a:ext uri="{FF2B5EF4-FFF2-40B4-BE49-F238E27FC236}">
                  <a16:creationId xmlns:a16="http://schemas.microsoft.com/office/drawing/2014/main" id="{0B15329E-C92B-F606-DC40-B42E3587BA56}"/>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141;g10a0fa76d9d_1_0">
              <a:extLst>
                <a:ext uri="{FF2B5EF4-FFF2-40B4-BE49-F238E27FC236}">
                  <a16:creationId xmlns:a16="http://schemas.microsoft.com/office/drawing/2014/main" id="{490E63FF-7D57-E02C-1F13-2DA7F6AF10D8}"/>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Tree>
    <p:extLst>
      <p:ext uri="{BB962C8B-B14F-4D97-AF65-F5344CB8AC3E}">
        <p14:creationId xmlns:p14="http://schemas.microsoft.com/office/powerpoint/2010/main" val="2304870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Blank-slide-2">
    <p:spTree>
      <p:nvGrpSpPr>
        <p:cNvPr id="1" name=""/>
        <p:cNvGrpSpPr/>
        <p:nvPr/>
      </p:nvGrpSpPr>
      <p:grpSpPr>
        <a:xfrm>
          <a:off x="0" y="0"/>
          <a:ext cx="0" cy="0"/>
          <a:chOff x="0" y="0"/>
          <a:chExt cx="0" cy="0"/>
        </a:xfrm>
      </p:grpSpPr>
      <p:cxnSp>
        <p:nvCxnSpPr>
          <p:cNvPr id="5" name="Google Shape;11;p2">
            <a:extLst>
              <a:ext uri="{FF2B5EF4-FFF2-40B4-BE49-F238E27FC236}">
                <a16:creationId xmlns:a16="http://schemas.microsoft.com/office/drawing/2014/main" id="{5EE0C905-91A9-539E-0AC5-9BD4E32D9ED6}"/>
              </a:ext>
            </a:extLst>
          </p:cNvPr>
          <p:cNvCxnSpPr>
            <a:cxnSpLocks/>
          </p:cNvCxnSpPr>
          <p:nvPr userDrawn="1"/>
        </p:nvCxnSpPr>
        <p:spPr>
          <a:xfrm>
            <a:off x="550699" y="874643"/>
            <a:ext cx="0" cy="9412357"/>
          </a:xfrm>
          <a:prstGeom prst="straightConnector1">
            <a:avLst/>
          </a:prstGeom>
          <a:noFill/>
          <a:ln w="57150" cap="flat" cmpd="sng">
            <a:solidFill>
              <a:srgbClr val="B4D2EE"/>
            </a:solidFill>
            <a:prstDash val="solid"/>
            <a:round/>
            <a:headEnd type="none" w="med" len="med"/>
            <a:tailEnd type="none" w="med" len="med"/>
          </a:ln>
        </p:spPr>
      </p:cxnSp>
      <p:sp>
        <p:nvSpPr>
          <p:cNvPr id="13" name="Rectangle 12">
            <a:extLst>
              <a:ext uri="{FF2B5EF4-FFF2-40B4-BE49-F238E27FC236}">
                <a16:creationId xmlns:a16="http://schemas.microsoft.com/office/drawing/2014/main" id="{D368498E-C6BD-4B16-ACA9-FEB4BF8E840D}"/>
              </a:ext>
            </a:extLst>
          </p:cNvPr>
          <p:cNvSpPr/>
          <p:nvPr userDrawn="1"/>
        </p:nvSpPr>
        <p:spPr>
          <a:xfrm>
            <a:off x="0" y="579636"/>
            <a:ext cx="914401" cy="587177"/>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76EC4E9-F8B3-6EA1-819F-588B21CC213C}"/>
              </a:ext>
            </a:extLst>
          </p:cNvPr>
          <p:cNvGrpSpPr/>
          <p:nvPr userDrawn="1"/>
        </p:nvGrpSpPr>
        <p:grpSpPr>
          <a:xfrm>
            <a:off x="182882" y="9381120"/>
            <a:ext cx="731520" cy="731520"/>
            <a:chOff x="159594" y="9449672"/>
            <a:chExt cx="731520" cy="731520"/>
          </a:xfrm>
        </p:grpSpPr>
        <p:sp>
          <p:nvSpPr>
            <p:cNvPr id="12" name="Google Shape;12;p2">
              <a:extLst>
                <a:ext uri="{FF2B5EF4-FFF2-40B4-BE49-F238E27FC236}">
                  <a16:creationId xmlns:a16="http://schemas.microsoft.com/office/drawing/2014/main" id="{A914C3BC-3063-8481-CE0E-E1653F4A1348}"/>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141;g10a0fa76d9d_1_0">
              <a:extLst>
                <a:ext uri="{FF2B5EF4-FFF2-40B4-BE49-F238E27FC236}">
                  <a16:creationId xmlns:a16="http://schemas.microsoft.com/office/drawing/2014/main" id="{508985DF-2939-6E68-8502-19F4AD48DFFC}"/>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Tree>
    <p:extLst>
      <p:ext uri="{BB962C8B-B14F-4D97-AF65-F5344CB8AC3E}">
        <p14:creationId xmlns:p14="http://schemas.microsoft.com/office/powerpoint/2010/main" val="415252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Text/Chart/Table/Multimedi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1C7843-4AEA-4FB5-AD4F-41C4DFB5422C}"/>
              </a:ext>
            </a:extLst>
          </p:cNvPr>
          <p:cNvSpPr/>
          <p:nvPr userDrawn="1"/>
        </p:nvSpPr>
        <p:spPr>
          <a:xfrm>
            <a:off x="0" y="0"/>
            <a:ext cx="18288000" cy="1509480"/>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0233CDD6-DC39-46D9-A084-181DDC13406A}"/>
              </a:ext>
            </a:extLst>
          </p:cNvPr>
          <p:cNvSpPr>
            <a:spLocks noGrp="1"/>
          </p:cNvSpPr>
          <p:nvPr>
            <p:ph type="body" sz="quarter" idx="17" hasCustomPrompt="1"/>
          </p:nvPr>
        </p:nvSpPr>
        <p:spPr>
          <a:xfrm>
            <a:off x="926616" y="384175"/>
            <a:ext cx="16883314" cy="782638"/>
          </a:xfrm>
          <a:prstGeom prst="rect">
            <a:avLst/>
          </a:prstGeom>
        </p:spPr>
        <p:txBody>
          <a:bodyPr/>
          <a:lstStyle>
            <a:lvl1pPr>
              <a:defRPr sz="5400" b="1">
                <a:solidFill>
                  <a:srgbClr val="FFFFFF"/>
                </a:solidFill>
              </a:defRPr>
            </a:lvl1pPr>
          </a:lstStyle>
          <a:p>
            <a:pPr lvl="0"/>
            <a:r>
              <a:rPr lang="en-US"/>
              <a:t>Main heading (Level 1 heading)</a:t>
            </a:r>
          </a:p>
        </p:txBody>
      </p:sp>
      <p:sp>
        <p:nvSpPr>
          <p:cNvPr id="14" name="Text Placeholder 20">
            <a:extLst>
              <a:ext uri="{FF2B5EF4-FFF2-40B4-BE49-F238E27FC236}">
                <a16:creationId xmlns:a16="http://schemas.microsoft.com/office/drawing/2014/main" id="{B5F26865-0F3C-45F7-826E-FD50974483EA}"/>
              </a:ext>
            </a:extLst>
          </p:cNvPr>
          <p:cNvSpPr>
            <a:spLocks noGrp="1"/>
          </p:cNvSpPr>
          <p:nvPr>
            <p:ph type="body" sz="quarter" idx="21" hasCustomPrompt="1"/>
          </p:nvPr>
        </p:nvSpPr>
        <p:spPr>
          <a:xfrm>
            <a:off x="927100" y="9187480"/>
            <a:ext cx="16882586" cy="518495"/>
          </a:xfrm>
          <a:prstGeom prst="rect">
            <a:avLst/>
          </a:prstGeom>
        </p:spPr>
        <p:txBody>
          <a:bodyPr/>
          <a:lstStyle>
            <a:lvl1pPr>
              <a:defRPr sz="1800">
                <a:solidFill>
                  <a:srgbClr val="153A80"/>
                </a:solidFill>
              </a:defRPr>
            </a:lvl1pPr>
          </a:lstStyle>
          <a:p>
            <a:pPr lvl="0"/>
            <a:r>
              <a:rPr lang="en-US"/>
              <a:t>Footnote/Source/Note/</a:t>
            </a:r>
            <a:r>
              <a:rPr lang="en-US" err="1"/>
              <a:t>Etc</a:t>
            </a:r>
            <a:endParaRPr lang="en-US"/>
          </a:p>
        </p:txBody>
      </p:sp>
      <p:sp>
        <p:nvSpPr>
          <p:cNvPr id="5" name="Content Placeholder 4">
            <a:extLst>
              <a:ext uri="{FF2B5EF4-FFF2-40B4-BE49-F238E27FC236}">
                <a16:creationId xmlns:a16="http://schemas.microsoft.com/office/drawing/2014/main" id="{27938B77-A90E-4EEB-A7BB-C636403CEC56}"/>
              </a:ext>
            </a:extLst>
          </p:cNvPr>
          <p:cNvSpPr>
            <a:spLocks noGrp="1"/>
          </p:cNvSpPr>
          <p:nvPr>
            <p:ph sz="quarter" idx="22" hasCustomPrompt="1"/>
          </p:nvPr>
        </p:nvSpPr>
        <p:spPr>
          <a:xfrm>
            <a:off x="926616" y="1714340"/>
            <a:ext cx="16883082" cy="7357998"/>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11" name="Rectangle 10">
            <a:extLst>
              <a:ext uri="{FF2B5EF4-FFF2-40B4-BE49-F238E27FC236}">
                <a16:creationId xmlns:a16="http://schemas.microsoft.com/office/drawing/2014/main" id="{1A714031-DA48-4B07-A8E5-18F8E1C7A1A3}"/>
              </a:ext>
            </a:extLst>
          </p:cNvPr>
          <p:cNvSpPr/>
          <p:nvPr userDrawn="1"/>
        </p:nvSpPr>
        <p:spPr>
          <a:xfrm>
            <a:off x="0" y="579636"/>
            <a:ext cx="914401" cy="587177"/>
          </a:xfrm>
          <a:prstGeom prst="rect">
            <a:avLst/>
          </a:prstGeom>
          <a:solidFill>
            <a:srgbClr val="B4D2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Google Shape;11;p2">
            <a:extLst>
              <a:ext uri="{FF2B5EF4-FFF2-40B4-BE49-F238E27FC236}">
                <a16:creationId xmlns:a16="http://schemas.microsoft.com/office/drawing/2014/main" id="{17DE4CF5-2930-5CFC-DD64-36B459624AA7}"/>
              </a:ext>
            </a:extLst>
          </p:cNvPr>
          <p:cNvCxnSpPr>
            <a:cxnSpLocks/>
          </p:cNvCxnSpPr>
          <p:nvPr userDrawn="1"/>
        </p:nvCxnSpPr>
        <p:spPr>
          <a:xfrm>
            <a:off x="0" y="9747178"/>
            <a:ext cx="18288000" cy="0"/>
          </a:xfrm>
          <a:prstGeom prst="straightConnector1">
            <a:avLst/>
          </a:prstGeom>
          <a:noFill/>
          <a:ln w="57150" cap="flat" cmpd="sng">
            <a:solidFill>
              <a:srgbClr val="B4D2EE"/>
            </a:solidFill>
            <a:prstDash val="solid"/>
            <a:round/>
            <a:headEnd type="none" w="med" len="med"/>
            <a:tailEnd type="none" w="med" len="med"/>
          </a:ln>
        </p:spPr>
      </p:cxnSp>
      <p:grpSp>
        <p:nvGrpSpPr>
          <p:cNvPr id="13" name="Group 12">
            <a:extLst>
              <a:ext uri="{FF2B5EF4-FFF2-40B4-BE49-F238E27FC236}">
                <a16:creationId xmlns:a16="http://schemas.microsoft.com/office/drawing/2014/main" id="{DC8E5709-11E6-9935-1898-63A50E9D9506}"/>
              </a:ext>
            </a:extLst>
          </p:cNvPr>
          <p:cNvGrpSpPr/>
          <p:nvPr userDrawn="1"/>
        </p:nvGrpSpPr>
        <p:grpSpPr>
          <a:xfrm>
            <a:off x="182882" y="9381120"/>
            <a:ext cx="731520" cy="731520"/>
            <a:chOff x="159594" y="9449672"/>
            <a:chExt cx="731520" cy="731520"/>
          </a:xfrm>
        </p:grpSpPr>
        <p:sp>
          <p:nvSpPr>
            <p:cNvPr id="15" name="Google Shape;12;p2">
              <a:extLst>
                <a:ext uri="{FF2B5EF4-FFF2-40B4-BE49-F238E27FC236}">
                  <a16:creationId xmlns:a16="http://schemas.microsoft.com/office/drawing/2014/main" id="{2A78D37E-EDD7-3F6B-97B5-70E068C790B1}"/>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141;g10a0fa76d9d_1_0">
              <a:extLst>
                <a:ext uri="{FF2B5EF4-FFF2-40B4-BE49-F238E27FC236}">
                  <a16:creationId xmlns:a16="http://schemas.microsoft.com/office/drawing/2014/main" id="{1F55C741-B495-3850-D7D9-61A9B3B03249}"/>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Tree>
    <p:extLst>
      <p:ext uri="{BB962C8B-B14F-4D97-AF65-F5344CB8AC3E}">
        <p14:creationId xmlns:p14="http://schemas.microsoft.com/office/powerpoint/2010/main" val="1798490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Text/Chart/Table/Multimedia">
    <p:spTree>
      <p:nvGrpSpPr>
        <p:cNvPr id="1" name=""/>
        <p:cNvGrpSpPr/>
        <p:nvPr/>
      </p:nvGrpSpPr>
      <p:grpSpPr>
        <a:xfrm>
          <a:off x="0" y="0"/>
          <a:ext cx="0" cy="0"/>
          <a:chOff x="0" y="0"/>
          <a:chExt cx="0" cy="0"/>
        </a:xfrm>
      </p:grpSpPr>
      <p:cxnSp>
        <p:nvCxnSpPr>
          <p:cNvPr id="15" name="Google Shape;11;p2">
            <a:extLst>
              <a:ext uri="{FF2B5EF4-FFF2-40B4-BE49-F238E27FC236}">
                <a16:creationId xmlns:a16="http://schemas.microsoft.com/office/drawing/2014/main" id="{51EDC9F0-2494-F99C-8D01-280090DF8635}"/>
              </a:ext>
            </a:extLst>
          </p:cNvPr>
          <p:cNvCxnSpPr>
            <a:cxnSpLocks/>
          </p:cNvCxnSpPr>
          <p:nvPr userDrawn="1"/>
        </p:nvCxnSpPr>
        <p:spPr>
          <a:xfrm>
            <a:off x="550699" y="874643"/>
            <a:ext cx="0" cy="9412357"/>
          </a:xfrm>
          <a:prstGeom prst="straightConnector1">
            <a:avLst/>
          </a:prstGeom>
          <a:noFill/>
          <a:ln w="57150" cap="flat" cmpd="sng">
            <a:solidFill>
              <a:srgbClr val="007AAD"/>
            </a:solidFill>
            <a:prstDash val="solid"/>
            <a:round/>
            <a:headEnd type="none" w="med" len="med"/>
            <a:tailEnd type="none" w="med" len="med"/>
          </a:ln>
        </p:spPr>
      </p:cxnSp>
      <p:sp>
        <p:nvSpPr>
          <p:cNvPr id="6" name="Rectangle 5">
            <a:extLst>
              <a:ext uri="{FF2B5EF4-FFF2-40B4-BE49-F238E27FC236}">
                <a16:creationId xmlns:a16="http://schemas.microsoft.com/office/drawing/2014/main" id="{CB1E19A4-4CB8-4A16-82B9-142D6886BD78}"/>
              </a:ext>
            </a:extLst>
          </p:cNvPr>
          <p:cNvSpPr/>
          <p:nvPr userDrawn="1"/>
        </p:nvSpPr>
        <p:spPr>
          <a:xfrm>
            <a:off x="0" y="-1"/>
            <a:ext cx="18288000" cy="4064003"/>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2">
            <a:extLst>
              <a:ext uri="{FF2B5EF4-FFF2-40B4-BE49-F238E27FC236}">
                <a16:creationId xmlns:a16="http://schemas.microsoft.com/office/drawing/2014/main" id="{C5D01A51-ACFF-483C-9E0A-984816B06C42}"/>
              </a:ext>
            </a:extLst>
          </p:cNvPr>
          <p:cNvSpPr>
            <a:spLocks noGrp="1"/>
          </p:cNvSpPr>
          <p:nvPr>
            <p:ph type="body" sz="quarter" idx="12" hasCustomPrompt="1"/>
          </p:nvPr>
        </p:nvSpPr>
        <p:spPr>
          <a:xfrm>
            <a:off x="927099" y="1493839"/>
            <a:ext cx="16895100" cy="2373311"/>
          </a:xfrm>
          <a:prstGeom prst="rect">
            <a:avLst/>
          </a:prstGeom>
        </p:spPr>
        <p:txBody>
          <a:bodyPr>
            <a:normAutofit/>
          </a:bodyPr>
          <a:lstStyle>
            <a:lvl1pPr marL="0" indent="0">
              <a:spcBef>
                <a:spcPts val="0"/>
              </a:spcBef>
              <a:buNone/>
              <a:tabLst/>
              <a:defRPr lang="en-US" sz="2400" kern="1200" dirty="0" smtClean="0">
                <a:solidFill>
                  <a:srgbClr val="FFFFFF"/>
                </a:solidFill>
                <a:latin typeface="+mn-lt"/>
                <a:ea typeface="+mn-ea"/>
                <a:cs typeface="+mn-cs"/>
              </a:defRPr>
            </a:lvl1pPr>
            <a:lvl2pPr marL="557213" indent="-214313">
              <a:buFont typeface="Arial" panose="020B0604020202020204" pitchFamily="34" charset="0"/>
              <a:buChar char="•"/>
              <a:defRPr lang="en-US" sz="2400" kern="1200" baseline="0" dirty="0" smtClean="0">
                <a:solidFill>
                  <a:srgbClr val="153A80"/>
                </a:solidFill>
                <a:latin typeface="+mn-lt"/>
                <a:ea typeface="+mn-ea"/>
                <a:cs typeface="+mn-cs"/>
              </a:defRPr>
            </a:lvl2pPr>
            <a:lvl3pPr>
              <a:defRPr lang="en-US" sz="2000" kern="1200" baseline="0" dirty="0" smtClean="0">
                <a:solidFill>
                  <a:srgbClr val="153A80"/>
                </a:solidFill>
                <a:latin typeface="+mn-lt"/>
                <a:ea typeface="+mn-ea"/>
                <a:cs typeface="+mn-cs"/>
              </a:defRPr>
            </a:lvl3pPr>
            <a:lvl4pPr marL="1200150" indent="-171450">
              <a:buFont typeface="Arial" panose="020B0604020202020204" pitchFamily="34" charset="0"/>
              <a:buChar char="•"/>
              <a:defRPr lang="en-US" sz="1800" kern="1200" baseline="0" dirty="0" smtClean="0">
                <a:solidFill>
                  <a:srgbClr val="153A80"/>
                </a:solidFill>
                <a:latin typeface="+mn-lt"/>
                <a:ea typeface="+mn-ea"/>
                <a:cs typeface="+mn-cs"/>
              </a:defRPr>
            </a:lvl4pPr>
            <a:lvl5pPr marL="1543050" indent="-171450">
              <a:buFont typeface="Arial" panose="020B0604020202020204" pitchFamily="34" charset="0"/>
              <a:buChar char="•"/>
              <a:defRPr lang="en-US" sz="1800" kern="1200" dirty="0" smtClean="0">
                <a:solidFill>
                  <a:srgbClr val="153A80"/>
                </a:solidFill>
                <a:latin typeface="+mn-lt"/>
                <a:ea typeface="+mn-ea"/>
                <a:cs typeface="+mn-cs"/>
              </a:defRPr>
            </a:lvl5pPr>
          </a:lstStyle>
          <a:p>
            <a:pPr lvl="0"/>
            <a:r>
              <a:rPr lang="en-US"/>
              <a:t>Body text </a:t>
            </a:r>
          </a:p>
          <a:p>
            <a:pPr lvl="0"/>
            <a:endParaRPr lang="en-GB"/>
          </a:p>
        </p:txBody>
      </p:sp>
      <p:sp>
        <p:nvSpPr>
          <p:cNvPr id="16" name="Text Placeholder 2">
            <a:extLst>
              <a:ext uri="{FF2B5EF4-FFF2-40B4-BE49-F238E27FC236}">
                <a16:creationId xmlns:a16="http://schemas.microsoft.com/office/drawing/2014/main" id="{A7694941-57E0-41F3-B7AE-36698DEA36DB}"/>
              </a:ext>
            </a:extLst>
          </p:cNvPr>
          <p:cNvSpPr>
            <a:spLocks noGrp="1"/>
          </p:cNvSpPr>
          <p:nvPr>
            <p:ph type="body" sz="quarter" idx="18" hasCustomPrompt="1"/>
          </p:nvPr>
        </p:nvSpPr>
        <p:spPr>
          <a:xfrm>
            <a:off x="927099" y="384175"/>
            <a:ext cx="16895102" cy="782638"/>
          </a:xfrm>
          <a:prstGeom prst="rect">
            <a:avLst/>
          </a:prstGeom>
        </p:spPr>
        <p:txBody>
          <a:bodyPr/>
          <a:lstStyle>
            <a:lvl1pPr>
              <a:defRPr sz="5400" b="1">
                <a:solidFill>
                  <a:srgbClr val="FFFFFF"/>
                </a:solidFill>
              </a:defRPr>
            </a:lvl1pPr>
          </a:lstStyle>
          <a:p>
            <a:pPr lvl="0"/>
            <a:r>
              <a:rPr lang="en-US"/>
              <a:t>Main heading (Level 1 heading)</a:t>
            </a:r>
          </a:p>
        </p:txBody>
      </p:sp>
      <p:sp>
        <p:nvSpPr>
          <p:cNvPr id="21" name="Text Placeholder 20">
            <a:extLst>
              <a:ext uri="{FF2B5EF4-FFF2-40B4-BE49-F238E27FC236}">
                <a16:creationId xmlns:a16="http://schemas.microsoft.com/office/drawing/2014/main" id="{618B0074-3C8C-4EB7-8F66-229893844820}"/>
              </a:ext>
            </a:extLst>
          </p:cNvPr>
          <p:cNvSpPr>
            <a:spLocks noGrp="1"/>
          </p:cNvSpPr>
          <p:nvPr>
            <p:ph type="body" sz="quarter" idx="21" hasCustomPrompt="1"/>
          </p:nvPr>
        </p:nvSpPr>
        <p:spPr>
          <a:xfrm>
            <a:off x="927099" y="9511037"/>
            <a:ext cx="16895097" cy="612404"/>
          </a:xfrm>
          <a:prstGeom prst="rect">
            <a:avLst/>
          </a:prstGeom>
        </p:spPr>
        <p:txBody>
          <a:bodyPr/>
          <a:lstStyle>
            <a:lvl1pPr>
              <a:defRPr sz="1800">
                <a:solidFill>
                  <a:srgbClr val="153A80"/>
                </a:solidFill>
              </a:defRPr>
            </a:lvl1pPr>
          </a:lstStyle>
          <a:p>
            <a:pPr lvl="0"/>
            <a:r>
              <a:rPr lang="en-US"/>
              <a:t>Footnote/Source/Note/</a:t>
            </a:r>
            <a:r>
              <a:rPr lang="en-US" err="1"/>
              <a:t>Etc</a:t>
            </a:r>
            <a:endParaRPr lang="en-US"/>
          </a:p>
        </p:txBody>
      </p:sp>
      <p:sp>
        <p:nvSpPr>
          <p:cNvPr id="25" name="Content Placeholder 4">
            <a:extLst>
              <a:ext uri="{FF2B5EF4-FFF2-40B4-BE49-F238E27FC236}">
                <a16:creationId xmlns:a16="http://schemas.microsoft.com/office/drawing/2014/main" id="{13CFE045-38B5-4866-8C86-B273330BD514}"/>
              </a:ext>
            </a:extLst>
          </p:cNvPr>
          <p:cNvSpPr>
            <a:spLocks noGrp="1"/>
          </p:cNvSpPr>
          <p:nvPr>
            <p:ph sz="quarter" idx="22" hasCustomPrompt="1"/>
          </p:nvPr>
        </p:nvSpPr>
        <p:spPr>
          <a:xfrm>
            <a:off x="927099" y="4236909"/>
            <a:ext cx="8358883" cy="5057739"/>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26" name="Content Placeholder 4">
            <a:extLst>
              <a:ext uri="{FF2B5EF4-FFF2-40B4-BE49-F238E27FC236}">
                <a16:creationId xmlns:a16="http://schemas.microsoft.com/office/drawing/2014/main" id="{DEA270BE-9B2B-40F0-91F5-76B113C49D5B}"/>
              </a:ext>
            </a:extLst>
          </p:cNvPr>
          <p:cNvSpPr>
            <a:spLocks noGrp="1"/>
          </p:cNvSpPr>
          <p:nvPr>
            <p:ph sz="quarter" idx="23" hasCustomPrompt="1"/>
          </p:nvPr>
        </p:nvSpPr>
        <p:spPr>
          <a:xfrm>
            <a:off x="9463314" y="4236909"/>
            <a:ext cx="8358883" cy="5057739"/>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13" name="Rectangle 12">
            <a:extLst>
              <a:ext uri="{FF2B5EF4-FFF2-40B4-BE49-F238E27FC236}">
                <a16:creationId xmlns:a16="http://schemas.microsoft.com/office/drawing/2014/main" id="{0E80F9A2-4760-41A0-9767-C566D8F1AED0}"/>
              </a:ext>
            </a:extLst>
          </p:cNvPr>
          <p:cNvSpPr/>
          <p:nvPr userDrawn="1"/>
        </p:nvSpPr>
        <p:spPr>
          <a:xfrm>
            <a:off x="0" y="579636"/>
            <a:ext cx="914401" cy="587177"/>
          </a:xfrm>
          <a:prstGeom prst="rect">
            <a:avLst/>
          </a:prstGeom>
          <a:solidFill>
            <a:srgbClr val="B4D2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7707FDB-7095-5A48-6188-99B6B539883D}"/>
              </a:ext>
            </a:extLst>
          </p:cNvPr>
          <p:cNvGrpSpPr/>
          <p:nvPr userDrawn="1"/>
        </p:nvGrpSpPr>
        <p:grpSpPr>
          <a:xfrm>
            <a:off x="182882" y="9381120"/>
            <a:ext cx="731520" cy="731520"/>
            <a:chOff x="159594" y="9449672"/>
            <a:chExt cx="731520" cy="731520"/>
          </a:xfrm>
        </p:grpSpPr>
        <p:sp>
          <p:nvSpPr>
            <p:cNvPr id="18" name="Google Shape;12;p2">
              <a:extLst>
                <a:ext uri="{FF2B5EF4-FFF2-40B4-BE49-F238E27FC236}">
                  <a16:creationId xmlns:a16="http://schemas.microsoft.com/office/drawing/2014/main" id="{353B33DE-25A4-2A39-81B5-F30B9D071DFA}"/>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 name="Google Shape;141;g10a0fa76d9d_1_0">
              <a:extLst>
                <a:ext uri="{FF2B5EF4-FFF2-40B4-BE49-F238E27FC236}">
                  <a16:creationId xmlns:a16="http://schemas.microsoft.com/office/drawing/2014/main" id="{49CAB290-EF40-D10D-B5D5-964FE2C0B32A}"/>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Tree>
    <p:extLst>
      <p:ext uri="{BB962C8B-B14F-4D97-AF65-F5344CB8AC3E}">
        <p14:creationId xmlns:p14="http://schemas.microsoft.com/office/powerpoint/2010/main" val="1046493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Text/Chart/Table/Multimedia">
    <p:spTree>
      <p:nvGrpSpPr>
        <p:cNvPr id="1" name=""/>
        <p:cNvGrpSpPr/>
        <p:nvPr/>
      </p:nvGrpSpPr>
      <p:grpSpPr>
        <a:xfrm>
          <a:off x="0" y="0"/>
          <a:ext cx="0" cy="0"/>
          <a:chOff x="0" y="0"/>
          <a:chExt cx="0" cy="0"/>
        </a:xfrm>
      </p:grpSpPr>
      <p:cxnSp>
        <p:nvCxnSpPr>
          <p:cNvPr id="13" name="Google Shape;11;p2">
            <a:extLst>
              <a:ext uri="{FF2B5EF4-FFF2-40B4-BE49-F238E27FC236}">
                <a16:creationId xmlns:a16="http://schemas.microsoft.com/office/drawing/2014/main" id="{FA9B0A53-FB9B-CE17-BEFD-DE282F9AA403}"/>
              </a:ext>
            </a:extLst>
          </p:cNvPr>
          <p:cNvCxnSpPr>
            <a:cxnSpLocks/>
          </p:cNvCxnSpPr>
          <p:nvPr userDrawn="1"/>
        </p:nvCxnSpPr>
        <p:spPr>
          <a:xfrm>
            <a:off x="550699" y="874643"/>
            <a:ext cx="0" cy="9412357"/>
          </a:xfrm>
          <a:prstGeom prst="straightConnector1">
            <a:avLst/>
          </a:prstGeom>
          <a:noFill/>
          <a:ln w="57150" cap="flat" cmpd="sng">
            <a:solidFill>
              <a:srgbClr val="007AAD"/>
            </a:solidFill>
            <a:prstDash val="solid"/>
            <a:round/>
            <a:headEnd type="none" w="med" len="med"/>
            <a:tailEnd type="none" w="med" len="med"/>
          </a:ln>
        </p:spPr>
      </p:cxnSp>
      <p:sp>
        <p:nvSpPr>
          <p:cNvPr id="6" name="Rectangle 5">
            <a:extLst>
              <a:ext uri="{FF2B5EF4-FFF2-40B4-BE49-F238E27FC236}">
                <a16:creationId xmlns:a16="http://schemas.microsoft.com/office/drawing/2014/main" id="{CB1E19A4-4CB8-4A16-82B9-142D6886BD78}"/>
              </a:ext>
            </a:extLst>
          </p:cNvPr>
          <p:cNvSpPr/>
          <p:nvPr userDrawn="1"/>
        </p:nvSpPr>
        <p:spPr>
          <a:xfrm>
            <a:off x="0" y="0"/>
            <a:ext cx="18288000" cy="1509480"/>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2">
            <a:extLst>
              <a:ext uri="{FF2B5EF4-FFF2-40B4-BE49-F238E27FC236}">
                <a16:creationId xmlns:a16="http://schemas.microsoft.com/office/drawing/2014/main" id="{34662EE3-4DBB-4EF1-A6F4-E17E877A1B44}"/>
              </a:ext>
            </a:extLst>
          </p:cNvPr>
          <p:cNvSpPr>
            <a:spLocks noGrp="1"/>
          </p:cNvSpPr>
          <p:nvPr>
            <p:ph type="body" sz="quarter" idx="18" hasCustomPrompt="1"/>
          </p:nvPr>
        </p:nvSpPr>
        <p:spPr>
          <a:xfrm>
            <a:off x="927100" y="384175"/>
            <a:ext cx="16895104" cy="782638"/>
          </a:xfrm>
          <a:prstGeom prst="rect">
            <a:avLst/>
          </a:prstGeom>
        </p:spPr>
        <p:txBody>
          <a:bodyPr/>
          <a:lstStyle>
            <a:lvl1pPr>
              <a:defRPr sz="5400" b="1">
                <a:solidFill>
                  <a:srgbClr val="FFFFFF"/>
                </a:solidFill>
              </a:defRPr>
            </a:lvl1pPr>
          </a:lstStyle>
          <a:p>
            <a:pPr lvl="0"/>
            <a:r>
              <a:rPr lang="en-US"/>
              <a:t>Main heading (Level 1 heading)</a:t>
            </a:r>
          </a:p>
        </p:txBody>
      </p:sp>
      <p:sp>
        <p:nvSpPr>
          <p:cNvPr id="17" name="Text Placeholder 20">
            <a:extLst>
              <a:ext uri="{FF2B5EF4-FFF2-40B4-BE49-F238E27FC236}">
                <a16:creationId xmlns:a16="http://schemas.microsoft.com/office/drawing/2014/main" id="{8CF53DBF-AEC8-4B2E-81F4-17EC6F2BF996}"/>
              </a:ext>
            </a:extLst>
          </p:cNvPr>
          <p:cNvSpPr>
            <a:spLocks noGrp="1"/>
          </p:cNvSpPr>
          <p:nvPr>
            <p:ph type="body" sz="quarter" idx="21" hasCustomPrompt="1"/>
          </p:nvPr>
        </p:nvSpPr>
        <p:spPr>
          <a:xfrm>
            <a:off x="927100" y="9515874"/>
            <a:ext cx="16895102" cy="612404"/>
          </a:xfrm>
          <a:prstGeom prst="rect">
            <a:avLst/>
          </a:prstGeom>
        </p:spPr>
        <p:txBody>
          <a:bodyPr/>
          <a:lstStyle>
            <a:lvl1pPr>
              <a:defRPr sz="1800">
                <a:solidFill>
                  <a:srgbClr val="153A80"/>
                </a:solidFill>
              </a:defRPr>
            </a:lvl1pPr>
          </a:lstStyle>
          <a:p>
            <a:pPr lvl="0"/>
            <a:r>
              <a:rPr lang="en-US"/>
              <a:t>Footnote/Source/Note/</a:t>
            </a:r>
            <a:r>
              <a:rPr lang="en-US" err="1"/>
              <a:t>Etc</a:t>
            </a:r>
            <a:endParaRPr lang="en-US"/>
          </a:p>
          <a:p>
            <a:pPr lvl="0"/>
            <a:endParaRPr lang="en-US"/>
          </a:p>
        </p:txBody>
      </p:sp>
      <p:sp>
        <p:nvSpPr>
          <p:cNvPr id="20" name="Content Placeholder 4">
            <a:extLst>
              <a:ext uri="{FF2B5EF4-FFF2-40B4-BE49-F238E27FC236}">
                <a16:creationId xmlns:a16="http://schemas.microsoft.com/office/drawing/2014/main" id="{491B39AF-CF93-406D-A47D-A2C9573E47A8}"/>
              </a:ext>
            </a:extLst>
          </p:cNvPr>
          <p:cNvSpPr>
            <a:spLocks noGrp="1"/>
          </p:cNvSpPr>
          <p:nvPr>
            <p:ph sz="quarter" idx="22" hasCustomPrompt="1"/>
          </p:nvPr>
        </p:nvSpPr>
        <p:spPr>
          <a:xfrm>
            <a:off x="927098" y="1683335"/>
            <a:ext cx="8315375" cy="7660386"/>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33" name="Content Placeholder 4">
            <a:extLst>
              <a:ext uri="{FF2B5EF4-FFF2-40B4-BE49-F238E27FC236}">
                <a16:creationId xmlns:a16="http://schemas.microsoft.com/office/drawing/2014/main" id="{185456A0-6D5E-4280-97BD-7F70C7E5D96B}"/>
              </a:ext>
            </a:extLst>
          </p:cNvPr>
          <p:cNvSpPr>
            <a:spLocks noGrp="1"/>
          </p:cNvSpPr>
          <p:nvPr>
            <p:ph sz="quarter" idx="23" hasCustomPrompt="1"/>
          </p:nvPr>
        </p:nvSpPr>
        <p:spPr>
          <a:xfrm>
            <a:off x="9506827" y="1692127"/>
            <a:ext cx="8315375" cy="7660386"/>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12" name="Rectangle 11">
            <a:extLst>
              <a:ext uri="{FF2B5EF4-FFF2-40B4-BE49-F238E27FC236}">
                <a16:creationId xmlns:a16="http://schemas.microsoft.com/office/drawing/2014/main" id="{B9CB43D2-5A96-4448-9B18-A4A0285C7739}"/>
              </a:ext>
            </a:extLst>
          </p:cNvPr>
          <p:cNvSpPr/>
          <p:nvPr userDrawn="1"/>
        </p:nvSpPr>
        <p:spPr>
          <a:xfrm>
            <a:off x="0" y="579636"/>
            <a:ext cx="914401" cy="587177"/>
          </a:xfrm>
          <a:prstGeom prst="rect">
            <a:avLst/>
          </a:prstGeom>
          <a:solidFill>
            <a:srgbClr val="B4D2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FF1EC4E0-3501-235E-F6A4-B3A05D1D793E}"/>
              </a:ext>
            </a:extLst>
          </p:cNvPr>
          <p:cNvGrpSpPr/>
          <p:nvPr userDrawn="1"/>
        </p:nvGrpSpPr>
        <p:grpSpPr>
          <a:xfrm>
            <a:off x="182882" y="9381120"/>
            <a:ext cx="731520" cy="731520"/>
            <a:chOff x="159594" y="9449672"/>
            <a:chExt cx="731520" cy="731520"/>
          </a:xfrm>
        </p:grpSpPr>
        <p:sp>
          <p:nvSpPr>
            <p:cNvPr id="16" name="Google Shape;12;p2">
              <a:extLst>
                <a:ext uri="{FF2B5EF4-FFF2-40B4-BE49-F238E27FC236}">
                  <a16:creationId xmlns:a16="http://schemas.microsoft.com/office/drawing/2014/main" id="{233D9EE6-99F4-4CCF-96E6-601C9B64151C}"/>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41;g10a0fa76d9d_1_0">
              <a:extLst>
                <a:ext uri="{FF2B5EF4-FFF2-40B4-BE49-F238E27FC236}">
                  <a16:creationId xmlns:a16="http://schemas.microsoft.com/office/drawing/2014/main" id="{190D8862-AA4A-5377-4FE0-AD7A9A11BBE5}"/>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Tree>
    <p:extLst>
      <p:ext uri="{BB962C8B-B14F-4D97-AF65-F5344CB8AC3E}">
        <p14:creationId xmlns:p14="http://schemas.microsoft.com/office/powerpoint/2010/main" val="3897350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Text/Chart/Table/Multimedia">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1E19A4-4CB8-4A16-82B9-142D6886BD78}"/>
              </a:ext>
            </a:extLst>
          </p:cNvPr>
          <p:cNvSpPr/>
          <p:nvPr userDrawn="1"/>
        </p:nvSpPr>
        <p:spPr>
          <a:xfrm flipV="1">
            <a:off x="0" y="1509480"/>
            <a:ext cx="18288000" cy="8777520"/>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20">
            <a:extLst>
              <a:ext uri="{FF2B5EF4-FFF2-40B4-BE49-F238E27FC236}">
                <a16:creationId xmlns:a16="http://schemas.microsoft.com/office/drawing/2014/main" id="{43761297-EBE8-4E79-B740-8AA3A84136E9}"/>
              </a:ext>
            </a:extLst>
          </p:cNvPr>
          <p:cNvSpPr>
            <a:spLocks noGrp="1"/>
          </p:cNvSpPr>
          <p:nvPr>
            <p:ph type="body" sz="quarter" idx="21" hasCustomPrompt="1"/>
          </p:nvPr>
        </p:nvSpPr>
        <p:spPr>
          <a:xfrm>
            <a:off x="927100" y="9515874"/>
            <a:ext cx="16895104" cy="612404"/>
          </a:xfrm>
          <a:prstGeom prst="rect">
            <a:avLst/>
          </a:prstGeom>
        </p:spPr>
        <p:txBody>
          <a:bodyPr/>
          <a:lstStyle>
            <a:lvl1pPr>
              <a:defRPr sz="1800">
                <a:solidFill>
                  <a:srgbClr val="FFFFFF"/>
                </a:solidFill>
              </a:defRPr>
            </a:lvl1pPr>
          </a:lstStyle>
          <a:p>
            <a:pPr lvl="0"/>
            <a:r>
              <a:rPr lang="en-US"/>
              <a:t>Footnote/Source/Note/</a:t>
            </a:r>
            <a:r>
              <a:rPr lang="en-US" err="1"/>
              <a:t>Etc</a:t>
            </a:r>
            <a:endParaRPr lang="en-US"/>
          </a:p>
        </p:txBody>
      </p:sp>
      <p:sp>
        <p:nvSpPr>
          <p:cNvPr id="15" name="Text Placeholder 2">
            <a:extLst>
              <a:ext uri="{FF2B5EF4-FFF2-40B4-BE49-F238E27FC236}">
                <a16:creationId xmlns:a16="http://schemas.microsoft.com/office/drawing/2014/main" id="{7726C0BA-75B9-4B38-87E1-30EA1527D853}"/>
              </a:ext>
            </a:extLst>
          </p:cNvPr>
          <p:cNvSpPr>
            <a:spLocks noGrp="1"/>
          </p:cNvSpPr>
          <p:nvPr>
            <p:ph type="body" sz="quarter" idx="22" hasCustomPrompt="1"/>
          </p:nvPr>
        </p:nvSpPr>
        <p:spPr>
          <a:xfrm>
            <a:off x="914399" y="384175"/>
            <a:ext cx="16907801" cy="782638"/>
          </a:xfrm>
          <a:prstGeom prst="rect">
            <a:avLst/>
          </a:prstGeom>
        </p:spPr>
        <p:txBody>
          <a:bodyPr/>
          <a:lstStyle>
            <a:lvl1pPr>
              <a:defRPr sz="5400" b="1">
                <a:solidFill>
                  <a:srgbClr val="007AAD"/>
                </a:solidFill>
              </a:defRPr>
            </a:lvl1pPr>
          </a:lstStyle>
          <a:p>
            <a:pPr lvl="0"/>
            <a:r>
              <a:rPr lang="en-US"/>
              <a:t>Main heading (Level 1 heading)</a:t>
            </a:r>
          </a:p>
        </p:txBody>
      </p:sp>
      <p:sp>
        <p:nvSpPr>
          <p:cNvPr id="38" name="Content Placeholder 4">
            <a:extLst>
              <a:ext uri="{FF2B5EF4-FFF2-40B4-BE49-F238E27FC236}">
                <a16:creationId xmlns:a16="http://schemas.microsoft.com/office/drawing/2014/main" id="{8A6EB366-0F21-4209-BB36-EDBC8A48C245}"/>
              </a:ext>
            </a:extLst>
          </p:cNvPr>
          <p:cNvSpPr>
            <a:spLocks noGrp="1"/>
          </p:cNvSpPr>
          <p:nvPr>
            <p:ph sz="quarter" idx="23" hasCustomPrompt="1"/>
          </p:nvPr>
        </p:nvSpPr>
        <p:spPr>
          <a:xfrm>
            <a:off x="927098" y="1683335"/>
            <a:ext cx="8315375" cy="7660386"/>
          </a:xfrm>
          <a:prstGeom prst="rect">
            <a:avLst/>
          </a:prstGeom>
        </p:spPr>
        <p:txBody>
          <a:bodyPr/>
          <a:lstStyle>
            <a:lvl1pPr marL="857250" indent="-857250">
              <a:buClr>
                <a:srgbClr val="153A80"/>
              </a:buClr>
              <a:buFont typeface="Arial" panose="020B0604020202020204" pitchFamily="34" charset="0"/>
              <a:buChar char="●"/>
              <a:defRPr sz="4400" b="1">
                <a:solidFill>
                  <a:srgbClr val="FFFFFF"/>
                </a:solidFill>
              </a:defRPr>
            </a:lvl1pPr>
            <a:lvl2pPr marL="1709738" indent="-862013">
              <a:buClr>
                <a:srgbClr val="153A80"/>
              </a:buClr>
              <a:buFont typeface="Arial" panose="020B0604020202020204" pitchFamily="34" charset="0"/>
              <a:buChar char="○"/>
              <a:defRPr sz="3600" b="1">
                <a:solidFill>
                  <a:srgbClr val="FFFFFF"/>
                </a:solidFill>
              </a:defRPr>
            </a:lvl2pPr>
            <a:lvl3pPr marL="2570163" indent="-862013">
              <a:buClr>
                <a:srgbClr val="153A80"/>
              </a:buClr>
              <a:buFont typeface="Arial" panose="020B0604020202020204" pitchFamily="34" charset="0"/>
              <a:buChar char="■"/>
              <a:defRPr sz="2800" b="1">
                <a:solidFill>
                  <a:srgbClr val="FFFFFF"/>
                </a:solidFill>
              </a:defRPr>
            </a:lvl3pPr>
            <a:lvl4pPr marL="3432175" indent="-862013">
              <a:buClr>
                <a:srgbClr val="153A80"/>
              </a:buClr>
              <a:buFont typeface="Arial" panose="020B0604020202020204" pitchFamily="34" charset="0"/>
              <a:buChar char="□"/>
              <a:tabLst>
                <a:tab pos="3365500" algn="l"/>
              </a:tabLst>
              <a:defRPr sz="2400">
                <a:solidFill>
                  <a:srgbClr val="FFFFFF"/>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39" name="Content Placeholder 4">
            <a:extLst>
              <a:ext uri="{FF2B5EF4-FFF2-40B4-BE49-F238E27FC236}">
                <a16:creationId xmlns:a16="http://schemas.microsoft.com/office/drawing/2014/main" id="{8A481FE5-A4AF-4895-8886-902EE3275DE7}"/>
              </a:ext>
            </a:extLst>
          </p:cNvPr>
          <p:cNvSpPr>
            <a:spLocks noGrp="1"/>
          </p:cNvSpPr>
          <p:nvPr>
            <p:ph sz="quarter" idx="24" hasCustomPrompt="1"/>
          </p:nvPr>
        </p:nvSpPr>
        <p:spPr>
          <a:xfrm>
            <a:off x="9506827" y="1692127"/>
            <a:ext cx="8315375" cy="7660386"/>
          </a:xfrm>
          <a:prstGeom prst="rect">
            <a:avLst/>
          </a:prstGeom>
        </p:spPr>
        <p:txBody>
          <a:bodyPr/>
          <a:lstStyle>
            <a:lvl1pPr marL="857250" indent="-857250">
              <a:buClr>
                <a:srgbClr val="153A80"/>
              </a:buClr>
              <a:buFont typeface="Arial" panose="020B0604020202020204" pitchFamily="34" charset="0"/>
              <a:buChar char="●"/>
              <a:defRPr sz="4400" b="1">
                <a:solidFill>
                  <a:srgbClr val="FFFFFF"/>
                </a:solidFill>
              </a:defRPr>
            </a:lvl1pPr>
            <a:lvl2pPr marL="1709738" indent="-862013">
              <a:buClr>
                <a:srgbClr val="153A80"/>
              </a:buClr>
              <a:buFont typeface="Arial" panose="020B0604020202020204" pitchFamily="34" charset="0"/>
              <a:buChar char="○"/>
              <a:defRPr sz="3600" b="1">
                <a:solidFill>
                  <a:srgbClr val="FFFFFF"/>
                </a:solidFill>
              </a:defRPr>
            </a:lvl2pPr>
            <a:lvl3pPr marL="2570163" indent="-862013">
              <a:buClr>
                <a:srgbClr val="153A80"/>
              </a:buClr>
              <a:buFont typeface="Arial" panose="020B0604020202020204" pitchFamily="34" charset="0"/>
              <a:buChar char="■"/>
              <a:defRPr sz="2800" b="1">
                <a:solidFill>
                  <a:srgbClr val="FFFFFF"/>
                </a:solidFill>
              </a:defRPr>
            </a:lvl3pPr>
            <a:lvl4pPr marL="3432175" indent="-862013">
              <a:buClr>
                <a:srgbClr val="153A80"/>
              </a:buClr>
              <a:buFont typeface="Arial" panose="020B0604020202020204" pitchFamily="34" charset="0"/>
              <a:buChar char="□"/>
              <a:tabLst>
                <a:tab pos="3365500" algn="l"/>
              </a:tabLst>
              <a:defRPr sz="2400">
                <a:solidFill>
                  <a:srgbClr val="FFFFFF"/>
                </a:solidFill>
              </a:defRPr>
            </a:lvl4pPr>
          </a:lstStyle>
          <a:p>
            <a:pPr lvl="0"/>
            <a:r>
              <a:rPr lang="en-US"/>
              <a:t>Second level</a:t>
            </a:r>
          </a:p>
          <a:p>
            <a:pPr lvl="1"/>
            <a:r>
              <a:rPr lang="en-US"/>
              <a:t>Third level </a:t>
            </a:r>
          </a:p>
          <a:p>
            <a:pPr lvl="2"/>
            <a:r>
              <a:rPr lang="en-US"/>
              <a:t>Fourth level</a:t>
            </a:r>
          </a:p>
          <a:p>
            <a:pPr lvl="3"/>
            <a:r>
              <a:rPr lang="en-US"/>
              <a:t>Body text</a:t>
            </a:r>
          </a:p>
        </p:txBody>
      </p:sp>
      <p:cxnSp>
        <p:nvCxnSpPr>
          <p:cNvPr id="13" name="Google Shape;11;p2">
            <a:extLst>
              <a:ext uri="{FF2B5EF4-FFF2-40B4-BE49-F238E27FC236}">
                <a16:creationId xmlns:a16="http://schemas.microsoft.com/office/drawing/2014/main" id="{5334DAEF-2CFE-58C3-6DDE-25CE9918F8BD}"/>
              </a:ext>
            </a:extLst>
          </p:cNvPr>
          <p:cNvCxnSpPr>
            <a:cxnSpLocks/>
          </p:cNvCxnSpPr>
          <p:nvPr userDrawn="1"/>
        </p:nvCxnSpPr>
        <p:spPr>
          <a:xfrm>
            <a:off x="550699" y="874643"/>
            <a:ext cx="0" cy="9412357"/>
          </a:xfrm>
          <a:prstGeom prst="straightConnector1">
            <a:avLst/>
          </a:prstGeom>
          <a:noFill/>
          <a:ln w="57150" cap="flat" cmpd="sng">
            <a:solidFill>
              <a:srgbClr val="B4D2EE"/>
            </a:solidFill>
            <a:prstDash val="solid"/>
            <a:round/>
            <a:headEnd type="none" w="med" len="med"/>
            <a:tailEnd type="none" w="med" len="med"/>
          </a:ln>
        </p:spPr>
      </p:cxnSp>
      <p:grpSp>
        <p:nvGrpSpPr>
          <p:cNvPr id="16" name="Group 15">
            <a:extLst>
              <a:ext uri="{FF2B5EF4-FFF2-40B4-BE49-F238E27FC236}">
                <a16:creationId xmlns:a16="http://schemas.microsoft.com/office/drawing/2014/main" id="{9A4E7941-7C68-DB6B-B321-128220DE3157}"/>
              </a:ext>
            </a:extLst>
          </p:cNvPr>
          <p:cNvGrpSpPr/>
          <p:nvPr userDrawn="1"/>
        </p:nvGrpSpPr>
        <p:grpSpPr>
          <a:xfrm>
            <a:off x="182882" y="9381120"/>
            <a:ext cx="731520" cy="731520"/>
            <a:chOff x="159594" y="9449672"/>
            <a:chExt cx="731520" cy="731520"/>
          </a:xfrm>
        </p:grpSpPr>
        <p:sp>
          <p:nvSpPr>
            <p:cNvPr id="17" name="Google Shape;12;p2">
              <a:extLst>
                <a:ext uri="{FF2B5EF4-FFF2-40B4-BE49-F238E27FC236}">
                  <a16:creationId xmlns:a16="http://schemas.microsoft.com/office/drawing/2014/main" id="{4B4BFB37-AAB7-E29E-DF74-CC120EA594F6}"/>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41;g10a0fa76d9d_1_0">
              <a:extLst>
                <a:ext uri="{FF2B5EF4-FFF2-40B4-BE49-F238E27FC236}">
                  <a16:creationId xmlns:a16="http://schemas.microsoft.com/office/drawing/2014/main" id="{FFC26F60-0573-6905-4EE7-5F3B257BB820}"/>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
        <p:nvSpPr>
          <p:cNvPr id="12" name="Rectangle 11">
            <a:extLst>
              <a:ext uri="{FF2B5EF4-FFF2-40B4-BE49-F238E27FC236}">
                <a16:creationId xmlns:a16="http://schemas.microsoft.com/office/drawing/2014/main" id="{DBC02EFB-2421-4492-8D3E-FF53EE414DB1}"/>
              </a:ext>
            </a:extLst>
          </p:cNvPr>
          <p:cNvSpPr/>
          <p:nvPr userDrawn="1"/>
        </p:nvSpPr>
        <p:spPr>
          <a:xfrm>
            <a:off x="1" y="579636"/>
            <a:ext cx="914398" cy="587177"/>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27103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Text/Chart/Table/Multimedia">
    <p:spTree>
      <p:nvGrpSpPr>
        <p:cNvPr id="1" name=""/>
        <p:cNvGrpSpPr/>
        <p:nvPr/>
      </p:nvGrpSpPr>
      <p:grpSpPr>
        <a:xfrm>
          <a:off x="0" y="0"/>
          <a:ext cx="0" cy="0"/>
          <a:chOff x="0" y="0"/>
          <a:chExt cx="0" cy="0"/>
        </a:xfrm>
      </p:grpSpPr>
      <p:sp>
        <p:nvSpPr>
          <p:cNvPr id="34" name="Google Shape;1456;gf2e797d000_0_971">
            <a:extLst>
              <a:ext uri="{FF2B5EF4-FFF2-40B4-BE49-F238E27FC236}">
                <a16:creationId xmlns:a16="http://schemas.microsoft.com/office/drawing/2014/main" id="{2586B778-3F51-426D-A65E-22FA25FD12B7}"/>
              </a:ext>
            </a:extLst>
          </p:cNvPr>
          <p:cNvSpPr/>
          <p:nvPr userDrawn="1"/>
        </p:nvSpPr>
        <p:spPr>
          <a:xfrm>
            <a:off x="9144000" y="0"/>
            <a:ext cx="9144000" cy="10287000"/>
          </a:xfrm>
          <a:prstGeom prst="rect">
            <a:avLst/>
          </a:prstGeom>
          <a:solidFill>
            <a:srgbClr val="B4D2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Text Placeholder 2">
            <a:extLst>
              <a:ext uri="{FF2B5EF4-FFF2-40B4-BE49-F238E27FC236}">
                <a16:creationId xmlns:a16="http://schemas.microsoft.com/office/drawing/2014/main" id="{7096D225-A513-453F-ADF4-83C17FFF3361}"/>
              </a:ext>
            </a:extLst>
          </p:cNvPr>
          <p:cNvSpPr>
            <a:spLocks noGrp="1"/>
          </p:cNvSpPr>
          <p:nvPr>
            <p:ph type="body" sz="quarter" idx="19" hasCustomPrompt="1"/>
          </p:nvPr>
        </p:nvSpPr>
        <p:spPr>
          <a:xfrm>
            <a:off x="10065657" y="384174"/>
            <a:ext cx="7757786" cy="782638"/>
          </a:xfrm>
          <a:prstGeom prst="rect">
            <a:avLst/>
          </a:prstGeom>
        </p:spPr>
        <p:txBody>
          <a:bodyPr/>
          <a:lstStyle>
            <a:lvl1pPr>
              <a:defRPr sz="5400" b="1">
                <a:solidFill>
                  <a:srgbClr val="007AAD"/>
                </a:solidFill>
              </a:defRPr>
            </a:lvl1pPr>
          </a:lstStyle>
          <a:p>
            <a:pPr lvl="0"/>
            <a:r>
              <a:rPr lang="en-US"/>
              <a:t>Main heading</a:t>
            </a:r>
          </a:p>
        </p:txBody>
      </p:sp>
      <p:sp>
        <p:nvSpPr>
          <p:cNvPr id="23" name="Content Placeholder 4">
            <a:extLst>
              <a:ext uri="{FF2B5EF4-FFF2-40B4-BE49-F238E27FC236}">
                <a16:creationId xmlns:a16="http://schemas.microsoft.com/office/drawing/2014/main" id="{8204D32D-C9E5-4CAB-A116-74853256048E}"/>
              </a:ext>
            </a:extLst>
          </p:cNvPr>
          <p:cNvSpPr>
            <a:spLocks noGrp="1"/>
          </p:cNvSpPr>
          <p:nvPr>
            <p:ph sz="quarter" idx="26" hasCustomPrompt="1"/>
          </p:nvPr>
        </p:nvSpPr>
        <p:spPr>
          <a:xfrm>
            <a:off x="10065657" y="1499383"/>
            <a:ext cx="7757783" cy="8019907"/>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11" name="Text Placeholder 2">
            <a:extLst>
              <a:ext uri="{FF2B5EF4-FFF2-40B4-BE49-F238E27FC236}">
                <a16:creationId xmlns:a16="http://schemas.microsoft.com/office/drawing/2014/main" id="{4867B0CA-27DC-6BC9-6B78-A0E78E9AC8D5}"/>
              </a:ext>
            </a:extLst>
          </p:cNvPr>
          <p:cNvSpPr>
            <a:spLocks noGrp="1"/>
          </p:cNvSpPr>
          <p:nvPr>
            <p:ph type="body" sz="quarter" idx="18" hasCustomPrompt="1"/>
          </p:nvPr>
        </p:nvSpPr>
        <p:spPr>
          <a:xfrm>
            <a:off x="914401" y="384175"/>
            <a:ext cx="7765142" cy="782638"/>
          </a:xfrm>
          <a:prstGeom prst="rect">
            <a:avLst/>
          </a:prstGeom>
        </p:spPr>
        <p:txBody>
          <a:bodyPr/>
          <a:lstStyle>
            <a:lvl1pPr>
              <a:defRPr sz="5400" b="1">
                <a:solidFill>
                  <a:srgbClr val="007AAD"/>
                </a:solidFill>
              </a:defRPr>
            </a:lvl1pPr>
          </a:lstStyle>
          <a:p>
            <a:pPr lvl="0"/>
            <a:r>
              <a:rPr lang="en-US"/>
              <a:t>Main heading</a:t>
            </a:r>
          </a:p>
        </p:txBody>
      </p:sp>
      <p:sp>
        <p:nvSpPr>
          <p:cNvPr id="12" name="Content Placeholder 4">
            <a:extLst>
              <a:ext uri="{FF2B5EF4-FFF2-40B4-BE49-F238E27FC236}">
                <a16:creationId xmlns:a16="http://schemas.microsoft.com/office/drawing/2014/main" id="{95D7148D-6F97-CD82-728C-EE9AB977B54F}"/>
              </a:ext>
            </a:extLst>
          </p:cNvPr>
          <p:cNvSpPr>
            <a:spLocks noGrp="1"/>
          </p:cNvSpPr>
          <p:nvPr>
            <p:ph sz="quarter" idx="22" hasCustomPrompt="1"/>
          </p:nvPr>
        </p:nvSpPr>
        <p:spPr>
          <a:xfrm>
            <a:off x="927099" y="1478139"/>
            <a:ext cx="7752443" cy="8035815"/>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cxnSp>
        <p:nvCxnSpPr>
          <p:cNvPr id="14" name="Google Shape;11;p2">
            <a:extLst>
              <a:ext uri="{FF2B5EF4-FFF2-40B4-BE49-F238E27FC236}">
                <a16:creationId xmlns:a16="http://schemas.microsoft.com/office/drawing/2014/main" id="{F2AC7F68-9239-C9E8-C1BC-BCE2A58EF881}"/>
              </a:ext>
            </a:extLst>
          </p:cNvPr>
          <p:cNvCxnSpPr>
            <a:cxnSpLocks/>
          </p:cNvCxnSpPr>
          <p:nvPr userDrawn="1"/>
        </p:nvCxnSpPr>
        <p:spPr>
          <a:xfrm>
            <a:off x="0" y="9747178"/>
            <a:ext cx="18288000" cy="0"/>
          </a:xfrm>
          <a:prstGeom prst="straightConnector1">
            <a:avLst/>
          </a:prstGeom>
          <a:noFill/>
          <a:ln w="57150" cap="flat" cmpd="sng">
            <a:solidFill>
              <a:srgbClr val="153A80"/>
            </a:solidFill>
            <a:prstDash val="solid"/>
            <a:round/>
            <a:headEnd type="none" w="med" len="med"/>
            <a:tailEnd type="none" w="med" len="med"/>
          </a:ln>
        </p:spPr>
      </p:cxnSp>
      <p:grpSp>
        <p:nvGrpSpPr>
          <p:cNvPr id="16" name="Group 15">
            <a:extLst>
              <a:ext uri="{FF2B5EF4-FFF2-40B4-BE49-F238E27FC236}">
                <a16:creationId xmlns:a16="http://schemas.microsoft.com/office/drawing/2014/main" id="{C6E3EDE2-83F0-C52E-E0AC-50473487CD2B}"/>
              </a:ext>
            </a:extLst>
          </p:cNvPr>
          <p:cNvGrpSpPr/>
          <p:nvPr userDrawn="1"/>
        </p:nvGrpSpPr>
        <p:grpSpPr>
          <a:xfrm>
            <a:off x="8778239" y="9381418"/>
            <a:ext cx="731520" cy="731520"/>
            <a:chOff x="159594" y="9449672"/>
            <a:chExt cx="731520" cy="731520"/>
          </a:xfrm>
          <a:solidFill>
            <a:srgbClr val="007AAD"/>
          </a:solidFill>
        </p:grpSpPr>
        <p:sp>
          <p:nvSpPr>
            <p:cNvPr id="17" name="Google Shape;12;p2">
              <a:extLst>
                <a:ext uri="{FF2B5EF4-FFF2-40B4-BE49-F238E27FC236}">
                  <a16:creationId xmlns:a16="http://schemas.microsoft.com/office/drawing/2014/main" id="{9DF2A2AB-51B0-C969-2EA0-2D1C568A8F25}"/>
                </a:ext>
              </a:extLst>
            </p:cNvPr>
            <p:cNvSpPr/>
            <p:nvPr userDrawn="1"/>
          </p:nvSpPr>
          <p:spPr>
            <a:xfrm>
              <a:off x="159594" y="9449672"/>
              <a:ext cx="731520" cy="73152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Google Shape;141;g10a0fa76d9d_1_0">
              <a:extLst>
                <a:ext uri="{FF2B5EF4-FFF2-40B4-BE49-F238E27FC236}">
                  <a16:creationId xmlns:a16="http://schemas.microsoft.com/office/drawing/2014/main" id="{F0DC7F0A-5A71-6A49-644A-37A61C0D3D33}"/>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grpFill/>
            <a:ln>
              <a:noFill/>
            </a:ln>
          </p:spPr>
        </p:pic>
      </p:grpSp>
    </p:spTree>
    <p:extLst>
      <p:ext uri="{BB962C8B-B14F-4D97-AF65-F5344CB8AC3E}">
        <p14:creationId xmlns:p14="http://schemas.microsoft.com/office/powerpoint/2010/main" val="36452139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Text/Chart/Table/Multimedia">
    <p:spTree>
      <p:nvGrpSpPr>
        <p:cNvPr id="1" name=""/>
        <p:cNvGrpSpPr/>
        <p:nvPr/>
      </p:nvGrpSpPr>
      <p:grpSpPr>
        <a:xfrm>
          <a:off x="0" y="0"/>
          <a:ext cx="0" cy="0"/>
          <a:chOff x="0" y="0"/>
          <a:chExt cx="0" cy="0"/>
        </a:xfrm>
      </p:grpSpPr>
      <p:sp>
        <p:nvSpPr>
          <p:cNvPr id="7" name="Google Shape;1456;gf2e797d000_0_971">
            <a:extLst>
              <a:ext uri="{FF2B5EF4-FFF2-40B4-BE49-F238E27FC236}">
                <a16:creationId xmlns:a16="http://schemas.microsoft.com/office/drawing/2014/main" id="{2A4AC6EC-010E-4154-BE9F-237ABB9DB41C}"/>
              </a:ext>
            </a:extLst>
          </p:cNvPr>
          <p:cNvSpPr/>
          <p:nvPr userDrawn="1"/>
        </p:nvSpPr>
        <p:spPr>
          <a:xfrm>
            <a:off x="0" y="0"/>
            <a:ext cx="9144000" cy="10306146"/>
          </a:xfrm>
          <a:prstGeom prst="rect">
            <a:avLst/>
          </a:prstGeom>
          <a:solidFill>
            <a:srgbClr val="B4D2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1457;gf2e797d000_0_971">
            <a:extLst>
              <a:ext uri="{FF2B5EF4-FFF2-40B4-BE49-F238E27FC236}">
                <a16:creationId xmlns:a16="http://schemas.microsoft.com/office/drawing/2014/main" id="{31676F8E-0331-48C9-BCAA-26F6956CC4B3}"/>
              </a:ext>
            </a:extLst>
          </p:cNvPr>
          <p:cNvSpPr/>
          <p:nvPr userDrawn="1"/>
        </p:nvSpPr>
        <p:spPr>
          <a:xfrm>
            <a:off x="100" y="7902025"/>
            <a:ext cx="9144000" cy="2384975"/>
          </a:xfrm>
          <a:prstGeom prst="rect">
            <a:avLst/>
          </a:prstGeom>
          <a:solidFill>
            <a:srgbClr val="007AA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Picture Placeholder 2">
            <a:extLst>
              <a:ext uri="{FF2B5EF4-FFF2-40B4-BE49-F238E27FC236}">
                <a16:creationId xmlns:a16="http://schemas.microsoft.com/office/drawing/2014/main" id="{B422F65C-5807-4A9A-A0C5-E259156B0783}"/>
              </a:ext>
            </a:extLst>
          </p:cNvPr>
          <p:cNvSpPr>
            <a:spLocks noGrp="1"/>
          </p:cNvSpPr>
          <p:nvPr>
            <p:ph type="pic" sz="quarter" idx="10"/>
          </p:nvPr>
        </p:nvSpPr>
        <p:spPr>
          <a:xfrm>
            <a:off x="10072915" y="571681"/>
            <a:ext cx="7286170" cy="8942277"/>
          </a:xfrm>
          <a:prstGeom prst="rect">
            <a:avLst/>
          </a:prstGeom>
        </p:spPr>
        <p:txBody>
          <a:bodyPr/>
          <a:lstStyle/>
          <a:p>
            <a:r>
              <a:rPr lang="en-US"/>
              <a:t>Click icon to add picture</a:t>
            </a:r>
          </a:p>
        </p:txBody>
      </p:sp>
      <p:sp>
        <p:nvSpPr>
          <p:cNvPr id="13" name="Text Placeholder 2">
            <a:extLst>
              <a:ext uri="{FF2B5EF4-FFF2-40B4-BE49-F238E27FC236}">
                <a16:creationId xmlns:a16="http://schemas.microsoft.com/office/drawing/2014/main" id="{19FE0E78-1DD1-4AD4-B89A-22F131D79844}"/>
              </a:ext>
            </a:extLst>
          </p:cNvPr>
          <p:cNvSpPr>
            <a:spLocks noGrp="1"/>
          </p:cNvSpPr>
          <p:nvPr>
            <p:ph type="body" sz="quarter" idx="12" hasCustomPrompt="1"/>
          </p:nvPr>
        </p:nvSpPr>
        <p:spPr>
          <a:xfrm>
            <a:off x="899887" y="1441378"/>
            <a:ext cx="7765140" cy="6153487"/>
          </a:xfrm>
          <a:prstGeom prst="rect">
            <a:avLst/>
          </a:prstGeom>
        </p:spPr>
        <p:txBody>
          <a:bodyPr>
            <a:normAutofit/>
          </a:bodyPr>
          <a:lstStyle>
            <a:lvl1pPr marL="0" indent="0">
              <a:spcBef>
                <a:spcPts val="0"/>
              </a:spcBef>
              <a:buNone/>
              <a:tabLst/>
              <a:defRPr lang="en-US" sz="2400" kern="1200" dirty="0" smtClean="0">
                <a:solidFill>
                  <a:srgbClr val="153A80"/>
                </a:solidFill>
                <a:latin typeface="+mn-lt"/>
                <a:ea typeface="+mn-ea"/>
                <a:cs typeface="+mn-cs"/>
              </a:defRPr>
            </a:lvl1pPr>
            <a:lvl2pPr marL="557213" indent="-214313">
              <a:buFont typeface="Arial" panose="020B0604020202020204" pitchFamily="34" charset="0"/>
              <a:buChar char="•"/>
              <a:defRPr lang="en-US" sz="2400" kern="1200" baseline="0" dirty="0" smtClean="0">
                <a:solidFill>
                  <a:srgbClr val="153A80"/>
                </a:solidFill>
                <a:latin typeface="+mn-lt"/>
                <a:ea typeface="+mn-ea"/>
                <a:cs typeface="+mn-cs"/>
              </a:defRPr>
            </a:lvl2pPr>
            <a:lvl3pPr>
              <a:defRPr lang="en-US" sz="2000" kern="1200" baseline="0" dirty="0" smtClean="0">
                <a:solidFill>
                  <a:srgbClr val="153A80"/>
                </a:solidFill>
                <a:latin typeface="+mn-lt"/>
                <a:ea typeface="+mn-ea"/>
                <a:cs typeface="+mn-cs"/>
              </a:defRPr>
            </a:lvl3pPr>
            <a:lvl4pPr marL="1200150" indent="-171450">
              <a:buFont typeface="Arial" panose="020B0604020202020204" pitchFamily="34" charset="0"/>
              <a:buChar char="•"/>
              <a:defRPr lang="en-US" sz="1800" kern="1200" baseline="0" dirty="0" smtClean="0">
                <a:solidFill>
                  <a:srgbClr val="153A80"/>
                </a:solidFill>
                <a:latin typeface="+mn-lt"/>
                <a:ea typeface="+mn-ea"/>
                <a:cs typeface="+mn-cs"/>
              </a:defRPr>
            </a:lvl4pPr>
            <a:lvl5pPr marL="1543050" indent="-171450">
              <a:buFont typeface="Arial" panose="020B0604020202020204" pitchFamily="34" charset="0"/>
              <a:buChar char="•"/>
              <a:defRPr lang="en-US" sz="1800" kern="1200" dirty="0" smtClean="0">
                <a:solidFill>
                  <a:srgbClr val="153A80"/>
                </a:solidFill>
                <a:latin typeface="+mn-lt"/>
                <a:ea typeface="+mn-ea"/>
                <a:cs typeface="+mn-cs"/>
              </a:defRPr>
            </a:lvl5pPr>
          </a:lstStyle>
          <a:p>
            <a:pPr lvl="0"/>
            <a:r>
              <a:rPr lang="en-US"/>
              <a:t>Body text </a:t>
            </a:r>
          </a:p>
          <a:p>
            <a:pPr lvl="0"/>
            <a:endParaRPr lang="en-GB"/>
          </a:p>
        </p:txBody>
      </p:sp>
      <p:sp>
        <p:nvSpPr>
          <p:cNvPr id="15" name="Text Placeholder 2">
            <a:extLst>
              <a:ext uri="{FF2B5EF4-FFF2-40B4-BE49-F238E27FC236}">
                <a16:creationId xmlns:a16="http://schemas.microsoft.com/office/drawing/2014/main" id="{C1991121-AE82-4232-816A-07A28605CC19}"/>
              </a:ext>
            </a:extLst>
          </p:cNvPr>
          <p:cNvSpPr>
            <a:spLocks noGrp="1"/>
          </p:cNvSpPr>
          <p:nvPr>
            <p:ph type="body" sz="quarter" idx="17" hasCustomPrompt="1"/>
          </p:nvPr>
        </p:nvSpPr>
        <p:spPr>
          <a:xfrm>
            <a:off x="899887" y="384175"/>
            <a:ext cx="7765141" cy="782638"/>
          </a:xfrm>
          <a:prstGeom prst="rect">
            <a:avLst/>
          </a:prstGeom>
        </p:spPr>
        <p:txBody>
          <a:bodyPr/>
          <a:lstStyle>
            <a:lvl1pPr>
              <a:defRPr sz="5400" b="1">
                <a:solidFill>
                  <a:srgbClr val="007AAD"/>
                </a:solidFill>
              </a:defRPr>
            </a:lvl1pPr>
          </a:lstStyle>
          <a:p>
            <a:pPr lvl="0"/>
            <a:r>
              <a:rPr lang="en-US"/>
              <a:t>Main heading</a:t>
            </a:r>
          </a:p>
        </p:txBody>
      </p:sp>
      <p:sp>
        <p:nvSpPr>
          <p:cNvPr id="16" name="Text Placeholder 20">
            <a:extLst>
              <a:ext uri="{FF2B5EF4-FFF2-40B4-BE49-F238E27FC236}">
                <a16:creationId xmlns:a16="http://schemas.microsoft.com/office/drawing/2014/main" id="{1CCE1500-FB17-4B43-BC08-8427A61EDA1E}"/>
              </a:ext>
            </a:extLst>
          </p:cNvPr>
          <p:cNvSpPr>
            <a:spLocks noGrp="1"/>
          </p:cNvSpPr>
          <p:nvPr>
            <p:ph type="body" sz="quarter" idx="21" hasCustomPrompt="1"/>
          </p:nvPr>
        </p:nvSpPr>
        <p:spPr>
          <a:xfrm>
            <a:off x="927101" y="8176592"/>
            <a:ext cx="7737926" cy="1337366"/>
          </a:xfrm>
          <a:prstGeom prst="rect">
            <a:avLst/>
          </a:prstGeom>
        </p:spPr>
        <p:txBody>
          <a:bodyPr/>
          <a:lstStyle>
            <a:lvl1pPr>
              <a:defRPr sz="1800">
                <a:solidFill>
                  <a:srgbClr val="FFFFFF"/>
                </a:solidFill>
              </a:defRPr>
            </a:lvl1pPr>
          </a:lstStyle>
          <a:p>
            <a:pPr lvl="0"/>
            <a:r>
              <a:rPr lang="en-US"/>
              <a:t>Footnote/Source/Note/</a:t>
            </a:r>
            <a:r>
              <a:rPr lang="en-US" err="1"/>
              <a:t>Etc</a:t>
            </a:r>
            <a:endParaRPr lang="en-US"/>
          </a:p>
        </p:txBody>
      </p:sp>
      <p:sp>
        <p:nvSpPr>
          <p:cNvPr id="14" name="Rectangle 13">
            <a:extLst>
              <a:ext uri="{FF2B5EF4-FFF2-40B4-BE49-F238E27FC236}">
                <a16:creationId xmlns:a16="http://schemas.microsoft.com/office/drawing/2014/main" id="{A41143CD-5C24-4660-BBF2-DA7F0877DBA8}"/>
              </a:ext>
            </a:extLst>
          </p:cNvPr>
          <p:cNvSpPr/>
          <p:nvPr userDrawn="1"/>
        </p:nvSpPr>
        <p:spPr>
          <a:xfrm>
            <a:off x="1" y="579636"/>
            <a:ext cx="899786" cy="587177"/>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Google Shape;11;p2">
            <a:extLst>
              <a:ext uri="{FF2B5EF4-FFF2-40B4-BE49-F238E27FC236}">
                <a16:creationId xmlns:a16="http://schemas.microsoft.com/office/drawing/2014/main" id="{1441AE58-49D1-B135-C96A-D7E0012D73FE}"/>
              </a:ext>
            </a:extLst>
          </p:cNvPr>
          <p:cNvCxnSpPr>
            <a:cxnSpLocks/>
          </p:cNvCxnSpPr>
          <p:nvPr userDrawn="1"/>
        </p:nvCxnSpPr>
        <p:spPr>
          <a:xfrm>
            <a:off x="0" y="9747178"/>
            <a:ext cx="18288000" cy="0"/>
          </a:xfrm>
          <a:prstGeom prst="straightConnector1">
            <a:avLst/>
          </a:prstGeom>
          <a:noFill/>
          <a:ln w="57150" cap="flat" cmpd="sng">
            <a:solidFill>
              <a:srgbClr val="153A80"/>
            </a:solidFill>
            <a:prstDash val="solid"/>
            <a:round/>
            <a:headEnd type="none" w="med" len="med"/>
            <a:tailEnd type="none" w="med" len="med"/>
          </a:ln>
        </p:spPr>
      </p:cxnSp>
      <p:grpSp>
        <p:nvGrpSpPr>
          <p:cNvPr id="18" name="Group 17">
            <a:extLst>
              <a:ext uri="{FF2B5EF4-FFF2-40B4-BE49-F238E27FC236}">
                <a16:creationId xmlns:a16="http://schemas.microsoft.com/office/drawing/2014/main" id="{B4F814E9-552C-DDD0-4B47-FFCC5316BB9E}"/>
              </a:ext>
            </a:extLst>
          </p:cNvPr>
          <p:cNvGrpSpPr/>
          <p:nvPr userDrawn="1"/>
        </p:nvGrpSpPr>
        <p:grpSpPr>
          <a:xfrm>
            <a:off x="182882" y="9381120"/>
            <a:ext cx="731520" cy="731520"/>
            <a:chOff x="159594" y="9449672"/>
            <a:chExt cx="731520" cy="731520"/>
          </a:xfrm>
        </p:grpSpPr>
        <p:sp>
          <p:nvSpPr>
            <p:cNvPr id="19" name="Google Shape;12;p2">
              <a:extLst>
                <a:ext uri="{FF2B5EF4-FFF2-40B4-BE49-F238E27FC236}">
                  <a16:creationId xmlns:a16="http://schemas.microsoft.com/office/drawing/2014/main" id="{222AB0CC-3A57-7F49-A24C-A90AF6F83225}"/>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Google Shape;141;g10a0fa76d9d_1_0">
              <a:extLst>
                <a:ext uri="{FF2B5EF4-FFF2-40B4-BE49-F238E27FC236}">
                  <a16:creationId xmlns:a16="http://schemas.microsoft.com/office/drawing/2014/main" id="{B6FB15FE-0879-2C09-8284-8D881264F789}"/>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Tree>
    <p:extLst>
      <p:ext uri="{BB962C8B-B14F-4D97-AF65-F5344CB8AC3E}">
        <p14:creationId xmlns:p14="http://schemas.microsoft.com/office/powerpoint/2010/main" val="10394362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Text/Chart/Table/Multimedia">
    <p:spTree>
      <p:nvGrpSpPr>
        <p:cNvPr id="1" name=""/>
        <p:cNvGrpSpPr/>
        <p:nvPr/>
      </p:nvGrpSpPr>
      <p:grpSpPr>
        <a:xfrm>
          <a:off x="0" y="0"/>
          <a:ext cx="0" cy="0"/>
          <a:chOff x="0" y="0"/>
          <a:chExt cx="0" cy="0"/>
        </a:xfrm>
      </p:grpSpPr>
      <p:sp>
        <p:nvSpPr>
          <p:cNvPr id="38" name="Google Shape;146;p8">
            <a:extLst>
              <a:ext uri="{FF2B5EF4-FFF2-40B4-BE49-F238E27FC236}">
                <a16:creationId xmlns:a16="http://schemas.microsoft.com/office/drawing/2014/main" id="{4B42462B-51EF-4925-ABF2-817FB87A1F8D}"/>
              </a:ext>
            </a:extLst>
          </p:cNvPr>
          <p:cNvSpPr/>
          <p:nvPr userDrawn="1"/>
        </p:nvSpPr>
        <p:spPr>
          <a:xfrm>
            <a:off x="-236" y="0"/>
            <a:ext cx="8648935" cy="10287000"/>
          </a:xfrm>
          <a:prstGeom prst="rect">
            <a:avLst/>
          </a:prstGeom>
          <a:solidFill>
            <a:srgbClr val="007AA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147;p8">
            <a:extLst>
              <a:ext uri="{FF2B5EF4-FFF2-40B4-BE49-F238E27FC236}">
                <a16:creationId xmlns:a16="http://schemas.microsoft.com/office/drawing/2014/main" id="{B35D5AFD-4815-4A73-BADF-39841123BB22}"/>
              </a:ext>
            </a:extLst>
          </p:cNvPr>
          <p:cNvSpPr/>
          <p:nvPr userDrawn="1"/>
        </p:nvSpPr>
        <p:spPr>
          <a:xfrm rot="5400000">
            <a:off x="3483013" y="4321062"/>
            <a:ext cx="2482925" cy="9448951"/>
          </a:xfrm>
          <a:custGeom>
            <a:avLst/>
            <a:gdLst/>
            <a:ahLst/>
            <a:cxnLst/>
            <a:rect l="l" t="t" r="r" b="b"/>
            <a:pathLst>
              <a:path w="2566331" h="9332297" extrusionOk="0">
                <a:moveTo>
                  <a:pt x="2566331" y="0"/>
                </a:moveTo>
                <a:lnTo>
                  <a:pt x="2566331" y="9332297"/>
                </a:lnTo>
                <a:lnTo>
                  <a:pt x="0" y="9332297"/>
                </a:lnTo>
                <a:lnTo>
                  <a:pt x="0" y="785368"/>
                </a:lnTo>
                <a:cubicBezTo>
                  <a:pt x="420370" y="716026"/>
                  <a:pt x="759206" y="405130"/>
                  <a:pt x="869315" y="0"/>
                </a:cubicBezTo>
                <a:lnTo>
                  <a:pt x="2566331" y="0"/>
                </a:lnTo>
                <a:close/>
              </a:path>
            </a:pathLst>
          </a:custGeom>
          <a:solidFill>
            <a:srgbClr val="B4D2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Text Placeholder 2">
            <a:extLst>
              <a:ext uri="{FF2B5EF4-FFF2-40B4-BE49-F238E27FC236}">
                <a16:creationId xmlns:a16="http://schemas.microsoft.com/office/drawing/2014/main" id="{2138E496-83C0-4FF5-B239-3075F7D21CB2}"/>
              </a:ext>
            </a:extLst>
          </p:cNvPr>
          <p:cNvSpPr>
            <a:spLocks noGrp="1"/>
          </p:cNvSpPr>
          <p:nvPr>
            <p:ph type="body" sz="quarter" idx="12" hasCustomPrompt="1"/>
          </p:nvPr>
        </p:nvSpPr>
        <p:spPr>
          <a:xfrm>
            <a:off x="922918" y="1472057"/>
            <a:ext cx="7263139" cy="6104399"/>
          </a:xfrm>
          <a:prstGeom prst="rect">
            <a:avLst/>
          </a:prstGeom>
        </p:spPr>
        <p:txBody>
          <a:bodyPr>
            <a:normAutofit/>
          </a:bodyPr>
          <a:lstStyle>
            <a:lvl1pPr marL="0" indent="0">
              <a:spcBef>
                <a:spcPts val="0"/>
              </a:spcBef>
              <a:buNone/>
              <a:tabLst/>
              <a:defRPr lang="en-US" sz="2400" kern="1200" dirty="0" smtClean="0">
                <a:solidFill>
                  <a:srgbClr val="FFFFFF"/>
                </a:solidFill>
                <a:latin typeface="+mn-lt"/>
                <a:ea typeface="+mn-ea"/>
                <a:cs typeface="+mn-cs"/>
              </a:defRPr>
            </a:lvl1pPr>
            <a:lvl2pPr marL="557213" indent="-214313">
              <a:buFont typeface="Arial" panose="020B0604020202020204" pitchFamily="34" charset="0"/>
              <a:buChar char="•"/>
              <a:defRPr lang="en-US" sz="2400" kern="1200" baseline="0" dirty="0" smtClean="0">
                <a:solidFill>
                  <a:srgbClr val="153A80"/>
                </a:solidFill>
                <a:latin typeface="+mn-lt"/>
                <a:ea typeface="+mn-ea"/>
                <a:cs typeface="+mn-cs"/>
              </a:defRPr>
            </a:lvl2pPr>
            <a:lvl3pPr>
              <a:defRPr lang="en-US" sz="2000" kern="1200" baseline="0" dirty="0" smtClean="0">
                <a:solidFill>
                  <a:srgbClr val="153A80"/>
                </a:solidFill>
                <a:latin typeface="+mn-lt"/>
                <a:ea typeface="+mn-ea"/>
                <a:cs typeface="+mn-cs"/>
              </a:defRPr>
            </a:lvl3pPr>
            <a:lvl4pPr marL="1200150" indent="-171450">
              <a:buFont typeface="Arial" panose="020B0604020202020204" pitchFamily="34" charset="0"/>
              <a:buChar char="•"/>
              <a:defRPr lang="en-US" sz="1800" kern="1200" baseline="0" dirty="0" smtClean="0">
                <a:solidFill>
                  <a:srgbClr val="153A80"/>
                </a:solidFill>
                <a:latin typeface="+mn-lt"/>
                <a:ea typeface="+mn-ea"/>
                <a:cs typeface="+mn-cs"/>
              </a:defRPr>
            </a:lvl4pPr>
            <a:lvl5pPr marL="1543050" indent="-171450">
              <a:buFont typeface="Arial" panose="020B0604020202020204" pitchFamily="34" charset="0"/>
              <a:buChar char="•"/>
              <a:defRPr lang="en-US" sz="1800" kern="1200" dirty="0" smtClean="0">
                <a:solidFill>
                  <a:srgbClr val="153A80"/>
                </a:solidFill>
                <a:latin typeface="+mn-lt"/>
                <a:ea typeface="+mn-ea"/>
                <a:cs typeface="+mn-cs"/>
              </a:defRPr>
            </a:lvl5pPr>
          </a:lstStyle>
          <a:p>
            <a:pPr lvl="0"/>
            <a:r>
              <a:rPr lang="en-US"/>
              <a:t>Body text (click to edit)</a:t>
            </a:r>
          </a:p>
          <a:p>
            <a:pPr lvl="0"/>
            <a:endParaRPr lang="en-GB"/>
          </a:p>
        </p:txBody>
      </p:sp>
      <p:sp>
        <p:nvSpPr>
          <p:cNvPr id="34" name="Content Placeholder 4">
            <a:extLst>
              <a:ext uri="{FF2B5EF4-FFF2-40B4-BE49-F238E27FC236}">
                <a16:creationId xmlns:a16="http://schemas.microsoft.com/office/drawing/2014/main" id="{5FE572B2-8CF9-4D60-84A6-31E469C0828C}"/>
              </a:ext>
            </a:extLst>
          </p:cNvPr>
          <p:cNvSpPr>
            <a:spLocks noGrp="1"/>
          </p:cNvSpPr>
          <p:nvPr>
            <p:ph sz="quarter" idx="23" hasCustomPrompt="1"/>
          </p:nvPr>
        </p:nvSpPr>
        <p:spPr>
          <a:xfrm>
            <a:off x="9448951" y="384174"/>
            <a:ext cx="8315375" cy="9230163"/>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35" name="Text Placeholder 2">
            <a:extLst>
              <a:ext uri="{FF2B5EF4-FFF2-40B4-BE49-F238E27FC236}">
                <a16:creationId xmlns:a16="http://schemas.microsoft.com/office/drawing/2014/main" id="{9BBA548A-7B9F-4576-B58E-CB78CB99C583}"/>
              </a:ext>
            </a:extLst>
          </p:cNvPr>
          <p:cNvSpPr>
            <a:spLocks noGrp="1"/>
          </p:cNvSpPr>
          <p:nvPr>
            <p:ph type="body" sz="quarter" idx="17" hasCustomPrompt="1"/>
          </p:nvPr>
        </p:nvSpPr>
        <p:spPr>
          <a:xfrm>
            <a:off x="914402" y="384175"/>
            <a:ext cx="7271654" cy="782638"/>
          </a:xfrm>
          <a:prstGeom prst="rect">
            <a:avLst/>
          </a:prstGeom>
        </p:spPr>
        <p:txBody>
          <a:bodyPr/>
          <a:lstStyle>
            <a:lvl1pPr>
              <a:defRPr sz="5400" b="1">
                <a:solidFill>
                  <a:srgbClr val="FFFFFF"/>
                </a:solidFill>
              </a:defRPr>
            </a:lvl1pPr>
          </a:lstStyle>
          <a:p>
            <a:pPr lvl="0"/>
            <a:r>
              <a:rPr lang="en-US"/>
              <a:t>Main heading </a:t>
            </a:r>
          </a:p>
        </p:txBody>
      </p:sp>
      <p:sp>
        <p:nvSpPr>
          <p:cNvPr id="36" name="Text Placeholder 20">
            <a:extLst>
              <a:ext uri="{FF2B5EF4-FFF2-40B4-BE49-F238E27FC236}">
                <a16:creationId xmlns:a16="http://schemas.microsoft.com/office/drawing/2014/main" id="{365FCE75-3597-470D-BD6C-B6E2F8EAE6C0}"/>
              </a:ext>
            </a:extLst>
          </p:cNvPr>
          <p:cNvSpPr>
            <a:spLocks noGrp="1"/>
          </p:cNvSpPr>
          <p:nvPr>
            <p:ph type="body" sz="quarter" idx="21" hasCustomPrompt="1"/>
          </p:nvPr>
        </p:nvSpPr>
        <p:spPr>
          <a:xfrm>
            <a:off x="927101" y="8176592"/>
            <a:ext cx="7258955" cy="1337368"/>
          </a:xfrm>
          <a:prstGeom prst="rect">
            <a:avLst/>
          </a:prstGeom>
        </p:spPr>
        <p:txBody>
          <a:bodyPr/>
          <a:lstStyle>
            <a:lvl1pPr>
              <a:defRPr sz="1800">
                <a:solidFill>
                  <a:srgbClr val="FFFFFF"/>
                </a:solidFill>
              </a:defRPr>
            </a:lvl1pPr>
          </a:lstStyle>
          <a:p>
            <a:pPr lvl="0"/>
            <a:r>
              <a:rPr lang="en-US"/>
              <a:t>Footnote/Source/Note/</a:t>
            </a:r>
            <a:r>
              <a:rPr lang="en-US" err="1"/>
              <a:t>Etc</a:t>
            </a:r>
            <a:endParaRPr lang="en-US"/>
          </a:p>
        </p:txBody>
      </p:sp>
      <p:sp>
        <p:nvSpPr>
          <p:cNvPr id="13" name="Rectangle 12">
            <a:extLst>
              <a:ext uri="{FF2B5EF4-FFF2-40B4-BE49-F238E27FC236}">
                <a16:creationId xmlns:a16="http://schemas.microsoft.com/office/drawing/2014/main" id="{C3F49A67-E99A-4345-8E97-45E36CBD30D9}"/>
              </a:ext>
            </a:extLst>
          </p:cNvPr>
          <p:cNvSpPr/>
          <p:nvPr userDrawn="1"/>
        </p:nvSpPr>
        <p:spPr>
          <a:xfrm>
            <a:off x="0" y="579636"/>
            <a:ext cx="914401" cy="587177"/>
          </a:xfrm>
          <a:prstGeom prst="rect">
            <a:avLst/>
          </a:prstGeom>
          <a:solidFill>
            <a:srgbClr val="B4D2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Google Shape;11;p2">
            <a:extLst>
              <a:ext uri="{FF2B5EF4-FFF2-40B4-BE49-F238E27FC236}">
                <a16:creationId xmlns:a16="http://schemas.microsoft.com/office/drawing/2014/main" id="{FAED0567-0DD4-AC40-3905-ABBC583FD815}"/>
              </a:ext>
            </a:extLst>
          </p:cNvPr>
          <p:cNvCxnSpPr>
            <a:cxnSpLocks/>
          </p:cNvCxnSpPr>
          <p:nvPr userDrawn="1"/>
        </p:nvCxnSpPr>
        <p:spPr>
          <a:xfrm>
            <a:off x="0" y="9747178"/>
            <a:ext cx="18288000" cy="0"/>
          </a:xfrm>
          <a:prstGeom prst="straightConnector1">
            <a:avLst/>
          </a:prstGeom>
          <a:noFill/>
          <a:ln w="57150" cap="flat" cmpd="sng">
            <a:solidFill>
              <a:srgbClr val="153A80"/>
            </a:solidFill>
            <a:prstDash val="solid"/>
            <a:round/>
            <a:headEnd type="none" w="med" len="med"/>
            <a:tailEnd type="none" w="med" len="med"/>
          </a:ln>
        </p:spPr>
      </p:cxnSp>
      <p:grpSp>
        <p:nvGrpSpPr>
          <p:cNvPr id="20" name="Group 19">
            <a:extLst>
              <a:ext uri="{FF2B5EF4-FFF2-40B4-BE49-F238E27FC236}">
                <a16:creationId xmlns:a16="http://schemas.microsoft.com/office/drawing/2014/main" id="{8328357F-1857-2709-3749-D6044EF5AEE0}"/>
              </a:ext>
            </a:extLst>
          </p:cNvPr>
          <p:cNvGrpSpPr/>
          <p:nvPr userDrawn="1"/>
        </p:nvGrpSpPr>
        <p:grpSpPr>
          <a:xfrm>
            <a:off x="182882" y="9381120"/>
            <a:ext cx="731520" cy="731520"/>
            <a:chOff x="159594" y="9449672"/>
            <a:chExt cx="731520" cy="731520"/>
          </a:xfrm>
          <a:solidFill>
            <a:srgbClr val="007AAD"/>
          </a:solidFill>
        </p:grpSpPr>
        <p:sp>
          <p:nvSpPr>
            <p:cNvPr id="21" name="Google Shape;12;p2">
              <a:extLst>
                <a:ext uri="{FF2B5EF4-FFF2-40B4-BE49-F238E27FC236}">
                  <a16:creationId xmlns:a16="http://schemas.microsoft.com/office/drawing/2014/main" id="{7012A103-D999-25D2-663C-808EAAF8FA1E}"/>
                </a:ext>
              </a:extLst>
            </p:cNvPr>
            <p:cNvSpPr/>
            <p:nvPr userDrawn="1"/>
          </p:nvSpPr>
          <p:spPr>
            <a:xfrm>
              <a:off x="159594" y="9449672"/>
              <a:ext cx="731520" cy="73152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141;g10a0fa76d9d_1_0">
              <a:extLst>
                <a:ext uri="{FF2B5EF4-FFF2-40B4-BE49-F238E27FC236}">
                  <a16:creationId xmlns:a16="http://schemas.microsoft.com/office/drawing/2014/main" id="{A35AA494-7441-B0A6-CA3E-F46FA06A8CCC}"/>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grpFill/>
            <a:ln>
              <a:noFill/>
            </a:ln>
          </p:spPr>
        </p:pic>
      </p:grpSp>
    </p:spTree>
    <p:extLst>
      <p:ext uri="{BB962C8B-B14F-4D97-AF65-F5344CB8AC3E}">
        <p14:creationId xmlns:p14="http://schemas.microsoft.com/office/powerpoint/2010/main" val="42383511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Text/Chart/Table/Multimedia">
    <p:spTree>
      <p:nvGrpSpPr>
        <p:cNvPr id="1" name=""/>
        <p:cNvGrpSpPr/>
        <p:nvPr/>
      </p:nvGrpSpPr>
      <p:grpSpPr>
        <a:xfrm>
          <a:off x="0" y="0"/>
          <a:ext cx="0" cy="0"/>
          <a:chOff x="0" y="0"/>
          <a:chExt cx="0" cy="0"/>
        </a:xfrm>
      </p:grpSpPr>
      <p:sp>
        <p:nvSpPr>
          <p:cNvPr id="34" name="Google Shape;1456;gf2e797d000_0_971">
            <a:extLst>
              <a:ext uri="{FF2B5EF4-FFF2-40B4-BE49-F238E27FC236}">
                <a16:creationId xmlns:a16="http://schemas.microsoft.com/office/drawing/2014/main" id="{2586B778-3F51-426D-A65E-22FA25FD12B7}"/>
              </a:ext>
            </a:extLst>
          </p:cNvPr>
          <p:cNvSpPr/>
          <p:nvPr userDrawn="1"/>
        </p:nvSpPr>
        <p:spPr>
          <a:xfrm>
            <a:off x="9144000" y="0"/>
            <a:ext cx="9169967" cy="10287000"/>
          </a:xfrm>
          <a:prstGeom prst="rect">
            <a:avLst/>
          </a:prstGeom>
          <a:solidFill>
            <a:srgbClr val="B4D2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1457;gf2e797d000_0_971">
            <a:extLst>
              <a:ext uri="{FF2B5EF4-FFF2-40B4-BE49-F238E27FC236}">
                <a16:creationId xmlns:a16="http://schemas.microsoft.com/office/drawing/2014/main" id="{EA95506E-CBEE-4887-82E9-0B36D6D72366}"/>
              </a:ext>
            </a:extLst>
          </p:cNvPr>
          <p:cNvSpPr/>
          <p:nvPr userDrawn="1"/>
        </p:nvSpPr>
        <p:spPr>
          <a:xfrm>
            <a:off x="100" y="5579165"/>
            <a:ext cx="9144000" cy="4707835"/>
          </a:xfrm>
          <a:prstGeom prst="rect">
            <a:avLst/>
          </a:prstGeom>
          <a:solidFill>
            <a:srgbClr val="007AA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Text Placeholder 2">
            <a:extLst>
              <a:ext uri="{FF2B5EF4-FFF2-40B4-BE49-F238E27FC236}">
                <a16:creationId xmlns:a16="http://schemas.microsoft.com/office/drawing/2014/main" id="{8119033E-8037-46CA-A73F-AC909949D993}"/>
              </a:ext>
            </a:extLst>
          </p:cNvPr>
          <p:cNvSpPr>
            <a:spLocks noGrp="1"/>
          </p:cNvSpPr>
          <p:nvPr>
            <p:ph type="body" sz="quarter" idx="18" hasCustomPrompt="1"/>
          </p:nvPr>
        </p:nvSpPr>
        <p:spPr>
          <a:xfrm>
            <a:off x="914401" y="384175"/>
            <a:ext cx="7765142" cy="782638"/>
          </a:xfrm>
          <a:prstGeom prst="rect">
            <a:avLst/>
          </a:prstGeom>
        </p:spPr>
        <p:txBody>
          <a:bodyPr/>
          <a:lstStyle>
            <a:lvl1pPr>
              <a:defRPr sz="5400" b="1">
                <a:solidFill>
                  <a:srgbClr val="007AAD"/>
                </a:solidFill>
              </a:defRPr>
            </a:lvl1pPr>
          </a:lstStyle>
          <a:p>
            <a:pPr lvl="0"/>
            <a:r>
              <a:rPr lang="en-US"/>
              <a:t>Main heading</a:t>
            </a:r>
          </a:p>
        </p:txBody>
      </p:sp>
      <p:sp>
        <p:nvSpPr>
          <p:cNvPr id="11" name="Text Placeholder 2">
            <a:extLst>
              <a:ext uri="{FF2B5EF4-FFF2-40B4-BE49-F238E27FC236}">
                <a16:creationId xmlns:a16="http://schemas.microsoft.com/office/drawing/2014/main" id="{84BECA1B-B8D7-4EBA-858F-8529F52CD977}"/>
              </a:ext>
            </a:extLst>
          </p:cNvPr>
          <p:cNvSpPr>
            <a:spLocks noGrp="1"/>
          </p:cNvSpPr>
          <p:nvPr>
            <p:ph type="body" sz="quarter" idx="19" hasCustomPrompt="1"/>
          </p:nvPr>
        </p:nvSpPr>
        <p:spPr>
          <a:xfrm>
            <a:off x="10065657" y="384174"/>
            <a:ext cx="7757786" cy="782638"/>
          </a:xfrm>
          <a:prstGeom prst="rect">
            <a:avLst/>
          </a:prstGeom>
        </p:spPr>
        <p:txBody>
          <a:bodyPr/>
          <a:lstStyle>
            <a:lvl1pPr>
              <a:defRPr sz="5400" b="1">
                <a:solidFill>
                  <a:srgbClr val="007AAD"/>
                </a:solidFill>
              </a:defRPr>
            </a:lvl1pPr>
          </a:lstStyle>
          <a:p>
            <a:pPr lvl="0"/>
            <a:r>
              <a:rPr lang="en-US"/>
              <a:t>Main heading</a:t>
            </a:r>
          </a:p>
        </p:txBody>
      </p:sp>
      <p:sp>
        <p:nvSpPr>
          <p:cNvPr id="23" name="Content Placeholder 4">
            <a:extLst>
              <a:ext uri="{FF2B5EF4-FFF2-40B4-BE49-F238E27FC236}">
                <a16:creationId xmlns:a16="http://schemas.microsoft.com/office/drawing/2014/main" id="{29EE5519-E788-4851-AEA9-74AF88D21E53}"/>
              </a:ext>
            </a:extLst>
          </p:cNvPr>
          <p:cNvSpPr>
            <a:spLocks noGrp="1"/>
          </p:cNvSpPr>
          <p:nvPr>
            <p:ph sz="quarter" idx="22" hasCustomPrompt="1"/>
          </p:nvPr>
        </p:nvSpPr>
        <p:spPr>
          <a:xfrm>
            <a:off x="927099" y="1478140"/>
            <a:ext cx="7752443" cy="3665360"/>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24" name="Content Placeholder 4">
            <a:extLst>
              <a:ext uri="{FF2B5EF4-FFF2-40B4-BE49-F238E27FC236}">
                <a16:creationId xmlns:a16="http://schemas.microsoft.com/office/drawing/2014/main" id="{A97247CE-0C03-475D-A448-CF3C87B171ED}"/>
              </a:ext>
            </a:extLst>
          </p:cNvPr>
          <p:cNvSpPr>
            <a:spLocks noGrp="1"/>
          </p:cNvSpPr>
          <p:nvPr>
            <p:ph sz="quarter" idx="26" hasCustomPrompt="1"/>
          </p:nvPr>
        </p:nvSpPr>
        <p:spPr>
          <a:xfrm>
            <a:off x="10065657" y="1499383"/>
            <a:ext cx="7757783" cy="8019907"/>
          </a:xfrm>
          <a:prstGeom prst="rect">
            <a:avLst/>
          </a:prstGeom>
        </p:spPr>
        <p:txBody>
          <a:bodyPr/>
          <a:lstStyle>
            <a:lvl1pPr marL="857250" indent="-857250">
              <a:buClr>
                <a:srgbClr val="153A80"/>
              </a:buClr>
              <a:buFont typeface="Arial" panose="020B0604020202020204" pitchFamily="34" charset="0"/>
              <a:buChar char="●"/>
              <a:defRPr sz="4400" b="1">
                <a:solidFill>
                  <a:srgbClr val="153A80"/>
                </a:solidFill>
              </a:defRPr>
            </a:lvl1pPr>
            <a:lvl2pPr marL="1709738" indent="-862013">
              <a:buClr>
                <a:srgbClr val="153A80"/>
              </a:buClr>
              <a:buFont typeface="Arial" panose="020B0604020202020204" pitchFamily="34" charset="0"/>
              <a:buChar char="○"/>
              <a:defRPr sz="3600" b="1">
                <a:solidFill>
                  <a:srgbClr val="153A80"/>
                </a:solidFill>
              </a:defRPr>
            </a:lvl2pPr>
            <a:lvl3pPr marL="2570163" indent="-862013">
              <a:buClr>
                <a:srgbClr val="153A80"/>
              </a:buClr>
              <a:buFont typeface="Arial" panose="020B0604020202020204" pitchFamily="34" charset="0"/>
              <a:buChar char="■"/>
              <a:defRPr sz="2800" b="1">
                <a:solidFill>
                  <a:srgbClr val="153A80"/>
                </a:solidFill>
              </a:defRPr>
            </a:lvl3pPr>
            <a:lvl4pPr marL="3432175" indent="-862013">
              <a:buClr>
                <a:srgbClr val="153A80"/>
              </a:buClr>
              <a:buFont typeface="Arial" panose="020B0604020202020204" pitchFamily="34" charset="0"/>
              <a:buChar char="□"/>
              <a:tabLst>
                <a:tab pos="3365500" algn="l"/>
              </a:tabLst>
              <a:defRPr sz="2400">
                <a:solidFill>
                  <a:srgbClr val="153A80"/>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25" name="Content Placeholder 4">
            <a:extLst>
              <a:ext uri="{FF2B5EF4-FFF2-40B4-BE49-F238E27FC236}">
                <a16:creationId xmlns:a16="http://schemas.microsoft.com/office/drawing/2014/main" id="{2B401684-F95E-41BC-BFC6-E0A549E67669}"/>
              </a:ext>
            </a:extLst>
          </p:cNvPr>
          <p:cNvSpPr>
            <a:spLocks noGrp="1"/>
          </p:cNvSpPr>
          <p:nvPr>
            <p:ph sz="quarter" idx="27" hasCustomPrompt="1"/>
          </p:nvPr>
        </p:nvSpPr>
        <p:spPr>
          <a:xfrm>
            <a:off x="916568" y="5853931"/>
            <a:ext cx="7762973" cy="3665360"/>
          </a:xfrm>
          <a:prstGeom prst="rect">
            <a:avLst/>
          </a:prstGeom>
        </p:spPr>
        <p:txBody>
          <a:bodyPr/>
          <a:lstStyle>
            <a:lvl1pPr marL="857250" indent="-857250">
              <a:buClr>
                <a:srgbClr val="153A80"/>
              </a:buClr>
              <a:buFont typeface="Arial" panose="020B0604020202020204" pitchFamily="34" charset="0"/>
              <a:buChar char="●"/>
              <a:defRPr sz="4400" b="1">
                <a:solidFill>
                  <a:schemeClr val="bg1"/>
                </a:solidFill>
              </a:defRPr>
            </a:lvl1pPr>
            <a:lvl2pPr marL="1709738" indent="-862013">
              <a:buClr>
                <a:srgbClr val="153A80"/>
              </a:buClr>
              <a:buFont typeface="Arial" panose="020B0604020202020204" pitchFamily="34" charset="0"/>
              <a:buChar char="○"/>
              <a:defRPr sz="3600" b="1">
                <a:solidFill>
                  <a:schemeClr val="bg1"/>
                </a:solidFill>
              </a:defRPr>
            </a:lvl2pPr>
            <a:lvl3pPr marL="2570163" indent="-862013">
              <a:buClr>
                <a:srgbClr val="153A80"/>
              </a:buClr>
              <a:buFont typeface="Arial" panose="020B0604020202020204" pitchFamily="34" charset="0"/>
              <a:buChar char="■"/>
              <a:defRPr sz="2800" b="1">
                <a:solidFill>
                  <a:schemeClr val="bg1"/>
                </a:solidFill>
              </a:defRPr>
            </a:lvl3pPr>
            <a:lvl4pPr marL="3432175" indent="-862013">
              <a:buClr>
                <a:srgbClr val="153A80"/>
              </a:buClr>
              <a:buFont typeface="Arial" panose="020B0604020202020204" pitchFamily="34" charset="0"/>
              <a:buChar char="□"/>
              <a:tabLst>
                <a:tab pos="3365500" algn="l"/>
              </a:tabLst>
              <a:defRPr sz="2400">
                <a:solidFill>
                  <a:schemeClr val="bg1"/>
                </a:solidFill>
              </a:defRPr>
            </a:lvl4pPr>
          </a:lstStyle>
          <a:p>
            <a:pPr lvl="0"/>
            <a:r>
              <a:rPr lang="en-US"/>
              <a:t>Second level</a:t>
            </a:r>
          </a:p>
          <a:p>
            <a:pPr lvl="1"/>
            <a:r>
              <a:rPr lang="en-US"/>
              <a:t>Third level </a:t>
            </a:r>
          </a:p>
          <a:p>
            <a:pPr lvl="2"/>
            <a:r>
              <a:rPr lang="en-US"/>
              <a:t>Fourth level</a:t>
            </a:r>
          </a:p>
          <a:p>
            <a:pPr lvl="3"/>
            <a:r>
              <a:rPr lang="en-US"/>
              <a:t>Body text</a:t>
            </a:r>
          </a:p>
        </p:txBody>
      </p:sp>
      <p:sp>
        <p:nvSpPr>
          <p:cNvPr id="14" name="Rectangle 13">
            <a:extLst>
              <a:ext uri="{FF2B5EF4-FFF2-40B4-BE49-F238E27FC236}">
                <a16:creationId xmlns:a16="http://schemas.microsoft.com/office/drawing/2014/main" id="{9CDC744C-D547-49B8-9F50-FFD8E972AADD}"/>
              </a:ext>
            </a:extLst>
          </p:cNvPr>
          <p:cNvSpPr/>
          <p:nvPr userDrawn="1"/>
        </p:nvSpPr>
        <p:spPr>
          <a:xfrm>
            <a:off x="1" y="579636"/>
            <a:ext cx="914400" cy="587177"/>
          </a:xfrm>
          <a:prstGeom prst="rect">
            <a:avLst/>
          </a:prstGeom>
          <a:solidFill>
            <a:srgbClr val="00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Google Shape;11;p2">
            <a:extLst>
              <a:ext uri="{FF2B5EF4-FFF2-40B4-BE49-F238E27FC236}">
                <a16:creationId xmlns:a16="http://schemas.microsoft.com/office/drawing/2014/main" id="{504FA608-92FD-CE56-6E7B-864D32226CB3}"/>
              </a:ext>
            </a:extLst>
          </p:cNvPr>
          <p:cNvCxnSpPr>
            <a:cxnSpLocks/>
          </p:cNvCxnSpPr>
          <p:nvPr userDrawn="1"/>
        </p:nvCxnSpPr>
        <p:spPr>
          <a:xfrm>
            <a:off x="0" y="9747178"/>
            <a:ext cx="18288000" cy="0"/>
          </a:xfrm>
          <a:prstGeom prst="straightConnector1">
            <a:avLst/>
          </a:prstGeom>
          <a:noFill/>
          <a:ln w="57150" cap="flat" cmpd="sng">
            <a:solidFill>
              <a:srgbClr val="153A80"/>
            </a:solidFill>
            <a:prstDash val="solid"/>
            <a:round/>
            <a:headEnd type="none" w="med" len="med"/>
            <a:tailEnd type="none" w="med" len="med"/>
          </a:ln>
        </p:spPr>
      </p:cxnSp>
      <p:grpSp>
        <p:nvGrpSpPr>
          <p:cNvPr id="16" name="Group 15">
            <a:extLst>
              <a:ext uri="{FF2B5EF4-FFF2-40B4-BE49-F238E27FC236}">
                <a16:creationId xmlns:a16="http://schemas.microsoft.com/office/drawing/2014/main" id="{E554BC37-6317-E15B-D956-4FEBD7F6181D}"/>
              </a:ext>
            </a:extLst>
          </p:cNvPr>
          <p:cNvGrpSpPr/>
          <p:nvPr userDrawn="1"/>
        </p:nvGrpSpPr>
        <p:grpSpPr>
          <a:xfrm>
            <a:off x="182882" y="9381120"/>
            <a:ext cx="731520" cy="731520"/>
            <a:chOff x="159594" y="9449672"/>
            <a:chExt cx="731520" cy="731520"/>
          </a:xfrm>
        </p:grpSpPr>
        <p:sp>
          <p:nvSpPr>
            <p:cNvPr id="17" name="Google Shape;12;p2">
              <a:extLst>
                <a:ext uri="{FF2B5EF4-FFF2-40B4-BE49-F238E27FC236}">
                  <a16:creationId xmlns:a16="http://schemas.microsoft.com/office/drawing/2014/main" id="{6B47EBC7-1FA7-7351-568E-D1E0D4B4A4D5}"/>
                </a:ext>
              </a:extLst>
            </p:cNvPr>
            <p:cNvSpPr/>
            <p:nvPr userDrawn="1"/>
          </p:nvSpPr>
          <p:spPr>
            <a:xfrm>
              <a:off x="159594" y="9449672"/>
              <a:ext cx="731520" cy="731520"/>
            </a:xfrm>
            <a:prstGeom prst="ellipse">
              <a:avLst/>
            </a:prstGeom>
            <a:solidFill>
              <a:srgbClr val="B4D2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41;g10a0fa76d9d_1_0">
              <a:extLst>
                <a:ext uri="{FF2B5EF4-FFF2-40B4-BE49-F238E27FC236}">
                  <a16:creationId xmlns:a16="http://schemas.microsoft.com/office/drawing/2014/main" id="{DEFB6AC4-B70E-DF50-149E-59046578B387}"/>
                </a:ext>
              </a:extLst>
            </p:cNvPr>
            <p:cNvPicPr preferRelativeResize="0">
              <a:picLocks noChangeAspect="1"/>
            </p:cNvPicPr>
            <p:nvPr userDrawn="1"/>
          </p:nvPicPr>
          <p:blipFill rotWithShape="1">
            <a:blip r:embed="rId2">
              <a:alphaModFix/>
            </a:blip>
            <a:srcRect/>
            <a:stretch/>
          </p:blipFill>
          <p:spPr>
            <a:xfrm>
              <a:off x="299085" y="9541112"/>
              <a:ext cx="452538" cy="548640"/>
            </a:xfrm>
            <a:prstGeom prst="rect">
              <a:avLst/>
            </a:prstGeom>
            <a:noFill/>
            <a:ln>
              <a:noFill/>
            </a:ln>
          </p:spPr>
        </p:pic>
      </p:grpSp>
    </p:spTree>
    <p:extLst>
      <p:ext uri="{BB962C8B-B14F-4D97-AF65-F5344CB8AC3E}">
        <p14:creationId xmlns:p14="http://schemas.microsoft.com/office/powerpoint/2010/main" val="29013284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Thank-You-slide">
    <p:bg>
      <p:bgPr>
        <a:solidFill>
          <a:srgbClr val="B4D2EE"/>
        </a:solidFill>
        <a:effectLst/>
      </p:bgPr>
    </p:bg>
    <p:spTree>
      <p:nvGrpSpPr>
        <p:cNvPr id="1" name=""/>
        <p:cNvGrpSpPr/>
        <p:nvPr/>
      </p:nvGrpSpPr>
      <p:grpSpPr>
        <a:xfrm>
          <a:off x="0" y="0"/>
          <a:ext cx="0" cy="0"/>
          <a:chOff x="0" y="0"/>
          <a:chExt cx="0" cy="0"/>
        </a:xfrm>
      </p:grpSpPr>
      <p:sp>
        <p:nvSpPr>
          <p:cNvPr id="11" name="Google Shape;1093;gf2e797d000_0_270">
            <a:extLst>
              <a:ext uri="{FF2B5EF4-FFF2-40B4-BE49-F238E27FC236}">
                <a16:creationId xmlns:a16="http://schemas.microsoft.com/office/drawing/2014/main" id="{28BE3961-E036-4B16-8357-B3627EEEBE66}"/>
              </a:ext>
            </a:extLst>
          </p:cNvPr>
          <p:cNvSpPr txBox="1"/>
          <p:nvPr userDrawn="1"/>
        </p:nvSpPr>
        <p:spPr>
          <a:xfrm>
            <a:off x="11916228" y="1982302"/>
            <a:ext cx="5139640" cy="81253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10100"/>
              <a:buFont typeface="Arial"/>
              <a:buNone/>
            </a:pPr>
            <a:r>
              <a:rPr lang="en-US" sz="6600" b="1" i="0" u="none" strike="noStrike" cap="none">
                <a:solidFill>
                  <a:srgbClr val="153A80"/>
                </a:solidFill>
                <a:latin typeface="Arial"/>
                <a:ea typeface="Arial"/>
                <a:cs typeface="Arial"/>
                <a:sym typeface="Arial"/>
              </a:rPr>
              <a:t>Thank You.</a:t>
            </a:r>
            <a:endParaRPr sz="6600" b="1" i="0" u="none" strike="noStrike" cap="none">
              <a:solidFill>
                <a:srgbClr val="153A80"/>
              </a:solidFill>
              <a:latin typeface="Arial"/>
              <a:ea typeface="Arial"/>
              <a:cs typeface="Arial"/>
              <a:sym typeface="Arial"/>
            </a:endParaRPr>
          </a:p>
        </p:txBody>
      </p:sp>
      <p:sp>
        <p:nvSpPr>
          <p:cNvPr id="12" name="Google Shape;1094;gf2e797d000_0_270">
            <a:extLst>
              <a:ext uri="{FF2B5EF4-FFF2-40B4-BE49-F238E27FC236}">
                <a16:creationId xmlns:a16="http://schemas.microsoft.com/office/drawing/2014/main" id="{376485CA-52DC-49D6-B7AC-6716F7001C11}"/>
              </a:ext>
            </a:extLst>
          </p:cNvPr>
          <p:cNvSpPr txBox="1"/>
          <p:nvPr userDrawn="1"/>
        </p:nvSpPr>
        <p:spPr>
          <a:xfrm>
            <a:off x="12513158" y="5448192"/>
            <a:ext cx="4860442" cy="369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400" b="0" i="0" u="none" strike="noStrike" cap="none">
                <a:solidFill>
                  <a:srgbClr val="153A80"/>
                </a:solidFill>
                <a:latin typeface="Arial"/>
                <a:ea typeface="Arial"/>
                <a:cs typeface="Arial"/>
                <a:sym typeface="Arial"/>
              </a:rPr>
              <a:t>3ieimpact.org</a:t>
            </a:r>
            <a:endParaRPr sz="2400" b="0" i="0" u="none" strike="noStrike" cap="none">
              <a:solidFill>
                <a:srgbClr val="153A80"/>
              </a:solidFill>
              <a:latin typeface="Arial"/>
              <a:ea typeface="Arial"/>
              <a:cs typeface="Arial"/>
              <a:sym typeface="Arial"/>
            </a:endParaRPr>
          </a:p>
        </p:txBody>
      </p:sp>
      <p:sp>
        <p:nvSpPr>
          <p:cNvPr id="13" name="Google Shape;1095;gf2e797d000_0_270">
            <a:extLst>
              <a:ext uri="{FF2B5EF4-FFF2-40B4-BE49-F238E27FC236}">
                <a16:creationId xmlns:a16="http://schemas.microsoft.com/office/drawing/2014/main" id="{D24480F5-AEA5-408A-A673-2E14B48C6079}"/>
              </a:ext>
            </a:extLst>
          </p:cNvPr>
          <p:cNvSpPr txBox="1"/>
          <p:nvPr userDrawn="1"/>
        </p:nvSpPr>
        <p:spPr>
          <a:xfrm>
            <a:off x="12513159" y="6050291"/>
            <a:ext cx="4845926"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2400" b="0" i="0" u="none" strike="noStrike" cap="none">
                <a:solidFill>
                  <a:srgbClr val="153A80"/>
                </a:solidFill>
                <a:latin typeface="Arial"/>
                <a:ea typeface="Arial"/>
                <a:cs typeface="Arial"/>
                <a:sym typeface="Arial"/>
              </a:rPr>
              <a:t>@3ieNews</a:t>
            </a:r>
            <a:endParaRPr sz="2400" b="0" i="0" u="none" strike="noStrike" cap="none">
              <a:solidFill>
                <a:srgbClr val="153A80"/>
              </a:solidFill>
              <a:latin typeface="Arial"/>
              <a:ea typeface="Arial"/>
              <a:cs typeface="Arial"/>
              <a:sym typeface="Arial"/>
            </a:endParaRPr>
          </a:p>
        </p:txBody>
      </p:sp>
      <p:sp>
        <p:nvSpPr>
          <p:cNvPr id="14" name="Google Shape;1096;gf2e797d000_0_270">
            <a:extLst>
              <a:ext uri="{FF2B5EF4-FFF2-40B4-BE49-F238E27FC236}">
                <a16:creationId xmlns:a16="http://schemas.microsoft.com/office/drawing/2014/main" id="{8BF2D72D-F811-4926-A777-CB56143DD1EC}"/>
              </a:ext>
            </a:extLst>
          </p:cNvPr>
          <p:cNvSpPr txBox="1"/>
          <p:nvPr userDrawn="1"/>
        </p:nvSpPr>
        <p:spPr>
          <a:xfrm>
            <a:off x="12513157" y="7215744"/>
            <a:ext cx="4845925"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2400" b="0" i="0" u="none" strike="noStrike" cap="none">
                <a:solidFill>
                  <a:srgbClr val="153A80"/>
                </a:solidFill>
                <a:latin typeface="Arial"/>
                <a:ea typeface="Arial"/>
                <a:cs typeface="Arial"/>
                <a:sym typeface="Arial"/>
              </a:rPr>
              <a:t>/3ieimpact</a:t>
            </a:r>
            <a:endParaRPr sz="2400" b="0" i="0" u="none" strike="noStrike" cap="none">
              <a:solidFill>
                <a:srgbClr val="153A80"/>
              </a:solidFill>
              <a:latin typeface="Arial"/>
              <a:ea typeface="Arial"/>
              <a:cs typeface="Arial"/>
              <a:sym typeface="Arial"/>
            </a:endParaRPr>
          </a:p>
        </p:txBody>
      </p:sp>
      <p:sp>
        <p:nvSpPr>
          <p:cNvPr id="15" name="Google Shape;1097;gf2e797d000_0_270">
            <a:extLst>
              <a:ext uri="{FF2B5EF4-FFF2-40B4-BE49-F238E27FC236}">
                <a16:creationId xmlns:a16="http://schemas.microsoft.com/office/drawing/2014/main" id="{8A509428-0769-4BAC-9AF8-2AC6E4226961}"/>
              </a:ext>
            </a:extLst>
          </p:cNvPr>
          <p:cNvSpPr txBox="1"/>
          <p:nvPr userDrawn="1"/>
        </p:nvSpPr>
        <p:spPr>
          <a:xfrm>
            <a:off x="12513159" y="8468377"/>
            <a:ext cx="4845922"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2400" b="0" i="0" u="none" strike="noStrike" cap="none">
                <a:solidFill>
                  <a:srgbClr val="153A80"/>
                </a:solidFill>
                <a:latin typeface="Arial"/>
                <a:ea typeface="Arial"/>
                <a:cs typeface="Arial"/>
                <a:sym typeface="Arial"/>
              </a:rPr>
              <a:t>/3ievideos</a:t>
            </a:r>
            <a:endParaRPr sz="2400" b="0" i="0" u="none" strike="noStrike" cap="none">
              <a:solidFill>
                <a:srgbClr val="153A80"/>
              </a:solidFill>
              <a:latin typeface="Arial"/>
              <a:ea typeface="Arial"/>
              <a:cs typeface="Arial"/>
              <a:sym typeface="Arial"/>
            </a:endParaRPr>
          </a:p>
        </p:txBody>
      </p:sp>
      <p:sp>
        <p:nvSpPr>
          <p:cNvPr id="16" name="Google Shape;1098;gf2e797d000_0_270">
            <a:extLst>
              <a:ext uri="{FF2B5EF4-FFF2-40B4-BE49-F238E27FC236}">
                <a16:creationId xmlns:a16="http://schemas.microsoft.com/office/drawing/2014/main" id="{DBCA8864-6577-40F3-93C1-140DDB4474B4}"/>
              </a:ext>
            </a:extLst>
          </p:cNvPr>
          <p:cNvSpPr txBox="1"/>
          <p:nvPr userDrawn="1"/>
        </p:nvSpPr>
        <p:spPr>
          <a:xfrm>
            <a:off x="12504634" y="6619495"/>
            <a:ext cx="4845923"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2400" b="0" i="0" u="none" strike="noStrike" cap="none">
                <a:solidFill>
                  <a:srgbClr val="153A80"/>
                </a:solidFill>
                <a:latin typeface="Arial"/>
                <a:ea typeface="Arial"/>
                <a:cs typeface="Arial"/>
                <a:sym typeface="Arial"/>
              </a:rPr>
              <a:t>/company/3ieimpact </a:t>
            </a:r>
            <a:endParaRPr sz="2400" b="0" i="0" u="none" strike="noStrike" cap="none">
              <a:solidFill>
                <a:srgbClr val="153A80"/>
              </a:solidFill>
              <a:latin typeface="Arial"/>
              <a:ea typeface="Arial"/>
              <a:cs typeface="Arial"/>
              <a:sym typeface="Arial"/>
            </a:endParaRPr>
          </a:p>
        </p:txBody>
      </p:sp>
      <p:cxnSp>
        <p:nvCxnSpPr>
          <p:cNvPr id="17" name="Google Shape;1099;gf2e797d000_0_270">
            <a:extLst>
              <a:ext uri="{FF2B5EF4-FFF2-40B4-BE49-F238E27FC236}">
                <a16:creationId xmlns:a16="http://schemas.microsoft.com/office/drawing/2014/main" id="{2C87BE3E-94A3-4D10-8A01-92A41EEBE45F}"/>
              </a:ext>
            </a:extLst>
          </p:cNvPr>
          <p:cNvCxnSpPr>
            <a:cxnSpLocks/>
          </p:cNvCxnSpPr>
          <p:nvPr userDrawn="1"/>
        </p:nvCxnSpPr>
        <p:spPr>
          <a:xfrm>
            <a:off x="11181007" y="9215460"/>
            <a:ext cx="7106993" cy="0"/>
          </a:xfrm>
          <a:prstGeom prst="straightConnector1">
            <a:avLst/>
          </a:prstGeom>
          <a:noFill/>
          <a:ln w="50800" cap="rnd" cmpd="sng">
            <a:solidFill>
              <a:srgbClr val="007AAD"/>
            </a:solidFill>
            <a:prstDash val="solid"/>
            <a:round/>
            <a:headEnd type="none" w="sm" len="sm"/>
            <a:tailEnd type="none" w="sm" len="sm"/>
          </a:ln>
        </p:spPr>
      </p:cxnSp>
      <p:sp>
        <p:nvSpPr>
          <p:cNvPr id="18" name="Google Shape;1100;gf2e797d000_0_270">
            <a:extLst>
              <a:ext uri="{FF2B5EF4-FFF2-40B4-BE49-F238E27FC236}">
                <a16:creationId xmlns:a16="http://schemas.microsoft.com/office/drawing/2014/main" id="{38652FCD-F74D-49AA-BAD4-C6815BD7CA5A}"/>
              </a:ext>
            </a:extLst>
          </p:cNvPr>
          <p:cNvSpPr txBox="1"/>
          <p:nvPr userDrawn="1"/>
        </p:nvSpPr>
        <p:spPr>
          <a:xfrm>
            <a:off x="11894880" y="9417642"/>
            <a:ext cx="109950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800" b="1" i="0" u="none" strike="noStrike" cap="none">
                <a:solidFill>
                  <a:srgbClr val="153A80"/>
                </a:solidFill>
                <a:latin typeface="Arial"/>
                <a:ea typeface="Arial"/>
                <a:cs typeface="Arial"/>
                <a:sym typeface="Arial"/>
              </a:rPr>
              <a:t>New Delhi</a:t>
            </a:r>
            <a:endParaRPr sz="1800" b="1" i="0" u="none" strike="noStrike" cap="none">
              <a:solidFill>
                <a:srgbClr val="153A80"/>
              </a:solidFill>
              <a:latin typeface="Arial"/>
              <a:ea typeface="Arial"/>
              <a:cs typeface="Arial"/>
              <a:sym typeface="Arial"/>
            </a:endParaRPr>
          </a:p>
        </p:txBody>
      </p:sp>
      <p:sp>
        <p:nvSpPr>
          <p:cNvPr id="19" name="Google Shape;1101;gf2e797d000_0_270">
            <a:extLst>
              <a:ext uri="{FF2B5EF4-FFF2-40B4-BE49-F238E27FC236}">
                <a16:creationId xmlns:a16="http://schemas.microsoft.com/office/drawing/2014/main" id="{6C0B4BC4-48A3-4B05-9138-476F433922AA}"/>
              </a:ext>
            </a:extLst>
          </p:cNvPr>
          <p:cNvSpPr txBox="1"/>
          <p:nvPr userDrawn="1"/>
        </p:nvSpPr>
        <p:spPr>
          <a:xfrm>
            <a:off x="13956384" y="9417642"/>
            <a:ext cx="109950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800" b="1" i="0" u="none" strike="noStrike" cap="none">
                <a:solidFill>
                  <a:srgbClr val="153A80"/>
                </a:solidFill>
                <a:latin typeface="Arial"/>
                <a:ea typeface="Arial"/>
                <a:cs typeface="Arial"/>
                <a:sym typeface="Arial"/>
              </a:rPr>
              <a:t>London</a:t>
            </a:r>
            <a:endParaRPr sz="1800" b="1" i="0" u="none" strike="noStrike" cap="none">
              <a:solidFill>
                <a:srgbClr val="153A80"/>
              </a:solidFill>
              <a:latin typeface="Arial"/>
              <a:ea typeface="Arial"/>
              <a:cs typeface="Arial"/>
              <a:sym typeface="Arial"/>
            </a:endParaRPr>
          </a:p>
        </p:txBody>
      </p:sp>
      <p:sp>
        <p:nvSpPr>
          <p:cNvPr id="20" name="Google Shape;1102;gf2e797d000_0_270">
            <a:extLst>
              <a:ext uri="{FF2B5EF4-FFF2-40B4-BE49-F238E27FC236}">
                <a16:creationId xmlns:a16="http://schemas.microsoft.com/office/drawing/2014/main" id="{F20FE078-C889-4B7A-9573-AA8490DB162E}"/>
              </a:ext>
            </a:extLst>
          </p:cNvPr>
          <p:cNvSpPr txBox="1"/>
          <p:nvPr userDrawn="1"/>
        </p:nvSpPr>
        <p:spPr>
          <a:xfrm>
            <a:off x="15683010" y="9417642"/>
            <a:ext cx="1725745"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800" b="1" i="0" u="none" strike="noStrike" cap="none">
                <a:solidFill>
                  <a:srgbClr val="153A80"/>
                </a:solidFill>
                <a:latin typeface="Arial"/>
                <a:ea typeface="Arial"/>
                <a:cs typeface="Arial"/>
                <a:sym typeface="Arial"/>
              </a:rPr>
              <a:t>Washington DC</a:t>
            </a:r>
            <a:endParaRPr sz="1800" b="1" i="0" u="none" strike="noStrike" cap="none">
              <a:solidFill>
                <a:srgbClr val="153A80"/>
              </a:solidFill>
              <a:latin typeface="Arial"/>
              <a:ea typeface="Arial"/>
              <a:cs typeface="Arial"/>
              <a:sym typeface="Arial"/>
            </a:endParaRPr>
          </a:p>
        </p:txBody>
      </p:sp>
      <p:sp>
        <p:nvSpPr>
          <p:cNvPr id="37" name="Google Shape;1096;gf2e797d000_0_270">
            <a:extLst>
              <a:ext uri="{FF2B5EF4-FFF2-40B4-BE49-F238E27FC236}">
                <a16:creationId xmlns:a16="http://schemas.microsoft.com/office/drawing/2014/main" id="{38516AE8-FC7C-4947-BC6A-F007919EF547}"/>
              </a:ext>
            </a:extLst>
          </p:cNvPr>
          <p:cNvSpPr txBox="1"/>
          <p:nvPr userDrawn="1"/>
        </p:nvSpPr>
        <p:spPr>
          <a:xfrm>
            <a:off x="12527676" y="7872050"/>
            <a:ext cx="4845924"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2400" b="0" i="0" u="none" strike="noStrike" cap="none">
                <a:solidFill>
                  <a:srgbClr val="153A80"/>
                </a:solidFill>
                <a:latin typeface="Arial"/>
                <a:ea typeface="Arial"/>
                <a:cs typeface="Arial"/>
                <a:sym typeface="Arial"/>
              </a:rPr>
              <a:t>3ieimpact</a:t>
            </a:r>
            <a:endParaRPr sz="2400" b="0" i="0" u="none" strike="noStrike" cap="none">
              <a:solidFill>
                <a:srgbClr val="153A80"/>
              </a:solidFill>
              <a:latin typeface="Arial"/>
              <a:ea typeface="Arial"/>
              <a:cs typeface="Arial"/>
              <a:sym typeface="Arial"/>
            </a:endParaRPr>
          </a:p>
        </p:txBody>
      </p:sp>
      <p:sp>
        <p:nvSpPr>
          <p:cNvPr id="42" name="Google Shape;1456;gf2e797d000_0_971">
            <a:extLst>
              <a:ext uri="{FF2B5EF4-FFF2-40B4-BE49-F238E27FC236}">
                <a16:creationId xmlns:a16="http://schemas.microsoft.com/office/drawing/2014/main" id="{FB0ABFA2-C163-46BD-92B3-695B383F08BF}"/>
              </a:ext>
            </a:extLst>
          </p:cNvPr>
          <p:cNvSpPr/>
          <p:nvPr userDrawn="1"/>
        </p:nvSpPr>
        <p:spPr>
          <a:xfrm>
            <a:off x="0" y="0"/>
            <a:ext cx="10290630" cy="10287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1090;gf2e797d000_0_270">
            <a:extLst>
              <a:ext uri="{FF2B5EF4-FFF2-40B4-BE49-F238E27FC236}">
                <a16:creationId xmlns:a16="http://schemas.microsoft.com/office/drawing/2014/main" id="{511D40A3-D6EF-4D89-BD9A-A8D9B586E915}"/>
              </a:ext>
            </a:extLst>
          </p:cNvPr>
          <p:cNvSpPr/>
          <p:nvPr userDrawn="1"/>
        </p:nvSpPr>
        <p:spPr>
          <a:xfrm rot="5400000">
            <a:off x="4150150" y="3256143"/>
            <a:ext cx="2880707" cy="11181007"/>
          </a:xfrm>
          <a:custGeom>
            <a:avLst/>
            <a:gdLst/>
            <a:ahLst/>
            <a:cxnLst/>
            <a:rect l="l" t="t" r="r" b="b"/>
            <a:pathLst>
              <a:path w="2566331" h="9960808" extrusionOk="0">
                <a:moveTo>
                  <a:pt x="2566331" y="0"/>
                </a:moveTo>
                <a:lnTo>
                  <a:pt x="2566331" y="9960808"/>
                </a:lnTo>
                <a:lnTo>
                  <a:pt x="0" y="9960808"/>
                </a:lnTo>
                <a:lnTo>
                  <a:pt x="0" y="785368"/>
                </a:lnTo>
                <a:cubicBezTo>
                  <a:pt x="420370" y="716026"/>
                  <a:pt x="759206" y="405130"/>
                  <a:pt x="869315" y="0"/>
                </a:cubicBezTo>
                <a:lnTo>
                  <a:pt x="2566331" y="0"/>
                </a:lnTo>
                <a:close/>
              </a:path>
            </a:pathLst>
          </a:custGeom>
          <a:solidFill>
            <a:srgbClr val="007AA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151;p8">
            <a:extLst>
              <a:ext uri="{FF2B5EF4-FFF2-40B4-BE49-F238E27FC236}">
                <a16:creationId xmlns:a16="http://schemas.microsoft.com/office/drawing/2014/main" id="{DF274297-6532-4905-A4C2-160D25070CEB}"/>
              </a:ext>
            </a:extLst>
          </p:cNvPr>
          <p:cNvSpPr/>
          <p:nvPr userDrawn="1"/>
        </p:nvSpPr>
        <p:spPr>
          <a:xfrm>
            <a:off x="9428012" y="1488814"/>
            <a:ext cx="1754262" cy="1762125"/>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7AA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 name="Google Shape;141;g10a0fa76d9d_1_0">
            <a:extLst>
              <a:ext uri="{FF2B5EF4-FFF2-40B4-BE49-F238E27FC236}">
                <a16:creationId xmlns:a16="http://schemas.microsoft.com/office/drawing/2014/main" id="{FDF66FA4-4C23-4638-A543-C39C8652C8B9}"/>
              </a:ext>
            </a:extLst>
          </p:cNvPr>
          <p:cNvPicPr preferRelativeResize="0"/>
          <p:nvPr userDrawn="1"/>
        </p:nvPicPr>
        <p:blipFill rotWithShape="1">
          <a:blip r:embed="rId2">
            <a:alphaModFix/>
          </a:blip>
          <a:srcRect/>
          <a:stretch/>
        </p:blipFill>
        <p:spPr>
          <a:xfrm>
            <a:off x="9998720" y="1998379"/>
            <a:ext cx="612846" cy="742993"/>
          </a:xfrm>
          <a:prstGeom prst="rect">
            <a:avLst/>
          </a:prstGeom>
          <a:noFill/>
          <a:ln>
            <a:noFill/>
          </a:ln>
        </p:spPr>
      </p:pic>
      <p:sp>
        <p:nvSpPr>
          <p:cNvPr id="22" name="Picture Placeholder 2">
            <a:extLst>
              <a:ext uri="{FF2B5EF4-FFF2-40B4-BE49-F238E27FC236}">
                <a16:creationId xmlns:a16="http://schemas.microsoft.com/office/drawing/2014/main" id="{199FB697-8D79-484A-8074-EF461228CF7A}"/>
              </a:ext>
            </a:extLst>
          </p:cNvPr>
          <p:cNvSpPr>
            <a:spLocks noGrp="1"/>
          </p:cNvSpPr>
          <p:nvPr>
            <p:ph type="pic" sz="quarter" idx="10"/>
          </p:nvPr>
        </p:nvSpPr>
        <p:spPr>
          <a:xfrm>
            <a:off x="928915" y="586196"/>
            <a:ext cx="8215086" cy="6384448"/>
          </a:xfrm>
          <a:prstGeom prst="rect">
            <a:avLst/>
          </a:prstGeom>
        </p:spPr>
        <p:txBody>
          <a:bodyPr/>
          <a:lstStyle/>
          <a:p>
            <a:r>
              <a:rPr lang="en-US"/>
              <a:t>Click icon to add picture</a:t>
            </a:r>
          </a:p>
        </p:txBody>
      </p:sp>
      <p:pic>
        <p:nvPicPr>
          <p:cNvPr id="3" name="Picture 2" descr="Logo&#10;&#10;Description automatically generated">
            <a:extLst>
              <a:ext uri="{FF2B5EF4-FFF2-40B4-BE49-F238E27FC236}">
                <a16:creationId xmlns:a16="http://schemas.microsoft.com/office/drawing/2014/main" id="{62B85E00-7976-4B20-8DF2-D65E774971FD}"/>
              </a:ext>
            </a:extLst>
          </p:cNvPr>
          <p:cNvPicPr>
            <a:picLocks noChangeAspect="1"/>
          </p:cNvPicPr>
          <p:nvPr userDrawn="1"/>
        </p:nvPicPr>
        <p:blipFill>
          <a:blip r:embed="rId3"/>
          <a:stretch>
            <a:fillRect/>
          </a:stretch>
        </p:blipFill>
        <p:spPr>
          <a:xfrm>
            <a:off x="11891936" y="6055925"/>
            <a:ext cx="363698" cy="363698"/>
          </a:xfrm>
          <a:prstGeom prst="rect">
            <a:avLst/>
          </a:prstGeom>
        </p:spPr>
      </p:pic>
      <p:pic>
        <p:nvPicPr>
          <p:cNvPr id="5" name="Picture 4" descr="Icon&#10;&#10;Description automatically generated">
            <a:extLst>
              <a:ext uri="{FF2B5EF4-FFF2-40B4-BE49-F238E27FC236}">
                <a16:creationId xmlns:a16="http://schemas.microsoft.com/office/drawing/2014/main" id="{B83CA8B9-8759-4F0F-A654-CEDE19354A1B}"/>
              </a:ext>
            </a:extLst>
          </p:cNvPr>
          <p:cNvPicPr>
            <a:picLocks noChangeAspect="1"/>
          </p:cNvPicPr>
          <p:nvPr userDrawn="1"/>
        </p:nvPicPr>
        <p:blipFill>
          <a:blip r:embed="rId4"/>
          <a:stretch>
            <a:fillRect/>
          </a:stretch>
        </p:blipFill>
        <p:spPr>
          <a:xfrm>
            <a:off x="11889873" y="7215744"/>
            <a:ext cx="365760" cy="365760"/>
          </a:xfrm>
          <a:prstGeom prst="rect">
            <a:avLst/>
          </a:prstGeom>
        </p:spPr>
      </p:pic>
      <p:pic>
        <p:nvPicPr>
          <p:cNvPr id="7" name="Picture 6" descr="Icon&#10;&#10;Description automatically generated">
            <a:extLst>
              <a:ext uri="{FF2B5EF4-FFF2-40B4-BE49-F238E27FC236}">
                <a16:creationId xmlns:a16="http://schemas.microsoft.com/office/drawing/2014/main" id="{5AAEBBD5-8794-48A5-9A41-BB3636F3630F}"/>
              </a:ext>
            </a:extLst>
          </p:cNvPr>
          <p:cNvPicPr>
            <a:picLocks noChangeAspect="1"/>
          </p:cNvPicPr>
          <p:nvPr userDrawn="1"/>
        </p:nvPicPr>
        <p:blipFill>
          <a:blip r:embed="rId5"/>
          <a:stretch>
            <a:fillRect/>
          </a:stretch>
        </p:blipFill>
        <p:spPr>
          <a:xfrm>
            <a:off x="11904391" y="7875622"/>
            <a:ext cx="365760" cy="365760"/>
          </a:xfrm>
          <a:prstGeom prst="rect">
            <a:avLst/>
          </a:prstGeom>
        </p:spPr>
      </p:pic>
      <p:pic>
        <p:nvPicPr>
          <p:cNvPr id="10" name="Picture 9" descr="Icon&#10;&#10;Description automatically generated">
            <a:extLst>
              <a:ext uri="{FF2B5EF4-FFF2-40B4-BE49-F238E27FC236}">
                <a16:creationId xmlns:a16="http://schemas.microsoft.com/office/drawing/2014/main" id="{3F9ED33B-9F53-4CDA-ABEB-9E1F6FD827D7}"/>
              </a:ext>
            </a:extLst>
          </p:cNvPr>
          <p:cNvPicPr>
            <a:picLocks noChangeAspect="1"/>
          </p:cNvPicPr>
          <p:nvPr userDrawn="1"/>
        </p:nvPicPr>
        <p:blipFill>
          <a:blip r:embed="rId6"/>
          <a:stretch>
            <a:fillRect/>
          </a:stretch>
        </p:blipFill>
        <p:spPr>
          <a:xfrm>
            <a:off x="11889872" y="6623067"/>
            <a:ext cx="365760" cy="365760"/>
          </a:xfrm>
          <a:prstGeom prst="rect">
            <a:avLst/>
          </a:prstGeom>
        </p:spPr>
      </p:pic>
      <p:pic>
        <p:nvPicPr>
          <p:cNvPr id="23" name="Picture 22" descr="Logo, icon&#10;&#10;Description automatically generated">
            <a:extLst>
              <a:ext uri="{FF2B5EF4-FFF2-40B4-BE49-F238E27FC236}">
                <a16:creationId xmlns:a16="http://schemas.microsoft.com/office/drawing/2014/main" id="{814FF57F-C7CA-4C06-8827-B4F269DD6AD6}"/>
              </a:ext>
            </a:extLst>
          </p:cNvPr>
          <p:cNvPicPr>
            <a:picLocks noChangeAspect="1"/>
          </p:cNvPicPr>
          <p:nvPr userDrawn="1"/>
        </p:nvPicPr>
        <p:blipFill>
          <a:blip r:embed="rId7"/>
          <a:stretch>
            <a:fillRect/>
          </a:stretch>
        </p:blipFill>
        <p:spPr>
          <a:xfrm>
            <a:off x="11889874" y="8471949"/>
            <a:ext cx="365760" cy="365760"/>
          </a:xfrm>
          <a:prstGeom prst="rect">
            <a:avLst/>
          </a:prstGeom>
        </p:spPr>
      </p:pic>
      <p:pic>
        <p:nvPicPr>
          <p:cNvPr id="27" name="Picture 26" descr="Icon&#10;&#10;Description automatically generated">
            <a:extLst>
              <a:ext uri="{FF2B5EF4-FFF2-40B4-BE49-F238E27FC236}">
                <a16:creationId xmlns:a16="http://schemas.microsoft.com/office/drawing/2014/main" id="{2208CDEF-4D86-47CC-BC9C-6A9D18317748}"/>
              </a:ext>
            </a:extLst>
          </p:cNvPr>
          <p:cNvPicPr>
            <a:picLocks noChangeAspect="1"/>
          </p:cNvPicPr>
          <p:nvPr userDrawn="1"/>
        </p:nvPicPr>
        <p:blipFill>
          <a:blip r:embed="rId8"/>
          <a:stretch>
            <a:fillRect/>
          </a:stretch>
        </p:blipFill>
        <p:spPr>
          <a:xfrm>
            <a:off x="11889874" y="5449962"/>
            <a:ext cx="365760" cy="365760"/>
          </a:xfrm>
          <a:prstGeom prst="rect">
            <a:avLst/>
          </a:prstGeom>
        </p:spPr>
      </p:pic>
    </p:spTree>
    <p:extLst>
      <p:ext uri="{BB962C8B-B14F-4D97-AF65-F5344CB8AC3E}">
        <p14:creationId xmlns:p14="http://schemas.microsoft.com/office/powerpoint/2010/main" val="2169973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9" r:id="rId1"/>
    <p:sldLayoutId id="2147483687" r:id="rId2"/>
    <p:sldLayoutId id="2147483683" r:id="rId3"/>
    <p:sldLayoutId id="2147483681" r:id="rId4"/>
    <p:sldLayoutId id="2147483670" r:id="rId5"/>
    <p:sldLayoutId id="2147483669" r:id="rId6"/>
    <p:sldLayoutId id="2147483688" r:id="rId7"/>
    <p:sldLayoutId id="2147483677" r:id="rId8"/>
    <p:sldLayoutId id="2147483667" r:id="rId9"/>
    <p:sldLayoutId id="2147483674" r:id="rId10"/>
    <p:sldLayoutId id="2147483668" r:id="rId11"/>
    <p:sldLayoutId id="2147483676" r:id="rId12"/>
    <p:sldLayoutId id="2147483673" r:id="rId13"/>
    <p:sldLayoutId id="2147483671" r:id="rId14"/>
    <p:sldLayoutId id="2147483666" r:id="rId15"/>
    <p:sldLayoutId id="2147483672" r:id="rId16"/>
    <p:sldLayoutId id="2147483675" r:id="rId17"/>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cs_means_noIV.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5.sv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microsoft.com/office/2018/10/relationships/comments" Target="../comments/modernComment_228_D8B0562E.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15.sv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svg"/><Relationship Id="rId3" Type="http://schemas.openxmlformats.org/officeDocument/2006/relationships/image" Target="../media/image12.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7.svg"/><Relationship Id="rId11" Type="http://schemas.openxmlformats.org/officeDocument/2006/relationships/image" Target="../media/image32.svg"/><Relationship Id="rId5" Type="http://schemas.openxmlformats.org/officeDocument/2006/relationships/image" Target="../media/image26.svg"/><Relationship Id="rId15" Type="http://schemas.openxmlformats.org/officeDocument/2006/relationships/image" Target="../media/image36.svg"/><Relationship Id="rId10" Type="http://schemas.openxmlformats.org/officeDocument/2006/relationships/image" Target="../media/image31.sv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sv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4.svg"/><Relationship Id="rId3" Type="http://schemas.openxmlformats.org/officeDocument/2006/relationships/image" Target="../media/image12.png"/><Relationship Id="rId7" Type="http://schemas.openxmlformats.org/officeDocument/2006/relationships/image" Target="../media/image29.svg"/><Relationship Id="rId12"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8.png"/><Relationship Id="rId11" Type="http://schemas.openxmlformats.org/officeDocument/2006/relationships/image" Target="../media/image32.svg"/><Relationship Id="rId5" Type="http://schemas.openxmlformats.org/officeDocument/2006/relationships/image" Target="../media/image26.svg"/><Relationship Id="rId15" Type="http://schemas.openxmlformats.org/officeDocument/2006/relationships/image" Target="../media/image36.svg"/><Relationship Id="rId10" Type="http://schemas.openxmlformats.org/officeDocument/2006/relationships/image" Target="../media/image31.sv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svg"/></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cs_did.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openxmlformats.org/officeDocument/2006/relationships/image" Target="../media/image29.svg"/><Relationship Id="rId12" Type="http://schemas.openxmlformats.org/officeDocument/2006/relationships/image" Target="../media/image17.sv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28.png"/><Relationship Id="rId11" Type="http://schemas.openxmlformats.org/officeDocument/2006/relationships/image" Target="../media/image16.png"/><Relationship Id="rId5" Type="http://schemas.openxmlformats.org/officeDocument/2006/relationships/image" Target="../media/image26.svg"/><Relationship Id="rId10" Type="http://schemas.openxmlformats.org/officeDocument/2006/relationships/image" Target="../media/image27.svg"/><Relationship Id="rId4" Type="http://schemas.openxmlformats.org/officeDocument/2006/relationships/image" Target="../media/image25.png"/><Relationship Id="rId9" Type="http://schemas.openxmlformats.org/officeDocument/2006/relationships/image" Target="../media/image15.svg"/></Relationships>
</file>

<file path=ppt/slides/_rels/slide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png"/></Relationships>
</file>

<file path=ppt/slides/_rels/slide68.xml.rels><?xml version="1.0" encoding="UTF-8" standalone="yes"?>
<Relationships xmlns="http://schemas.openxmlformats.org/package/2006/relationships"><Relationship Id="rId3" Type="http://schemas.openxmlformats.org/officeDocument/2006/relationships/image" Target="../media/cs_ba.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cs_en.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cs_rct.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cs_cem_before.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cs_cem_after.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032C24-965C-A69F-68C6-E5784AAB99A1}"/>
              </a:ext>
            </a:extLst>
          </p:cNvPr>
          <p:cNvSpPr>
            <a:spLocks noGrp="1"/>
          </p:cNvSpPr>
          <p:nvPr>
            <p:ph type="body" sz="quarter" idx="10"/>
          </p:nvPr>
        </p:nvSpPr>
        <p:spPr>
          <a:xfrm>
            <a:off x="901699" y="319711"/>
            <a:ext cx="16929101" cy="3192116"/>
          </a:xfrm>
        </p:spPr>
        <p:txBody>
          <a:bodyPr vert="horz" lIns="137160" tIns="68580" rIns="137160" bIns="68580" rtlCol="0" anchor="t">
            <a:normAutofit/>
          </a:bodyPr>
          <a:lstStyle/>
          <a:p>
            <a:r>
              <a:rPr lang="en-US" sz="7200" dirty="0"/>
              <a:t>Case Study</a:t>
            </a:r>
          </a:p>
        </p:txBody>
      </p:sp>
      <p:sp>
        <p:nvSpPr>
          <p:cNvPr id="4" name="Text Placeholder 3">
            <a:extLst>
              <a:ext uri="{FF2B5EF4-FFF2-40B4-BE49-F238E27FC236}">
                <a16:creationId xmlns:a16="http://schemas.microsoft.com/office/drawing/2014/main" id="{D61A0A70-2D5E-38A3-0423-BE5EDE8C9207}"/>
              </a:ext>
            </a:extLst>
          </p:cNvPr>
          <p:cNvSpPr>
            <a:spLocks noGrp="1"/>
          </p:cNvSpPr>
          <p:nvPr>
            <p:ph type="body" sz="quarter" idx="12"/>
          </p:nvPr>
        </p:nvSpPr>
        <p:spPr>
          <a:xfrm>
            <a:off x="2907445" y="5322794"/>
            <a:ext cx="14458823" cy="887412"/>
          </a:xfrm>
        </p:spPr>
        <p:txBody>
          <a:bodyPr>
            <a:noAutofit/>
          </a:bodyPr>
          <a:lstStyle/>
          <a:p>
            <a:endParaRPr lang="en-US" sz="4200" dirty="0">
              <a:latin typeface="Arial" panose="020B0604020202020204" pitchFamily="34" charset="0"/>
              <a:cs typeface="Arial" panose="020B0604020202020204" pitchFamily="34" charset="0"/>
            </a:endParaRPr>
          </a:p>
        </p:txBody>
      </p:sp>
      <p:sp>
        <p:nvSpPr>
          <p:cNvPr id="5" name="Text Placeholder 4">
            <a:extLst>
              <a:ext uri="{FF2B5EF4-FFF2-40B4-BE49-F238E27FC236}">
                <a16:creationId xmlns:a16="http://schemas.microsoft.com/office/drawing/2014/main" id="{5E3AC4B9-2CC1-900C-49BD-7EAC64EDAAEF}"/>
              </a:ext>
            </a:extLst>
          </p:cNvPr>
          <p:cNvSpPr>
            <a:spLocks noGrp="1"/>
          </p:cNvSpPr>
          <p:nvPr>
            <p:ph type="body" sz="quarter" idx="13"/>
          </p:nvPr>
        </p:nvSpPr>
        <p:spPr>
          <a:xfrm>
            <a:off x="9141430" y="6227192"/>
            <a:ext cx="8224838" cy="393363"/>
          </a:xfrm>
        </p:spPr>
        <p:txBody>
          <a:bodyPr>
            <a:noAutofit/>
          </a:bodyPr>
          <a:lstStyle/>
          <a:p>
            <a:endParaRPr lang="en-US" sz="3000" dirty="0">
              <a:latin typeface="Arial" panose="020B0604020202020204" pitchFamily="34" charset="0"/>
              <a:cs typeface="Arial" panose="020B0604020202020204" pitchFamily="34" charset="0"/>
            </a:endParaRPr>
          </a:p>
        </p:txBody>
      </p:sp>
      <p:sp>
        <p:nvSpPr>
          <p:cNvPr id="6" name="Text Placeholder 5">
            <a:extLst>
              <a:ext uri="{FF2B5EF4-FFF2-40B4-BE49-F238E27FC236}">
                <a16:creationId xmlns:a16="http://schemas.microsoft.com/office/drawing/2014/main" id="{CE3BF26C-CC50-F56B-6889-67B7A372D214}"/>
              </a:ext>
            </a:extLst>
          </p:cNvPr>
          <p:cNvSpPr>
            <a:spLocks noGrp="1"/>
          </p:cNvSpPr>
          <p:nvPr>
            <p:ph type="body" sz="quarter" idx="17"/>
          </p:nvPr>
        </p:nvSpPr>
        <p:spPr>
          <a:xfrm>
            <a:off x="9141430" y="6901099"/>
            <a:ext cx="8224838" cy="456647"/>
          </a:xfrm>
        </p:spPr>
        <p:txBody>
          <a:bodyPr>
            <a:noAutofit/>
          </a:bodyPr>
          <a:lstStyle/>
          <a:p>
            <a:endParaRPr lang="en-US" sz="3000" dirty="0">
              <a:latin typeface="Arial" panose="020B0604020202020204" pitchFamily="34" charset="0"/>
              <a:cs typeface="Arial" panose="020B0604020202020204" pitchFamily="34" charset="0"/>
            </a:endParaRPr>
          </a:p>
        </p:txBody>
      </p:sp>
      <p:sp>
        <p:nvSpPr>
          <p:cNvPr id="7" name="Text Placeholder 6">
            <a:extLst>
              <a:ext uri="{FF2B5EF4-FFF2-40B4-BE49-F238E27FC236}">
                <a16:creationId xmlns:a16="http://schemas.microsoft.com/office/drawing/2014/main" id="{F6AD85A6-C714-E45B-167A-4F8D97C5462A}"/>
              </a:ext>
            </a:extLst>
          </p:cNvPr>
          <p:cNvSpPr>
            <a:spLocks noGrp="1"/>
          </p:cNvSpPr>
          <p:nvPr>
            <p:ph type="body" sz="quarter" idx="14"/>
          </p:nvPr>
        </p:nvSpPr>
        <p:spPr/>
        <p:txBody>
          <a:bodyPr/>
          <a:lstStyle/>
          <a:p>
            <a:endParaRPr lang="en-US"/>
          </a:p>
        </p:txBody>
      </p:sp>
      <p:sp>
        <p:nvSpPr>
          <p:cNvPr id="8" name="Text Placeholder 7">
            <a:extLst>
              <a:ext uri="{FF2B5EF4-FFF2-40B4-BE49-F238E27FC236}">
                <a16:creationId xmlns:a16="http://schemas.microsoft.com/office/drawing/2014/main" id="{B5302A01-D917-AC4C-2D4C-BBF4858A493C}"/>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14575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0B02D4-D27E-62D4-DED6-6E05E2131F14}"/>
              </a:ext>
            </a:extLst>
          </p:cNvPr>
          <p:cNvSpPr>
            <a:spLocks noGrp="1"/>
          </p:cNvSpPr>
          <p:nvPr>
            <p:ph type="body" sz="quarter" idx="19"/>
          </p:nvPr>
        </p:nvSpPr>
        <p:spPr/>
        <p:txBody>
          <a:bodyPr/>
          <a:lstStyle/>
          <a:p>
            <a:r>
              <a:rPr lang="en-US" dirty="0"/>
              <a:t>Background</a:t>
            </a:r>
          </a:p>
        </p:txBody>
      </p:sp>
      <p:sp>
        <p:nvSpPr>
          <p:cNvPr id="3" name="Text Placeholder 2">
            <a:extLst>
              <a:ext uri="{FF2B5EF4-FFF2-40B4-BE49-F238E27FC236}">
                <a16:creationId xmlns:a16="http://schemas.microsoft.com/office/drawing/2014/main" id="{6137F383-3FFC-05E1-B20F-1434CACF4303}"/>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109413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C5A11C-6FF8-6B39-C188-8333D76B7F44}"/>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62AE6810-606E-6201-AC24-DD39B08C4370}"/>
              </a:ext>
            </a:extLst>
          </p:cNvPr>
          <p:cNvSpPr>
            <a:spLocks noGrp="1"/>
          </p:cNvSpPr>
          <p:nvPr>
            <p:ph type="body" sz="quarter" idx="18"/>
          </p:nvPr>
        </p:nvSpPr>
        <p:spPr/>
        <p:txBody>
          <a:bodyPr/>
          <a:lstStyle/>
          <a:p>
            <a:r>
              <a:rPr lang="en-US" dirty="0"/>
              <a:t>The </a:t>
            </a:r>
            <a:r>
              <a:rPr lang="en-US" dirty="0" err="1"/>
              <a:t>GreenWaste</a:t>
            </a:r>
            <a:r>
              <a:rPr lang="en-US" dirty="0"/>
              <a:t> Innovation Program</a:t>
            </a:r>
          </a:p>
        </p:txBody>
      </p:sp>
      <p:sp>
        <p:nvSpPr>
          <p:cNvPr id="5" name="Content Placeholder 4">
            <a:extLst>
              <a:ext uri="{FF2B5EF4-FFF2-40B4-BE49-F238E27FC236}">
                <a16:creationId xmlns:a16="http://schemas.microsoft.com/office/drawing/2014/main" id="{5C81F8D3-A627-313E-4933-F7F273ED9FDE}"/>
              </a:ext>
            </a:extLst>
          </p:cNvPr>
          <p:cNvSpPr>
            <a:spLocks noGrp="1"/>
          </p:cNvSpPr>
          <p:nvPr>
            <p:ph sz="quarter" idx="23"/>
          </p:nvPr>
        </p:nvSpPr>
        <p:spPr>
          <a:xfrm>
            <a:off x="926615" y="1513491"/>
            <a:ext cx="16939353" cy="7862738"/>
          </a:xfrm>
        </p:spPr>
        <p:txBody>
          <a:bodyPr/>
          <a:lstStyle/>
          <a:p>
            <a:pPr lvl="0"/>
            <a:r>
              <a:rPr lang="en-US" dirty="0"/>
              <a:t>Government program subsidizing innovative waste management technologies</a:t>
            </a:r>
          </a:p>
          <a:p>
            <a:pPr lvl="0"/>
            <a:r>
              <a:rPr lang="en-US" dirty="0"/>
              <a:t>Goal: Reduce waste management costs</a:t>
            </a:r>
          </a:p>
          <a:p>
            <a:pPr lvl="0"/>
            <a:r>
              <a:rPr lang="en-US" dirty="0"/>
              <a:t>Policy question: Should the program be scaled up nationally?</a:t>
            </a:r>
          </a:p>
          <a:p>
            <a:pPr lvl="0"/>
            <a:r>
              <a:rPr lang="en-US" dirty="0"/>
              <a:t>Decision criterion: Program must reduce waste management at least 1,000 Dirham (AED)</a:t>
            </a:r>
          </a:p>
          <a:p>
            <a:endParaRPr lang="en-US" dirty="0"/>
          </a:p>
        </p:txBody>
      </p:sp>
    </p:spTree>
    <p:extLst>
      <p:ext uri="{BB962C8B-B14F-4D97-AF65-F5344CB8AC3E}">
        <p14:creationId xmlns:p14="http://schemas.microsoft.com/office/powerpoint/2010/main" val="4230593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876634-8A50-151C-840F-079525DDC644}"/>
              </a:ext>
            </a:extLst>
          </p:cNvPr>
          <p:cNvSpPr>
            <a:spLocks noGrp="1"/>
          </p:cNvSpPr>
          <p:nvPr>
            <p:ph type="body" sz="quarter" idx="18"/>
          </p:nvPr>
        </p:nvSpPr>
        <p:spPr/>
        <p:txBody>
          <a:bodyPr/>
          <a:lstStyle/>
          <a:p>
            <a:r>
              <a:rPr lang="en-US" dirty="0"/>
              <a:t>The GreenWaste Innovation Program Features</a:t>
            </a:r>
          </a:p>
        </p:txBody>
      </p:sp>
      <p:sp>
        <p:nvSpPr>
          <p:cNvPr id="5" name="Content Placeholder 4">
            <a:extLst>
              <a:ext uri="{FF2B5EF4-FFF2-40B4-BE49-F238E27FC236}">
                <a16:creationId xmlns:a16="http://schemas.microsoft.com/office/drawing/2014/main" id="{17466E03-645D-01E2-80FA-D7832EE7051F}"/>
              </a:ext>
            </a:extLst>
          </p:cNvPr>
          <p:cNvSpPr>
            <a:spLocks noGrp="1"/>
          </p:cNvSpPr>
          <p:nvPr>
            <p:ph sz="quarter" idx="23"/>
          </p:nvPr>
        </p:nvSpPr>
        <p:spPr>
          <a:xfrm>
            <a:off x="926615" y="1292773"/>
            <a:ext cx="16939353" cy="8083456"/>
          </a:xfrm>
        </p:spPr>
        <p:txBody>
          <a:bodyPr/>
          <a:lstStyle/>
          <a:p>
            <a:r>
              <a:rPr lang="en-GB" sz="3200" dirty="0"/>
              <a:t>Subsidies for purchasing or supporting new waste management technologies, which can include any of the following waste management upgrades: </a:t>
            </a:r>
            <a:endParaRPr lang="en-US" sz="3200" dirty="0"/>
          </a:p>
          <a:p>
            <a:pPr lvl="2"/>
            <a:r>
              <a:rPr lang="en-GB" dirty="0"/>
              <a:t>Additional or updated recycling bins with descriptions of which items belong into which bin.</a:t>
            </a:r>
            <a:endParaRPr lang="en-US" dirty="0"/>
          </a:p>
          <a:p>
            <a:pPr lvl="2"/>
            <a:r>
              <a:rPr lang="en-GB" dirty="0"/>
              <a:t>AI-powered recycling app subscription for employees that provides information about which materials are recyclable and allows them to take a picture or scan their trash and classifies in which bin it belongs.</a:t>
            </a:r>
            <a:endParaRPr lang="en-US" dirty="0"/>
          </a:p>
          <a:p>
            <a:pPr lvl="2"/>
            <a:r>
              <a:rPr lang="en-GB" dirty="0"/>
              <a:t>“Smart” garbage/recycling bins that use optical sensors and AI to monitor fill levels, contamination, and even automate sorting and separating of recycle-able materials from other trash. </a:t>
            </a:r>
            <a:endParaRPr lang="en-US" dirty="0"/>
          </a:p>
          <a:p>
            <a:pPr lvl="2"/>
            <a:r>
              <a:rPr lang="en-GB" dirty="0"/>
              <a:t>Sustainable production practices such as creating bio-degradable or reusable products.</a:t>
            </a:r>
            <a:endParaRPr lang="en-US" dirty="0"/>
          </a:p>
          <a:p>
            <a:pPr lvl="2"/>
            <a:r>
              <a:rPr lang="en-GB" dirty="0"/>
              <a:t>Installation/connection to pneumatic waste pipes, which are a series of underground pipes under garbage bins that eliminate the need for traditional trash pick-ups.</a:t>
            </a:r>
            <a:endParaRPr lang="en-US" dirty="0"/>
          </a:p>
          <a:p>
            <a:r>
              <a:rPr lang="en-GB" sz="3200" dirty="0"/>
              <a:t>Technical assistance for implementation (e.g., how to get access to and install “smart” trash bins)</a:t>
            </a:r>
            <a:endParaRPr lang="en-US" sz="3200" dirty="0"/>
          </a:p>
          <a:p>
            <a:r>
              <a:rPr lang="en-GB" sz="3200" dirty="0"/>
              <a:t>Training for employees (e.g., encouraging recycling by outlining the benefits, and info on which materials are recyclable)</a:t>
            </a:r>
            <a:endParaRPr lang="en-US" sz="3200" dirty="0"/>
          </a:p>
          <a:p>
            <a:endParaRPr lang="en-US" dirty="0"/>
          </a:p>
        </p:txBody>
      </p:sp>
    </p:spTree>
    <p:extLst>
      <p:ext uri="{BB962C8B-B14F-4D97-AF65-F5344CB8AC3E}">
        <p14:creationId xmlns:p14="http://schemas.microsoft.com/office/powerpoint/2010/main" val="971155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69C52-E9EB-5C31-5A83-19A8231C615E}"/>
            </a:ext>
          </a:extLst>
        </p:cNvPr>
        <p:cNvGrpSpPr/>
        <p:nvPr/>
      </p:nvGrpSpPr>
      <p:grpSpPr>
        <a:xfrm>
          <a:off x="0" y="0"/>
          <a:ext cx="0" cy="0"/>
          <a:chOff x="0" y="0"/>
          <a:chExt cx="0" cy="0"/>
        </a:xfrm>
      </p:grpSpPr>
      <p:pic>
        <p:nvPicPr>
          <p:cNvPr id="13" name="Content Placeholder 6">
            <a:extLst>
              <a:ext uri="{FF2B5EF4-FFF2-40B4-BE49-F238E27FC236}">
                <a16:creationId xmlns:a16="http://schemas.microsoft.com/office/drawing/2014/main" id="{7809277A-7296-6CE8-5F1D-371BC16FCC70}"/>
              </a:ext>
            </a:extLst>
          </p:cNvPr>
          <p:cNvPicPr>
            <a:picLocks noChangeAspect="1"/>
          </p:cNvPicPr>
          <p:nvPr/>
        </p:nvPicPr>
        <p:blipFill>
          <a:blip r:embed="rId3"/>
          <a:stretch>
            <a:fillRect/>
          </a:stretch>
        </p:blipFill>
        <p:spPr>
          <a:xfrm>
            <a:off x="5647350" y="1616536"/>
            <a:ext cx="7359650" cy="7359650"/>
          </a:xfrm>
          <a:prstGeom prst="rect">
            <a:avLst/>
          </a:prstGeom>
        </p:spPr>
      </p:pic>
      <p:sp>
        <p:nvSpPr>
          <p:cNvPr id="3" name="Text Placeholder 2">
            <a:extLst>
              <a:ext uri="{FF2B5EF4-FFF2-40B4-BE49-F238E27FC236}">
                <a16:creationId xmlns:a16="http://schemas.microsoft.com/office/drawing/2014/main" id="{ADA8307B-8726-09B6-8EA5-97C2306F7DB5}"/>
              </a:ext>
            </a:extLst>
          </p:cNvPr>
          <p:cNvSpPr>
            <a:spLocks noGrp="1"/>
          </p:cNvSpPr>
          <p:nvPr>
            <p:ph type="body" sz="quarter" idx="18"/>
          </p:nvPr>
        </p:nvSpPr>
        <p:spPr/>
        <p:txBody>
          <a:bodyPr/>
          <a:lstStyle/>
          <a:p>
            <a:r>
              <a:rPr lang="en-US" dirty="0"/>
              <a:t>Map of the Emirate with 200 Neighborhoods</a:t>
            </a:r>
          </a:p>
        </p:txBody>
      </p:sp>
      <p:sp>
        <p:nvSpPr>
          <p:cNvPr id="8" name="TextBox 7">
            <a:extLst>
              <a:ext uri="{FF2B5EF4-FFF2-40B4-BE49-F238E27FC236}">
                <a16:creationId xmlns:a16="http://schemas.microsoft.com/office/drawing/2014/main" id="{EB6D61A8-E806-4321-539A-FA6B674414F9}"/>
              </a:ext>
            </a:extLst>
          </p:cNvPr>
          <p:cNvSpPr txBox="1"/>
          <p:nvPr/>
        </p:nvSpPr>
        <p:spPr>
          <a:xfrm>
            <a:off x="14980535" y="2439275"/>
            <a:ext cx="2692610" cy="892552"/>
          </a:xfrm>
          <a:prstGeom prst="rect">
            <a:avLst/>
          </a:prstGeom>
          <a:noFill/>
        </p:spPr>
        <p:txBody>
          <a:bodyPr wrap="square" rtlCol="0">
            <a:spAutoFit/>
          </a:bodyPr>
          <a:lstStyle/>
          <a:p>
            <a:pPr algn="ctr"/>
            <a:r>
              <a:rPr lang="en-US" sz="2600" b="1" dirty="0"/>
              <a:t>Control Neighborhoods</a:t>
            </a:r>
          </a:p>
        </p:txBody>
      </p:sp>
      <p:sp>
        <p:nvSpPr>
          <p:cNvPr id="9" name="TextBox 8">
            <a:extLst>
              <a:ext uri="{FF2B5EF4-FFF2-40B4-BE49-F238E27FC236}">
                <a16:creationId xmlns:a16="http://schemas.microsoft.com/office/drawing/2014/main" id="{00706616-B257-B521-B6B3-DC794BE67A3E}"/>
              </a:ext>
            </a:extLst>
          </p:cNvPr>
          <p:cNvSpPr txBox="1"/>
          <p:nvPr/>
        </p:nvSpPr>
        <p:spPr>
          <a:xfrm>
            <a:off x="15023371" y="4123807"/>
            <a:ext cx="2692609" cy="892552"/>
          </a:xfrm>
          <a:prstGeom prst="rect">
            <a:avLst/>
          </a:prstGeom>
          <a:noFill/>
        </p:spPr>
        <p:txBody>
          <a:bodyPr wrap="square" rtlCol="0">
            <a:spAutoFit/>
          </a:bodyPr>
          <a:lstStyle/>
          <a:p>
            <a:pPr algn="ctr"/>
            <a:r>
              <a:rPr lang="en-US" sz="2600" b="1" dirty="0"/>
              <a:t> Treatment Neighborhoods</a:t>
            </a:r>
          </a:p>
        </p:txBody>
      </p:sp>
      <p:sp>
        <p:nvSpPr>
          <p:cNvPr id="12" name="Oval 11">
            <a:extLst>
              <a:ext uri="{FF2B5EF4-FFF2-40B4-BE49-F238E27FC236}">
                <a16:creationId xmlns:a16="http://schemas.microsoft.com/office/drawing/2014/main" id="{72677488-CDE6-9752-2628-92EE4C81CFC7}"/>
              </a:ext>
            </a:extLst>
          </p:cNvPr>
          <p:cNvSpPr/>
          <p:nvPr/>
        </p:nvSpPr>
        <p:spPr>
          <a:xfrm>
            <a:off x="13211504" y="2439275"/>
            <a:ext cx="1403131" cy="1019693"/>
          </a:xfrm>
          <a:prstGeom prst="ellipse">
            <a:avLst/>
          </a:prstGeom>
          <a:solidFill>
            <a:srgbClr val="EE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CE3DA73-AEB9-61F9-EEE6-E61B00F122CE}"/>
              </a:ext>
            </a:extLst>
          </p:cNvPr>
          <p:cNvSpPr/>
          <p:nvPr/>
        </p:nvSpPr>
        <p:spPr>
          <a:xfrm>
            <a:off x="13211504" y="4123807"/>
            <a:ext cx="1403131" cy="1019693"/>
          </a:xfrm>
          <a:prstGeom prst="ellipse">
            <a:avLst/>
          </a:prstGeom>
          <a:solidFill>
            <a:srgbClr val="1B8E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1AD8269-697A-2E78-1D0E-35C1097D290D}"/>
              </a:ext>
            </a:extLst>
          </p:cNvPr>
          <p:cNvSpPr txBox="1"/>
          <p:nvPr/>
        </p:nvSpPr>
        <p:spPr>
          <a:xfrm>
            <a:off x="12707391" y="5732590"/>
            <a:ext cx="5375657" cy="3293209"/>
          </a:xfrm>
          <a:prstGeom prst="rect">
            <a:avLst/>
          </a:prstGeom>
          <a:noFill/>
        </p:spPr>
        <p:txBody>
          <a:bodyPr wrap="square" rtlCol="0">
            <a:spAutoFit/>
          </a:bodyPr>
          <a:lstStyle/>
          <a:p>
            <a:pPr marL="457200" indent="-457200" algn="ctr">
              <a:buFont typeface="Arial" panose="020B0604020202020204" pitchFamily="34" charset="0"/>
              <a:buChar char="•"/>
            </a:pPr>
            <a:r>
              <a:rPr lang="en-US" sz="2600" b="1" dirty="0"/>
              <a:t>Each neighborhood has multiple eligible and ineligible businesses. </a:t>
            </a:r>
          </a:p>
          <a:p>
            <a:pPr marL="457200" indent="-457200" algn="ctr">
              <a:buFont typeface="Arial" panose="020B0604020202020204" pitchFamily="34" charset="0"/>
              <a:buChar char="•"/>
            </a:pPr>
            <a:r>
              <a:rPr lang="en-US" sz="2600" b="1" dirty="0"/>
              <a:t>The program is only available to those in treatment neighborhoods (blue) that are also eligible (those with an efficiency score&lt;=58). </a:t>
            </a:r>
          </a:p>
        </p:txBody>
      </p:sp>
      <p:sp>
        <p:nvSpPr>
          <p:cNvPr id="5" name="Speech Bubble: Oval 4">
            <a:extLst>
              <a:ext uri="{FF2B5EF4-FFF2-40B4-BE49-F238E27FC236}">
                <a16:creationId xmlns:a16="http://schemas.microsoft.com/office/drawing/2014/main" id="{9F6C9FBF-7BA5-5ADD-044D-7A993D9BA3CF}"/>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0E7D624-36C6-8011-F5EF-4FCC72F14CBF}"/>
              </a:ext>
            </a:extLst>
          </p:cNvPr>
          <p:cNvPicPr>
            <a:picLocks noChangeAspect="1"/>
          </p:cNvPicPr>
          <p:nvPr/>
        </p:nvPicPr>
        <p:blipFill>
          <a:blip r:embed="rId4"/>
          <a:stretch>
            <a:fillRect/>
          </a:stretch>
        </p:blipFill>
        <p:spPr>
          <a:xfrm>
            <a:off x="1795111" y="2176946"/>
            <a:ext cx="3192019" cy="2309761"/>
          </a:xfrm>
          <a:prstGeom prst="rect">
            <a:avLst/>
          </a:prstGeom>
        </p:spPr>
      </p:pic>
      <p:sp>
        <p:nvSpPr>
          <p:cNvPr id="14" name="Rectangle 13">
            <a:extLst>
              <a:ext uri="{FF2B5EF4-FFF2-40B4-BE49-F238E27FC236}">
                <a16:creationId xmlns:a16="http://schemas.microsoft.com/office/drawing/2014/main" id="{60FA8784-44E3-0399-132E-7F6FB8434D85}"/>
              </a:ext>
            </a:extLst>
          </p:cNvPr>
          <p:cNvSpPr/>
          <p:nvPr/>
        </p:nvSpPr>
        <p:spPr>
          <a:xfrm>
            <a:off x="1444531" y="5296361"/>
            <a:ext cx="1481251" cy="14153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890A102-5F58-952A-CFC4-2F7AEFBAFFF9}"/>
              </a:ext>
            </a:extLst>
          </p:cNvPr>
          <p:cNvSpPr/>
          <p:nvPr/>
        </p:nvSpPr>
        <p:spPr>
          <a:xfrm>
            <a:off x="1472091" y="7425926"/>
            <a:ext cx="1481251" cy="14153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City outline">
            <a:extLst>
              <a:ext uri="{FF2B5EF4-FFF2-40B4-BE49-F238E27FC236}">
                <a16:creationId xmlns:a16="http://schemas.microsoft.com/office/drawing/2014/main" id="{04008AEE-9535-E296-9D6E-C4BBB74F62A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67322" y="7507853"/>
            <a:ext cx="1285798" cy="1285798"/>
          </a:xfrm>
          <a:prstGeom prst="rect">
            <a:avLst/>
          </a:prstGeom>
        </p:spPr>
      </p:pic>
      <p:sp>
        <p:nvSpPr>
          <p:cNvPr id="19" name="Equals 18">
            <a:extLst>
              <a:ext uri="{FF2B5EF4-FFF2-40B4-BE49-F238E27FC236}">
                <a16:creationId xmlns:a16="http://schemas.microsoft.com/office/drawing/2014/main" id="{E4BE9783-BBFD-2715-3782-71CB59B177DA}"/>
              </a:ext>
            </a:extLst>
          </p:cNvPr>
          <p:cNvSpPr/>
          <p:nvPr/>
        </p:nvSpPr>
        <p:spPr>
          <a:xfrm>
            <a:off x="3169964" y="7783819"/>
            <a:ext cx="730328" cy="628307"/>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TextBox 19">
            <a:extLst>
              <a:ext uri="{FF2B5EF4-FFF2-40B4-BE49-F238E27FC236}">
                <a16:creationId xmlns:a16="http://schemas.microsoft.com/office/drawing/2014/main" id="{C45948BE-9BC7-C652-4CFA-4BFB2F500111}"/>
              </a:ext>
            </a:extLst>
          </p:cNvPr>
          <p:cNvSpPr txBox="1"/>
          <p:nvPr/>
        </p:nvSpPr>
        <p:spPr>
          <a:xfrm>
            <a:off x="3796833" y="7663160"/>
            <a:ext cx="2380594" cy="892552"/>
          </a:xfrm>
          <a:prstGeom prst="rect">
            <a:avLst/>
          </a:prstGeom>
          <a:noFill/>
        </p:spPr>
        <p:txBody>
          <a:bodyPr wrap="square" rtlCol="0">
            <a:spAutoFit/>
          </a:bodyPr>
          <a:lstStyle/>
          <a:p>
            <a:pPr algn="ctr"/>
            <a:r>
              <a:rPr lang="en-US" sz="2600" b="1" dirty="0"/>
              <a:t>10 eligible businesses</a:t>
            </a:r>
          </a:p>
        </p:txBody>
      </p:sp>
      <p:pic>
        <p:nvPicPr>
          <p:cNvPr id="21" name="Graphic 20" descr="City outline">
            <a:extLst>
              <a:ext uri="{FF2B5EF4-FFF2-40B4-BE49-F238E27FC236}">
                <a16:creationId xmlns:a16="http://schemas.microsoft.com/office/drawing/2014/main" id="{0EC5F429-EABE-2968-26C4-D06A68A04DE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7322" y="5330184"/>
            <a:ext cx="1285798" cy="1285798"/>
          </a:xfrm>
          <a:prstGeom prst="rect">
            <a:avLst/>
          </a:prstGeom>
        </p:spPr>
      </p:pic>
      <p:sp>
        <p:nvSpPr>
          <p:cNvPr id="22" name="Equals 21">
            <a:extLst>
              <a:ext uri="{FF2B5EF4-FFF2-40B4-BE49-F238E27FC236}">
                <a16:creationId xmlns:a16="http://schemas.microsoft.com/office/drawing/2014/main" id="{9F5AD663-A148-F784-AE76-8909FFB4A08C}"/>
              </a:ext>
            </a:extLst>
          </p:cNvPr>
          <p:cNvSpPr/>
          <p:nvPr/>
        </p:nvSpPr>
        <p:spPr>
          <a:xfrm>
            <a:off x="3167779" y="5612417"/>
            <a:ext cx="730328" cy="628307"/>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TextBox 22">
            <a:extLst>
              <a:ext uri="{FF2B5EF4-FFF2-40B4-BE49-F238E27FC236}">
                <a16:creationId xmlns:a16="http://schemas.microsoft.com/office/drawing/2014/main" id="{8A6E8518-D1D4-7A22-5FCD-436C391B43CA}"/>
              </a:ext>
            </a:extLst>
          </p:cNvPr>
          <p:cNvSpPr txBox="1"/>
          <p:nvPr/>
        </p:nvSpPr>
        <p:spPr>
          <a:xfrm>
            <a:off x="3794648" y="5491758"/>
            <a:ext cx="2380594" cy="892552"/>
          </a:xfrm>
          <a:prstGeom prst="rect">
            <a:avLst/>
          </a:prstGeom>
          <a:noFill/>
        </p:spPr>
        <p:txBody>
          <a:bodyPr wrap="square" rtlCol="0">
            <a:spAutoFit/>
          </a:bodyPr>
          <a:lstStyle/>
          <a:p>
            <a:pPr algn="ctr"/>
            <a:r>
              <a:rPr lang="en-US" sz="2600" b="1" dirty="0"/>
              <a:t>10 ineligible businesses </a:t>
            </a:r>
          </a:p>
        </p:txBody>
      </p:sp>
      <p:sp>
        <p:nvSpPr>
          <p:cNvPr id="7" name="Text Placeholder 6">
            <a:extLst>
              <a:ext uri="{FF2B5EF4-FFF2-40B4-BE49-F238E27FC236}">
                <a16:creationId xmlns:a16="http://schemas.microsoft.com/office/drawing/2014/main" id="{2D6BE3BE-E9BF-590D-ABDA-62822F266BF7}"/>
              </a:ext>
            </a:extLst>
          </p:cNvPr>
          <p:cNvSpPr>
            <a:spLocks noGrp="1"/>
          </p:cNvSpPr>
          <p:nvPr>
            <p:ph type="body" sz="quarter" idx="21"/>
          </p:nvPr>
        </p:nvSpPr>
        <p:spPr/>
        <p:txBody>
          <a:bodyPr/>
          <a:lstStyle/>
          <a:p>
            <a:endParaRPr lang="en-US"/>
          </a:p>
        </p:txBody>
      </p:sp>
    </p:spTree>
    <p:extLst>
      <p:ext uri="{BB962C8B-B14F-4D97-AF65-F5344CB8AC3E}">
        <p14:creationId xmlns:p14="http://schemas.microsoft.com/office/powerpoint/2010/main" val="4019289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4CB8B-BA50-28CD-5839-49FB08A6285C}"/>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07A0BDA-057A-3491-0E8F-781340304921}"/>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43ECE819-CF40-B67E-04AE-CB3D589B8963}"/>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3D520FC9-4F3D-12BB-FA9E-553C69E7C992}"/>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F17FFF6C-B386-F585-239A-05A51A2C4D35}"/>
              </a:ext>
            </a:extLst>
          </p:cNvPr>
          <p:cNvSpPr>
            <a:spLocks noGrp="1"/>
          </p:cNvSpPr>
          <p:nvPr>
            <p:ph type="body" sz="quarter" idx="18"/>
          </p:nvPr>
        </p:nvSpPr>
        <p:spPr/>
        <p:txBody>
          <a:bodyPr/>
          <a:lstStyle/>
          <a:p>
            <a:r>
              <a:rPr lang="en-US" dirty="0"/>
              <a:t>Map of the Emirate with 200 Neighborhoods</a:t>
            </a:r>
          </a:p>
        </p:txBody>
      </p:sp>
      <p:pic>
        <p:nvPicPr>
          <p:cNvPr id="4" name="Picture 3">
            <a:extLst>
              <a:ext uri="{FF2B5EF4-FFF2-40B4-BE49-F238E27FC236}">
                <a16:creationId xmlns:a16="http://schemas.microsoft.com/office/drawing/2014/main" id="{2A68498F-F21D-ACDA-C39E-BE558317F8B4}"/>
              </a:ext>
            </a:extLst>
          </p:cNvPr>
          <p:cNvPicPr>
            <a:picLocks noChangeAspect="1"/>
          </p:cNvPicPr>
          <p:nvPr/>
        </p:nvPicPr>
        <p:blipFill>
          <a:blip r:embed="rId4"/>
          <a:stretch>
            <a:fillRect/>
          </a:stretch>
        </p:blipFill>
        <p:spPr>
          <a:xfrm>
            <a:off x="1795111" y="2176946"/>
            <a:ext cx="3192019" cy="2309761"/>
          </a:xfrm>
          <a:prstGeom prst="rect">
            <a:avLst/>
          </a:prstGeom>
        </p:spPr>
      </p:pic>
      <p:graphicFrame>
        <p:nvGraphicFramePr>
          <p:cNvPr id="6" name="Table 5">
            <a:extLst>
              <a:ext uri="{FF2B5EF4-FFF2-40B4-BE49-F238E27FC236}">
                <a16:creationId xmlns:a16="http://schemas.microsoft.com/office/drawing/2014/main" id="{3B34A0D3-ABBD-62E5-5F3C-74BA4E7B2688}"/>
              </a:ext>
            </a:extLst>
          </p:cNvPr>
          <p:cNvGraphicFramePr>
            <a:graphicFrameLocks noGrp="1"/>
          </p:cNvGraphicFramePr>
          <p:nvPr>
            <p:extLst>
              <p:ext uri="{D42A27DB-BD31-4B8C-83A1-F6EECF244321}">
                <p14:modId xmlns:p14="http://schemas.microsoft.com/office/powerpoint/2010/main" val="1446386020"/>
              </p:ext>
            </p:extLst>
          </p:nvPr>
        </p:nvGraphicFramePr>
        <p:xfrm>
          <a:off x="12801600" y="1826595"/>
          <a:ext cx="4776950" cy="7151700"/>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610852">
                <a:tc>
                  <a:txBody>
                    <a:bodyPr/>
                    <a:lstStyle/>
                    <a:p>
                      <a:pPr algn="ctr"/>
                      <a:r>
                        <a:rPr lang="en-US" sz="2400" b="1" dirty="0">
                          <a:solidFill>
                            <a:schemeClr val="bg2"/>
                          </a:solidFill>
                        </a:rPr>
                        <a:t>Total businesses in the Emirate</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9,913</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815113971"/>
                  </a:ext>
                </a:extLst>
              </a:tr>
              <a:tr h="1964998">
                <a:tc>
                  <a:txBody>
                    <a:bodyPr/>
                    <a:lstStyle/>
                    <a:p>
                      <a:pPr algn="ctr"/>
                      <a:r>
                        <a:rPr lang="en-US" sz="2400" b="1" dirty="0">
                          <a:solidFill>
                            <a:schemeClr val="bg2"/>
                          </a:solidFill>
                        </a:rPr>
                        <a:t>Total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4,959</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677125133"/>
                  </a:ext>
                </a:extLst>
              </a:tr>
              <a:tr h="1964998">
                <a:tc>
                  <a:txBody>
                    <a:bodyPr/>
                    <a:lstStyle/>
                    <a:p>
                      <a:pPr algn="ctr"/>
                      <a:r>
                        <a:rPr lang="en-US" sz="2400" b="1" dirty="0">
                          <a:solidFill>
                            <a:schemeClr val="bg2"/>
                          </a:solidFill>
                        </a:rPr>
                        <a:t>Total eligible businesses in treatment neighborhoods (</a:t>
                      </a:r>
                      <a:r>
                        <a:rPr lang="en-US" sz="2400" b="1" dirty="0" err="1">
                          <a:solidFill>
                            <a:schemeClr val="bg2"/>
                          </a:solidFill>
                        </a:rPr>
                        <a:t>enrolled</a:t>
                      </a:r>
                      <a:r>
                        <a:rPr lang="en-US" sz="2400" b="1" dirty="0">
                          <a:solidFill>
                            <a:schemeClr val="bg2"/>
                          </a:solidFill>
                        </a:rPr>
                        <a:t>)</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r h="1610852">
                <a:tc>
                  <a:txBody>
                    <a:bodyPr/>
                    <a:lstStyle/>
                    <a:p>
                      <a:pPr algn="ctr"/>
                      <a:r>
                        <a:rPr lang="en-US" sz="2400" b="1" dirty="0">
                          <a:solidFill>
                            <a:schemeClr val="bg2"/>
                          </a:solidFill>
                        </a:rPr>
                        <a:t>Total businesses that are ineligible in treatment neighborhoods </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1,995</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013030751"/>
                  </a:ext>
                </a:extLst>
              </a:tr>
            </a:tbl>
          </a:graphicData>
        </a:graphic>
      </p:graphicFrame>
      <p:pic>
        <p:nvPicPr>
          <p:cNvPr id="9" name="Picture 8">
            <a:extLst>
              <a:ext uri="{FF2B5EF4-FFF2-40B4-BE49-F238E27FC236}">
                <a16:creationId xmlns:a16="http://schemas.microsoft.com/office/drawing/2014/main" id="{4341AB3C-CF91-F934-73FF-D9759F718C7A}"/>
              </a:ext>
            </a:extLst>
          </p:cNvPr>
          <p:cNvPicPr>
            <a:picLocks noChangeAspect="1"/>
          </p:cNvPicPr>
          <p:nvPr/>
        </p:nvPicPr>
        <p:blipFill>
          <a:blip r:embed="rId5"/>
          <a:stretch>
            <a:fillRect/>
          </a:stretch>
        </p:blipFill>
        <p:spPr>
          <a:xfrm>
            <a:off x="1322097" y="5212077"/>
            <a:ext cx="4639458" cy="3804234"/>
          </a:xfrm>
          <a:prstGeom prst="rect">
            <a:avLst/>
          </a:prstGeom>
        </p:spPr>
      </p:pic>
    </p:spTree>
    <p:extLst>
      <p:ext uri="{BB962C8B-B14F-4D97-AF65-F5344CB8AC3E}">
        <p14:creationId xmlns:p14="http://schemas.microsoft.com/office/powerpoint/2010/main" val="2864342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ED6DC34-A27A-A944-67B0-104DCC555665}"/>
              </a:ext>
            </a:extLst>
          </p:cNvPr>
          <p:cNvSpPr>
            <a:spLocks noGrp="1"/>
          </p:cNvSpPr>
          <p:nvPr>
            <p:ph type="body" sz="quarter" idx="17"/>
          </p:nvPr>
        </p:nvSpPr>
        <p:spPr/>
        <p:txBody>
          <a:bodyPr/>
          <a:lstStyle/>
          <a:p>
            <a:r>
              <a:rPr lang="en-US" dirty="0"/>
              <a:t>Key Variables</a:t>
            </a:r>
          </a:p>
        </p:txBody>
      </p:sp>
      <p:sp>
        <p:nvSpPr>
          <p:cNvPr id="7" name="Content Placeholder 2">
            <a:extLst>
              <a:ext uri="{FF2B5EF4-FFF2-40B4-BE49-F238E27FC236}">
                <a16:creationId xmlns:a16="http://schemas.microsoft.com/office/drawing/2014/main" id="{B9069664-7072-D99B-684C-01EA0ABC657F}"/>
              </a:ext>
            </a:extLst>
          </p:cNvPr>
          <p:cNvSpPr txBox="1">
            <a:spLocks/>
          </p:cNvSpPr>
          <p:nvPr/>
        </p:nvSpPr>
        <p:spPr>
          <a:xfrm>
            <a:off x="770599" y="1387366"/>
            <a:ext cx="8077200" cy="7137992"/>
          </a:xfr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200" b="1" dirty="0"/>
              <a:t>Outcome Variable</a:t>
            </a:r>
            <a:r>
              <a:rPr lang="en-US" sz="4200" dirty="0"/>
              <a:t>:</a:t>
            </a:r>
          </a:p>
          <a:p>
            <a:pPr marL="571500" indent="-571500">
              <a:buFont typeface="Arial" panose="020B0604020202020204" pitchFamily="34" charset="0"/>
              <a:buChar char="•"/>
            </a:pPr>
            <a:r>
              <a:rPr lang="en-US" sz="4200" dirty="0" err="1">
                <a:latin typeface="Courier"/>
              </a:rPr>
              <a:t>waste_management_costs</a:t>
            </a:r>
            <a:r>
              <a:rPr lang="en-US" sz="4200" dirty="0"/>
              <a:t>: Waste </a:t>
            </a:r>
            <a:r>
              <a:rPr lang="en-US" sz="4200" dirty="0" err="1"/>
              <a:t>managament</a:t>
            </a:r>
            <a:r>
              <a:rPr lang="en-US" sz="4200" dirty="0"/>
              <a:t> incurred yearly per industry (Dirham)</a:t>
            </a:r>
          </a:p>
          <a:p>
            <a:r>
              <a:rPr lang="en-US" sz="4200" b="1" dirty="0"/>
              <a:t>Treatment Variables</a:t>
            </a:r>
            <a:r>
              <a:rPr lang="en-US" sz="4200" dirty="0"/>
              <a:t>:</a:t>
            </a:r>
          </a:p>
          <a:p>
            <a:pPr marL="571500" indent="-571500">
              <a:buFont typeface="Arial" panose="020B0604020202020204" pitchFamily="34" charset="0"/>
              <a:buChar char="•"/>
            </a:pPr>
            <a:r>
              <a:rPr lang="en-US" sz="4200" dirty="0" err="1">
                <a:latin typeface="Courier"/>
              </a:rPr>
              <a:t>treatment_neighborhood</a:t>
            </a:r>
            <a:r>
              <a:rPr lang="en-US" sz="4200" dirty="0"/>
              <a:t>: Area selected for program (0/1)</a:t>
            </a:r>
          </a:p>
          <a:p>
            <a:pPr marL="571500" indent="-571500">
              <a:buFont typeface="Arial" panose="020B0604020202020204" pitchFamily="34" charset="0"/>
              <a:buChar char="•"/>
            </a:pPr>
            <a:r>
              <a:rPr lang="en-US" sz="4200" dirty="0">
                <a:latin typeface="Courier"/>
              </a:rPr>
              <a:t>eligible</a:t>
            </a:r>
            <a:r>
              <a:rPr lang="en-US" sz="4200" dirty="0"/>
              <a:t>: Business eligible for program (0/1)</a:t>
            </a:r>
          </a:p>
          <a:p>
            <a:pPr marL="571500" indent="-571500">
              <a:buFont typeface="Arial" panose="020B0604020202020204" pitchFamily="34" charset="0"/>
              <a:buChar char="•"/>
            </a:pPr>
            <a:r>
              <a:rPr lang="en-US" sz="4200" dirty="0" err="1">
                <a:latin typeface="Courier"/>
              </a:rPr>
              <a:t>enrolled</a:t>
            </a:r>
            <a:r>
              <a:rPr lang="en-US" sz="4200" dirty="0"/>
              <a:t>: Business eligible and in treatment neighborhood (0/1)</a:t>
            </a:r>
          </a:p>
        </p:txBody>
      </p:sp>
      <p:sp>
        <p:nvSpPr>
          <p:cNvPr id="8" name="Content Placeholder 3">
            <a:extLst>
              <a:ext uri="{FF2B5EF4-FFF2-40B4-BE49-F238E27FC236}">
                <a16:creationId xmlns:a16="http://schemas.microsoft.com/office/drawing/2014/main" id="{2619491F-6C2E-EB45-04B0-026BD5A7C8BC}"/>
              </a:ext>
            </a:extLst>
          </p:cNvPr>
          <p:cNvSpPr txBox="1">
            <a:spLocks/>
          </p:cNvSpPr>
          <p:nvPr/>
        </p:nvSpPr>
        <p:spPr>
          <a:xfrm>
            <a:off x="9144000" y="1387366"/>
            <a:ext cx="8678200" cy="7150606"/>
          </a:xfr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200" b="1" dirty="0"/>
              <a:t>Other Variables</a:t>
            </a:r>
            <a:r>
              <a:rPr lang="en-US" sz="4200" dirty="0"/>
              <a:t>:</a:t>
            </a:r>
          </a:p>
          <a:p>
            <a:pPr marL="571500" indent="-571500">
              <a:buFont typeface="Arial" panose="020B0604020202020204" pitchFamily="34" charset="0"/>
              <a:buChar char="•"/>
            </a:pPr>
            <a:r>
              <a:rPr lang="en-US" sz="4200" dirty="0">
                <a:latin typeface="Courier"/>
              </a:rPr>
              <a:t>round</a:t>
            </a:r>
            <a:r>
              <a:rPr lang="en-US" sz="4200" dirty="0"/>
              <a:t>: Survey round (0=baseline, 1=follow-up)</a:t>
            </a:r>
          </a:p>
          <a:p>
            <a:pPr marL="571500" indent="-571500">
              <a:buFont typeface="Arial" panose="020B0604020202020204" pitchFamily="34" charset="0"/>
              <a:buChar char="•"/>
            </a:pPr>
            <a:r>
              <a:rPr lang="en-US" sz="4200" dirty="0" err="1">
                <a:latin typeface="Courier"/>
              </a:rPr>
              <a:t>efficiency_index</a:t>
            </a:r>
            <a:r>
              <a:rPr lang="en-US" sz="4200" dirty="0"/>
              <a:t>: Score between 20-100, calculated based on business characteristics (recycling, filtration, water treatment, proximity to recycling center)</a:t>
            </a:r>
          </a:p>
          <a:p>
            <a:pPr marL="571500" indent="-571500">
              <a:buFont typeface="Arial" panose="020B0604020202020204" pitchFamily="34" charset="0"/>
              <a:buChar char="•"/>
            </a:pPr>
            <a:r>
              <a:rPr lang="en-US" sz="4200" dirty="0"/>
              <a:t>Leadership Demographics: Age, education, gender, etc.</a:t>
            </a:r>
          </a:p>
        </p:txBody>
      </p:sp>
    </p:spTree>
    <p:extLst>
      <p:ext uri="{BB962C8B-B14F-4D97-AF65-F5344CB8AC3E}">
        <p14:creationId xmlns:p14="http://schemas.microsoft.com/office/powerpoint/2010/main" val="151170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3418AB-0C33-276A-AEF7-16A86EC8265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A1D80E1-D0C3-48DC-585F-E090DE50C83A}"/>
              </a:ext>
            </a:extLst>
          </p:cNvPr>
          <p:cNvSpPr>
            <a:spLocks noGrp="1"/>
          </p:cNvSpPr>
          <p:nvPr>
            <p:ph type="body" sz="quarter" idx="17"/>
          </p:nvPr>
        </p:nvSpPr>
        <p:spPr/>
        <p:txBody>
          <a:bodyPr/>
          <a:lstStyle/>
          <a:p>
            <a:r>
              <a:rPr lang="en-US" dirty="0"/>
              <a:t>Key Variables</a:t>
            </a:r>
          </a:p>
        </p:txBody>
      </p:sp>
      <p:sp>
        <p:nvSpPr>
          <p:cNvPr id="4" name="Text Placeholder 3">
            <a:extLst>
              <a:ext uri="{FF2B5EF4-FFF2-40B4-BE49-F238E27FC236}">
                <a16:creationId xmlns:a16="http://schemas.microsoft.com/office/drawing/2014/main" id="{0FD6E67C-AEEB-A994-6C97-C3C9E53D6DCE}"/>
              </a:ext>
            </a:extLst>
          </p:cNvPr>
          <p:cNvSpPr>
            <a:spLocks noGrp="1"/>
          </p:cNvSpPr>
          <p:nvPr>
            <p:ph type="body" sz="quarter" idx="21"/>
          </p:nvPr>
        </p:nvSpPr>
        <p:spPr/>
        <p:txBody>
          <a:bodyPr/>
          <a:lstStyle/>
          <a:p>
            <a:endParaRPr lang="en-US"/>
          </a:p>
        </p:txBody>
      </p:sp>
      <p:sp>
        <p:nvSpPr>
          <p:cNvPr id="7" name="Content Placeholder 2">
            <a:extLst>
              <a:ext uri="{FF2B5EF4-FFF2-40B4-BE49-F238E27FC236}">
                <a16:creationId xmlns:a16="http://schemas.microsoft.com/office/drawing/2014/main" id="{E0F69358-D46A-CC18-398B-875ACFB2D36D}"/>
              </a:ext>
            </a:extLst>
          </p:cNvPr>
          <p:cNvSpPr txBox="1">
            <a:spLocks/>
          </p:cNvSpPr>
          <p:nvPr/>
        </p:nvSpPr>
        <p:spPr>
          <a:xfrm>
            <a:off x="770598" y="1466193"/>
            <a:ext cx="17051601" cy="7043399"/>
          </a:xfr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200" b="1" dirty="0"/>
              <a:t>Other Variables</a:t>
            </a:r>
            <a:r>
              <a:rPr lang="en-US" sz="4200" dirty="0"/>
              <a:t>:</a:t>
            </a:r>
          </a:p>
          <a:p>
            <a:pPr marL="571500" indent="-571500">
              <a:buFont typeface="Arial" panose="020B0604020202020204" pitchFamily="34" charset="0"/>
              <a:buChar char="•"/>
            </a:pPr>
            <a:r>
              <a:rPr lang="en-US" sz="4200" dirty="0" err="1">
                <a:latin typeface="Courier"/>
              </a:rPr>
              <a:t>neighborhood_identifier</a:t>
            </a:r>
            <a:r>
              <a:rPr lang="en-US" sz="4200" dirty="0"/>
              <a:t>: Identifier for the neighborhood (200 neighborhoods in total)</a:t>
            </a:r>
          </a:p>
          <a:p>
            <a:pPr marL="571500" indent="-571500">
              <a:buFont typeface="Arial" panose="020B0604020202020204" pitchFamily="34" charset="0"/>
              <a:buChar char="•"/>
            </a:pPr>
            <a:r>
              <a:rPr lang="en-US" sz="4200" dirty="0" err="1">
                <a:latin typeface="Courier"/>
              </a:rPr>
              <a:t>business_identifier</a:t>
            </a:r>
            <a:r>
              <a:rPr lang="en-US" sz="4200" dirty="0"/>
              <a:t>: Each neighborhood has multiple businesses (9914 businesses in our data in total)</a:t>
            </a:r>
          </a:p>
        </p:txBody>
      </p:sp>
    </p:spTree>
    <p:extLst>
      <p:ext uri="{BB962C8B-B14F-4D97-AF65-F5344CB8AC3E}">
        <p14:creationId xmlns:p14="http://schemas.microsoft.com/office/powerpoint/2010/main" val="8720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FDB7F7D-AD7D-0C3C-CA1B-73EEC4F93C1B}"/>
              </a:ext>
            </a:extLst>
          </p:cNvPr>
          <p:cNvGraphicFramePr>
            <a:graphicFrameLocks noGrp="1"/>
          </p:cNvGraphicFramePr>
          <p:nvPr>
            <p:extLst>
              <p:ext uri="{D42A27DB-BD31-4B8C-83A1-F6EECF244321}">
                <p14:modId xmlns:p14="http://schemas.microsoft.com/office/powerpoint/2010/main" val="1441734914"/>
              </p:ext>
            </p:extLst>
          </p:nvPr>
        </p:nvGraphicFramePr>
        <p:xfrm>
          <a:off x="1129113" y="400198"/>
          <a:ext cx="16929570" cy="9051395"/>
        </p:xfrm>
        <a:graphic>
          <a:graphicData uri="http://schemas.openxmlformats.org/drawingml/2006/table">
            <a:tbl>
              <a:tblPr firstRow="1" bandRow="1">
                <a:tableStyleId>{A28B968C-005C-4B5B-AE9B-3227E18335F5}</a:tableStyleId>
              </a:tblPr>
              <a:tblGrid>
                <a:gridCol w="5665825">
                  <a:extLst>
                    <a:ext uri="{9D8B030D-6E8A-4147-A177-3AD203B41FA5}">
                      <a16:colId xmlns:a16="http://schemas.microsoft.com/office/drawing/2014/main" val="1064939901"/>
                    </a:ext>
                  </a:extLst>
                </a:gridCol>
                <a:gridCol w="7908286">
                  <a:extLst>
                    <a:ext uri="{9D8B030D-6E8A-4147-A177-3AD203B41FA5}">
                      <a16:colId xmlns:a16="http://schemas.microsoft.com/office/drawing/2014/main" val="218661121"/>
                    </a:ext>
                  </a:extLst>
                </a:gridCol>
                <a:gridCol w="3355459">
                  <a:extLst>
                    <a:ext uri="{9D8B030D-6E8A-4147-A177-3AD203B41FA5}">
                      <a16:colId xmlns:a16="http://schemas.microsoft.com/office/drawing/2014/main" val="4147958940"/>
                    </a:ext>
                  </a:extLst>
                </a:gridCol>
              </a:tblGrid>
              <a:tr h="489713">
                <a:tc>
                  <a:txBody>
                    <a:bodyPr/>
                    <a:lstStyle/>
                    <a:p>
                      <a:r>
                        <a:rPr lang="en-US" sz="2000" b="1" dirty="0"/>
                        <a:t>Variable Name (and name in data)</a:t>
                      </a:r>
                    </a:p>
                  </a:txBody>
                  <a:tcPr>
                    <a:solidFill>
                      <a:schemeClr val="bg2">
                        <a:lumMod val="20000"/>
                        <a:lumOff val="80000"/>
                      </a:schemeClr>
                    </a:solidFill>
                  </a:tcPr>
                </a:tc>
                <a:tc>
                  <a:txBody>
                    <a:bodyPr/>
                    <a:lstStyle/>
                    <a:p>
                      <a:r>
                        <a:rPr lang="en-US" sz="2000" b="1" dirty="0"/>
                        <a:t>Variable Description</a:t>
                      </a:r>
                    </a:p>
                  </a:txBody>
                  <a:tcPr>
                    <a:solidFill>
                      <a:schemeClr val="bg2">
                        <a:lumMod val="20000"/>
                        <a:lumOff val="80000"/>
                      </a:schemeClr>
                    </a:solidFill>
                  </a:tcPr>
                </a:tc>
                <a:tc>
                  <a:txBody>
                    <a:bodyPr/>
                    <a:lstStyle/>
                    <a:p>
                      <a:r>
                        <a:rPr lang="en-US" sz="2000" b="1" dirty="0"/>
                        <a:t>Continuous or Indicator</a:t>
                      </a:r>
                    </a:p>
                  </a:txBody>
                  <a:tcPr>
                    <a:solidFill>
                      <a:schemeClr val="bg2">
                        <a:lumMod val="20000"/>
                        <a:lumOff val="80000"/>
                      </a:schemeClr>
                    </a:solidFill>
                  </a:tcPr>
                </a:tc>
                <a:extLst>
                  <a:ext uri="{0D108BD9-81ED-4DB2-BD59-A6C34878D82A}">
                    <a16:rowId xmlns:a16="http://schemas.microsoft.com/office/drawing/2014/main" val="55357271"/>
                  </a:ext>
                </a:extLst>
              </a:tr>
              <a:tr h="772511">
                <a:tc>
                  <a:txBody>
                    <a:bodyPr/>
                    <a:lstStyle/>
                    <a:p>
                      <a:r>
                        <a:rPr lang="en-US" sz="2000" dirty="0"/>
                        <a:t>Waste management costs (</a:t>
                      </a:r>
                      <a:r>
                        <a:rPr lang="en-GB" sz="2000" b="0" i="0" u="none" strike="noStrike" cap="none" dirty="0" err="1">
                          <a:solidFill>
                            <a:srgbClr val="000000"/>
                          </a:solidFill>
                          <a:effectLst/>
                          <a:latin typeface="Courier"/>
                          <a:ea typeface="Arial"/>
                          <a:cs typeface="Arial"/>
                          <a:sym typeface="Arial"/>
                        </a:rPr>
                        <a:t>waste_management_costs</a:t>
                      </a:r>
                      <a:r>
                        <a:rPr lang="en-GB" sz="2000" b="0" i="0" u="none" strike="noStrike" cap="none" dirty="0">
                          <a:solidFill>
                            <a:srgbClr val="000000"/>
                          </a:solidFill>
                          <a:effectLst/>
                          <a:latin typeface="Arial"/>
                          <a:ea typeface="Arial"/>
                          <a:cs typeface="Arial"/>
                          <a:sym typeface="Arial"/>
                        </a:rPr>
                        <a:t>)</a:t>
                      </a:r>
                      <a:endParaRPr lang="en-US" sz="2000" dirty="0"/>
                    </a:p>
                  </a:txBody>
                  <a:tcPr/>
                </a:tc>
                <a:tc>
                  <a:txBody>
                    <a:bodyPr/>
                    <a:lstStyle/>
                    <a:p>
                      <a:r>
                        <a:rPr lang="en-US" sz="2000" dirty="0"/>
                        <a:t>Yearly waste management costs expressed in Dirham </a:t>
                      </a:r>
                    </a:p>
                  </a:txBody>
                  <a:tcPr/>
                </a:tc>
                <a:tc>
                  <a:txBody>
                    <a:bodyPr/>
                    <a:lstStyle/>
                    <a:p>
                      <a:r>
                        <a:rPr lang="en-US" sz="2000" dirty="0"/>
                        <a:t>Continuous</a:t>
                      </a:r>
                    </a:p>
                  </a:txBody>
                  <a:tcPr/>
                </a:tc>
                <a:extLst>
                  <a:ext uri="{0D108BD9-81ED-4DB2-BD59-A6C34878D82A}">
                    <a16:rowId xmlns:a16="http://schemas.microsoft.com/office/drawing/2014/main" val="3912257732"/>
                  </a:ext>
                </a:extLst>
              </a:tr>
              <a:tr h="772510">
                <a:tc>
                  <a:txBody>
                    <a:bodyPr/>
                    <a:lstStyle/>
                    <a:p>
                      <a:r>
                        <a:rPr lang="en-US" sz="2000" dirty="0"/>
                        <a:t>Neighborhood treatment status (</a:t>
                      </a:r>
                      <a:r>
                        <a:rPr lang="en-US" sz="2000" dirty="0" err="1">
                          <a:latin typeface="Courier"/>
                        </a:rPr>
                        <a:t>treatment_neighborhood</a:t>
                      </a:r>
                      <a:r>
                        <a:rPr lang="en-US" sz="2000" dirty="0"/>
                        <a:t>)</a:t>
                      </a:r>
                    </a:p>
                  </a:txBody>
                  <a:tcPr/>
                </a:tc>
                <a:tc>
                  <a:txBody>
                    <a:bodyPr/>
                    <a:lstStyle/>
                    <a:p>
                      <a:r>
                        <a:rPr lang="en-US" sz="2000" dirty="0"/>
                        <a:t>Indicator equal to 1 if neighborhood was selected for program, and 0 otherwise</a:t>
                      </a:r>
                    </a:p>
                  </a:txBody>
                  <a:tcPr/>
                </a:tc>
                <a:tc>
                  <a:txBody>
                    <a:bodyPr/>
                    <a:lstStyle/>
                    <a:p>
                      <a:r>
                        <a:rPr lang="en-US" sz="2000" dirty="0"/>
                        <a:t>Binary </a:t>
                      </a:r>
                    </a:p>
                  </a:txBody>
                  <a:tcPr/>
                </a:tc>
                <a:extLst>
                  <a:ext uri="{0D108BD9-81ED-4DB2-BD59-A6C34878D82A}">
                    <a16:rowId xmlns:a16="http://schemas.microsoft.com/office/drawing/2014/main" val="1316079807"/>
                  </a:ext>
                </a:extLst>
              </a:tr>
              <a:tr h="851338">
                <a:tc>
                  <a:txBody>
                    <a:bodyPr/>
                    <a:lstStyle/>
                    <a:p>
                      <a:pPr marL="0" marR="0" lvl="0" indent="0">
                        <a:lnSpc>
                          <a:spcPct val="107000"/>
                        </a:lnSpc>
                        <a:spcAft>
                          <a:spcPts val="800"/>
                        </a:spcAft>
                        <a:buFont typeface="Symbol" panose="05050102010706020507" pitchFamily="18" charset="2"/>
                        <a:buNone/>
                      </a:pPr>
                      <a:r>
                        <a:rPr lang="en-GB" sz="2000" kern="100" dirty="0" err="1">
                          <a:effectLst/>
                          <a:latin typeface="+mj-lt"/>
                          <a:ea typeface="Aptos" panose="020B0004020202020204" pitchFamily="34" charset="0"/>
                          <a:cs typeface="Times New Roman" panose="02020603050405020304" pitchFamily="18" charset="0"/>
                        </a:rPr>
                        <a:t>Neighborhood</a:t>
                      </a:r>
                      <a:r>
                        <a:rPr lang="en-GB" sz="2000" kern="100" dirty="0">
                          <a:effectLst/>
                          <a:latin typeface="+mj-lt"/>
                          <a:ea typeface="Aptos" panose="020B0004020202020204" pitchFamily="34" charset="0"/>
                          <a:cs typeface="Times New Roman" panose="02020603050405020304" pitchFamily="18" charset="0"/>
                        </a:rPr>
                        <a:t> identifier </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a:t>
                      </a:r>
                      <a:r>
                        <a:rPr lang="en-GB" sz="2000" kern="100" dirty="0" err="1">
                          <a:effectLst/>
                          <a:latin typeface="Courier New" panose="02070309020205020404" pitchFamily="49" charset="0"/>
                          <a:ea typeface="Aptos" panose="020B0004020202020204" pitchFamily="34" charset="0"/>
                          <a:cs typeface="Times New Roman" panose="02020603050405020304" pitchFamily="18" charset="0"/>
                        </a:rPr>
                        <a:t>neighborhood_identifier</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sz="2000" dirty="0"/>
                        <a:t>Unique numerical identifier of the neighborhood </a:t>
                      </a:r>
                    </a:p>
                  </a:txBody>
                  <a:tcPr/>
                </a:tc>
                <a:tc>
                  <a:txBody>
                    <a:bodyPr/>
                    <a:lstStyle/>
                    <a:p>
                      <a:r>
                        <a:rPr lang="en-US" sz="2000" dirty="0"/>
                        <a:t>Continuous</a:t>
                      </a:r>
                    </a:p>
                  </a:txBody>
                  <a:tcPr/>
                </a:tc>
                <a:extLst>
                  <a:ext uri="{0D108BD9-81ED-4DB2-BD59-A6C34878D82A}">
                    <a16:rowId xmlns:a16="http://schemas.microsoft.com/office/drawing/2014/main" val="3423528604"/>
                  </a:ext>
                </a:extLst>
              </a:tr>
              <a:tr h="394138">
                <a:tc>
                  <a:txBody>
                    <a:bodyPr/>
                    <a:lstStyle/>
                    <a:p>
                      <a:pPr marL="0" marR="0" lvl="0" indent="0">
                        <a:lnSpc>
                          <a:spcPct val="107000"/>
                        </a:lnSpc>
                        <a:spcAft>
                          <a:spcPts val="800"/>
                        </a:spcAft>
                        <a:buFont typeface="Symbol" panose="05050102010706020507" pitchFamily="18" charset="2"/>
                        <a:buNone/>
                      </a:pPr>
                      <a:r>
                        <a:rPr lang="en-GB" sz="2000" kern="100" dirty="0">
                          <a:effectLst/>
                          <a:latin typeface="+mj-lt"/>
                          <a:ea typeface="Aptos" panose="020B0004020202020204" pitchFamily="34" charset="0"/>
                          <a:cs typeface="Times New Roman" panose="02020603050405020304" pitchFamily="18" charset="0"/>
                        </a:rPr>
                        <a:t>Business identifier </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a:t>
                      </a:r>
                      <a:r>
                        <a:rPr lang="en-GB" sz="2000" kern="100" dirty="0" err="1">
                          <a:effectLst/>
                          <a:latin typeface="Courier New" panose="02070309020205020404" pitchFamily="49" charset="0"/>
                          <a:ea typeface="Aptos" panose="020B0004020202020204" pitchFamily="34" charset="0"/>
                          <a:cs typeface="Times New Roman" panose="02020603050405020304" pitchFamily="18" charset="0"/>
                        </a:rPr>
                        <a:t>business_identifier</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sz="2000" dirty="0"/>
                        <a:t>Unique numerical identifier for each business </a:t>
                      </a:r>
                    </a:p>
                  </a:txBody>
                  <a:tcPr/>
                </a:tc>
                <a:tc>
                  <a:txBody>
                    <a:bodyPr/>
                    <a:lstStyle/>
                    <a:p>
                      <a:r>
                        <a:rPr lang="en-US" sz="2000" dirty="0"/>
                        <a:t>Continuous</a:t>
                      </a:r>
                    </a:p>
                  </a:txBody>
                  <a:tcPr/>
                </a:tc>
                <a:extLst>
                  <a:ext uri="{0D108BD9-81ED-4DB2-BD59-A6C34878D82A}">
                    <a16:rowId xmlns:a16="http://schemas.microsoft.com/office/drawing/2014/main" val="1325648437"/>
                  </a:ext>
                </a:extLst>
              </a:tr>
              <a:tr h="418980">
                <a:tc>
                  <a:txBody>
                    <a:bodyPr/>
                    <a:lstStyle/>
                    <a:p>
                      <a:pPr marL="0" marR="0" lvl="0" indent="0">
                        <a:lnSpc>
                          <a:spcPct val="107000"/>
                        </a:lnSpc>
                        <a:spcAft>
                          <a:spcPts val="800"/>
                        </a:spcAft>
                        <a:buFont typeface="Symbol" panose="05050102010706020507" pitchFamily="18" charset="2"/>
                        <a:buNone/>
                      </a:pPr>
                      <a:r>
                        <a:rPr lang="en-GB" sz="2000" kern="100" dirty="0">
                          <a:effectLst/>
                          <a:latin typeface="+mj-lt"/>
                          <a:ea typeface="Aptos" panose="020B0004020202020204" pitchFamily="34" charset="0"/>
                          <a:cs typeface="Times New Roman" panose="02020603050405020304" pitchFamily="18" charset="0"/>
                        </a:rPr>
                        <a:t>Eligible</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a:effectLst/>
                          <a:latin typeface="Courier New" panose="02070309020205020404" pitchFamily="49" charset="0"/>
                          <a:ea typeface="Aptos" panose="020B0004020202020204" pitchFamily="34" charset="0"/>
                          <a:cs typeface="Times New Roman" panose="02020603050405020304" pitchFamily="18" charset="0"/>
                        </a:rPr>
                        <a:t>eligible</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2000" dirty="0"/>
                    </a:p>
                  </a:txBody>
                  <a:tcPr/>
                </a:tc>
                <a:tc>
                  <a:txBody>
                    <a:bodyPr/>
                    <a:lstStyle/>
                    <a:p>
                      <a:r>
                        <a:rPr lang="en-US" sz="2000" dirty="0"/>
                        <a:t>Indicator equal to 1 if the business is eligible for program and 0 otherwise </a:t>
                      </a:r>
                    </a:p>
                  </a:txBody>
                  <a:tcPr/>
                </a:tc>
                <a:tc>
                  <a:txBody>
                    <a:bodyPr/>
                    <a:lstStyle/>
                    <a:p>
                      <a:r>
                        <a:rPr lang="en-US" sz="2000" dirty="0"/>
                        <a:t>Binary</a:t>
                      </a:r>
                    </a:p>
                  </a:txBody>
                  <a:tcPr/>
                </a:tc>
                <a:extLst>
                  <a:ext uri="{0D108BD9-81ED-4DB2-BD59-A6C34878D82A}">
                    <a16:rowId xmlns:a16="http://schemas.microsoft.com/office/drawing/2014/main" val="3594233979"/>
                  </a:ext>
                </a:extLst>
              </a:tr>
              <a:tr h="735550">
                <a:tc>
                  <a:txBody>
                    <a:bodyPr/>
                    <a:lstStyle/>
                    <a:p>
                      <a:pPr marL="0" marR="0" lvl="0" indent="0">
                        <a:lnSpc>
                          <a:spcPct val="107000"/>
                        </a:lnSpc>
                        <a:spcAft>
                          <a:spcPts val="800"/>
                        </a:spcAft>
                        <a:buFont typeface="Symbol" panose="05050102010706020507" pitchFamily="18" charset="2"/>
                        <a:buNone/>
                      </a:pPr>
                      <a:r>
                        <a:rPr lang="en-GB" sz="2000" kern="100" dirty="0">
                          <a:effectLst/>
                          <a:latin typeface="+mj-lt"/>
                          <a:ea typeface="Aptos" panose="020B0004020202020204" pitchFamily="34" charset="0"/>
                          <a:cs typeface="Times New Roman" panose="02020603050405020304" pitchFamily="18" charset="0"/>
                        </a:rPr>
                        <a:t>Enrolled </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a:t>
                      </a:r>
                      <a:r>
                        <a:rPr lang="en-GB" sz="2000" kern="100" dirty="0" err="1">
                          <a:effectLst/>
                          <a:latin typeface="Courier New" panose="02070309020205020404" pitchFamily="49" charset="0"/>
                          <a:ea typeface="Aptos" panose="020B0004020202020204" pitchFamily="34" charset="0"/>
                          <a:cs typeface="Times New Roman" panose="02020603050405020304" pitchFamily="18" charset="0"/>
                        </a:rPr>
                        <a:t>enrolled</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a:tc>
                <a:tc>
                  <a:txBody>
                    <a:bodyPr/>
                    <a:lstStyle/>
                    <a:p>
                      <a:r>
                        <a:rPr lang="en-US" sz="2000" dirty="0"/>
                        <a:t>Variable equal to 1 if business is offered the program, i.e., is in a treatment neighborhood and is eligible to enroll, and 0 otherwise </a:t>
                      </a:r>
                    </a:p>
                  </a:txBody>
                  <a:tcPr/>
                </a:tc>
                <a:tc>
                  <a:txBody>
                    <a:bodyPr/>
                    <a:lstStyle/>
                    <a:p>
                      <a:r>
                        <a:rPr lang="en-US" sz="2000" dirty="0"/>
                        <a:t>Binary</a:t>
                      </a:r>
                    </a:p>
                  </a:txBody>
                  <a:tcPr/>
                </a:tc>
                <a:extLst>
                  <a:ext uri="{0D108BD9-81ED-4DB2-BD59-A6C34878D82A}">
                    <a16:rowId xmlns:a16="http://schemas.microsoft.com/office/drawing/2014/main" val="1516375978"/>
                  </a:ext>
                </a:extLst>
              </a:tr>
              <a:tr h="984797">
                <a:tc>
                  <a:txBody>
                    <a:bodyPr/>
                    <a:lstStyle/>
                    <a:p>
                      <a:pPr marL="0" marR="0" lvl="0" indent="0">
                        <a:lnSpc>
                          <a:spcPct val="107000"/>
                        </a:lnSpc>
                        <a:spcAft>
                          <a:spcPts val="800"/>
                        </a:spcAft>
                        <a:buFont typeface="Symbol" panose="05050102010706020507" pitchFamily="18" charset="2"/>
                        <a:buNone/>
                      </a:pPr>
                      <a:r>
                        <a:rPr lang="en-GB" sz="2000" kern="100" dirty="0">
                          <a:effectLst/>
                          <a:latin typeface="+mj-lt"/>
                          <a:ea typeface="Aptos" panose="020B0004020202020204" pitchFamily="34" charset="0"/>
                          <a:cs typeface="Times New Roman" panose="02020603050405020304" pitchFamily="18" charset="0"/>
                        </a:rPr>
                        <a:t>Enrolled</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effectLst/>
                          <a:latin typeface="Courier New" panose="02070309020205020404" pitchFamily="49" charset="0"/>
                          <a:ea typeface="Aptos" panose="020B0004020202020204" pitchFamily="34" charset="0"/>
                          <a:cs typeface="Times New Roman" panose="02020603050405020304" pitchFamily="18" charset="0"/>
                        </a:rPr>
                        <a:t>enrolled_rp</a:t>
                      </a:r>
                      <a:r>
                        <a:rPr lang="en-GB" sz="2000" kern="100" dirty="0">
                          <a:effectLst/>
                          <a:latin typeface="Courier New" panose="02070309020205020404" pitchFamily="49" charset="0"/>
                          <a:ea typeface="Aptos" panose="020B0004020202020204" pitchFamily="34"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2000" dirty="0"/>
                    </a:p>
                  </a:txBody>
                  <a:tcPr/>
                </a:tc>
                <a:tc>
                  <a:txBody>
                    <a:bodyPr/>
                    <a:lstStyle/>
                    <a:p>
                      <a:r>
                        <a:rPr lang="en-US" sz="2000" dirty="0"/>
                        <a:t>Variable equal to 1 if businesses actually enrolled in the program, and 0 otherwise (only for use in the IV scenario) </a:t>
                      </a:r>
                    </a:p>
                  </a:txBody>
                  <a:tcPr/>
                </a:tc>
                <a:tc>
                  <a:txBody>
                    <a:bodyPr/>
                    <a:lstStyle/>
                    <a:p>
                      <a:r>
                        <a:rPr lang="en-US" sz="2000" dirty="0"/>
                        <a:t>Binary</a:t>
                      </a:r>
                    </a:p>
                  </a:txBody>
                  <a:tcPr/>
                </a:tc>
                <a:extLst>
                  <a:ext uri="{0D108BD9-81ED-4DB2-BD59-A6C34878D82A}">
                    <a16:rowId xmlns:a16="http://schemas.microsoft.com/office/drawing/2014/main" val="1967973628"/>
                  </a:ext>
                </a:extLst>
              </a:tr>
              <a:tr h="984797">
                <a:tc>
                  <a:txBody>
                    <a:bodyPr/>
                    <a:lstStyle/>
                    <a:p>
                      <a:pPr marL="0" marR="0" lvl="0" indent="0">
                        <a:lnSpc>
                          <a:spcPct val="107000"/>
                        </a:lnSpc>
                        <a:spcAft>
                          <a:spcPts val="800"/>
                        </a:spcAft>
                        <a:buFont typeface="Symbol" panose="05050102010706020507" pitchFamily="18" charset="2"/>
                        <a:buNone/>
                      </a:pPr>
                      <a:r>
                        <a:rPr lang="en-GB" sz="2000" kern="100" dirty="0">
                          <a:effectLst/>
                          <a:latin typeface="+mj-lt"/>
                          <a:ea typeface="Aptos" panose="020B0004020202020204" pitchFamily="34" charset="0"/>
                          <a:cs typeface="Times New Roman" panose="02020603050405020304" pitchFamily="18" charset="0"/>
                        </a:rPr>
                        <a:t>Survey round </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a:t>
                      </a:r>
                      <a:r>
                        <a:rPr lang="en-GB" sz="2000" kern="100" dirty="0">
                          <a:effectLst/>
                          <a:latin typeface="Courier New" panose="02070309020205020404" pitchFamily="49" charset="0"/>
                          <a:ea typeface="Aptos" panose="020B0004020202020204" pitchFamily="34" charset="0"/>
                          <a:cs typeface="Times New Roman" panose="02020603050405020304" pitchFamily="18" charset="0"/>
                        </a:rPr>
                        <a:t>round</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2000" dirty="0"/>
                    </a:p>
                  </a:txBody>
                  <a:tcPr/>
                </a:tc>
                <a:tc>
                  <a:txBody>
                    <a:bodyPr/>
                    <a:lstStyle/>
                    <a:p>
                      <a:r>
                        <a:rPr lang="en-US" sz="2000" dirty="0"/>
                        <a:t>Variable equal to 1 in the follow-up survey and 0 at baseline </a:t>
                      </a:r>
                    </a:p>
                  </a:txBody>
                  <a:tcPr/>
                </a:tc>
                <a:tc>
                  <a:txBody>
                    <a:bodyPr/>
                    <a:lstStyle/>
                    <a:p>
                      <a:r>
                        <a:rPr lang="en-US" sz="2000" dirty="0"/>
                        <a:t>Binary</a:t>
                      </a:r>
                    </a:p>
                  </a:txBody>
                  <a:tcPr/>
                </a:tc>
                <a:extLst>
                  <a:ext uri="{0D108BD9-81ED-4DB2-BD59-A6C34878D82A}">
                    <a16:rowId xmlns:a16="http://schemas.microsoft.com/office/drawing/2014/main" val="3746548477"/>
                  </a:ext>
                </a:extLst>
              </a:tr>
              <a:tr h="984797">
                <a:tc>
                  <a:txBody>
                    <a:bodyPr/>
                    <a:lstStyle/>
                    <a:p>
                      <a:r>
                        <a:rPr lang="en-US" sz="2000" dirty="0"/>
                        <a:t>Waste management efficiency index</a:t>
                      </a:r>
                      <a:r>
                        <a:rPr lang="en-GB" sz="2000" dirty="0">
                          <a:effectLst/>
                          <a:latin typeface="Aptos" panose="020B0004020202020204" pitchFamily="34" charset="0"/>
                          <a:ea typeface="Aptos" panose="020B0004020202020204" pitchFamily="34" charset="0"/>
                          <a:cs typeface="Times New Roman" panose="02020603050405020304" pitchFamily="18" charset="0"/>
                        </a:rPr>
                        <a:t> (</a:t>
                      </a:r>
                      <a:r>
                        <a:rPr lang="en-GB" sz="2000" dirty="0" err="1">
                          <a:effectLst/>
                          <a:latin typeface="Courier New" panose="02070309020205020404" pitchFamily="49" charset="0"/>
                          <a:ea typeface="Aptos" panose="020B0004020202020204" pitchFamily="34" charset="0"/>
                        </a:rPr>
                        <a:t>efficiency_index</a:t>
                      </a:r>
                      <a:r>
                        <a:rPr lang="en-GB" sz="2000" dirty="0">
                          <a:effectLst/>
                          <a:latin typeface="Aptos" panose="020B0004020202020204" pitchFamily="34" charset="0"/>
                          <a:ea typeface="Aptos" panose="020B0004020202020204" pitchFamily="34" charset="0"/>
                          <a:cs typeface="Times New Roman" panose="02020603050405020304" pitchFamily="18" charset="0"/>
                        </a:rPr>
                        <a:t>)</a:t>
                      </a:r>
                      <a:endParaRPr lang="en-US" sz="2000" dirty="0"/>
                    </a:p>
                  </a:txBody>
                  <a:tcPr/>
                </a:tc>
                <a:tc>
                  <a:txBody>
                    <a:bodyPr/>
                    <a:lstStyle/>
                    <a:p>
                      <a:r>
                        <a:rPr lang="en-US" sz="2000" dirty="0"/>
                        <a:t>Value between 20-100, calculated based on various characteristics of the business, such as whether the business currently recycles, has advanced industrial filtration (if relevant to the business), a water treatment system (if relevant to the business), how far it is from a recycling center, and the size of the business. The index is calculated by assigning a score to each of these characteristics and scaling it to 100.</a:t>
                      </a:r>
                    </a:p>
                  </a:txBody>
                  <a:tcPr/>
                </a:tc>
                <a:tc>
                  <a:txBody>
                    <a:bodyPr/>
                    <a:lstStyle/>
                    <a:p>
                      <a:r>
                        <a:rPr lang="en-US" sz="2000" dirty="0"/>
                        <a:t>Continuous</a:t>
                      </a:r>
                    </a:p>
                  </a:txBody>
                  <a:tcPr/>
                </a:tc>
                <a:extLst>
                  <a:ext uri="{0D108BD9-81ED-4DB2-BD59-A6C34878D82A}">
                    <a16:rowId xmlns:a16="http://schemas.microsoft.com/office/drawing/2014/main" val="1153489723"/>
                  </a:ext>
                </a:extLst>
              </a:tr>
            </a:tbl>
          </a:graphicData>
        </a:graphic>
      </p:graphicFrame>
    </p:spTree>
    <p:extLst>
      <p:ext uri="{BB962C8B-B14F-4D97-AF65-F5344CB8AC3E}">
        <p14:creationId xmlns:p14="http://schemas.microsoft.com/office/powerpoint/2010/main" val="610629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6C23D8-5B4C-EB79-CAB8-D126B0DB9552}"/>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015F344F-A124-6BC1-6AD1-B239A56B01AF}"/>
              </a:ext>
            </a:extLst>
          </p:cNvPr>
          <p:cNvSpPr>
            <a:spLocks noGrp="1"/>
          </p:cNvSpPr>
          <p:nvPr>
            <p:ph type="body" sz="quarter" idx="18"/>
          </p:nvPr>
        </p:nvSpPr>
        <p:spPr/>
        <p:txBody>
          <a:bodyPr/>
          <a:lstStyle/>
          <a:p>
            <a:r>
              <a:rPr lang="en-US" dirty="0"/>
              <a:t>Overview of IE Methods</a:t>
            </a:r>
          </a:p>
        </p:txBody>
      </p:sp>
      <p:sp>
        <p:nvSpPr>
          <p:cNvPr id="5" name="Content Placeholder 4">
            <a:extLst>
              <a:ext uri="{FF2B5EF4-FFF2-40B4-BE49-F238E27FC236}">
                <a16:creationId xmlns:a16="http://schemas.microsoft.com/office/drawing/2014/main" id="{6B7C8858-ECAC-8B87-9023-CD65255BB2F9}"/>
              </a:ext>
            </a:extLst>
          </p:cNvPr>
          <p:cNvSpPr>
            <a:spLocks noGrp="1"/>
          </p:cNvSpPr>
          <p:nvPr>
            <p:ph sz="quarter" idx="23"/>
          </p:nvPr>
        </p:nvSpPr>
        <p:spPr>
          <a:xfrm>
            <a:off x="926615" y="1560787"/>
            <a:ext cx="16939353" cy="7815442"/>
          </a:xfrm>
        </p:spPr>
        <p:txBody>
          <a:bodyPr/>
          <a:lstStyle/>
          <a:p>
            <a:pPr marL="0" lvl="0" indent="0">
              <a:buNone/>
            </a:pPr>
            <a:r>
              <a:rPr lang="en-US" dirty="0"/>
              <a:t>Experimental Methods:</a:t>
            </a:r>
          </a:p>
          <a:p>
            <a:pPr lvl="0"/>
            <a:r>
              <a:rPr lang="en-US" dirty="0"/>
              <a:t>Randomized assignment (gold standard)</a:t>
            </a:r>
          </a:p>
          <a:p>
            <a:pPr marL="0" lvl="0" indent="0">
              <a:buNone/>
            </a:pPr>
            <a:r>
              <a:rPr lang="en-US" dirty="0"/>
              <a:t>Quasi-Experimental Methods:</a:t>
            </a:r>
          </a:p>
          <a:p>
            <a:pPr lvl="0"/>
            <a:r>
              <a:rPr lang="en-US" dirty="0"/>
              <a:t>Regression Discontinuity</a:t>
            </a:r>
          </a:p>
          <a:p>
            <a:pPr lvl="0"/>
            <a:r>
              <a:rPr lang="en-US" dirty="0"/>
              <a:t>Difference-in-Differences</a:t>
            </a:r>
          </a:p>
          <a:p>
            <a:pPr lvl="0"/>
            <a:r>
              <a:rPr lang="en-US" dirty="0"/>
              <a:t>Matching Methods</a:t>
            </a:r>
          </a:p>
          <a:p>
            <a:endParaRPr lang="en-US" dirty="0"/>
          </a:p>
        </p:txBody>
      </p:sp>
    </p:spTree>
    <p:extLst>
      <p:ext uri="{BB962C8B-B14F-4D97-AF65-F5344CB8AC3E}">
        <p14:creationId xmlns:p14="http://schemas.microsoft.com/office/powerpoint/2010/main" val="2087004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6E83F9-E643-C1D8-E9BC-3E338AF5AE5E}"/>
              </a:ext>
            </a:extLst>
          </p:cNvPr>
          <p:cNvSpPr>
            <a:spLocks noGrp="1"/>
          </p:cNvSpPr>
          <p:nvPr>
            <p:ph type="body" sz="quarter" idx="21"/>
          </p:nvPr>
        </p:nvSpPr>
        <p:spPr/>
        <p:txBody>
          <a:bodyPr/>
          <a:lstStyle/>
          <a:p>
            <a:endParaRPr lang="en-US" dirty="0"/>
          </a:p>
        </p:txBody>
      </p:sp>
      <p:sp>
        <p:nvSpPr>
          <p:cNvPr id="3" name="Text Placeholder 2">
            <a:extLst>
              <a:ext uri="{FF2B5EF4-FFF2-40B4-BE49-F238E27FC236}">
                <a16:creationId xmlns:a16="http://schemas.microsoft.com/office/drawing/2014/main" id="{2A26BC23-A28E-4C87-8061-FB0DA15458B6}"/>
              </a:ext>
            </a:extLst>
          </p:cNvPr>
          <p:cNvSpPr>
            <a:spLocks noGrp="1"/>
          </p:cNvSpPr>
          <p:nvPr>
            <p:ph type="body" sz="quarter" idx="18"/>
          </p:nvPr>
        </p:nvSpPr>
        <p:spPr/>
        <p:txBody>
          <a:bodyPr/>
          <a:lstStyle/>
          <a:p>
            <a:r>
              <a:rPr lang="en-US" dirty="0"/>
              <a:t>Descriptive Table</a:t>
            </a:r>
          </a:p>
        </p:txBody>
      </p:sp>
      <p:pic>
        <p:nvPicPr>
          <p:cNvPr id="5" name="Picture 4">
            <a:extLst>
              <a:ext uri="{FF2B5EF4-FFF2-40B4-BE49-F238E27FC236}">
                <a16:creationId xmlns:a16="http://schemas.microsoft.com/office/drawing/2014/main" id="{453BDB1B-553E-1DDF-F6F7-4FBFD82A7A5F}"/>
              </a:ext>
            </a:extLst>
          </p:cNvPr>
          <p:cNvPicPr>
            <a:picLocks noChangeAspect="1"/>
          </p:cNvPicPr>
          <p:nvPr/>
        </p:nvPicPr>
        <p:blipFill>
          <a:blip r:embed="rId3"/>
          <a:stretch>
            <a:fillRect/>
          </a:stretch>
        </p:blipFill>
        <p:spPr>
          <a:xfrm>
            <a:off x="1168806" y="1670781"/>
            <a:ext cx="16834368" cy="6945437"/>
          </a:xfrm>
          <a:prstGeom prst="rect">
            <a:avLst/>
          </a:prstGeom>
        </p:spPr>
      </p:pic>
    </p:spTree>
    <p:extLst>
      <p:ext uri="{BB962C8B-B14F-4D97-AF65-F5344CB8AC3E}">
        <p14:creationId xmlns:p14="http://schemas.microsoft.com/office/powerpoint/2010/main" val="2209205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ext Placeholder 1">
            <a:extLst>
              <a:ext uri="{FF2B5EF4-FFF2-40B4-BE49-F238E27FC236}">
                <a16:creationId xmlns:a16="http://schemas.microsoft.com/office/drawing/2014/main" id="{A633327D-DD7B-60A2-F9E4-6931B7093DC8}"/>
              </a:ext>
            </a:extLst>
          </p:cNvPr>
          <p:cNvSpPr>
            <a:spLocks noGrp="1"/>
          </p:cNvSpPr>
          <p:nvPr>
            <p:ph type="body" sz="quarter" idx="21"/>
          </p:nvPr>
        </p:nvSpPr>
        <p:spPr>
          <a:xfrm>
            <a:off x="927099" y="9499970"/>
            <a:ext cx="16938855" cy="628307"/>
          </a:xfrm>
        </p:spPr>
        <p:txBody>
          <a:bodyPr/>
          <a:lstStyle/>
          <a:p>
            <a:endParaRPr lang="en-US"/>
          </a:p>
        </p:txBody>
      </p:sp>
      <p:sp>
        <p:nvSpPr>
          <p:cNvPr id="13" name="Text Placeholder 2">
            <a:extLst>
              <a:ext uri="{FF2B5EF4-FFF2-40B4-BE49-F238E27FC236}">
                <a16:creationId xmlns:a16="http://schemas.microsoft.com/office/drawing/2014/main" id="{4439A2A3-0C0F-79A0-5646-EB1A8494883B}"/>
              </a:ext>
            </a:extLst>
          </p:cNvPr>
          <p:cNvSpPr>
            <a:spLocks noGrp="1"/>
          </p:cNvSpPr>
          <p:nvPr>
            <p:ph type="body" sz="quarter" idx="18"/>
          </p:nvPr>
        </p:nvSpPr>
        <p:spPr>
          <a:xfrm>
            <a:off x="927100" y="384175"/>
            <a:ext cx="16939088" cy="782638"/>
          </a:xfrm>
        </p:spPr>
        <p:txBody>
          <a:bodyPr/>
          <a:lstStyle/>
          <a:p>
            <a:r>
              <a:rPr lang="en-US" dirty="0"/>
              <a:t>Descriptive Table (editable)</a:t>
            </a:r>
          </a:p>
        </p:txBody>
      </p:sp>
      <p:sp>
        <p:nvSpPr>
          <p:cNvPr id="15" name="Text Placeholder 3">
            <a:extLst>
              <a:ext uri="{FF2B5EF4-FFF2-40B4-BE49-F238E27FC236}">
                <a16:creationId xmlns:a16="http://schemas.microsoft.com/office/drawing/2014/main" id="{FEBEDC82-D8A0-9976-9D38-C80D28F486AC}"/>
              </a:ext>
            </a:extLst>
          </p:cNvPr>
          <p:cNvSpPr>
            <a:spLocks noGrp="1"/>
          </p:cNvSpPr>
          <p:nvPr>
            <p:ph type="body" sz="quarter" idx="22"/>
          </p:nvPr>
        </p:nvSpPr>
        <p:spPr>
          <a:xfrm>
            <a:off x="927099" y="1497013"/>
            <a:ext cx="16938855" cy="519112"/>
          </a:xfrm>
        </p:spPr>
        <p:txBody>
          <a:bodyPr/>
          <a:lstStyle/>
          <a:p>
            <a:endParaRPr lang="en-US"/>
          </a:p>
        </p:txBody>
      </p:sp>
      <p:graphicFrame>
        <p:nvGraphicFramePr>
          <p:cNvPr id="6" name="Content Placeholder 5">
            <a:extLst>
              <a:ext uri="{FF2B5EF4-FFF2-40B4-BE49-F238E27FC236}">
                <a16:creationId xmlns:a16="http://schemas.microsoft.com/office/drawing/2014/main" id="{A32DB323-CBCF-09D2-86CF-828B2B770C5B}"/>
              </a:ext>
            </a:extLst>
          </p:cNvPr>
          <p:cNvGraphicFramePr>
            <a:graphicFrameLocks noGrp="1"/>
          </p:cNvGraphicFramePr>
          <p:nvPr>
            <p:ph sz="quarter" idx="23"/>
            <p:extLst>
              <p:ext uri="{D42A27DB-BD31-4B8C-83A1-F6EECF244321}">
                <p14:modId xmlns:p14="http://schemas.microsoft.com/office/powerpoint/2010/main" val="2150618732"/>
              </p:ext>
            </p:extLst>
          </p:nvPr>
        </p:nvGraphicFramePr>
        <p:xfrm>
          <a:off x="709150" y="2822029"/>
          <a:ext cx="17294794" cy="5202623"/>
        </p:xfrm>
        <a:graphic>
          <a:graphicData uri="http://schemas.openxmlformats.org/drawingml/2006/table">
            <a:tbl>
              <a:tblPr firstRow="1" bandRow="1"/>
              <a:tblGrid>
                <a:gridCol w="3339372">
                  <a:extLst>
                    <a:ext uri="{9D8B030D-6E8A-4147-A177-3AD203B41FA5}">
                      <a16:colId xmlns:a16="http://schemas.microsoft.com/office/drawing/2014/main" val="493006232"/>
                    </a:ext>
                  </a:extLst>
                </a:gridCol>
                <a:gridCol w="1270703">
                  <a:extLst>
                    <a:ext uri="{9D8B030D-6E8A-4147-A177-3AD203B41FA5}">
                      <a16:colId xmlns:a16="http://schemas.microsoft.com/office/drawing/2014/main" val="33892601"/>
                    </a:ext>
                  </a:extLst>
                </a:gridCol>
                <a:gridCol w="1270703">
                  <a:extLst>
                    <a:ext uri="{9D8B030D-6E8A-4147-A177-3AD203B41FA5}">
                      <a16:colId xmlns:a16="http://schemas.microsoft.com/office/drawing/2014/main" val="943339144"/>
                    </a:ext>
                  </a:extLst>
                </a:gridCol>
                <a:gridCol w="1040450">
                  <a:extLst>
                    <a:ext uri="{9D8B030D-6E8A-4147-A177-3AD203B41FA5}">
                      <a16:colId xmlns:a16="http://schemas.microsoft.com/office/drawing/2014/main" val="890585392"/>
                    </a:ext>
                  </a:extLst>
                </a:gridCol>
                <a:gridCol w="1151979">
                  <a:extLst>
                    <a:ext uri="{9D8B030D-6E8A-4147-A177-3AD203B41FA5}">
                      <a16:colId xmlns:a16="http://schemas.microsoft.com/office/drawing/2014/main" val="4060808685"/>
                    </a:ext>
                  </a:extLst>
                </a:gridCol>
                <a:gridCol w="1391225">
                  <a:extLst>
                    <a:ext uri="{9D8B030D-6E8A-4147-A177-3AD203B41FA5}">
                      <a16:colId xmlns:a16="http://schemas.microsoft.com/office/drawing/2014/main" val="2482402170"/>
                    </a:ext>
                  </a:extLst>
                </a:gridCol>
                <a:gridCol w="1110605">
                  <a:extLst>
                    <a:ext uri="{9D8B030D-6E8A-4147-A177-3AD203B41FA5}">
                      <a16:colId xmlns:a16="http://schemas.microsoft.com/office/drawing/2014/main" val="1366832601"/>
                    </a:ext>
                  </a:extLst>
                </a:gridCol>
                <a:gridCol w="1571109">
                  <a:extLst>
                    <a:ext uri="{9D8B030D-6E8A-4147-A177-3AD203B41FA5}">
                      <a16:colId xmlns:a16="http://schemas.microsoft.com/office/drawing/2014/main" val="2507176051"/>
                    </a:ext>
                  </a:extLst>
                </a:gridCol>
                <a:gridCol w="1466778">
                  <a:extLst>
                    <a:ext uri="{9D8B030D-6E8A-4147-A177-3AD203B41FA5}">
                      <a16:colId xmlns:a16="http://schemas.microsoft.com/office/drawing/2014/main" val="4172406103"/>
                    </a:ext>
                  </a:extLst>
                </a:gridCol>
                <a:gridCol w="2648615">
                  <a:extLst>
                    <a:ext uri="{9D8B030D-6E8A-4147-A177-3AD203B41FA5}">
                      <a16:colId xmlns:a16="http://schemas.microsoft.com/office/drawing/2014/main" val="337413006"/>
                    </a:ext>
                  </a:extLst>
                </a:gridCol>
                <a:gridCol w="1033255">
                  <a:extLst>
                    <a:ext uri="{9D8B030D-6E8A-4147-A177-3AD203B41FA5}">
                      <a16:colId xmlns:a16="http://schemas.microsoft.com/office/drawing/2014/main" val="2478957394"/>
                    </a:ext>
                  </a:extLst>
                </a:gridCol>
              </a:tblGrid>
              <a:tr h="654426">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gridSpan="2">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Before-After Means</a:t>
                      </a:r>
                      <a:endParaRPr lang="en-US" sz="1400" b="0" i="0" u="none" strike="noStrike" dirty="0">
                        <a:effectLst/>
                        <a:latin typeface="Arial" panose="020B0604020202020204" pitchFamily="34" charset="0"/>
                      </a:endParaRPr>
                    </a:p>
                  </a:txBody>
                  <a:tcPr marL="202968" marR="202968" marT="101484" marB="101484">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tc gridSpan="2">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Eligible Units Means (RCT)</a:t>
                      </a:r>
                      <a:endParaRPr lang="en-US" sz="1400" b="0" i="0" u="none" strike="noStrike">
                        <a:effectLst/>
                        <a:latin typeface="Arial" panose="020B0604020202020204" pitchFamily="34" charset="0"/>
                      </a:endParaRPr>
                    </a:p>
                  </a:txBody>
                  <a:tcPr marL="202968" marR="202968" marT="101484" marB="101484">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tc gridSpan="2">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Eligible Enrollment Units Means (IV)</a:t>
                      </a:r>
                      <a:endParaRPr lang="en-US" sz="1400" b="0" i="0" u="none" strike="noStrike">
                        <a:effectLst/>
                        <a:latin typeface="Arial" panose="020B0604020202020204" pitchFamily="34" charset="0"/>
                      </a:endParaRPr>
                    </a:p>
                  </a:txBody>
                  <a:tcPr marL="202968" marR="202968" marT="101484" marB="101484">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tc gridSpan="2">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Treatment Offered Units Means (With-Without, RDD, DID)</a:t>
                      </a:r>
                      <a:endParaRPr lang="en-US" sz="1400" b="0" i="0" u="none" strike="noStrike">
                        <a:effectLst/>
                        <a:latin typeface="Arial" panose="020B0604020202020204" pitchFamily="34" charset="0"/>
                      </a:endParaRPr>
                    </a:p>
                  </a:txBody>
                  <a:tcPr marL="202968" marR="202968" marT="101484" marB="101484">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tc gridSpan="2">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Overall Offered Means (PSM)</a:t>
                      </a:r>
                      <a:endParaRPr lang="en-US" sz="1400" b="0" i="0" u="none" strike="noStrike" dirty="0">
                        <a:effectLst/>
                        <a:latin typeface="Arial" panose="020B0604020202020204" pitchFamily="34" charset="0"/>
                      </a:endParaRPr>
                    </a:p>
                  </a:txBody>
                  <a:tcPr marL="202968" marR="202968" marT="101484" marB="101484">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3181534260"/>
                  </a:ext>
                </a:extLst>
              </a:tr>
              <a:tr h="554117">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Variable</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Offered Treat</a:t>
                      </a:r>
                      <a:b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Before</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Offered Treat</a:t>
                      </a:r>
                      <a:b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After</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Eligible</a:t>
                      </a:r>
                      <a:b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Control</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Eligible</a:t>
                      </a:r>
                      <a:b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Treatment</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Eligible</a:t>
                      </a:r>
                      <a:b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Not Enrolled</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Eligible</a:t>
                      </a:r>
                      <a:b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Enrolled</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Not Offered</a:t>
                      </a:r>
                      <a:b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Treatment</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Offered</a:t>
                      </a:r>
                      <a:b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Treatment</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Not Offered </a:t>
                      </a:r>
                    </a:p>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(Treat and Control)</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Offered</a:t>
                      </a:r>
                      <a:b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b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Treatment</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249955441"/>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Advanced Filtration</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0.72</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0.72</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0.73</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0.72</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0.74</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0.72</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0.46</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0.72</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0.55</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0.72</a:t>
                      </a:r>
                      <a:endParaRPr lang="en-US" sz="1400" b="0" i="0" u="none" strike="noStrike">
                        <a:effectLst/>
                        <a:latin typeface="Arial" panose="020B0604020202020204" pitchFamily="34" charset="0"/>
                      </a:endParaRPr>
                    </a:p>
                  </a:txBody>
                  <a:tcPr marL="21142" marR="21142" marT="21142"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2708168166"/>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Deputy Age</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36.84</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37.64</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36.88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36.84</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36.91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36.81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44.52</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36.84</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41.61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36.84</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extLst>
                  <a:ext uri="{0D108BD9-81ED-4DB2-BD59-A6C34878D82A}">
                    <a16:rowId xmlns:a16="http://schemas.microsoft.com/office/drawing/2014/main" val="2337057864"/>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Manager Age</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41.66</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42.63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42.29</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41.66</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42.33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41.61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52.03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41.66</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48.14</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41.66</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extLst>
                  <a:ext uri="{0D108BD9-81ED-4DB2-BD59-A6C34878D82A}">
                    <a16:rowId xmlns:a16="http://schemas.microsoft.com/office/drawing/2014/main" val="3670524887"/>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Business Area</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1.68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1.68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1.72</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1.68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1.73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1.67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2.60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1.68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2.25</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1.68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extLst>
                  <a:ext uri="{0D108BD9-81ED-4DB2-BD59-A6C34878D82A}">
                    <a16:rowId xmlns:a16="http://schemas.microsoft.com/office/drawing/2014/main" val="3340313264"/>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Deputy Education</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2.70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2.71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2.67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2.70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2.67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2.71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2.49</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2.70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2.58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2.70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extLst>
                  <a:ext uri="{0D108BD9-81ED-4DB2-BD59-A6C34878D82A}">
                    <a16:rowId xmlns:a16="http://schemas.microsoft.com/office/drawing/2014/main" val="3580040032"/>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Manager Education</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2.97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2.97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2.81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2.97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2.82</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2.97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2.71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2.97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2.77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2.97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extLst>
                  <a:ext uri="{0D108BD9-81ED-4DB2-BD59-A6C34878D82A}">
                    <a16:rowId xmlns:a16="http://schemas.microsoft.com/office/drawing/2014/main" val="717057201"/>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Female Manager</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0.07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0.07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0.08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0.07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0.08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0.07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0.13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0.07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0.11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0.07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extLst>
                  <a:ext uri="{0D108BD9-81ED-4DB2-BD59-A6C34878D82A}">
                    <a16:rowId xmlns:a16="http://schemas.microsoft.com/office/drawing/2014/main" val="1289994423"/>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Foreign Owned</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0.43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0.43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0.42</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0.43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0.42</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0.43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0.27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0.43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0.32</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0.43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extLst>
                  <a:ext uri="{0D108BD9-81ED-4DB2-BD59-A6C34878D82A}">
                    <a16:rowId xmlns:a16="http://schemas.microsoft.com/office/drawing/2014/main" val="4230180250"/>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Distance from Nearest Recycling Center</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109.20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109.22</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106.30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109.20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106.56</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109.01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103.66</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109.20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103.66</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109.20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extLst>
                  <a:ext uri="{0D108BD9-81ED-4DB2-BD59-A6C34878D82A}">
                    <a16:rowId xmlns:a16="http://schemas.microsoft.com/office/drawing/2014/main" val="1666447455"/>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Staff Size</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5.77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5.77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5.71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5.77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5.71</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5.78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4.30</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5.77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4.93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5.77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solidFill>
                      <a:srgbClr val="F7F7F7"/>
                    </a:solidFill>
                  </a:tcPr>
                </a:tc>
                <a:extLst>
                  <a:ext uri="{0D108BD9-81ED-4DB2-BD59-A6C34878D82A}">
                    <a16:rowId xmlns:a16="http://schemas.microsoft.com/office/drawing/2014/main" val="2214032857"/>
                  </a:ext>
                </a:extLst>
              </a:tr>
              <a:tr h="332840">
                <a:tc>
                  <a:txBody>
                    <a:bodyPr/>
                    <a:lstStyle/>
                    <a:p>
                      <a:pPr marL="0" marR="0" algn="l"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Water Treatment System</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0.57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0.57</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0.56</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0.57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0.55</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0.58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0.68</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0.57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0.63</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tc>
                  <a:txBody>
                    <a:bodyPr/>
                    <a:lstStyle/>
                    <a:p>
                      <a:pPr marL="0" marR="0" algn="ctr" fontAlgn="ctr">
                        <a:spcBef>
                          <a:spcPts val="100"/>
                        </a:spcBef>
                        <a:spcAft>
                          <a:spcPts val="100"/>
                        </a:spcAft>
                        <a:buNone/>
                      </a:pPr>
                      <a:r>
                        <a:rPr lang="en-US" sz="14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0.57</a:t>
                      </a:r>
                      <a:endParaRPr lang="en-US" sz="1400" b="0" i="0" u="none" strike="noStrike">
                        <a:effectLst/>
                        <a:latin typeface="Arial" panose="020B0604020202020204" pitchFamily="34" charset="0"/>
                      </a:endParaRPr>
                    </a:p>
                  </a:txBody>
                  <a:tcPr marL="21142" marR="21142" marT="21142" marB="0" anchor="ctr">
                    <a:lnL>
                      <a:noFill/>
                    </a:lnL>
                    <a:lnR>
                      <a:noFill/>
                    </a:lnR>
                    <a:lnT>
                      <a:noFill/>
                    </a:lnT>
                    <a:lnB>
                      <a:noFill/>
                    </a:lnB>
                    <a:noFill/>
                  </a:tcPr>
                </a:tc>
                <a:extLst>
                  <a:ext uri="{0D108BD9-81ED-4DB2-BD59-A6C34878D82A}">
                    <a16:rowId xmlns:a16="http://schemas.microsoft.com/office/drawing/2014/main" val="1422460185"/>
                  </a:ext>
                </a:extLst>
              </a:tr>
              <a:tr h="332840">
                <a:tc>
                  <a:txBody>
                    <a:bodyPr/>
                    <a:lstStyle/>
                    <a:p>
                      <a:pPr marL="0" marR="0" algn="l" fontAlgn="ctr">
                        <a:spcBef>
                          <a:spcPts val="100"/>
                        </a:spcBef>
                        <a:spcAft>
                          <a:spcPts val="100"/>
                        </a:spcAft>
                        <a:buNone/>
                      </a:pPr>
                      <a:r>
                        <a:rPr lang="en-US" sz="1400" b="1"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N</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tc>
                  <a:txBody>
                    <a:bodyPr/>
                    <a:lstStyle/>
                    <a:p>
                      <a:pPr marL="0" marR="0" algn="ctr" fontAlgn="ctr">
                        <a:spcBef>
                          <a:spcPts val="100"/>
                        </a:spcBef>
                        <a:spcAft>
                          <a:spcPts val="100"/>
                        </a:spcAft>
                        <a:buNone/>
                      </a:pPr>
                      <a:r>
                        <a:rPr lang="en-US" sz="1400" b="1"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2,964.00</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tc>
                  <a:txBody>
                    <a:bodyPr/>
                    <a:lstStyle/>
                    <a:p>
                      <a:pPr marL="0" marR="0" algn="ctr" fontAlgn="ctr">
                        <a:spcBef>
                          <a:spcPts val="100"/>
                        </a:spcBef>
                        <a:spcAft>
                          <a:spcPts val="100"/>
                        </a:spcAft>
                        <a:buNone/>
                      </a:pPr>
                      <a:r>
                        <a:rPr lang="en-US" sz="1400" b="1"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2,964.00</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tc>
                  <a:txBody>
                    <a:bodyPr/>
                    <a:lstStyle/>
                    <a:p>
                      <a:pPr marL="0" marR="0" algn="ctr" fontAlgn="ctr">
                        <a:spcBef>
                          <a:spcPts val="100"/>
                        </a:spcBef>
                        <a:spcAft>
                          <a:spcPts val="100"/>
                        </a:spcAft>
                        <a:buNone/>
                      </a:pPr>
                      <a:r>
                        <a:rPr lang="en-US" sz="1400" b="1"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2,664.00</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tc>
                  <a:txBody>
                    <a:bodyPr/>
                    <a:lstStyle/>
                    <a:p>
                      <a:pPr marL="0" marR="0" algn="ctr" fontAlgn="ctr">
                        <a:spcBef>
                          <a:spcPts val="100"/>
                        </a:spcBef>
                        <a:spcAft>
                          <a:spcPts val="100"/>
                        </a:spcAft>
                        <a:buNone/>
                      </a:pPr>
                      <a:r>
                        <a:rPr lang="en-US" sz="1400" b="1"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2,964.00</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tc>
                  <a:txBody>
                    <a:bodyPr/>
                    <a:lstStyle/>
                    <a:p>
                      <a:pPr marL="0" marR="0" algn="ctr" fontAlgn="ctr">
                        <a:spcBef>
                          <a:spcPts val="100"/>
                        </a:spcBef>
                        <a:spcAft>
                          <a:spcPts val="100"/>
                        </a:spcAft>
                        <a:buNone/>
                      </a:pPr>
                      <a:r>
                        <a:rPr lang="en-US" sz="1400" b="1"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2,721.00</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tc>
                  <a:txBody>
                    <a:bodyPr/>
                    <a:lstStyle/>
                    <a:p>
                      <a:pPr marL="0" marR="0" algn="ctr" fontAlgn="ctr">
                        <a:spcBef>
                          <a:spcPts val="100"/>
                        </a:spcBef>
                        <a:spcAft>
                          <a:spcPts val="100"/>
                        </a:spcAft>
                        <a:buNone/>
                      </a:pPr>
                      <a:r>
                        <a:rPr lang="en-US" sz="1400" b="1"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2,907.00</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tc>
                  <a:txBody>
                    <a:bodyPr/>
                    <a:lstStyle/>
                    <a:p>
                      <a:pPr marL="0" marR="0" algn="ctr" fontAlgn="ctr">
                        <a:spcBef>
                          <a:spcPts val="100"/>
                        </a:spcBef>
                        <a:spcAft>
                          <a:spcPts val="100"/>
                        </a:spcAft>
                        <a:buNone/>
                      </a:pPr>
                      <a:r>
                        <a:rPr lang="en-US" sz="1400" b="1"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1,995.00</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tc>
                  <a:txBody>
                    <a:bodyPr/>
                    <a:lstStyle/>
                    <a:p>
                      <a:pPr marL="0" marR="0" algn="ctr" fontAlgn="ctr">
                        <a:spcBef>
                          <a:spcPts val="100"/>
                        </a:spcBef>
                        <a:spcAft>
                          <a:spcPts val="100"/>
                        </a:spcAft>
                        <a:buNone/>
                      </a:pPr>
                      <a:r>
                        <a:rPr lang="en-US" sz="1400" b="1"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2,964.00</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tc>
                  <a:txBody>
                    <a:bodyPr/>
                    <a:lstStyle/>
                    <a:p>
                      <a:pPr marL="0" marR="0" algn="ctr" fontAlgn="ctr">
                        <a:spcBef>
                          <a:spcPts val="100"/>
                        </a:spcBef>
                        <a:spcAft>
                          <a:spcPts val="100"/>
                        </a:spcAft>
                        <a:buNone/>
                      </a:pPr>
                      <a:r>
                        <a:rPr lang="en-US" sz="1400" b="1"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6,949.00</a:t>
                      </a:r>
                      <a:endParaRPr lang="en-US" sz="1400" b="0" i="0" u="none" strike="noStrike">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tc>
                  <a:txBody>
                    <a:bodyPr/>
                    <a:lstStyle/>
                    <a:p>
                      <a:pPr marL="0" marR="0" algn="ctr" fontAlgn="ctr">
                        <a:spcBef>
                          <a:spcPts val="100"/>
                        </a:spcBef>
                        <a:spcAft>
                          <a:spcPts val="100"/>
                        </a:spcAft>
                        <a:buNone/>
                      </a:pPr>
                      <a:r>
                        <a:rPr lang="en-US" sz="1400" b="1"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2,964.00</a:t>
                      </a:r>
                      <a:endParaRPr lang="en-US" sz="1400" b="0" i="0" u="none" strike="noStrike" dirty="0">
                        <a:effectLst/>
                        <a:latin typeface="Arial" panose="020B0604020202020204" pitchFamily="34" charset="0"/>
                      </a:endParaRPr>
                    </a:p>
                  </a:txBody>
                  <a:tcPr marL="21142" marR="21142" marT="21142" marB="0" anchor="ctr">
                    <a:lnL>
                      <a:noFill/>
                    </a:lnL>
                    <a:lnR>
                      <a:noFill/>
                    </a:lnR>
                    <a:lnT>
                      <a:noFill/>
                    </a:lnT>
                    <a:lnB w="19050" cap="flat" cmpd="sng" algn="ctr">
                      <a:solidFill>
                        <a:srgbClr val="666666"/>
                      </a:solidFill>
                      <a:prstDash val="solid"/>
                      <a:round/>
                      <a:headEnd type="none" w="med" len="med"/>
                      <a:tailEnd type="none" w="med" len="med"/>
                    </a:lnB>
                    <a:solidFill>
                      <a:srgbClr val="F0F0F0"/>
                    </a:solidFill>
                  </a:tcPr>
                </a:tc>
                <a:extLst>
                  <a:ext uri="{0D108BD9-81ED-4DB2-BD59-A6C34878D82A}">
                    <a16:rowId xmlns:a16="http://schemas.microsoft.com/office/drawing/2014/main" val="3557184252"/>
                  </a:ext>
                </a:extLst>
              </a:tr>
            </a:tbl>
          </a:graphicData>
        </a:graphic>
      </p:graphicFrame>
    </p:spTree>
    <p:extLst>
      <p:ext uri="{BB962C8B-B14F-4D97-AF65-F5344CB8AC3E}">
        <p14:creationId xmlns:p14="http://schemas.microsoft.com/office/powerpoint/2010/main" val="334371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069252C8-06AB-F60D-2206-F2D14A797E70}"/>
              </a:ext>
            </a:extLst>
          </p:cNvPr>
          <p:cNvGraphicFramePr>
            <a:graphicFrameLocks noGrp="1"/>
          </p:cNvGraphicFramePr>
          <p:nvPr>
            <p:ph sz="quarter" idx="23"/>
            <p:extLst>
              <p:ext uri="{D42A27DB-BD31-4B8C-83A1-F6EECF244321}">
                <p14:modId xmlns:p14="http://schemas.microsoft.com/office/powerpoint/2010/main" val="1370993632"/>
              </p:ext>
            </p:extLst>
          </p:nvPr>
        </p:nvGraphicFramePr>
        <p:xfrm>
          <a:off x="927099" y="1430337"/>
          <a:ext cx="17155949" cy="76663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 Placeholder 1">
            <a:extLst>
              <a:ext uri="{FF2B5EF4-FFF2-40B4-BE49-F238E27FC236}">
                <a16:creationId xmlns:a16="http://schemas.microsoft.com/office/drawing/2014/main" id="{944D1A03-DAE4-6809-D6E1-4778BEE6D34C}"/>
              </a:ext>
            </a:extLst>
          </p:cNvPr>
          <p:cNvSpPr>
            <a:spLocks noGrp="1"/>
          </p:cNvSpPr>
          <p:nvPr>
            <p:ph type="body" sz="quarter" idx="21"/>
          </p:nvPr>
        </p:nvSpPr>
        <p:spPr/>
        <p:txBody>
          <a:bodyPr/>
          <a:lstStyle/>
          <a:p>
            <a:r>
              <a:rPr lang="en-US" dirty="0"/>
              <a:t>Eligible businesses are those with </a:t>
            </a:r>
            <a:r>
              <a:rPr lang="en-US" dirty="0" err="1"/>
              <a:t>efficiency_index</a:t>
            </a:r>
            <a:r>
              <a:rPr lang="en-US" dirty="0"/>
              <a:t>&lt;=58</a:t>
            </a:r>
          </a:p>
        </p:txBody>
      </p:sp>
      <p:sp>
        <p:nvSpPr>
          <p:cNvPr id="3" name="Text Placeholder 2">
            <a:extLst>
              <a:ext uri="{FF2B5EF4-FFF2-40B4-BE49-F238E27FC236}">
                <a16:creationId xmlns:a16="http://schemas.microsoft.com/office/drawing/2014/main" id="{48A90EB9-2BF8-719F-FB5E-4DD8A5061FDD}"/>
              </a:ext>
            </a:extLst>
          </p:cNvPr>
          <p:cNvSpPr>
            <a:spLocks noGrp="1"/>
          </p:cNvSpPr>
          <p:nvPr>
            <p:ph type="body" sz="quarter" idx="18"/>
          </p:nvPr>
        </p:nvSpPr>
        <p:spPr/>
        <p:txBody>
          <a:bodyPr/>
          <a:lstStyle/>
          <a:p>
            <a:r>
              <a:rPr lang="en-US" dirty="0"/>
              <a:t>Background</a:t>
            </a:r>
          </a:p>
        </p:txBody>
      </p:sp>
    </p:spTree>
    <p:extLst>
      <p:ext uri="{BB962C8B-B14F-4D97-AF65-F5344CB8AC3E}">
        <p14:creationId xmlns:p14="http://schemas.microsoft.com/office/powerpoint/2010/main" val="1460532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C2B11-B636-B850-0036-310EE63D986F}"/>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805EE712-3608-2A32-12F0-3C07C582FF71}"/>
              </a:ext>
            </a:extLst>
          </p:cNvPr>
          <p:cNvGraphicFramePr>
            <a:graphicFrameLocks noGrp="1"/>
          </p:cNvGraphicFramePr>
          <p:nvPr>
            <p:ph sz="quarter" idx="23"/>
          </p:nvPr>
        </p:nvGraphicFramePr>
        <p:xfrm>
          <a:off x="927099" y="1430337"/>
          <a:ext cx="17155949" cy="76663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 Placeholder 1">
            <a:extLst>
              <a:ext uri="{FF2B5EF4-FFF2-40B4-BE49-F238E27FC236}">
                <a16:creationId xmlns:a16="http://schemas.microsoft.com/office/drawing/2014/main" id="{809E9515-638A-B7D5-A852-BC0288D7BBCD}"/>
              </a:ext>
            </a:extLst>
          </p:cNvPr>
          <p:cNvSpPr>
            <a:spLocks noGrp="1"/>
          </p:cNvSpPr>
          <p:nvPr>
            <p:ph type="body" sz="quarter" idx="21"/>
          </p:nvPr>
        </p:nvSpPr>
        <p:spPr>
          <a:xfrm>
            <a:off x="1144193" y="9769683"/>
            <a:ext cx="16938855" cy="266283"/>
          </a:xfrm>
        </p:spPr>
        <p:txBody>
          <a:bodyPr/>
          <a:lstStyle/>
          <a:p>
            <a:r>
              <a:rPr lang="en-US" dirty="0"/>
              <a:t>Eligible businesses are those with </a:t>
            </a:r>
            <a:r>
              <a:rPr lang="en-US" dirty="0" err="1"/>
              <a:t>efficiency_index</a:t>
            </a:r>
            <a:r>
              <a:rPr lang="en-US" dirty="0"/>
              <a:t>&lt;=58</a:t>
            </a:r>
          </a:p>
        </p:txBody>
      </p:sp>
      <p:sp>
        <p:nvSpPr>
          <p:cNvPr id="3" name="Text Placeholder 2">
            <a:extLst>
              <a:ext uri="{FF2B5EF4-FFF2-40B4-BE49-F238E27FC236}">
                <a16:creationId xmlns:a16="http://schemas.microsoft.com/office/drawing/2014/main" id="{75F2F065-54DA-39A8-C5BA-F4AA35B5DA40}"/>
              </a:ext>
            </a:extLst>
          </p:cNvPr>
          <p:cNvSpPr>
            <a:spLocks noGrp="1"/>
          </p:cNvSpPr>
          <p:nvPr>
            <p:ph type="body" sz="quarter" idx="18"/>
          </p:nvPr>
        </p:nvSpPr>
        <p:spPr/>
        <p:txBody>
          <a:bodyPr/>
          <a:lstStyle/>
          <a:p>
            <a:r>
              <a:rPr lang="en-US" dirty="0"/>
              <a:t>Background</a:t>
            </a:r>
          </a:p>
        </p:txBody>
      </p:sp>
      <p:sp>
        <p:nvSpPr>
          <p:cNvPr id="4" name="Left Brace 3">
            <a:extLst>
              <a:ext uri="{FF2B5EF4-FFF2-40B4-BE49-F238E27FC236}">
                <a16:creationId xmlns:a16="http://schemas.microsoft.com/office/drawing/2014/main" id="{DA14B49D-FBE6-8848-33F7-4F0B8CECE78E}"/>
              </a:ext>
            </a:extLst>
          </p:cNvPr>
          <p:cNvSpPr/>
          <p:nvPr/>
        </p:nvSpPr>
        <p:spPr>
          <a:xfrm rot="16200000">
            <a:off x="7205063" y="5212378"/>
            <a:ext cx="1189541" cy="673629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92505981-47CC-406B-F0A2-A7837850D13C}"/>
              </a:ext>
            </a:extLst>
          </p:cNvPr>
          <p:cNvSpPr txBox="1"/>
          <p:nvPr/>
        </p:nvSpPr>
        <p:spPr>
          <a:xfrm>
            <a:off x="7502687" y="9233962"/>
            <a:ext cx="912464" cy="477054"/>
          </a:xfrm>
          <a:prstGeom prst="rect">
            <a:avLst/>
          </a:prstGeom>
          <a:noFill/>
        </p:spPr>
        <p:txBody>
          <a:bodyPr wrap="square" rtlCol="0">
            <a:spAutoFit/>
          </a:bodyPr>
          <a:lstStyle/>
          <a:p>
            <a:r>
              <a:rPr lang="en-US" sz="2500" b="1" dirty="0">
                <a:solidFill>
                  <a:schemeClr val="bg2"/>
                </a:solidFill>
              </a:rPr>
              <a:t>RCT</a:t>
            </a:r>
          </a:p>
        </p:txBody>
      </p:sp>
      <p:sp>
        <p:nvSpPr>
          <p:cNvPr id="7" name="Left Brace 6">
            <a:extLst>
              <a:ext uri="{FF2B5EF4-FFF2-40B4-BE49-F238E27FC236}">
                <a16:creationId xmlns:a16="http://schemas.microsoft.com/office/drawing/2014/main" id="{74D6AD59-D133-C057-4B6D-9943C255169B}"/>
              </a:ext>
            </a:extLst>
          </p:cNvPr>
          <p:cNvSpPr/>
          <p:nvPr/>
        </p:nvSpPr>
        <p:spPr>
          <a:xfrm rot="16200000">
            <a:off x="4979325" y="6715969"/>
            <a:ext cx="947311" cy="3334080"/>
          </a:xfrm>
          <a:prstGeom prst="leftBrace">
            <a:avLst>
              <a:gd name="adj1" fmla="val 8333"/>
              <a:gd name="adj2" fmla="val 48759"/>
            </a:avLst>
          </a:prstGeom>
          <a:ln>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7030A0"/>
              </a:solidFill>
            </a:endParaRPr>
          </a:p>
        </p:txBody>
      </p:sp>
      <p:sp>
        <p:nvSpPr>
          <p:cNvPr id="8" name="TextBox 7">
            <a:extLst>
              <a:ext uri="{FF2B5EF4-FFF2-40B4-BE49-F238E27FC236}">
                <a16:creationId xmlns:a16="http://schemas.microsoft.com/office/drawing/2014/main" id="{B4BC4F4E-CF71-EED1-D29B-E04E0A80A1C6}"/>
              </a:ext>
            </a:extLst>
          </p:cNvPr>
          <p:cNvSpPr txBox="1"/>
          <p:nvPr/>
        </p:nvSpPr>
        <p:spPr>
          <a:xfrm>
            <a:off x="3514897" y="8856663"/>
            <a:ext cx="3664917" cy="477054"/>
          </a:xfrm>
          <a:prstGeom prst="rect">
            <a:avLst/>
          </a:prstGeom>
          <a:noFill/>
        </p:spPr>
        <p:txBody>
          <a:bodyPr wrap="square" rtlCol="0">
            <a:spAutoFit/>
          </a:bodyPr>
          <a:lstStyle/>
          <a:p>
            <a:r>
              <a:rPr lang="en-US" sz="2500" b="1" dirty="0">
                <a:solidFill>
                  <a:srgbClr val="7030A0"/>
                </a:solidFill>
              </a:rPr>
              <a:t>Enrolled vs. Not Enrolled, RD, DID</a:t>
            </a:r>
          </a:p>
        </p:txBody>
      </p:sp>
      <p:sp>
        <p:nvSpPr>
          <p:cNvPr id="9" name="TextBox 8">
            <a:extLst>
              <a:ext uri="{FF2B5EF4-FFF2-40B4-BE49-F238E27FC236}">
                <a16:creationId xmlns:a16="http://schemas.microsoft.com/office/drawing/2014/main" id="{9814C08C-D1B8-BC6A-991A-345C6EF64E15}"/>
              </a:ext>
            </a:extLst>
          </p:cNvPr>
          <p:cNvSpPr txBox="1"/>
          <p:nvPr/>
        </p:nvSpPr>
        <p:spPr>
          <a:xfrm>
            <a:off x="16475241" y="6341916"/>
            <a:ext cx="1812759" cy="1246495"/>
          </a:xfrm>
          <a:prstGeom prst="rect">
            <a:avLst/>
          </a:prstGeom>
          <a:noFill/>
        </p:spPr>
        <p:txBody>
          <a:bodyPr wrap="square" rtlCol="0">
            <a:spAutoFit/>
          </a:bodyPr>
          <a:lstStyle/>
          <a:p>
            <a:r>
              <a:rPr lang="en-US" sz="2500" b="1" dirty="0">
                <a:solidFill>
                  <a:schemeClr val="accent6"/>
                </a:solidFill>
              </a:rPr>
              <a:t>PSM</a:t>
            </a:r>
            <a:r>
              <a:rPr lang="en-US" sz="2500" dirty="0">
                <a:solidFill>
                  <a:schemeClr val="accent6"/>
                </a:solidFill>
              </a:rPr>
              <a:t> is Eligible vs. All Others</a:t>
            </a:r>
          </a:p>
        </p:txBody>
      </p:sp>
      <p:sp>
        <p:nvSpPr>
          <p:cNvPr id="10" name="Left Brace 9">
            <a:extLst>
              <a:ext uri="{FF2B5EF4-FFF2-40B4-BE49-F238E27FC236}">
                <a16:creationId xmlns:a16="http://schemas.microsoft.com/office/drawing/2014/main" id="{F5D0B20F-5C3C-E4D1-BED1-E7C583A8D83A}"/>
              </a:ext>
            </a:extLst>
          </p:cNvPr>
          <p:cNvSpPr/>
          <p:nvPr/>
        </p:nvSpPr>
        <p:spPr>
          <a:xfrm rot="10800000">
            <a:off x="15929812" y="6047873"/>
            <a:ext cx="542551" cy="1834583"/>
          </a:xfrm>
          <a:prstGeom prst="leftBrace">
            <a:avLst>
              <a:gd name="adj1" fmla="val 8333"/>
              <a:gd name="adj2" fmla="val 48249"/>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7030A0"/>
              </a:solidFill>
            </a:endParaRPr>
          </a:p>
        </p:txBody>
      </p:sp>
    </p:spTree>
    <p:extLst>
      <p:ext uri="{BB962C8B-B14F-4D97-AF65-F5344CB8AC3E}">
        <p14:creationId xmlns:p14="http://schemas.microsoft.com/office/powerpoint/2010/main" val="1655596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81CAA-B4B1-1720-6983-4B11CD5EA1A7}"/>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C83E5151-9AE4-B13E-6525-E372CB2A8D7F}"/>
              </a:ext>
            </a:extLst>
          </p:cNvPr>
          <p:cNvGraphicFramePr>
            <a:graphicFrameLocks noGrp="1"/>
          </p:cNvGraphicFramePr>
          <p:nvPr>
            <p:ph sz="quarter" idx="23"/>
            <p:extLst>
              <p:ext uri="{D42A27DB-BD31-4B8C-83A1-F6EECF244321}">
                <p14:modId xmlns:p14="http://schemas.microsoft.com/office/powerpoint/2010/main" val="3991937306"/>
              </p:ext>
            </p:extLst>
          </p:nvPr>
        </p:nvGraphicFramePr>
        <p:xfrm>
          <a:off x="927099" y="1430337"/>
          <a:ext cx="17155949" cy="76663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 Placeholder 1">
            <a:extLst>
              <a:ext uri="{FF2B5EF4-FFF2-40B4-BE49-F238E27FC236}">
                <a16:creationId xmlns:a16="http://schemas.microsoft.com/office/drawing/2014/main" id="{FFD356A9-EFF4-8C93-7663-48F89F6F3E67}"/>
              </a:ext>
            </a:extLst>
          </p:cNvPr>
          <p:cNvSpPr>
            <a:spLocks noGrp="1"/>
          </p:cNvSpPr>
          <p:nvPr>
            <p:ph type="body" sz="quarter" idx="21"/>
          </p:nvPr>
        </p:nvSpPr>
        <p:spPr/>
        <p:txBody>
          <a:bodyPr/>
          <a:lstStyle/>
          <a:p>
            <a:r>
              <a:rPr lang="en-US" dirty="0"/>
              <a:t>Note: (N=number of businesses). Eligible businesses are those with </a:t>
            </a:r>
            <a:r>
              <a:rPr lang="en-US" dirty="0" err="1"/>
              <a:t>efficiency_index</a:t>
            </a:r>
            <a:r>
              <a:rPr lang="en-US" dirty="0"/>
              <a:t>&lt;=58.</a:t>
            </a:r>
          </a:p>
        </p:txBody>
      </p:sp>
      <p:sp>
        <p:nvSpPr>
          <p:cNvPr id="3" name="Text Placeholder 2">
            <a:extLst>
              <a:ext uri="{FF2B5EF4-FFF2-40B4-BE49-F238E27FC236}">
                <a16:creationId xmlns:a16="http://schemas.microsoft.com/office/drawing/2014/main" id="{9095A03C-1DB3-BA79-B63D-E8FA98690627}"/>
              </a:ext>
            </a:extLst>
          </p:cNvPr>
          <p:cNvSpPr>
            <a:spLocks noGrp="1"/>
          </p:cNvSpPr>
          <p:nvPr>
            <p:ph type="body" sz="quarter" idx="18"/>
          </p:nvPr>
        </p:nvSpPr>
        <p:spPr/>
        <p:txBody>
          <a:bodyPr/>
          <a:lstStyle/>
          <a:p>
            <a:r>
              <a:rPr lang="en-US" dirty="0"/>
              <a:t>Background with IV</a:t>
            </a:r>
          </a:p>
        </p:txBody>
      </p:sp>
    </p:spTree>
    <p:extLst>
      <p:ext uri="{BB962C8B-B14F-4D97-AF65-F5344CB8AC3E}">
        <p14:creationId xmlns:p14="http://schemas.microsoft.com/office/powerpoint/2010/main" val="3986721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BEB18-FEB3-D832-7E27-C940D99172E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ABD298-47C3-D934-CD66-2C5D1B1086ED}"/>
              </a:ext>
            </a:extLst>
          </p:cNvPr>
          <p:cNvSpPr>
            <a:spLocks noGrp="1"/>
          </p:cNvSpPr>
          <p:nvPr>
            <p:ph type="body" sz="quarter" idx="19"/>
          </p:nvPr>
        </p:nvSpPr>
        <p:spPr/>
        <p:txBody>
          <a:bodyPr/>
          <a:lstStyle/>
          <a:p>
            <a:r>
              <a:rPr lang="en-US" dirty="0"/>
              <a:t>Exercise 1-2</a:t>
            </a:r>
          </a:p>
        </p:txBody>
      </p:sp>
      <p:sp>
        <p:nvSpPr>
          <p:cNvPr id="3" name="Text Placeholder 2">
            <a:extLst>
              <a:ext uri="{FF2B5EF4-FFF2-40B4-BE49-F238E27FC236}">
                <a16:creationId xmlns:a16="http://schemas.microsoft.com/office/drawing/2014/main" id="{ED0829DF-73D1-1549-C1F6-83B8E80DAED6}"/>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2610053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DEA37-72C9-EFF9-71D8-B1C68536B892}"/>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679B834-8E61-A2AB-86D4-6650B9295C3E}"/>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6FA632C1-8375-855D-D1F9-9B39BE6559E2}"/>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6BB2E847-D3FA-D1B6-FAA4-B35060D8A08D}"/>
              </a:ext>
            </a:extLst>
          </p:cNvPr>
          <p:cNvSpPr>
            <a:spLocks noGrp="1"/>
          </p:cNvSpPr>
          <p:nvPr>
            <p:ph type="body" sz="quarter" idx="18"/>
          </p:nvPr>
        </p:nvSpPr>
        <p:spPr/>
        <p:txBody>
          <a:bodyPr/>
          <a:lstStyle/>
          <a:p>
            <a:r>
              <a:rPr lang="en-US" dirty="0"/>
              <a:t>Eligible Businesses in Treat Neighborhoods</a:t>
            </a:r>
          </a:p>
        </p:txBody>
      </p:sp>
      <p:graphicFrame>
        <p:nvGraphicFramePr>
          <p:cNvPr id="6" name="Table 5">
            <a:extLst>
              <a:ext uri="{FF2B5EF4-FFF2-40B4-BE49-F238E27FC236}">
                <a16:creationId xmlns:a16="http://schemas.microsoft.com/office/drawing/2014/main" id="{35AFDDE7-5BB7-BA96-4E45-FC1452E0DB37}"/>
              </a:ext>
            </a:extLst>
          </p:cNvPr>
          <p:cNvGraphicFramePr>
            <a:graphicFrameLocks noGrp="1"/>
          </p:cNvGraphicFramePr>
          <p:nvPr>
            <p:extLst>
              <p:ext uri="{D42A27DB-BD31-4B8C-83A1-F6EECF244321}">
                <p14:modId xmlns:p14="http://schemas.microsoft.com/office/powerpoint/2010/main" val="3853968479"/>
              </p:ext>
            </p:extLst>
          </p:nvPr>
        </p:nvGraphicFramePr>
        <p:xfrm>
          <a:off x="12801600" y="1826595"/>
          <a:ext cx="4776950" cy="6843870"/>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989670">
                <a:tc>
                  <a:txBody>
                    <a:bodyPr/>
                    <a:lstStyle/>
                    <a:p>
                      <a:pPr algn="ctr"/>
                      <a:r>
                        <a:rPr lang="en-US" sz="2400" b="1" dirty="0">
                          <a:solidFill>
                            <a:schemeClr val="bg2"/>
                          </a:solidFill>
                        </a:rPr>
                        <a:t>Total businesses in the Emirate</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9,913</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815113971"/>
                  </a:ext>
                </a:extLst>
              </a:tr>
              <a:tr h="2427100">
                <a:tc>
                  <a:txBody>
                    <a:bodyPr/>
                    <a:lstStyle/>
                    <a:p>
                      <a:pPr algn="ctr"/>
                      <a:r>
                        <a:rPr lang="en-US" sz="2400" b="1" dirty="0">
                          <a:solidFill>
                            <a:schemeClr val="bg2"/>
                          </a:solidFill>
                        </a:rPr>
                        <a:t>Total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4,959</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677125133"/>
                  </a:ext>
                </a:extLst>
              </a:tr>
              <a:tr h="2427100">
                <a:tc>
                  <a:txBody>
                    <a:bodyPr/>
                    <a:lstStyle/>
                    <a:p>
                      <a:pPr algn="ctr"/>
                      <a:r>
                        <a:rPr lang="en-US" sz="2400" b="1" dirty="0">
                          <a:solidFill>
                            <a:schemeClr val="bg2"/>
                          </a:solidFill>
                        </a:rPr>
                        <a:t>Total eligible businesses in treatment neighborhoods (</a:t>
                      </a:r>
                      <a:r>
                        <a:rPr lang="en-US" sz="2400" b="1" dirty="0" err="1">
                          <a:solidFill>
                            <a:schemeClr val="bg2"/>
                          </a:solidFill>
                        </a:rPr>
                        <a:t>enrolled</a:t>
                      </a:r>
                      <a:r>
                        <a:rPr lang="en-US" sz="2400" b="1" dirty="0">
                          <a:solidFill>
                            <a:schemeClr val="bg2"/>
                          </a:solidFill>
                        </a:rPr>
                        <a:t>)</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bl>
          </a:graphicData>
        </a:graphic>
      </p:graphicFrame>
      <p:sp>
        <p:nvSpPr>
          <p:cNvPr id="8" name="TextBox 7">
            <a:extLst>
              <a:ext uri="{FF2B5EF4-FFF2-40B4-BE49-F238E27FC236}">
                <a16:creationId xmlns:a16="http://schemas.microsoft.com/office/drawing/2014/main" id="{0F257D1D-B771-B418-8794-4393353CCEB5}"/>
              </a:ext>
            </a:extLst>
          </p:cNvPr>
          <p:cNvSpPr txBox="1"/>
          <p:nvPr/>
        </p:nvSpPr>
        <p:spPr>
          <a:xfrm>
            <a:off x="3974390" y="5537803"/>
            <a:ext cx="2066544" cy="707886"/>
          </a:xfrm>
          <a:prstGeom prst="rect">
            <a:avLst/>
          </a:prstGeom>
          <a:noFill/>
        </p:spPr>
        <p:txBody>
          <a:bodyPr wrap="square" rtlCol="0">
            <a:spAutoFit/>
          </a:bodyPr>
          <a:lstStyle/>
          <a:p>
            <a:r>
              <a:rPr lang="en-US" sz="2000" b="1" dirty="0"/>
              <a:t>Control Neighborhoods</a:t>
            </a:r>
          </a:p>
        </p:txBody>
      </p:sp>
      <p:sp>
        <p:nvSpPr>
          <p:cNvPr id="9" name="TextBox 8">
            <a:extLst>
              <a:ext uri="{FF2B5EF4-FFF2-40B4-BE49-F238E27FC236}">
                <a16:creationId xmlns:a16="http://schemas.microsoft.com/office/drawing/2014/main" id="{E0ABF1C3-4A21-2A9D-09A4-30B556DE72AB}"/>
              </a:ext>
            </a:extLst>
          </p:cNvPr>
          <p:cNvSpPr txBox="1"/>
          <p:nvPr/>
        </p:nvSpPr>
        <p:spPr>
          <a:xfrm>
            <a:off x="3971758" y="6409804"/>
            <a:ext cx="2066544" cy="707886"/>
          </a:xfrm>
          <a:prstGeom prst="rect">
            <a:avLst/>
          </a:prstGeom>
          <a:noFill/>
        </p:spPr>
        <p:txBody>
          <a:bodyPr wrap="square" rtlCol="0">
            <a:spAutoFit/>
          </a:bodyPr>
          <a:lstStyle/>
          <a:p>
            <a:r>
              <a:rPr lang="en-US" sz="2000" b="1" dirty="0"/>
              <a:t>Treatment Neighborhoods</a:t>
            </a:r>
          </a:p>
        </p:txBody>
      </p:sp>
      <p:sp>
        <p:nvSpPr>
          <p:cNvPr id="10" name="Oval 9">
            <a:extLst>
              <a:ext uri="{FF2B5EF4-FFF2-40B4-BE49-F238E27FC236}">
                <a16:creationId xmlns:a16="http://schemas.microsoft.com/office/drawing/2014/main" id="{C6D735C7-17FC-C3C4-0F93-97D73AAF3823}"/>
              </a:ext>
            </a:extLst>
          </p:cNvPr>
          <p:cNvSpPr/>
          <p:nvPr/>
        </p:nvSpPr>
        <p:spPr>
          <a:xfrm>
            <a:off x="1655377" y="5702744"/>
            <a:ext cx="731520" cy="457200"/>
          </a:xfrm>
          <a:prstGeom prst="ellipse">
            <a:avLst/>
          </a:prstGeom>
          <a:solidFill>
            <a:srgbClr val="EE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CC48FBC-3E56-1718-D952-158790A0DDE4}"/>
              </a:ext>
            </a:extLst>
          </p:cNvPr>
          <p:cNvSpPr/>
          <p:nvPr/>
        </p:nvSpPr>
        <p:spPr>
          <a:xfrm>
            <a:off x="1671143" y="6472877"/>
            <a:ext cx="731520" cy="457200"/>
          </a:xfrm>
          <a:prstGeom prst="ellipse">
            <a:avLst/>
          </a:prstGeom>
          <a:solidFill>
            <a:srgbClr val="1B8E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D25843-4FF0-756E-98AF-0757F2AAF5CA}"/>
              </a:ext>
            </a:extLst>
          </p:cNvPr>
          <p:cNvSpPr/>
          <p:nvPr/>
        </p:nvSpPr>
        <p:spPr>
          <a:xfrm>
            <a:off x="1503623" y="7296757"/>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City outline">
            <a:extLst>
              <a:ext uri="{FF2B5EF4-FFF2-40B4-BE49-F238E27FC236}">
                <a16:creationId xmlns:a16="http://schemas.microsoft.com/office/drawing/2014/main" id="{C679D897-19E4-1551-B649-7F3DF338A1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83088" y="7284651"/>
            <a:ext cx="914400" cy="914400"/>
          </a:xfrm>
          <a:prstGeom prst="rect">
            <a:avLst/>
          </a:prstGeom>
        </p:spPr>
      </p:pic>
      <p:sp>
        <p:nvSpPr>
          <p:cNvPr id="15" name="Equals 14">
            <a:extLst>
              <a:ext uri="{FF2B5EF4-FFF2-40B4-BE49-F238E27FC236}">
                <a16:creationId xmlns:a16="http://schemas.microsoft.com/office/drawing/2014/main" id="{1B978CAB-3100-56EF-AE42-79F4AAB7FE5D}"/>
              </a:ext>
            </a:extLst>
          </p:cNvPr>
          <p:cNvSpPr/>
          <p:nvPr/>
        </p:nvSpPr>
        <p:spPr>
          <a:xfrm>
            <a:off x="3169964" y="7528531"/>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9D9C1002-87BA-389D-C2BE-0E7EA15AD8E9}"/>
              </a:ext>
            </a:extLst>
          </p:cNvPr>
          <p:cNvSpPr txBox="1"/>
          <p:nvPr/>
        </p:nvSpPr>
        <p:spPr>
          <a:xfrm>
            <a:off x="3970251" y="7297508"/>
            <a:ext cx="2066544" cy="707886"/>
          </a:xfrm>
          <a:prstGeom prst="rect">
            <a:avLst/>
          </a:prstGeom>
          <a:noFill/>
        </p:spPr>
        <p:txBody>
          <a:bodyPr wrap="square" rtlCol="0">
            <a:spAutoFit/>
          </a:bodyPr>
          <a:lstStyle/>
          <a:p>
            <a:r>
              <a:rPr lang="en-US" sz="2000" b="1" dirty="0"/>
              <a:t>10 eligible businesses</a:t>
            </a:r>
          </a:p>
        </p:txBody>
      </p:sp>
      <p:sp>
        <p:nvSpPr>
          <p:cNvPr id="20" name="Equals 19">
            <a:extLst>
              <a:ext uri="{FF2B5EF4-FFF2-40B4-BE49-F238E27FC236}">
                <a16:creationId xmlns:a16="http://schemas.microsoft.com/office/drawing/2014/main" id="{19CFB5E8-0B71-1613-8232-4EB8EA5EA490}"/>
              </a:ext>
            </a:extLst>
          </p:cNvPr>
          <p:cNvSpPr/>
          <p:nvPr/>
        </p:nvSpPr>
        <p:spPr>
          <a:xfrm>
            <a:off x="3180470" y="6596144"/>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Equals 20">
            <a:extLst>
              <a:ext uri="{FF2B5EF4-FFF2-40B4-BE49-F238E27FC236}">
                <a16:creationId xmlns:a16="http://schemas.microsoft.com/office/drawing/2014/main" id="{CCFACD2C-BD07-12B1-2C20-F931A1DD4018}"/>
              </a:ext>
            </a:extLst>
          </p:cNvPr>
          <p:cNvSpPr/>
          <p:nvPr/>
        </p:nvSpPr>
        <p:spPr>
          <a:xfrm>
            <a:off x="3178285" y="5717515"/>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4" name="Picture 23">
            <a:extLst>
              <a:ext uri="{FF2B5EF4-FFF2-40B4-BE49-F238E27FC236}">
                <a16:creationId xmlns:a16="http://schemas.microsoft.com/office/drawing/2014/main" id="{3E37E5CE-4AD0-1018-06D7-71FDE8853EEA}"/>
              </a:ext>
            </a:extLst>
          </p:cNvPr>
          <p:cNvPicPr>
            <a:picLocks noChangeAspect="1"/>
          </p:cNvPicPr>
          <p:nvPr/>
        </p:nvPicPr>
        <p:blipFill>
          <a:blip r:embed="rId6"/>
          <a:srcRect l="38336" t="4532" r="3120" b="19511"/>
          <a:stretch>
            <a:fillRect/>
          </a:stretch>
        </p:blipFill>
        <p:spPr>
          <a:xfrm>
            <a:off x="2144873" y="2179996"/>
            <a:ext cx="2598822" cy="2444970"/>
          </a:xfrm>
          <a:prstGeom prst="rect">
            <a:avLst/>
          </a:prstGeom>
        </p:spPr>
      </p:pic>
    </p:spTree>
    <p:extLst>
      <p:ext uri="{BB962C8B-B14F-4D97-AF65-F5344CB8AC3E}">
        <p14:creationId xmlns:p14="http://schemas.microsoft.com/office/powerpoint/2010/main" val="1344129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209593-5DDB-F95F-76C1-84B807173E94}"/>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B442B776-5D9B-2D67-EAB7-073CCD98E9BE}"/>
              </a:ext>
            </a:extLst>
          </p:cNvPr>
          <p:cNvSpPr>
            <a:spLocks noGrp="1"/>
          </p:cNvSpPr>
          <p:nvPr>
            <p:ph type="body" sz="quarter" idx="18"/>
          </p:nvPr>
        </p:nvSpPr>
        <p:spPr/>
        <p:txBody>
          <a:bodyPr/>
          <a:lstStyle/>
          <a:p>
            <a:r>
              <a:rPr lang="en-US" dirty="0"/>
              <a:t>Before-After</a:t>
            </a:r>
          </a:p>
        </p:txBody>
      </p:sp>
      <p:sp>
        <p:nvSpPr>
          <p:cNvPr id="14" name="Freeform: Shape 13">
            <a:extLst>
              <a:ext uri="{FF2B5EF4-FFF2-40B4-BE49-F238E27FC236}">
                <a16:creationId xmlns:a16="http://schemas.microsoft.com/office/drawing/2014/main" id="{07C654F3-0FAC-DA7D-91B4-EA2ABB695485}"/>
              </a:ext>
            </a:extLst>
          </p:cNvPr>
          <p:cNvSpPr/>
          <p:nvPr/>
        </p:nvSpPr>
        <p:spPr>
          <a:xfrm>
            <a:off x="5504145" y="1974631"/>
            <a:ext cx="7289379" cy="4442370"/>
          </a:xfrm>
          <a:custGeom>
            <a:avLst/>
            <a:gdLst>
              <a:gd name="connsiteX0" fmla="*/ 267610 w 7289379"/>
              <a:gd name="connsiteY0" fmla="*/ 109246 h 4442370"/>
              <a:gd name="connsiteX1" fmla="*/ 259844 w 7289379"/>
              <a:gd name="connsiteY1" fmla="*/ 16530 h 4442370"/>
              <a:gd name="connsiteX2" fmla="*/ 7908 w 7289379"/>
              <a:gd name="connsiteY2" fmla="*/ 16530 h 4442370"/>
              <a:gd name="connsiteX3" fmla="*/ 141 w 7289379"/>
              <a:gd name="connsiteY3" fmla="*/ 109246 h 4442370"/>
              <a:gd name="connsiteX4" fmla="*/ 10335 w 7289379"/>
              <a:gd name="connsiteY4" fmla="*/ 109246 h 4442370"/>
              <a:gd name="connsiteX5" fmla="*/ 84605 w 7289379"/>
              <a:gd name="connsiteY5" fmla="*/ 29150 h 4442370"/>
              <a:gd name="connsiteX6" fmla="*/ 106935 w 7289379"/>
              <a:gd name="connsiteY6" fmla="*/ 30121 h 4442370"/>
              <a:gd name="connsiteX7" fmla="*/ 115672 w 7289379"/>
              <a:gd name="connsiteY7" fmla="*/ 45655 h 4442370"/>
              <a:gd name="connsiteX8" fmla="*/ 115672 w 7289379"/>
              <a:gd name="connsiteY8" fmla="*/ 263126 h 4442370"/>
              <a:gd name="connsiteX9" fmla="*/ 71984 w 7289379"/>
              <a:gd name="connsiteY9" fmla="*/ 283028 h 4442370"/>
              <a:gd name="connsiteX10" fmla="*/ 55479 w 7289379"/>
              <a:gd name="connsiteY10" fmla="*/ 283028 h 4442370"/>
              <a:gd name="connsiteX11" fmla="*/ 55479 w 7289379"/>
              <a:gd name="connsiteY11" fmla="*/ 295649 h 4442370"/>
              <a:gd name="connsiteX12" fmla="*/ 133633 w 7289379"/>
              <a:gd name="connsiteY12" fmla="*/ 294193 h 4442370"/>
              <a:gd name="connsiteX13" fmla="*/ 212272 w 7289379"/>
              <a:gd name="connsiteY13" fmla="*/ 295649 h 4442370"/>
              <a:gd name="connsiteX14" fmla="*/ 212272 w 7289379"/>
              <a:gd name="connsiteY14" fmla="*/ 283028 h 4442370"/>
              <a:gd name="connsiteX15" fmla="*/ 195768 w 7289379"/>
              <a:gd name="connsiteY15" fmla="*/ 283028 h 4442370"/>
              <a:gd name="connsiteX16" fmla="*/ 152079 w 7289379"/>
              <a:gd name="connsiteY16" fmla="*/ 263126 h 4442370"/>
              <a:gd name="connsiteX17" fmla="*/ 152079 w 7289379"/>
              <a:gd name="connsiteY17" fmla="*/ 45655 h 4442370"/>
              <a:gd name="connsiteX18" fmla="*/ 159846 w 7289379"/>
              <a:gd name="connsiteY18" fmla="*/ 30121 h 4442370"/>
              <a:gd name="connsiteX19" fmla="*/ 183146 w 7289379"/>
              <a:gd name="connsiteY19" fmla="*/ 29151 h 4442370"/>
              <a:gd name="connsiteX20" fmla="*/ 257417 w 7289379"/>
              <a:gd name="connsiteY20" fmla="*/ 109246 h 4442370"/>
              <a:gd name="connsiteX21" fmla="*/ 448310 w 7289379"/>
              <a:gd name="connsiteY21" fmla="*/ 258757 h 4442370"/>
              <a:gd name="connsiteX22" fmla="*/ 448310 w 7289379"/>
              <a:gd name="connsiteY22" fmla="*/ 235942 h 4442370"/>
              <a:gd name="connsiteX23" fmla="*/ 437631 w 7289379"/>
              <a:gd name="connsiteY23" fmla="*/ 235942 h 4442370"/>
              <a:gd name="connsiteX24" fmla="*/ 437631 w 7289379"/>
              <a:gd name="connsiteY24" fmla="*/ 258757 h 4442370"/>
              <a:gd name="connsiteX25" fmla="*/ 423066 w 7289379"/>
              <a:gd name="connsiteY25" fmla="*/ 285456 h 4442370"/>
              <a:gd name="connsiteX26" fmla="*/ 407533 w 7289379"/>
              <a:gd name="connsiteY26" fmla="*/ 264582 h 4442370"/>
              <a:gd name="connsiteX27" fmla="*/ 407533 w 7289379"/>
              <a:gd name="connsiteY27" fmla="*/ 182060 h 4442370"/>
              <a:gd name="connsiteX28" fmla="*/ 392972 w 7289379"/>
              <a:gd name="connsiteY28" fmla="*/ 133517 h 4442370"/>
              <a:gd name="connsiteX29" fmla="*/ 336177 w 7289379"/>
              <a:gd name="connsiteY29" fmla="*/ 110702 h 4442370"/>
              <a:gd name="connsiteX30" fmla="*/ 274043 w 7289379"/>
              <a:gd name="connsiteY30" fmla="*/ 157303 h 4442370"/>
              <a:gd name="connsiteX31" fmla="*/ 292974 w 7289379"/>
              <a:gd name="connsiteY31" fmla="*/ 176720 h 4442370"/>
              <a:gd name="connsiteX32" fmla="*/ 311906 w 7289379"/>
              <a:gd name="connsiteY32" fmla="*/ 157788 h 4442370"/>
              <a:gd name="connsiteX33" fmla="*/ 291032 w 7289379"/>
              <a:gd name="connsiteY33" fmla="*/ 138857 h 4442370"/>
              <a:gd name="connsiteX34" fmla="*/ 335692 w 7289379"/>
              <a:gd name="connsiteY34" fmla="*/ 119925 h 4442370"/>
              <a:gd name="connsiteX35" fmla="*/ 379380 w 7289379"/>
              <a:gd name="connsiteY35" fmla="*/ 172837 h 4442370"/>
              <a:gd name="connsiteX36" fmla="*/ 379380 w 7289379"/>
              <a:gd name="connsiteY36" fmla="*/ 187885 h 4442370"/>
              <a:gd name="connsiteX37" fmla="*/ 303168 w 7289379"/>
              <a:gd name="connsiteY37" fmla="*/ 202933 h 4442370"/>
              <a:gd name="connsiteX38" fmla="*/ 261907 w 7289379"/>
              <a:gd name="connsiteY38" fmla="*/ 256330 h 4442370"/>
              <a:gd name="connsiteX39" fmla="*/ 327925 w 7289379"/>
              <a:gd name="connsiteY39" fmla="*/ 300018 h 4442370"/>
              <a:gd name="connsiteX40" fmla="*/ 382292 w 7289379"/>
              <a:gd name="connsiteY40" fmla="*/ 264097 h 4442370"/>
              <a:gd name="connsiteX41" fmla="*/ 414330 w 7289379"/>
              <a:gd name="connsiteY41" fmla="*/ 298077 h 4442370"/>
              <a:gd name="connsiteX42" fmla="*/ 448310 w 7289379"/>
              <a:gd name="connsiteY42" fmla="*/ 258757 h 4442370"/>
              <a:gd name="connsiteX43" fmla="*/ 379380 w 7289379"/>
              <a:gd name="connsiteY43" fmla="*/ 237884 h 4442370"/>
              <a:gd name="connsiteX44" fmla="*/ 330837 w 7289379"/>
              <a:gd name="connsiteY44" fmla="*/ 291281 h 4442370"/>
              <a:gd name="connsiteX45" fmla="*/ 293945 w 7289379"/>
              <a:gd name="connsiteY45" fmla="*/ 255845 h 4442370"/>
              <a:gd name="connsiteX46" fmla="*/ 379380 w 7289379"/>
              <a:gd name="connsiteY46" fmla="*/ 196622 h 4442370"/>
              <a:gd name="connsiteX47" fmla="*/ 670151 w 7289379"/>
              <a:gd name="connsiteY47" fmla="*/ 206331 h 4442370"/>
              <a:gd name="connsiteX48" fmla="*/ 582773 w 7289379"/>
              <a:gd name="connsiteY48" fmla="*/ 113129 h 4442370"/>
              <a:gd name="connsiteX49" fmla="*/ 525978 w 7289379"/>
              <a:gd name="connsiteY49" fmla="*/ 140313 h 4442370"/>
              <a:gd name="connsiteX50" fmla="*/ 525978 w 7289379"/>
              <a:gd name="connsiteY50" fmla="*/ 9248 h 4442370"/>
              <a:gd name="connsiteX51" fmla="*/ 466755 w 7289379"/>
              <a:gd name="connsiteY51" fmla="*/ 13617 h 4442370"/>
              <a:gd name="connsiteX52" fmla="*/ 466755 w 7289379"/>
              <a:gd name="connsiteY52" fmla="*/ 26723 h 4442370"/>
              <a:gd name="connsiteX53" fmla="*/ 498796 w 7289379"/>
              <a:gd name="connsiteY53" fmla="*/ 49538 h 4442370"/>
              <a:gd name="connsiteX54" fmla="*/ 498796 w 7289379"/>
              <a:gd name="connsiteY54" fmla="*/ 295649 h 4442370"/>
              <a:gd name="connsiteX55" fmla="*/ 508990 w 7289379"/>
              <a:gd name="connsiteY55" fmla="*/ 295649 h 4442370"/>
              <a:gd name="connsiteX56" fmla="*/ 524035 w 7289379"/>
              <a:gd name="connsiteY56" fmla="*/ 269922 h 4442370"/>
              <a:gd name="connsiteX57" fmla="*/ 577918 w 7289379"/>
              <a:gd name="connsiteY57" fmla="*/ 300018 h 4442370"/>
              <a:gd name="connsiteX58" fmla="*/ 670151 w 7289379"/>
              <a:gd name="connsiteY58" fmla="*/ 206331 h 4442370"/>
              <a:gd name="connsiteX59" fmla="*/ 635687 w 7289379"/>
              <a:gd name="connsiteY59" fmla="*/ 206331 h 4442370"/>
              <a:gd name="connsiteX60" fmla="*/ 623065 w 7289379"/>
              <a:gd name="connsiteY60" fmla="*/ 264582 h 4442370"/>
              <a:gd name="connsiteX61" fmla="*/ 576464 w 7289379"/>
              <a:gd name="connsiteY61" fmla="*/ 291281 h 4442370"/>
              <a:gd name="connsiteX62" fmla="*/ 533260 w 7289379"/>
              <a:gd name="connsiteY62" fmla="*/ 266038 h 4442370"/>
              <a:gd name="connsiteX63" fmla="*/ 527436 w 7289379"/>
              <a:gd name="connsiteY63" fmla="*/ 248563 h 4442370"/>
              <a:gd name="connsiteX64" fmla="*/ 527436 w 7289379"/>
              <a:gd name="connsiteY64" fmla="*/ 163614 h 4442370"/>
              <a:gd name="connsiteX65" fmla="*/ 531802 w 7289379"/>
              <a:gd name="connsiteY65" fmla="*/ 148565 h 4442370"/>
              <a:gd name="connsiteX66" fmla="*/ 580345 w 7289379"/>
              <a:gd name="connsiteY66" fmla="*/ 122352 h 4442370"/>
              <a:gd name="connsiteX67" fmla="*/ 624034 w 7289379"/>
              <a:gd name="connsiteY67" fmla="*/ 148565 h 4442370"/>
              <a:gd name="connsiteX68" fmla="*/ 635687 w 7289379"/>
              <a:gd name="connsiteY68" fmla="*/ 206331 h 4442370"/>
              <a:gd name="connsiteX69" fmla="*/ 789929 w 7289379"/>
              <a:gd name="connsiteY69" fmla="*/ 295649 h 4442370"/>
              <a:gd name="connsiteX70" fmla="*/ 789929 w 7289379"/>
              <a:gd name="connsiteY70" fmla="*/ 283028 h 4442370"/>
              <a:gd name="connsiteX71" fmla="*/ 757404 w 7289379"/>
              <a:gd name="connsiteY71" fmla="*/ 264097 h 4442370"/>
              <a:gd name="connsiteX72" fmla="*/ 757404 w 7289379"/>
              <a:gd name="connsiteY72" fmla="*/ 9248 h 4442370"/>
              <a:gd name="connsiteX73" fmla="*/ 698181 w 7289379"/>
              <a:gd name="connsiteY73" fmla="*/ 13617 h 4442370"/>
              <a:gd name="connsiteX74" fmla="*/ 698181 w 7289379"/>
              <a:gd name="connsiteY74" fmla="*/ 26723 h 4442370"/>
              <a:gd name="connsiteX75" fmla="*/ 730222 w 7289379"/>
              <a:gd name="connsiteY75" fmla="*/ 49538 h 4442370"/>
              <a:gd name="connsiteX76" fmla="*/ 730222 w 7289379"/>
              <a:gd name="connsiteY76" fmla="*/ 264097 h 4442370"/>
              <a:gd name="connsiteX77" fmla="*/ 698181 w 7289379"/>
              <a:gd name="connsiteY77" fmla="*/ 283028 h 4442370"/>
              <a:gd name="connsiteX78" fmla="*/ 698181 w 7289379"/>
              <a:gd name="connsiteY78" fmla="*/ 295649 h 4442370"/>
              <a:gd name="connsiteX79" fmla="*/ 743813 w 7289379"/>
              <a:gd name="connsiteY79" fmla="*/ 294193 h 4442370"/>
              <a:gd name="connsiteX80" fmla="*/ 970629 w 7289379"/>
              <a:gd name="connsiteY80" fmla="*/ 246621 h 4442370"/>
              <a:gd name="connsiteX81" fmla="*/ 965290 w 7289379"/>
              <a:gd name="connsiteY81" fmla="*/ 241767 h 4442370"/>
              <a:gd name="connsiteX82" fmla="*/ 959950 w 7289379"/>
              <a:gd name="connsiteY82" fmla="*/ 247592 h 4442370"/>
              <a:gd name="connsiteX83" fmla="*/ 904124 w 7289379"/>
              <a:gd name="connsiteY83" fmla="*/ 289824 h 4442370"/>
              <a:gd name="connsiteX84" fmla="*/ 857523 w 7289379"/>
              <a:gd name="connsiteY84" fmla="*/ 262155 h 4442370"/>
              <a:gd name="connsiteX85" fmla="*/ 844902 w 7289379"/>
              <a:gd name="connsiteY85" fmla="*/ 200506 h 4442370"/>
              <a:gd name="connsiteX86" fmla="*/ 960435 w 7289379"/>
              <a:gd name="connsiteY86" fmla="*/ 200506 h 4442370"/>
              <a:gd name="connsiteX87" fmla="*/ 970629 w 7289379"/>
              <a:gd name="connsiteY87" fmla="*/ 191768 h 4442370"/>
              <a:gd name="connsiteX88" fmla="*/ 896842 w 7289379"/>
              <a:gd name="connsiteY88" fmla="*/ 110702 h 4442370"/>
              <a:gd name="connsiteX89" fmla="*/ 810923 w 7289379"/>
              <a:gd name="connsiteY89" fmla="*/ 204875 h 4442370"/>
              <a:gd name="connsiteX90" fmla="*/ 901697 w 7289379"/>
              <a:gd name="connsiteY90" fmla="*/ 300018 h 4442370"/>
              <a:gd name="connsiteX91" fmla="*/ 970629 w 7289379"/>
              <a:gd name="connsiteY91" fmla="*/ 246621 h 4442370"/>
              <a:gd name="connsiteX92" fmla="*/ 943443 w 7289379"/>
              <a:gd name="connsiteY92" fmla="*/ 191768 h 4442370"/>
              <a:gd name="connsiteX93" fmla="*/ 845391 w 7289379"/>
              <a:gd name="connsiteY93" fmla="*/ 191768 h 4442370"/>
              <a:gd name="connsiteX94" fmla="*/ 896842 w 7289379"/>
              <a:gd name="connsiteY94" fmla="*/ 119925 h 4442370"/>
              <a:gd name="connsiteX95" fmla="*/ 943443 w 7289379"/>
              <a:gd name="connsiteY95" fmla="*/ 191768 h 4442370"/>
              <a:gd name="connsiteX96" fmla="*/ 1258121 w 7289379"/>
              <a:gd name="connsiteY96" fmla="*/ 295649 h 4442370"/>
              <a:gd name="connsiteX97" fmla="*/ 1258121 w 7289379"/>
              <a:gd name="connsiteY97" fmla="*/ 283028 h 4442370"/>
              <a:gd name="connsiteX98" fmla="*/ 1245015 w 7289379"/>
              <a:gd name="connsiteY98" fmla="*/ 283028 h 4442370"/>
              <a:gd name="connsiteX99" fmla="*/ 1206666 w 7289379"/>
              <a:gd name="connsiteY99" fmla="*/ 263126 h 4442370"/>
              <a:gd name="connsiteX100" fmla="*/ 1206666 w 7289379"/>
              <a:gd name="connsiteY100" fmla="*/ 31578 h 4442370"/>
              <a:gd name="connsiteX101" fmla="*/ 1196960 w 7289379"/>
              <a:gd name="connsiteY101" fmla="*/ 20898 h 4442370"/>
              <a:gd name="connsiteX102" fmla="*/ 1122204 w 7289379"/>
              <a:gd name="connsiteY102" fmla="*/ 47111 h 4442370"/>
              <a:gd name="connsiteX103" fmla="*/ 1122204 w 7289379"/>
              <a:gd name="connsiteY103" fmla="*/ 60218 h 4442370"/>
              <a:gd name="connsiteX104" fmla="*/ 1176087 w 7289379"/>
              <a:gd name="connsiteY104" fmla="*/ 49538 h 4442370"/>
              <a:gd name="connsiteX105" fmla="*/ 1176087 w 7289379"/>
              <a:gd name="connsiteY105" fmla="*/ 263126 h 4442370"/>
              <a:gd name="connsiteX106" fmla="*/ 1137738 w 7289379"/>
              <a:gd name="connsiteY106" fmla="*/ 283028 h 4442370"/>
              <a:gd name="connsiteX107" fmla="*/ 1124631 w 7289379"/>
              <a:gd name="connsiteY107" fmla="*/ 283028 h 4442370"/>
              <a:gd name="connsiteX108" fmla="*/ 1124631 w 7289379"/>
              <a:gd name="connsiteY108" fmla="*/ 295649 h 4442370"/>
              <a:gd name="connsiteX109" fmla="*/ 1191132 w 7289379"/>
              <a:gd name="connsiteY109" fmla="*/ 294193 h 4442370"/>
              <a:gd name="connsiteX110" fmla="*/ 1258121 w 7289379"/>
              <a:gd name="connsiteY110" fmla="*/ 295649 h 4442370"/>
              <a:gd name="connsiteX111" fmla="*/ 1370742 w 7289379"/>
              <a:gd name="connsiteY111" fmla="*/ 139828 h 4442370"/>
              <a:gd name="connsiteX112" fmla="*/ 1348896 w 7289379"/>
              <a:gd name="connsiteY112" fmla="*/ 117984 h 4442370"/>
              <a:gd name="connsiteX113" fmla="*/ 1327053 w 7289379"/>
              <a:gd name="connsiteY113" fmla="*/ 139828 h 4442370"/>
              <a:gd name="connsiteX114" fmla="*/ 1348896 w 7289379"/>
              <a:gd name="connsiteY114" fmla="*/ 161672 h 4442370"/>
              <a:gd name="connsiteX115" fmla="*/ 1370742 w 7289379"/>
              <a:gd name="connsiteY115" fmla="*/ 139828 h 4442370"/>
              <a:gd name="connsiteX116" fmla="*/ 1370742 w 7289379"/>
              <a:gd name="connsiteY116" fmla="*/ 273805 h 4442370"/>
              <a:gd name="connsiteX117" fmla="*/ 1348896 w 7289379"/>
              <a:gd name="connsiteY117" fmla="*/ 251961 h 4442370"/>
              <a:gd name="connsiteX118" fmla="*/ 1327053 w 7289379"/>
              <a:gd name="connsiteY118" fmla="*/ 273805 h 4442370"/>
              <a:gd name="connsiteX119" fmla="*/ 1348896 w 7289379"/>
              <a:gd name="connsiteY119" fmla="*/ 295649 h 4442370"/>
              <a:gd name="connsiteX120" fmla="*/ 1370742 w 7289379"/>
              <a:gd name="connsiteY120" fmla="*/ 273805 h 4442370"/>
              <a:gd name="connsiteX121" fmla="*/ 1881165 w 7289379"/>
              <a:gd name="connsiteY121" fmla="*/ 219923 h 4442370"/>
              <a:gd name="connsiteX122" fmla="*/ 1801558 w 7289379"/>
              <a:gd name="connsiteY122" fmla="*/ 148565 h 4442370"/>
              <a:gd name="connsiteX123" fmla="*/ 1870002 w 7289379"/>
              <a:gd name="connsiteY123" fmla="*/ 83518 h 4442370"/>
              <a:gd name="connsiteX124" fmla="*/ 1778742 w 7289379"/>
              <a:gd name="connsiteY124" fmla="*/ 13617 h 4442370"/>
              <a:gd name="connsiteX125" fmla="*/ 1627776 w 7289379"/>
              <a:gd name="connsiteY125" fmla="*/ 13617 h 4442370"/>
              <a:gd name="connsiteX126" fmla="*/ 1627776 w 7289379"/>
              <a:gd name="connsiteY126" fmla="*/ 26723 h 4442370"/>
              <a:gd name="connsiteX127" fmla="*/ 1637482 w 7289379"/>
              <a:gd name="connsiteY127" fmla="*/ 26723 h 4442370"/>
              <a:gd name="connsiteX128" fmla="*/ 1670007 w 7289379"/>
              <a:gd name="connsiteY128" fmla="*/ 46140 h 4442370"/>
              <a:gd name="connsiteX129" fmla="*/ 1670007 w 7289379"/>
              <a:gd name="connsiteY129" fmla="*/ 263611 h 4442370"/>
              <a:gd name="connsiteX130" fmla="*/ 1637482 w 7289379"/>
              <a:gd name="connsiteY130" fmla="*/ 283028 h 4442370"/>
              <a:gd name="connsiteX131" fmla="*/ 1627776 w 7289379"/>
              <a:gd name="connsiteY131" fmla="*/ 283028 h 4442370"/>
              <a:gd name="connsiteX132" fmla="*/ 1627776 w 7289379"/>
              <a:gd name="connsiteY132" fmla="*/ 295649 h 4442370"/>
              <a:gd name="connsiteX133" fmla="*/ 1789421 w 7289379"/>
              <a:gd name="connsiteY133" fmla="*/ 295649 h 4442370"/>
              <a:gd name="connsiteX134" fmla="*/ 1881165 w 7289379"/>
              <a:gd name="connsiteY134" fmla="*/ 219923 h 4442370"/>
              <a:gd name="connsiteX135" fmla="*/ 1830198 w 7289379"/>
              <a:gd name="connsiteY135" fmla="*/ 83518 h 4442370"/>
              <a:gd name="connsiteX136" fmla="*/ 1764178 w 7289379"/>
              <a:gd name="connsiteY136" fmla="*/ 144682 h 4442370"/>
              <a:gd name="connsiteX137" fmla="*/ 1704471 w 7289379"/>
              <a:gd name="connsiteY137" fmla="*/ 144682 h 4442370"/>
              <a:gd name="connsiteX138" fmla="*/ 1704471 w 7289379"/>
              <a:gd name="connsiteY138" fmla="*/ 43228 h 4442370"/>
              <a:gd name="connsiteX139" fmla="*/ 1724375 w 7289379"/>
              <a:gd name="connsiteY139" fmla="*/ 26723 h 4442370"/>
              <a:gd name="connsiteX140" fmla="*/ 1775830 w 7289379"/>
              <a:gd name="connsiteY140" fmla="*/ 26723 h 4442370"/>
              <a:gd name="connsiteX141" fmla="*/ 1830198 w 7289379"/>
              <a:gd name="connsiteY141" fmla="*/ 83518 h 4442370"/>
              <a:gd name="connsiteX142" fmla="*/ 1839904 w 7289379"/>
              <a:gd name="connsiteY142" fmla="*/ 219923 h 4442370"/>
              <a:gd name="connsiteX143" fmla="*/ 1776315 w 7289379"/>
              <a:gd name="connsiteY143" fmla="*/ 283028 h 4442370"/>
              <a:gd name="connsiteX144" fmla="*/ 1724375 w 7289379"/>
              <a:gd name="connsiteY144" fmla="*/ 283028 h 4442370"/>
              <a:gd name="connsiteX145" fmla="*/ 1704471 w 7289379"/>
              <a:gd name="connsiteY145" fmla="*/ 266524 h 4442370"/>
              <a:gd name="connsiteX146" fmla="*/ 1704471 w 7289379"/>
              <a:gd name="connsiteY146" fmla="*/ 153905 h 4442370"/>
              <a:gd name="connsiteX147" fmla="*/ 1782139 w 7289379"/>
              <a:gd name="connsiteY147" fmla="*/ 153905 h 4442370"/>
              <a:gd name="connsiteX148" fmla="*/ 1839904 w 7289379"/>
              <a:gd name="connsiteY148" fmla="*/ 219923 h 4442370"/>
              <a:gd name="connsiteX149" fmla="*/ 2076309 w 7289379"/>
              <a:gd name="connsiteY149" fmla="*/ 246621 h 4442370"/>
              <a:gd name="connsiteX150" fmla="*/ 2070969 w 7289379"/>
              <a:gd name="connsiteY150" fmla="*/ 241767 h 4442370"/>
              <a:gd name="connsiteX151" fmla="*/ 2065630 w 7289379"/>
              <a:gd name="connsiteY151" fmla="*/ 247592 h 4442370"/>
              <a:gd name="connsiteX152" fmla="*/ 2009804 w 7289379"/>
              <a:gd name="connsiteY152" fmla="*/ 289824 h 4442370"/>
              <a:gd name="connsiteX153" fmla="*/ 1963203 w 7289379"/>
              <a:gd name="connsiteY153" fmla="*/ 262155 h 4442370"/>
              <a:gd name="connsiteX154" fmla="*/ 1950582 w 7289379"/>
              <a:gd name="connsiteY154" fmla="*/ 200506 h 4442370"/>
              <a:gd name="connsiteX155" fmla="*/ 2066115 w 7289379"/>
              <a:gd name="connsiteY155" fmla="*/ 200506 h 4442370"/>
              <a:gd name="connsiteX156" fmla="*/ 2076309 w 7289379"/>
              <a:gd name="connsiteY156" fmla="*/ 191768 h 4442370"/>
              <a:gd name="connsiteX157" fmla="*/ 2002522 w 7289379"/>
              <a:gd name="connsiteY157" fmla="*/ 110702 h 4442370"/>
              <a:gd name="connsiteX158" fmla="*/ 1916602 w 7289379"/>
              <a:gd name="connsiteY158" fmla="*/ 204875 h 4442370"/>
              <a:gd name="connsiteX159" fmla="*/ 2007377 w 7289379"/>
              <a:gd name="connsiteY159" fmla="*/ 300018 h 4442370"/>
              <a:gd name="connsiteX160" fmla="*/ 2076309 w 7289379"/>
              <a:gd name="connsiteY160" fmla="*/ 246621 h 4442370"/>
              <a:gd name="connsiteX161" fmla="*/ 2049123 w 7289379"/>
              <a:gd name="connsiteY161" fmla="*/ 191768 h 4442370"/>
              <a:gd name="connsiteX162" fmla="*/ 1951066 w 7289379"/>
              <a:gd name="connsiteY162" fmla="*/ 191768 h 4442370"/>
              <a:gd name="connsiteX163" fmla="*/ 2002522 w 7289379"/>
              <a:gd name="connsiteY163" fmla="*/ 119925 h 4442370"/>
              <a:gd name="connsiteX164" fmla="*/ 2049123 w 7289379"/>
              <a:gd name="connsiteY164" fmla="*/ 191768 h 4442370"/>
              <a:gd name="connsiteX165" fmla="*/ 2235162 w 7289379"/>
              <a:gd name="connsiteY165" fmla="*/ 33519 h 4442370"/>
              <a:gd name="connsiteX166" fmla="*/ 2198271 w 7289379"/>
              <a:gd name="connsiteY166" fmla="*/ 4879 h 4442370"/>
              <a:gd name="connsiteX167" fmla="*/ 2134193 w 7289379"/>
              <a:gd name="connsiteY167" fmla="*/ 70412 h 4442370"/>
              <a:gd name="connsiteX168" fmla="*/ 2134193 w 7289379"/>
              <a:gd name="connsiteY168" fmla="*/ 117984 h 4442370"/>
              <a:gd name="connsiteX169" fmla="*/ 2101672 w 7289379"/>
              <a:gd name="connsiteY169" fmla="*/ 117984 h 4442370"/>
              <a:gd name="connsiteX170" fmla="*/ 2101672 w 7289379"/>
              <a:gd name="connsiteY170" fmla="*/ 130604 h 4442370"/>
              <a:gd name="connsiteX171" fmla="*/ 2134193 w 7289379"/>
              <a:gd name="connsiteY171" fmla="*/ 130604 h 4442370"/>
              <a:gd name="connsiteX172" fmla="*/ 2134193 w 7289379"/>
              <a:gd name="connsiteY172" fmla="*/ 264097 h 4442370"/>
              <a:gd name="connsiteX173" fmla="*/ 2102157 w 7289379"/>
              <a:gd name="connsiteY173" fmla="*/ 283028 h 4442370"/>
              <a:gd name="connsiteX174" fmla="*/ 2102157 w 7289379"/>
              <a:gd name="connsiteY174" fmla="*/ 295649 h 4442370"/>
              <a:gd name="connsiteX175" fmla="*/ 2149242 w 7289379"/>
              <a:gd name="connsiteY175" fmla="*/ 294193 h 4442370"/>
              <a:gd name="connsiteX176" fmla="*/ 2201667 w 7289379"/>
              <a:gd name="connsiteY176" fmla="*/ 295649 h 4442370"/>
              <a:gd name="connsiteX177" fmla="*/ 2201667 w 7289379"/>
              <a:gd name="connsiteY177" fmla="*/ 283028 h 4442370"/>
              <a:gd name="connsiteX178" fmla="*/ 2192931 w 7289379"/>
              <a:gd name="connsiteY178" fmla="*/ 283028 h 4442370"/>
              <a:gd name="connsiteX179" fmla="*/ 2161379 w 7289379"/>
              <a:gd name="connsiteY179" fmla="*/ 263611 h 4442370"/>
              <a:gd name="connsiteX180" fmla="*/ 2161379 w 7289379"/>
              <a:gd name="connsiteY180" fmla="*/ 130604 h 4442370"/>
              <a:gd name="connsiteX181" fmla="*/ 2208465 w 7289379"/>
              <a:gd name="connsiteY181" fmla="*/ 130604 h 4442370"/>
              <a:gd name="connsiteX182" fmla="*/ 2208465 w 7289379"/>
              <a:gd name="connsiteY182" fmla="*/ 117984 h 4442370"/>
              <a:gd name="connsiteX183" fmla="*/ 2160410 w 7289379"/>
              <a:gd name="connsiteY183" fmla="*/ 117984 h 4442370"/>
              <a:gd name="connsiteX184" fmla="*/ 2160410 w 7289379"/>
              <a:gd name="connsiteY184" fmla="*/ 69926 h 4442370"/>
              <a:gd name="connsiteX185" fmla="*/ 2198271 w 7289379"/>
              <a:gd name="connsiteY185" fmla="*/ 13617 h 4442370"/>
              <a:gd name="connsiteX186" fmla="*/ 2211862 w 7289379"/>
              <a:gd name="connsiteY186" fmla="*/ 16530 h 4442370"/>
              <a:gd name="connsiteX187" fmla="*/ 2199729 w 7289379"/>
              <a:gd name="connsiteY187" fmla="*/ 34005 h 4442370"/>
              <a:gd name="connsiteX188" fmla="*/ 2217201 w 7289379"/>
              <a:gd name="connsiteY188" fmla="*/ 51966 h 4442370"/>
              <a:gd name="connsiteX189" fmla="*/ 2235162 w 7289379"/>
              <a:gd name="connsiteY189" fmla="*/ 33519 h 4442370"/>
              <a:gd name="connsiteX190" fmla="*/ 2408584 w 7289379"/>
              <a:gd name="connsiteY190" fmla="*/ 207302 h 4442370"/>
              <a:gd name="connsiteX191" fmla="*/ 2317809 w 7289379"/>
              <a:gd name="connsiteY191" fmla="*/ 110702 h 4442370"/>
              <a:gd name="connsiteX192" fmla="*/ 2226061 w 7289379"/>
              <a:gd name="connsiteY192" fmla="*/ 207302 h 4442370"/>
              <a:gd name="connsiteX193" fmla="*/ 2317320 w 7289379"/>
              <a:gd name="connsiteY193" fmla="*/ 300018 h 4442370"/>
              <a:gd name="connsiteX194" fmla="*/ 2408584 w 7289379"/>
              <a:gd name="connsiteY194" fmla="*/ 207302 h 4442370"/>
              <a:gd name="connsiteX195" fmla="*/ 2374600 w 7289379"/>
              <a:gd name="connsiteY195" fmla="*/ 203904 h 4442370"/>
              <a:gd name="connsiteX196" fmla="*/ 2365379 w 7289379"/>
              <a:gd name="connsiteY196" fmla="*/ 259243 h 4442370"/>
              <a:gd name="connsiteX197" fmla="*/ 2317809 w 7289379"/>
              <a:gd name="connsiteY197" fmla="*/ 289824 h 4442370"/>
              <a:gd name="connsiteX198" fmla="*/ 2270719 w 7289379"/>
              <a:gd name="connsiteY198" fmla="*/ 262155 h 4442370"/>
              <a:gd name="connsiteX199" fmla="*/ 2260041 w 7289379"/>
              <a:gd name="connsiteY199" fmla="*/ 203904 h 4442370"/>
              <a:gd name="connsiteX200" fmla="*/ 2270235 w 7289379"/>
              <a:gd name="connsiteY200" fmla="*/ 147595 h 4442370"/>
              <a:gd name="connsiteX201" fmla="*/ 2317320 w 7289379"/>
              <a:gd name="connsiteY201" fmla="*/ 119925 h 4442370"/>
              <a:gd name="connsiteX202" fmla="*/ 2363921 w 7289379"/>
              <a:gd name="connsiteY202" fmla="*/ 146624 h 4442370"/>
              <a:gd name="connsiteX203" fmla="*/ 2374600 w 7289379"/>
              <a:gd name="connsiteY203" fmla="*/ 203904 h 4442370"/>
              <a:gd name="connsiteX204" fmla="*/ 2570713 w 7289379"/>
              <a:gd name="connsiteY204" fmla="*/ 138371 h 4442370"/>
              <a:gd name="connsiteX205" fmla="*/ 2540619 w 7289379"/>
              <a:gd name="connsiteY205" fmla="*/ 113129 h 4442370"/>
              <a:gd name="connsiteX206" fmla="*/ 2489648 w 7289379"/>
              <a:gd name="connsiteY206" fmla="*/ 158759 h 4442370"/>
              <a:gd name="connsiteX207" fmla="*/ 2489648 w 7289379"/>
              <a:gd name="connsiteY207" fmla="*/ 113129 h 4442370"/>
              <a:gd name="connsiteX208" fmla="*/ 2432369 w 7289379"/>
              <a:gd name="connsiteY208" fmla="*/ 117984 h 4442370"/>
              <a:gd name="connsiteX209" fmla="*/ 2432369 w 7289379"/>
              <a:gd name="connsiteY209" fmla="*/ 130604 h 4442370"/>
              <a:gd name="connsiteX210" fmla="*/ 2464405 w 7289379"/>
              <a:gd name="connsiteY210" fmla="*/ 153905 h 4442370"/>
              <a:gd name="connsiteX211" fmla="*/ 2464405 w 7289379"/>
              <a:gd name="connsiteY211" fmla="*/ 264097 h 4442370"/>
              <a:gd name="connsiteX212" fmla="*/ 2432369 w 7289379"/>
              <a:gd name="connsiteY212" fmla="*/ 283028 h 4442370"/>
              <a:gd name="connsiteX213" fmla="*/ 2432369 w 7289379"/>
              <a:gd name="connsiteY213" fmla="*/ 295649 h 4442370"/>
              <a:gd name="connsiteX214" fmla="*/ 2479454 w 7289379"/>
              <a:gd name="connsiteY214" fmla="*/ 294193 h 4442370"/>
              <a:gd name="connsiteX215" fmla="*/ 2531879 w 7289379"/>
              <a:gd name="connsiteY215" fmla="*/ 295649 h 4442370"/>
              <a:gd name="connsiteX216" fmla="*/ 2531879 w 7289379"/>
              <a:gd name="connsiteY216" fmla="*/ 283028 h 4442370"/>
              <a:gd name="connsiteX217" fmla="*/ 2523143 w 7289379"/>
              <a:gd name="connsiteY217" fmla="*/ 283028 h 4442370"/>
              <a:gd name="connsiteX218" fmla="*/ 2491591 w 7289379"/>
              <a:gd name="connsiteY218" fmla="*/ 263611 h 4442370"/>
              <a:gd name="connsiteX219" fmla="*/ 2491591 w 7289379"/>
              <a:gd name="connsiteY219" fmla="*/ 200021 h 4442370"/>
              <a:gd name="connsiteX220" fmla="*/ 2540619 w 7289379"/>
              <a:gd name="connsiteY220" fmla="*/ 122352 h 4442370"/>
              <a:gd name="connsiteX221" fmla="*/ 2544985 w 7289379"/>
              <a:gd name="connsiteY221" fmla="*/ 122838 h 4442370"/>
              <a:gd name="connsiteX222" fmla="*/ 2535280 w 7289379"/>
              <a:gd name="connsiteY222" fmla="*/ 138857 h 4442370"/>
              <a:gd name="connsiteX223" fmla="*/ 2553237 w 7289379"/>
              <a:gd name="connsiteY223" fmla="*/ 156818 h 4442370"/>
              <a:gd name="connsiteX224" fmla="*/ 2570713 w 7289379"/>
              <a:gd name="connsiteY224" fmla="*/ 138371 h 4442370"/>
              <a:gd name="connsiteX225" fmla="*/ 2753840 w 7289379"/>
              <a:gd name="connsiteY225" fmla="*/ 246622 h 4442370"/>
              <a:gd name="connsiteX226" fmla="*/ 2748501 w 7289379"/>
              <a:gd name="connsiteY226" fmla="*/ 241767 h 4442370"/>
              <a:gd name="connsiteX227" fmla="*/ 2743162 w 7289379"/>
              <a:gd name="connsiteY227" fmla="*/ 247592 h 4442370"/>
              <a:gd name="connsiteX228" fmla="*/ 2687340 w 7289379"/>
              <a:gd name="connsiteY228" fmla="*/ 289824 h 4442370"/>
              <a:gd name="connsiteX229" fmla="*/ 2640739 w 7289379"/>
              <a:gd name="connsiteY229" fmla="*/ 262155 h 4442370"/>
              <a:gd name="connsiteX230" fmla="*/ 2628117 w 7289379"/>
              <a:gd name="connsiteY230" fmla="*/ 200506 h 4442370"/>
              <a:gd name="connsiteX231" fmla="*/ 2743646 w 7289379"/>
              <a:gd name="connsiteY231" fmla="*/ 200506 h 4442370"/>
              <a:gd name="connsiteX232" fmla="*/ 2753840 w 7289379"/>
              <a:gd name="connsiteY232" fmla="*/ 191768 h 4442370"/>
              <a:gd name="connsiteX233" fmla="*/ 2680057 w 7289379"/>
              <a:gd name="connsiteY233" fmla="*/ 110702 h 4442370"/>
              <a:gd name="connsiteX234" fmla="*/ 2594138 w 7289379"/>
              <a:gd name="connsiteY234" fmla="*/ 204875 h 4442370"/>
              <a:gd name="connsiteX235" fmla="*/ 2684912 w 7289379"/>
              <a:gd name="connsiteY235" fmla="*/ 300018 h 4442370"/>
              <a:gd name="connsiteX236" fmla="*/ 2753840 w 7289379"/>
              <a:gd name="connsiteY236" fmla="*/ 246622 h 4442370"/>
              <a:gd name="connsiteX237" fmla="*/ 2726658 w 7289379"/>
              <a:gd name="connsiteY237" fmla="*/ 191768 h 4442370"/>
              <a:gd name="connsiteX238" fmla="*/ 2628602 w 7289379"/>
              <a:gd name="connsiteY238" fmla="*/ 191768 h 4442370"/>
              <a:gd name="connsiteX239" fmla="*/ 2680057 w 7289379"/>
              <a:gd name="connsiteY239" fmla="*/ 119925 h 4442370"/>
              <a:gd name="connsiteX240" fmla="*/ 2726658 w 7289379"/>
              <a:gd name="connsiteY240" fmla="*/ 191768 h 4442370"/>
              <a:gd name="connsiteX241" fmla="*/ 2879808 w 7289379"/>
              <a:gd name="connsiteY241" fmla="*/ 218467 h 4442370"/>
              <a:gd name="connsiteX242" fmla="*/ 2879808 w 7289379"/>
              <a:gd name="connsiteY242" fmla="*/ 194681 h 4442370"/>
              <a:gd name="connsiteX243" fmla="*/ 2770103 w 7289379"/>
              <a:gd name="connsiteY243" fmla="*/ 194681 h 4442370"/>
              <a:gd name="connsiteX244" fmla="*/ 2770103 w 7289379"/>
              <a:gd name="connsiteY244" fmla="*/ 218467 h 4442370"/>
              <a:gd name="connsiteX245" fmla="*/ 3198856 w 7289379"/>
              <a:gd name="connsiteY245" fmla="*/ 295649 h 4442370"/>
              <a:gd name="connsiteX246" fmla="*/ 3198856 w 7289379"/>
              <a:gd name="connsiteY246" fmla="*/ 283028 h 4442370"/>
              <a:gd name="connsiteX247" fmla="*/ 3191574 w 7289379"/>
              <a:gd name="connsiteY247" fmla="*/ 283028 h 4442370"/>
              <a:gd name="connsiteX248" fmla="*/ 3156625 w 7289379"/>
              <a:gd name="connsiteY248" fmla="*/ 266524 h 4442370"/>
              <a:gd name="connsiteX249" fmla="*/ 3067305 w 7289379"/>
              <a:gd name="connsiteY249" fmla="*/ 8277 h 4442370"/>
              <a:gd name="connsiteX250" fmla="*/ 3058084 w 7289379"/>
              <a:gd name="connsiteY250" fmla="*/ 25 h 4442370"/>
              <a:gd name="connsiteX251" fmla="*/ 3047890 w 7289379"/>
              <a:gd name="connsiteY251" fmla="*/ 8277 h 4442370"/>
              <a:gd name="connsiteX252" fmla="*/ 2962455 w 7289379"/>
              <a:gd name="connsiteY252" fmla="*/ 255359 h 4442370"/>
              <a:gd name="connsiteX253" fmla="*/ 2916339 w 7289379"/>
              <a:gd name="connsiteY253" fmla="*/ 283028 h 4442370"/>
              <a:gd name="connsiteX254" fmla="*/ 2916339 w 7289379"/>
              <a:gd name="connsiteY254" fmla="*/ 295649 h 4442370"/>
              <a:gd name="connsiteX255" fmla="*/ 2958569 w 7289379"/>
              <a:gd name="connsiteY255" fmla="*/ 294193 h 4442370"/>
              <a:gd name="connsiteX256" fmla="*/ 3006140 w 7289379"/>
              <a:gd name="connsiteY256" fmla="*/ 295649 h 4442370"/>
              <a:gd name="connsiteX257" fmla="*/ 3006140 w 7289379"/>
              <a:gd name="connsiteY257" fmla="*/ 283028 h 4442370"/>
              <a:gd name="connsiteX258" fmla="*/ 2975072 w 7289379"/>
              <a:gd name="connsiteY258" fmla="*/ 261670 h 4442370"/>
              <a:gd name="connsiteX259" fmla="*/ 2976046 w 7289379"/>
              <a:gd name="connsiteY259" fmla="*/ 255845 h 4442370"/>
              <a:gd name="connsiteX260" fmla="*/ 2994976 w 7289379"/>
              <a:gd name="connsiteY260" fmla="*/ 201477 h 4442370"/>
              <a:gd name="connsiteX261" fmla="*/ 3096918 w 7289379"/>
              <a:gd name="connsiteY261" fmla="*/ 201477 h 4442370"/>
              <a:gd name="connsiteX262" fmla="*/ 3118761 w 7289379"/>
              <a:gd name="connsiteY262" fmla="*/ 264582 h 4442370"/>
              <a:gd name="connsiteX263" fmla="*/ 3119730 w 7289379"/>
              <a:gd name="connsiteY263" fmla="*/ 270407 h 4442370"/>
              <a:gd name="connsiteX264" fmla="*/ 3085751 w 7289379"/>
              <a:gd name="connsiteY264" fmla="*/ 283028 h 4442370"/>
              <a:gd name="connsiteX265" fmla="*/ 3085751 w 7289379"/>
              <a:gd name="connsiteY265" fmla="*/ 295649 h 4442370"/>
              <a:gd name="connsiteX266" fmla="*/ 3144973 w 7289379"/>
              <a:gd name="connsiteY266" fmla="*/ 294193 h 4442370"/>
              <a:gd name="connsiteX267" fmla="*/ 3092063 w 7289379"/>
              <a:gd name="connsiteY267" fmla="*/ 188856 h 4442370"/>
              <a:gd name="connsiteX268" fmla="*/ 2999346 w 7289379"/>
              <a:gd name="connsiteY268" fmla="*/ 188856 h 4442370"/>
              <a:gd name="connsiteX269" fmla="*/ 3045462 w 7289379"/>
              <a:gd name="connsiteY269" fmla="*/ 54878 h 4442370"/>
              <a:gd name="connsiteX270" fmla="*/ 3359776 w 7289379"/>
              <a:gd name="connsiteY270" fmla="*/ 33519 h 4442370"/>
              <a:gd name="connsiteX271" fmla="*/ 3322881 w 7289379"/>
              <a:gd name="connsiteY271" fmla="*/ 4879 h 4442370"/>
              <a:gd name="connsiteX272" fmla="*/ 3258808 w 7289379"/>
              <a:gd name="connsiteY272" fmla="*/ 70412 h 4442370"/>
              <a:gd name="connsiteX273" fmla="*/ 3258808 w 7289379"/>
              <a:gd name="connsiteY273" fmla="*/ 117984 h 4442370"/>
              <a:gd name="connsiteX274" fmla="*/ 3226282 w 7289379"/>
              <a:gd name="connsiteY274" fmla="*/ 117984 h 4442370"/>
              <a:gd name="connsiteX275" fmla="*/ 3226282 w 7289379"/>
              <a:gd name="connsiteY275" fmla="*/ 130604 h 4442370"/>
              <a:gd name="connsiteX276" fmla="*/ 3258808 w 7289379"/>
              <a:gd name="connsiteY276" fmla="*/ 130604 h 4442370"/>
              <a:gd name="connsiteX277" fmla="*/ 3258808 w 7289379"/>
              <a:gd name="connsiteY277" fmla="*/ 264097 h 4442370"/>
              <a:gd name="connsiteX278" fmla="*/ 3226767 w 7289379"/>
              <a:gd name="connsiteY278" fmla="*/ 283028 h 4442370"/>
              <a:gd name="connsiteX279" fmla="*/ 3226767 w 7289379"/>
              <a:gd name="connsiteY279" fmla="*/ 295649 h 4442370"/>
              <a:gd name="connsiteX280" fmla="*/ 3273852 w 7289379"/>
              <a:gd name="connsiteY280" fmla="*/ 294193 h 4442370"/>
              <a:gd name="connsiteX281" fmla="*/ 3326281 w 7289379"/>
              <a:gd name="connsiteY281" fmla="*/ 295649 h 4442370"/>
              <a:gd name="connsiteX282" fmla="*/ 3326281 w 7289379"/>
              <a:gd name="connsiteY282" fmla="*/ 283028 h 4442370"/>
              <a:gd name="connsiteX283" fmla="*/ 3317541 w 7289379"/>
              <a:gd name="connsiteY283" fmla="*/ 283028 h 4442370"/>
              <a:gd name="connsiteX284" fmla="*/ 3285989 w 7289379"/>
              <a:gd name="connsiteY284" fmla="*/ 263611 h 4442370"/>
              <a:gd name="connsiteX285" fmla="*/ 3285989 w 7289379"/>
              <a:gd name="connsiteY285" fmla="*/ 130604 h 4442370"/>
              <a:gd name="connsiteX286" fmla="*/ 3333075 w 7289379"/>
              <a:gd name="connsiteY286" fmla="*/ 130604 h 4442370"/>
              <a:gd name="connsiteX287" fmla="*/ 3333075 w 7289379"/>
              <a:gd name="connsiteY287" fmla="*/ 117984 h 4442370"/>
              <a:gd name="connsiteX288" fmla="*/ 3285020 w 7289379"/>
              <a:gd name="connsiteY288" fmla="*/ 117984 h 4442370"/>
              <a:gd name="connsiteX289" fmla="*/ 3285020 w 7289379"/>
              <a:gd name="connsiteY289" fmla="*/ 69926 h 4442370"/>
              <a:gd name="connsiteX290" fmla="*/ 3322881 w 7289379"/>
              <a:gd name="connsiteY290" fmla="*/ 13617 h 4442370"/>
              <a:gd name="connsiteX291" fmla="*/ 3336476 w 7289379"/>
              <a:gd name="connsiteY291" fmla="*/ 16530 h 4442370"/>
              <a:gd name="connsiteX292" fmla="*/ 3324339 w 7289379"/>
              <a:gd name="connsiteY292" fmla="*/ 34005 h 4442370"/>
              <a:gd name="connsiteX293" fmla="*/ 3341815 w 7289379"/>
              <a:gd name="connsiteY293" fmla="*/ 51966 h 4442370"/>
              <a:gd name="connsiteX294" fmla="*/ 3359776 w 7289379"/>
              <a:gd name="connsiteY294" fmla="*/ 33519 h 4442370"/>
              <a:gd name="connsiteX295" fmla="*/ 3475914 w 7289379"/>
              <a:gd name="connsiteY295" fmla="*/ 244680 h 4442370"/>
              <a:gd name="connsiteX296" fmla="*/ 3475914 w 7289379"/>
              <a:gd name="connsiteY296" fmla="*/ 220894 h 4442370"/>
              <a:gd name="connsiteX297" fmla="*/ 3465720 w 7289379"/>
              <a:gd name="connsiteY297" fmla="*/ 220894 h 4442370"/>
              <a:gd name="connsiteX298" fmla="*/ 3465720 w 7289379"/>
              <a:gd name="connsiteY298" fmla="*/ 243709 h 4442370"/>
              <a:gd name="connsiteX299" fmla="*/ 3438049 w 7289379"/>
              <a:gd name="connsiteY299" fmla="*/ 289824 h 4442370"/>
              <a:gd name="connsiteX300" fmla="*/ 3410379 w 7289379"/>
              <a:gd name="connsiteY300" fmla="*/ 245165 h 4442370"/>
              <a:gd name="connsiteX301" fmla="*/ 3410379 w 7289379"/>
              <a:gd name="connsiteY301" fmla="*/ 130604 h 4442370"/>
              <a:gd name="connsiteX302" fmla="*/ 3469601 w 7289379"/>
              <a:gd name="connsiteY302" fmla="*/ 130604 h 4442370"/>
              <a:gd name="connsiteX303" fmla="*/ 3469601 w 7289379"/>
              <a:gd name="connsiteY303" fmla="*/ 117984 h 4442370"/>
              <a:gd name="connsiteX304" fmla="*/ 3410379 w 7289379"/>
              <a:gd name="connsiteY304" fmla="*/ 117984 h 4442370"/>
              <a:gd name="connsiteX305" fmla="*/ 3410379 w 7289379"/>
              <a:gd name="connsiteY305" fmla="*/ 41772 h 4442370"/>
              <a:gd name="connsiteX306" fmla="*/ 3400184 w 7289379"/>
              <a:gd name="connsiteY306" fmla="*/ 41772 h 4442370"/>
              <a:gd name="connsiteX307" fmla="*/ 3346790 w 7289379"/>
              <a:gd name="connsiteY307" fmla="*/ 121382 h 4442370"/>
              <a:gd name="connsiteX308" fmla="*/ 3346790 w 7289379"/>
              <a:gd name="connsiteY308" fmla="*/ 130604 h 4442370"/>
              <a:gd name="connsiteX309" fmla="*/ 3381738 w 7289379"/>
              <a:gd name="connsiteY309" fmla="*/ 130604 h 4442370"/>
              <a:gd name="connsiteX310" fmla="*/ 3381738 w 7289379"/>
              <a:gd name="connsiteY310" fmla="*/ 244680 h 4442370"/>
              <a:gd name="connsiteX311" fmla="*/ 3435137 w 7289379"/>
              <a:gd name="connsiteY311" fmla="*/ 300018 h 4442370"/>
              <a:gd name="connsiteX312" fmla="*/ 3475914 w 7289379"/>
              <a:gd name="connsiteY312" fmla="*/ 244680 h 4442370"/>
              <a:gd name="connsiteX313" fmla="*/ 3670809 w 7289379"/>
              <a:gd name="connsiteY313" fmla="*/ 246621 h 4442370"/>
              <a:gd name="connsiteX314" fmla="*/ 3665470 w 7289379"/>
              <a:gd name="connsiteY314" fmla="*/ 241767 h 4442370"/>
              <a:gd name="connsiteX315" fmla="*/ 3660130 w 7289379"/>
              <a:gd name="connsiteY315" fmla="*/ 247592 h 4442370"/>
              <a:gd name="connsiteX316" fmla="*/ 3604309 w 7289379"/>
              <a:gd name="connsiteY316" fmla="*/ 289824 h 4442370"/>
              <a:gd name="connsiteX317" fmla="*/ 3557708 w 7289379"/>
              <a:gd name="connsiteY317" fmla="*/ 262155 h 4442370"/>
              <a:gd name="connsiteX318" fmla="*/ 3545086 w 7289379"/>
              <a:gd name="connsiteY318" fmla="*/ 200506 h 4442370"/>
              <a:gd name="connsiteX319" fmla="*/ 3660615 w 7289379"/>
              <a:gd name="connsiteY319" fmla="*/ 200506 h 4442370"/>
              <a:gd name="connsiteX320" fmla="*/ 3670809 w 7289379"/>
              <a:gd name="connsiteY320" fmla="*/ 191768 h 4442370"/>
              <a:gd name="connsiteX321" fmla="*/ 3597026 w 7289379"/>
              <a:gd name="connsiteY321" fmla="*/ 110702 h 4442370"/>
              <a:gd name="connsiteX322" fmla="*/ 3511107 w 7289379"/>
              <a:gd name="connsiteY322" fmla="*/ 204875 h 4442370"/>
              <a:gd name="connsiteX323" fmla="*/ 3601881 w 7289379"/>
              <a:gd name="connsiteY323" fmla="*/ 300018 h 4442370"/>
              <a:gd name="connsiteX324" fmla="*/ 3670809 w 7289379"/>
              <a:gd name="connsiteY324" fmla="*/ 246621 h 4442370"/>
              <a:gd name="connsiteX325" fmla="*/ 3643627 w 7289379"/>
              <a:gd name="connsiteY325" fmla="*/ 191768 h 4442370"/>
              <a:gd name="connsiteX326" fmla="*/ 3545571 w 7289379"/>
              <a:gd name="connsiteY326" fmla="*/ 191768 h 4442370"/>
              <a:gd name="connsiteX327" fmla="*/ 3597026 w 7289379"/>
              <a:gd name="connsiteY327" fmla="*/ 119925 h 4442370"/>
              <a:gd name="connsiteX328" fmla="*/ 3643627 w 7289379"/>
              <a:gd name="connsiteY328" fmla="*/ 191768 h 4442370"/>
              <a:gd name="connsiteX329" fmla="*/ 3832699 w 7289379"/>
              <a:gd name="connsiteY329" fmla="*/ 138371 h 4442370"/>
              <a:gd name="connsiteX330" fmla="*/ 3802605 w 7289379"/>
              <a:gd name="connsiteY330" fmla="*/ 113129 h 4442370"/>
              <a:gd name="connsiteX331" fmla="*/ 3751634 w 7289379"/>
              <a:gd name="connsiteY331" fmla="*/ 158759 h 4442370"/>
              <a:gd name="connsiteX332" fmla="*/ 3751634 w 7289379"/>
              <a:gd name="connsiteY332" fmla="*/ 113129 h 4442370"/>
              <a:gd name="connsiteX333" fmla="*/ 3694354 w 7289379"/>
              <a:gd name="connsiteY333" fmla="*/ 117984 h 4442370"/>
              <a:gd name="connsiteX334" fmla="*/ 3694354 w 7289379"/>
              <a:gd name="connsiteY334" fmla="*/ 130604 h 4442370"/>
              <a:gd name="connsiteX335" fmla="*/ 3726391 w 7289379"/>
              <a:gd name="connsiteY335" fmla="*/ 153905 h 4442370"/>
              <a:gd name="connsiteX336" fmla="*/ 3726391 w 7289379"/>
              <a:gd name="connsiteY336" fmla="*/ 264097 h 4442370"/>
              <a:gd name="connsiteX337" fmla="*/ 3694354 w 7289379"/>
              <a:gd name="connsiteY337" fmla="*/ 283028 h 4442370"/>
              <a:gd name="connsiteX338" fmla="*/ 3694354 w 7289379"/>
              <a:gd name="connsiteY338" fmla="*/ 295649 h 4442370"/>
              <a:gd name="connsiteX339" fmla="*/ 3741439 w 7289379"/>
              <a:gd name="connsiteY339" fmla="*/ 294193 h 4442370"/>
              <a:gd name="connsiteX340" fmla="*/ 3793865 w 7289379"/>
              <a:gd name="connsiteY340" fmla="*/ 295649 h 4442370"/>
              <a:gd name="connsiteX341" fmla="*/ 3793865 w 7289379"/>
              <a:gd name="connsiteY341" fmla="*/ 283028 h 4442370"/>
              <a:gd name="connsiteX342" fmla="*/ 3785128 w 7289379"/>
              <a:gd name="connsiteY342" fmla="*/ 283028 h 4442370"/>
              <a:gd name="connsiteX343" fmla="*/ 3753576 w 7289379"/>
              <a:gd name="connsiteY343" fmla="*/ 263611 h 4442370"/>
              <a:gd name="connsiteX344" fmla="*/ 3753576 w 7289379"/>
              <a:gd name="connsiteY344" fmla="*/ 200021 h 4442370"/>
              <a:gd name="connsiteX345" fmla="*/ 3802605 w 7289379"/>
              <a:gd name="connsiteY345" fmla="*/ 122352 h 4442370"/>
              <a:gd name="connsiteX346" fmla="*/ 3806975 w 7289379"/>
              <a:gd name="connsiteY346" fmla="*/ 122838 h 4442370"/>
              <a:gd name="connsiteX347" fmla="*/ 3797265 w 7289379"/>
              <a:gd name="connsiteY347" fmla="*/ 138857 h 4442370"/>
              <a:gd name="connsiteX348" fmla="*/ 3815226 w 7289379"/>
              <a:gd name="connsiteY348" fmla="*/ 156818 h 4442370"/>
              <a:gd name="connsiteX349" fmla="*/ 3832699 w 7289379"/>
              <a:gd name="connsiteY349" fmla="*/ 138371 h 4442370"/>
              <a:gd name="connsiteX350" fmla="*/ 4260379 w 7289379"/>
              <a:gd name="connsiteY350" fmla="*/ 259243 h 4442370"/>
              <a:gd name="connsiteX351" fmla="*/ 4255035 w 7289379"/>
              <a:gd name="connsiteY351" fmla="*/ 252447 h 4442370"/>
              <a:gd name="connsiteX352" fmla="*/ 4250147 w 7289379"/>
              <a:gd name="connsiteY352" fmla="*/ 258757 h 4442370"/>
              <a:gd name="connsiteX353" fmla="*/ 4222974 w 7289379"/>
              <a:gd name="connsiteY353" fmla="*/ 295649 h 4442370"/>
              <a:gd name="connsiteX354" fmla="*/ 4193853 w 7289379"/>
              <a:gd name="connsiteY354" fmla="*/ 236427 h 4442370"/>
              <a:gd name="connsiteX355" fmla="*/ 4188013 w 7289379"/>
              <a:gd name="connsiteY355" fmla="*/ 203419 h 4442370"/>
              <a:gd name="connsiteX356" fmla="*/ 4138015 w 7289379"/>
              <a:gd name="connsiteY356" fmla="*/ 155361 h 4442370"/>
              <a:gd name="connsiteX357" fmla="*/ 4210381 w 7289379"/>
              <a:gd name="connsiteY357" fmla="*/ 87887 h 4442370"/>
              <a:gd name="connsiteX358" fmla="*/ 4102599 w 7289379"/>
              <a:gd name="connsiteY358" fmla="*/ 13617 h 4442370"/>
              <a:gd name="connsiteX359" fmla="*/ 3972990 w 7289379"/>
              <a:gd name="connsiteY359" fmla="*/ 13617 h 4442370"/>
              <a:gd name="connsiteX360" fmla="*/ 3972990 w 7289379"/>
              <a:gd name="connsiteY360" fmla="*/ 26723 h 4442370"/>
              <a:gd name="connsiteX361" fmla="*/ 3982696 w 7289379"/>
              <a:gd name="connsiteY361" fmla="*/ 26723 h 4442370"/>
              <a:gd name="connsiteX362" fmla="*/ 4015221 w 7289379"/>
              <a:gd name="connsiteY362" fmla="*/ 46140 h 4442370"/>
              <a:gd name="connsiteX363" fmla="*/ 4015221 w 7289379"/>
              <a:gd name="connsiteY363" fmla="*/ 263611 h 4442370"/>
              <a:gd name="connsiteX364" fmla="*/ 3982696 w 7289379"/>
              <a:gd name="connsiteY364" fmla="*/ 283028 h 4442370"/>
              <a:gd name="connsiteX365" fmla="*/ 3972990 w 7289379"/>
              <a:gd name="connsiteY365" fmla="*/ 283028 h 4442370"/>
              <a:gd name="connsiteX366" fmla="*/ 3972990 w 7289379"/>
              <a:gd name="connsiteY366" fmla="*/ 295649 h 4442370"/>
              <a:gd name="connsiteX367" fmla="*/ 4033182 w 7289379"/>
              <a:gd name="connsiteY367" fmla="*/ 294193 h 4442370"/>
              <a:gd name="connsiteX368" fmla="*/ 4093374 w 7289379"/>
              <a:gd name="connsiteY368" fmla="*/ 295649 h 4442370"/>
              <a:gd name="connsiteX369" fmla="*/ 4093374 w 7289379"/>
              <a:gd name="connsiteY369" fmla="*/ 283028 h 4442370"/>
              <a:gd name="connsiteX370" fmla="*/ 4083664 w 7289379"/>
              <a:gd name="connsiteY370" fmla="*/ 283028 h 4442370"/>
              <a:gd name="connsiteX371" fmla="*/ 4050658 w 7289379"/>
              <a:gd name="connsiteY371" fmla="*/ 263611 h 4442370"/>
              <a:gd name="connsiteX372" fmla="*/ 4050658 w 7289379"/>
              <a:gd name="connsiteY372" fmla="*/ 159245 h 4442370"/>
              <a:gd name="connsiteX373" fmla="*/ 4098229 w 7289379"/>
              <a:gd name="connsiteY373" fmla="*/ 159245 h 4442370"/>
              <a:gd name="connsiteX374" fmla="*/ 4136565 w 7289379"/>
              <a:gd name="connsiteY374" fmla="*/ 173322 h 4442370"/>
              <a:gd name="connsiteX375" fmla="*/ 4152596 w 7289379"/>
              <a:gd name="connsiteY375" fmla="*/ 228175 h 4442370"/>
              <a:gd name="connsiteX376" fmla="*/ 4169082 w 7289379"/>
              <a:gd name="connsiteY376" fmla="*/ 287397 h 4442370"/>
              <a:gd name="connsiteX377" fmla="*/ 4221027 w 7289379"/>
              <a:gd name="connsiteY377" fmla="*/ 304873 h 4442370"/>
              <a:gd name="connsiteX378" fmla="*/ 4260379 w 7289379"/>
              <a:gd name="connsiteY378" fmla="*/ 259243 h 4442370"/>
              <a:gd name="connsiteX379" fmla="*/ 4167633 w 7289379"/>
              <a:gd name="connsiteY379" fmla="*/ 87887 h 4442370"/>
              <a:gd name="connsiteX380" fmla="*/ 4096770 w 7289379"/>
              <a:gd name="connsiteY380" fmla="*/ 150022 h 4442370"/>
              <a:gd name="connsiteX381" fmla="*/ 4050658 w 7289379"/>
              <a:gd name="connsiteY381" fmla="*/ 150022 h 4442370"/>
              <a:gd name="connsiteX382" fmla="*/ 4050658 w 7289379"/>
              <a:gd name="connsiteY382" fmla="*/ 43228 h 4442370"/>
              <a:gd name="connsiteX383" fmla="*/ 4059879 w 7289379"/>
              <a:gd name="connsiteY383" fmla="*/ 27209 h 4442370"/>
              <a:gd name="connsiteX384" fmla="*/ 4084153 w 7289379"/>
              <a:gd name="connsiteY384" fmla="*/ 26723 h 4442370"/>
              <a:gd name="connsiteX385" fmla="*/ 4167633 w 7289379"/>
              <a:gd name="connsiteY385" fmla="*/ 87887 h 4442370"/>
              <a:gd name="connsiteX386" fmla="*/ 4433527 w 7289379"/>
              <a:gd name="connsiteY386" fmla="*/ 246621 h 4442370"/>
              <a:gd name="connsiteX387" fmla="*/ 4428184 w 7289379"/>
              <a:gd name="connsiteY387" fmla="*/ 241767 h 4442370"/>
              <a:gd name="connsiteX388" fmla="*/ 4422840 w 7289379"/>
              <a:gd name="connsiteY388" fmla="*/ 247592 h 4442370"/>
              <a:gd name="connsiteX389" fmla="*/ 4367043 w 7289379"/>
              <a:gd name="connsiteY389" fmla="*/ 289824 h 4442370"/>
              <a:gd name="connsiteX390" fmla="*/ 4320442 w 7289379"/>
              <a:gd name="connsiteY390" fmla="*/ 262155 h 4442370"/>
              <a:gd name="connsiteX391" fmla="*/ 4307808 w 7289379"/>
              <a:gd name="connsiteY391" fmla="*/ 200506 h 4442370"/>
              <a:gd name="connsiteX392" fmla="*/ 4423337 w 7289379"/>
              <a:gd name="connsiteY392" fmla="*/ 200506 h 4442370"/>
              <a:gd name="connsiteX393" fmla="*/ 4433527 w 7289379"/>
              <a:gd name="connsiteY393" fmla="*/ 191768 h 4442370"/>
              <a:gd name="connsiteX394" fmla="*/ 4359753 w 7289379"/>
              <a:gd name="connsiteY394" fmla="*/ 110702 h 4442370"/>
              <a:gd name="connsiteX395" fmla="*/ 4273842 w 7289379"/>
              <a:gd name="connsiteY395" fmla="*/ 204875 h 4442370"/>
              <a:gd name="connsiteX396" fmla="*/ 4364599 w 7289379"/>
              <a:gd name="connsiteY396" fmla="*/ 300018 h 4442370"/>
              <a:gd name="connsiteX397" fmla="*/ 4433527 w 7289379"/>
              <a:gd name="connsiteY397" fmla="*/ 246621 h 4442370"/>
              <a:gd name="connsiteX398" fmla="*/ 4406354 w 7289379"/>
              <a:gd name="connsiteY398" fmla="*/ 191768 h 4442370"/>
              <a:gd name="connsiteX399" fmla="*/ 4308305 w 7289379"/>
              <a:gd name="connsiteY399" fmla="*/ 191768 h 4442370"/>
              <a:gd name="connsiteX400" fmla="*/ 4359753 w 7289379"/>
              <a:gd name="connsiteY400" fmla="*/ 119925 h 4442370"/>
              <a:gd name="connsiteX401" fmla="*/ 4406354 w 7289379"/>
              <a:gd name="connsiteY401" fmla="*/ 191768 h 4442370"/>
              <a:gd name="connsiteX402" fmla="*/ 4645323 w 7289379"/>
              <a:gd name="connsiteY402" fmla="*/ 129148 h 4442370"/>
              <a:gd name="connsiteX403" fmla="*/ 4624446 w 7289379"/>
              <a:gd name="connsiteY403" fmla="*/ 108760 h 4442370"/>
              <a:gd name="connsiteX404" fmla="*/ 4580745 w 7289379"/>
              <a:gd name="connsiteY404" fmla="*/ 128177 h 4442370"/>
              <a:gd name="connsiteX405" fmla="*/ 4537043 w 7289379"/>
              <a:gd name="connsiteY405" fmla="*/ 113129 h 4442370"/>
              <a:gd name="connsiteX406" fmla="*/ 4470062 w 7289379"/>
              <a:gd name="connsiteY406" fmla="*/ 173322 h 4442370"/>
              <a:gd name="connsiteX407" fmla="*/ 4489490 w 7289379"/>
              <a:gd name="connsiteY407" fmla="*/ 216039 h 4442370"/>
              <a:gd name="connsiteX408" fmla="*/ 4476856 w 7289379"/>
              <a:gd name="connsiteY408" fmla="*/ 250020 h 4442370"/>
              <a:gd name="connsiteX409" fmla="*/ 4494833 w 7289379"/>
              <a:gd name="connsiteY409" fmla="*/ 286912 h 4442370"/>
              <a:gd name="connsiteX410" fmla="*/ 4456973 w 7289379"/>
              <a:gd name="connsiteY410" fmla="*/ 328173 h 4442370"/>
              <a:gd name="connsiteX411" fmla="*/ 4548227 w 7289379"/>
              <a:gd name="connsiteY411" fmla="*/ 380599 h 4442370"/>
              <a:gd name="connsiteX412" fmla="*/ 4639482 w 7289379"/>
              <a:gd name="connsiteY412" fmla="*/ 327202 h 4442370"/>
              <a:gd name="connsiteX413" fmla="*/ 4612765 w 7289379"/>
              <a:gd name="connsiteY413" fmla="*/ 280601 h 4442370"/>
              <a:gd name="connsiteX414" fmla="*/ 4541890 w 7289379"/>
              <a:gd name="connsiteY414" fmla="*/ 268951 h 4442370"/>
              <a:gd name="connsiteX415" fmla="*/ 4510822 w 7289379"/>
              <a:gd name="connsiteY415" fmla="*/ 268466 h 4442370"/>
              <a:gd name="connsiteX416" fmla="*/ 4488992 w 7289379"/>
              <a:gd name="connsiteY416" fmla="*/ 240796 h 4442370"/>
              <a:gd name="connsiteX417" fmla="*/ 4496283 w 7289379"/>
              <a:gd name="connsiteY417" fmla="*/ 221379 h 4442370"/>
              <a:gd name="connsiteX418" fmla="*/ 4537043 w 7289379"/>
              <a:gd name="connsiteY418" fmla="*/ 234000 h 4442370"/>
              <a:gd name="connsiteX419" fmla="*/ 4603569 w 7289379"/>
              <a:gd name="connsiteY419" fmla="*/ 173807 h 4442370"/>
              <a:gd name="connsiteX420" fmla="*/ 4587041 w 7289379"/>
              <a:gd name="connsiteY420" fmla="*/ 134002 h 4442370"/>
              <a:gd name="connsiteX421" fmla="*/ 4623949 w 7289379"/>
              <a:gd name="connsiteY421" fmla="*/ 117984 h 4442370"/>
              <a:gd name="connsiteX422" fmla="*/ 4628298 w 7289379"/>
              <a:gd name="connsiteY422" fmla="*/ 117984 h 4442370"/>
              <a:gd name="connsiteX423" fmla="*/ 4621505 w 7289379"/>
              <a:gd name="connsiteY423" fmla="*/ 129148 h 4442370"/>
              <a:gd name="connsiteX424" fmla="*/ 4633642 w 7289379"/>
              <a:gd name="connsiteY424" fmla="*/ 141284 h 4442370"/>
              <a:gd name="connsiteX425" fmla="*/ 4645323 w 7289379"/>
              <a:gd name="connsiteY425" fmla="*/ 129148 h 4442370"/>
              <a:gd name="connsiteX426" fmla="*/ 4572957 w 7289379"/>
              <a:gd name="connsiteY426" fmla="*/ 173322 h 4442370"/>
              <a:gd name="connsiteX427" fmla="*/ 4566164 w 7289379"/>
              <a:gd name="connsiteY427" fmla="*/ 208273 h 4442370"/>
              <a:gd name="connsiteX428" fmla="*/ 4537043 w 7289379"/>
              <a:gd name="connsiteY428" fmla="*/ 224777 h 4442370"/>
              <a:gd name="connsiteX429" fmla="*/ 4501130 w 7289379"/>
              <a:gd name="connsiteY429" fmla="*/ 173807 h 4442370"/>
              <a:gd name="connsiteX430" fmla="*/ 4507426 w 7289379"/>
              <a:gd name="connsiteY430" fmla="*/ 139342 h 4442370"/>
              <a:gd name="connsiteX431" fmla="*/ 4537043 w 7289379"/>
              <a:gd name="connsiteY431" fmla="*/ 122838 h 4442370"/>
              <a:gd name="connsiteX432" fmla="*/ 4572957 w 7289379"/>
              <a:gd name="connsiteY432" fmla="*/ 173322 h 4442370"/>
              <a:gd name="connsiteX433" fmla="*/ 4618108 w 7289379"/>
              <a:gd name="connsiteY433" fmla="*/ 328173 h 4442370"/>
              <a:gd name="connsiteX434" fmla="*/ 4548724 w 7289379"/>
              <a:gd name="connsiteY434" fmla="*/ 371376 h 4442370"/>
              <a:gd name="connsiteX435" fmla="*/ 4478305 w 7289379"/>
              <a:gd name="connsiteY435" fmla="*/ 328173 h 4442370"/>
              <a:gd name="connsiteX436" fmla="*/ 4512314 w 7289379"/>
              <a:gd name="connsiteY436" fmla="*/ 292737 h 4442370"/>
              <a:gd name="connsiteX437" fmla="*/ 4536588 w 7289379"/>
              <a:gd name="connsiteY437" fmla="*/ 292737 h 4442370"/>
              <a:gd name="connsiteX438" fmla="*/ 4618108 w 7289379"/>
              <a:gd name="connsiteY438" fmla="*/ 328173 h 4442370"/>
              <a:gd name="connsiteX439" fmla="*/ 4801736 w 7289379"/>
              <a:gd name="connsiteY439" fmla="*/ 138371 h 4442370"/>
              <a:gd name="connsiteX440" fmla="*/ 4771622 w 7289379"/>
              <a:gd name="connsiteY440" fmla="*/ 113129 h 4442370"/>
              <a:gd name="connsiteX441" fmla="*/ 4720671 w 7289379"/>
              <a:gd name="connsiteY441" fmla="*/ 158759 h 4442370"/>
              <a:gd name="connsiteX442" fmla="*/ 4720671 w 7289379"/>
              <a:gd name="connsiteY442" fmla="*/ 113129 h 4442370"/>
              <a:gd name="connsiteX443" fmla="*/ 4663384 w 7289379"/>
              <a:gd name="connsiteY443" fmla="*/ 117984 h 4442370"/>
              <a:gd name="connsiteX444" fmla="*/ 4663384 w 7289379"/>
              <a:gd name="connsiteY444" fmla="*/ 130604 h 4442370"/>
              <a:gd name="connsiteX445" fmla="*/ 4695403 w 7289379"/>
              <a:gd name="connsiteY445" fmla="*/ 153905 h 4442370"/>
              <a:gd name="connsiteX446" fmla="*/ 4695403 w 7289379"/>
              <a:gd name="connsiteY446" fmla="*/ 264097 h 4442370"/>
              <a:gd name="connsiteX447" fmla="*/ 4663384 w 7289379"/>
              <a:gd name="connsiteY447" fmla="*/ 283028 h 4442370"/>
              <a:gd name="connsiteX448" fmla="*/ 4663384 w 7289379"/>
              <a:gd name="connsiteY448" fmla="*/ 295649 h 4442370"/>
              <a:gd name="connsiteX449" fmla="*/ 4710481 w 7289379"/>
              <a:gd name="connsiteY449" fmla="*/ 294193 h 4442370"/>
              <a:gd name="connsiteX450" fmla="*/ 4762882 w 7289379"/>
              <a:gd name="connsiteY450" fmla="*/ 295649 h 4442370"/>
              <a:gd name="connsiteX451" fmla="*/ 4762882 w 7289379"/>
              <a:gd name="connsiteY451" fmla="*/ 283028 h 4442370"/>
              <a:gd name="connsiteX452" fmla="*/ 4754141 w 7289379"/>
              <a:gd name="connsiteY452" fmla="*/ 283028 h 4442370"/>
              <a:gd name="connsiteX453" fmla="*/ 4722619 w 7289379"/>
              <a:gd name="connsiteY453" fmla="*/ 263611 h 4442370"/>
              <a:gd name="connsiteX454" fmla="*/ 4722619 w 7289379"/>
              <a:gd name="connsiteY454" fmla="*/ 200021 h 4442370"/>
              <a:gd name="connsiteX455" fmla="*/ 4771622 w 7289379"/>
              <a:gd name="connsiteY455" fmla="*/ 122352 h 4442370"/>
              <a:gd name="connsiteX456" fmla="*/ 4776013 w 7289379"/>
              <a:gd name="connsiteY456" fmla="*/ 122838 h 4442370"/>
              <a:gd name="connsiteX457" fmla="*/ 4766278 w 7289379"/>
              <a:gd name="connsiteY457" fmla="*/ 138857 h 4442370"/>
              <a:gd name="connsiteX458" fmla="*/ 4784256 w 7289379"/>
              <a:gd name="connsiteY458" fmla="*/ 156818 h 4442370"/>
              <a:gd name="connsiteX459" fmla="*/ 4801736 w 7289379"/>
              <a:gd name="connsiteY459" fmla="*/ 138371 h 4442370"/>
              <a:gd name="connsiteX460" fmla="*/ 4984867 w 7289379"/>
              <a:gd name="connsiteY460" fmla="*/ 246621 h 4442370"/>
              <a:gd name="connsiteX461" fmla="*/ 4979524 w 7289379"/>
              <a:gd name="connsiteY461" fmla="*/ 241767 h 4442370"/>
              <a:gd name="connsiteX462" fmla="*/ 4974180 w 7289379"/>
              <a:gd name="connsiteY462" fmla="*/ 247592 h 4442370"/>
              <a:gd name="connsiteX463" fmla="*/ 4918342 w 7289379"/>
              <a:gd name="connsiteY463" fmla="*/ 289824 h 4442370"/>
              <a:gd name="connsiteX464" fmla="*/ 4871741 w 7289379"/>
              <a:gd name="connsiteY464" fmla="*/ 262155 h 4442370"/>
              <a:gd name="connsiteX465" fmla="*/ 4859149 w 7289379"/>
              <a:gd name="connsiteY465" fmla="*/ 200506 h 4442370"/>
              <a:gd name="connsiteX466" fmla="*/ 4974678 w 7289379"/>
              <a:gd name="connsiteY466" fmla="*/ 200506 h 4442370"/>
              <a:gd name="connsiteX467" fmla="*/ 4984867 w 7289379"/>
              <a:gd name="connsiteY467" fmla="*/ 191768 h 4442370"/>
              <a:gd name="connsiteX468" fmla="*/ 4911093 w 7289379"/>
              <a:gd name="connsiteY468" fmla="*/ 110702 h 4442370"/>
              <a:gd name="connsiteX469" fmla="*/ 4825140 w 7289379"/>
              <a:gd name="connsiteY469" fmla="*/ 204875 h 4442370"/>
              <a:gd name="connsiteX470" fmla="*/ 4915940 w 7289379"/>
              <a:gd name="connsiteY470" fmla="*/ 300018 h 4442370"/>
              <a:gd name="connsiteX471" fmla="*/ 4984867 w 7289379"/>
              <a:gd name="connsiteY471" fmla="*/ 246621 h 4442370"/>
              <a:gd name="connsiteX472" fmla="*/ 4957694 w 7289379"/>
              <a:gd name="connsiteY472" fmla="*/ 191768 h 4442370"/>
              <a:gd name="connsiteX473" fmla="*/ 4859604 w 7289379"/>
              <a:gd name="connsiteY473" fmla="*/ 191768 h 4442370"/>
              <a:gd name="connsiteX474" fmla="*/ 4911093 w 7289379"/>
              <a:gd name="connsiteY474" fmla="*/ 119925 h 4442370"/>
              <a:gd name="connsiteX475" fmla="*/ 4957694 w 7289379"/>
              <a:gd name="connsiteY475" fmla="*/ 191768 h 4442370"/>
              <a:gd name="connsiteX476" fmla="*/ 5145299 w 7289379"/>
              <a:gd name="connsiteY476" fmla="*/ 242738 h 4442370"/>
              <a:gd name="connsiteX477" fmla="*/ 5127818 w 7289379"/>
              <a:gd name="connsiteY477" fmla="*/ 203419 h 4442370"/>
              <a:gd name="connsiteX478" fmla="*/ 5080720 w 7289379"/>
              <a:gd name="connsiteY478" fmla="*/ 184002 h 4442370"/>
              <a:gd name="connsiteX479" fmla="*/ 5030267 w 7289379"/>
              <a:gd name="connsiteY479" fmla="*/ 150022 h 4442370"/>
              <a:gd name="connsiteX480" fmla="*/ 5076371 w 7289379"/>
              <a:gd name="connsiteY480" fmla="*/ 118469 h 4442370"/>
              <a:gd name="connsiteX481" fmla="*/ 5124919 w 7289379"/>
              <a:gd name="connsiteY481" fmla="*/ 168468 h 4442370"/>
              <a:gd name="connsiteX482" fmla="*/ 5129765 w 7289379"/>
              <a:gd name="connsiteY482" fmla="*/ 172351 h 4442370"/>
              <a:gd name="connsiteX483" fmla="*/ 5135109 w 7289379"/>
              <a:gd name="connsiteY483" fmla="*/ 162157 h 4442370"/>
              <a:gd name="connsiteX484" fmla="*/ 5135109 w 7289379"/>
              <a:gd name="connsiteY484" fmla="*/ 120896 h 4442370"/>
              <a:gd name="connsiteX485" fmla="*/ 5130262 w 7289379"/>
              <a:gd name="connsiteY485" fmla="*/ 110702 h 4442370"/>
              <a:gd name="connsiteX486" fmla="*/ 5121978 w 7289379"/>
              <a:gd name="connsiteY486" fmla="*/ 115556 h 4442370"/>
              <a:gd name="connsiteX487" fmla="*/ 5115184 w 7289379"/>
              <a:gd name="connsiteY487" fmla="*/ 122352 h 4442370"/>
              <a:gd name="connsiteX488" fmla="*/ 5076371 w 7289379"/>
              <a:gd name="connsiteY488" fmla="*/ 110702 h 4442370"/>
              <a:gd name="connsiteX489" fmla="*/ 5010343 w 7289379"/>
              <a:gd name="connsiteY489" fmla="*/ 161672 h 4442370"/>
              <a:gd name="connsiteX490" fmla="*/ 5028320 w 7289379"/>
              <a:gd name="connsiteY490" fmla="*/ 196622 h 4442370"/>
              <a:gd name="connsiteX491" fmla="*/ 5082667 w 7289379"/>
              <a:gd name="connsiteY491" fmla="*/ 215554 h 4442370"/>
              <a:gd name="connsiteX492" fmla="*/ 5125375 w 7289379"/>
              <a:gd name="connsiteY492" fmla="*/ 253418 h 4442370"/>
              <a:gd name="connsiteX493" fmla="*/ 5078774 w 7289379"/>
              <a:gd name="connsiteY493" fmla="*/ 291281 h 4442370"/>
              <a:gd name="connsiteX494" fmla="*/ 5021527 w 7289379"/>
              <a:gd name="connsiteY494" fmla="*/ 232544 h 4442370"/>
              <a:gd name="connsiteX495" fmla="*/ 5015686 w 7289379"/>
              <a:gd name="connsiteY495" fmla="*/ 225263 h 4442370"/>
              <a:gd name="connsiteX496" fmla="*/ 5010343 w 7289379"/>
              <a:gd name="connsiteY496" fmla="*/ 235942 h 4442370"/>
              <a:gd name="connsiteX497" fmla="*/ 5010343 w 7289379"/>
              <a:gd name="connsiteY497" fmla="*/ 290310 h 4442370"/>
              <a:gd name="connsiteX498" fmla="*/ 5014733 w 7289379"/>
              <a:gd name="connsiteY498" fmla="*/ 300018 h 4442370"/>
              <a:gd name="connsiteX499" fmla="*/ 5025379 w 7289379"/>
              <a:gd name="connsiteY499" fmla="*/ 291766 h 4442370"/>
              <a:gd name="connsiteX500" fmla="*/ 5033664 w 7289379"/>
              <a:gd name="connsiteY500" fmla="*/ 282543 h 4442370"/>
              <a:gd name="connsiteX501" fmla="*/ 5078774 w 7289379"/>
              <a:gd name="connsiteY501" fmla="*/ 300018 h 4442370"/>
              <a:gd name="connsiteX502" fmla="*/ 5145299 w 7289379"/>
              <a:gd name="connsiteY502" fmla="*/ 242738 h 4442370"/>
              <a:gd name="connsiteX503" fmla="*/ 5307801 w 7289379"/>
              <a:gd name="connsiteY503" fmla="*/ 242738 h 4442370"/>
              <a:gd name="connsiteX504" fmla="*/ 5290321 w 7289379"/>
              <a:gd name="connsiteY504" fmla="*/ 203419 h 4442370"/>
              <a:gd name="connsiteX505" fmla="*/ 5243223 w 7289379"/>
              <a:gd name="connsiteY505" fmla="*/ 184002 h 4442370"/>
              <a:gd name="connsiteX506" fmla="*/ 5192728 w 7289379"/>
              <a:gd name="connsiteY506" fmla="*/ 150022 h 4442370"/>
              <a:gd name="connsiteX507" fmla="*/ 5238874 w 7289379"/>
              <a:gd name="connsiteY507" fmla="*/ 118469 h 4442370"/>
              <a:gd name="connsiteX508" fmla="*/ 5287421 w 7289379"/>
              <a:gd name="connsiteY508" fmla="*/ 168468 h 4442370"/>
              <a:gd name="connsiteX509" fmla="*/ 5292268 w 7289379"/>
              <a:gd name="connsiteY509" fmla="*/ 172351 h 4442370"/>
              <a:gd name="connsiteX510" fmla="*/ 5297611 w 7289379"/>
              <a:gd name="connsiteY510" fmla="*/ 162157 h 4442370"/>
              <a:gd name="connsiteX511" fmla="*/ 5297611 w 7289379"/>
              <a:gd name="connsiteY511" fmla="*/ 120896 h 4442370"/>
              <a:gd name="connsiteX512" fmla="*/ 5292724 w 7289379"/>
              <a:gd name="connsiteY512" fmla="*/ 110702 h 4442370"/>
              <a:gd name="connsiteX513" fmla="*/ 5284480 w 7289379"/>
              <a:gd name="connsiteY513" fmla="*/ 115556 h 4442370"/>
              <a:gd name="connsiteX514" fmla="*/ 5277687 w 7289379"/>
              <a:gd name="connsiteY514" fmla="*/ 122352 h 4442370"/>
              <a:gd name="connsiteX515" fmla="*/ 5238874 w 7289379"/>
              <a:gd name="connsiteY515" fmla="*/ 110702 h 4442370"/>
              <a:gd name="connsiteX516" fmla="*/ 5172845 w 7289379"/>
              <a:gd name="connsiteY516" fmla="*/ 161672 h 4442370"/>
              <a:gd name="connsiteX517" fmla="*/ 5190781 w 7289379"/>
              <a:gd name="connsiteY517" fmla="*/ 196622 h 4442370"/>
              <a:gd name="connsiteX518" fmla="*/ 5245170 w 7289379"/>
              <a:gd name="connsiteY518" fmla="*/ 215554 h 4442370"/>
              <a:gd name="connsiteX519" fmla="*/ 5287877 w 7289379"/>
              <a:gd name="connsiteY519" fmla="*/ 253418 h 4442370"/>
              <a:gd name="connsiteX520" fmla="*/ 5241276 w 7289379"/>
              <a:gd name="connsiteY520" fmla="*/ 291281 h 4442370"/>
              <a:gd name="connsiteX521" fmla="*/ 5183988 w 7289379"/>
              <a:gd name="connsiteY521" fmla="*/ 232544 h 4442370"/>
              <a:gd name="connsiteX522" fmla="*/ 5178189 w 7289379"/>
              <a:gd name="connsiteY522" fmla="*/ 225263 h 4442370"/>
              <a:gd name="connsiteX523" fmla="*/ 5172845 w 7289379"/>
              <a:gd name="connsiteY523" fmla="*/ 235942 h 4442370"/>
              <a:gd name="connsiteX524" fmla="*/ 5172845 w 7289379"/>
              <a:gd name="connsiteY524" fmla="*/ 290310 h 4442370"/>
              <a:gd name="connsiteX525" fmla="*/ 5177195 w 7289379"/>
              <a:gd name="connsiteY525" fmla="*/ 300018 h 4442370"/>
              <a:gd name="connsiteX526" fmla="*/ 5187882 w 7289379"/>
              <a:gd name="connsiteY526" fmla="*/ 291766 h 4442370"/>
              <a:gd name="connsiteX527" fmla="*/ 5196125 w 7289379"/>
              <a:gd name="connsiteY527" fmla="*/ 282543 h 4442370"/>
              <a:gd name="connsiteX528" fmla="*/ 5241276 w 7289379"/>
              <a:gd name="connsiteY528" fmla="*/ 300018 h 4442370"/>
              <a:gd name="connsiteX529" fmla="*/ 5307801 w 7289379"/>
              <a:gd name="connsiteY529" fmla="*/ 242738 h 4442370"/>
              <a:gd name="connsiteX530" fmla="*/ 5423786 w 7289379"/>
              <a:gd name="connsiteY530" fmla="*/ 295649 h 4442370"/>
              <a:gd name="connsiteX531" fmla="*/ 5423786 w 7289379"/>
              <a:gd name="connsiteY531" fmla="*/ 283028 h 4442370"/>
              <a:gd name="connsiteX532" fmla="*/ 5394666 w 7289379"/>
              <a:gd name="connsiteY532" fmla="*/ 264582 h 4442370"/>
              <a:gd name="connsiteX533" fmla="*/ 5394666 w 7289379"/>
              <a:gd name="connsiteY533" fmla="*/ 113129 h 4442370"/>
              <a:gd name="connsiteX534" fmla="*/ 5336922 w 7289379"/>
              <a:gd name="connsiteY534" fmla="*/ 117984 h 4442370"/>
              <a:gd name="connsiteX535" fmla="*/ 5336922 w 7289379"/>
              <a:gd name="connsiteY535" fmla="*/ 130604 h 4442370"/>
              <a:gd name="connsiteX536" fmla="*/ 5367492 w 7289379"/>
              <a:gd name="connsiteY536" fmla="*/ 153420 h 4442370"/>
              <a:gd name="connsiteX537" fmla="*/ 5367492 w 7289379"/>
              <a:gd name="connsiteY537" fmla="*/ 264097 h 4442370"/>
              <a:gd name="connsiteX538" fmla="*/ 5335472 w 7289379"/>
              <a:gd name="connsiteY538" fmla="*/ 283028 h 4442370"/>
              <a:gd name="connsiteX539" fmla="*/ 5335472 w 7289379"/>
              <a:gd name="connsiteY539" fmla="*/ 295649 h 4442370"/>
              <a:gd name="connsiteX540" fmla="*/ 5381079 w 7289379"/>
              <a:gd name="connsiteY540" fmla="*/ 294193 h 4442370"/>
              <a:gd name="connsiteX541" fmla="*/ 5423786 w 7289379"/>
              <a:gd name="connsiteY541" fmla="*/ 295649 h 4442370"/>
              <a:gd name="connsiteX542" fmla="*/ 5401003 w 7289379"/>
              <a:gd name="connsiteY542" fmla="*/ 46626 h 4442370"/>
              <a:gd name="connsiteX543" fmla="*/ 5379132 w 7289379"/>
              <a:gd name="connsiteY543" fmla="*/ 24782 h 4442370"/>
              <a:gd name="connsiteX544" fmla="*/ 5356805 w 7289379"/>
              <a:gd name="connsiteY544" fmla="*/ 46626 h 4442370"/>
              <a:gd name="connsiteX545" fmla="*/ 5378676 w 7289379"/>
              <a:gd name="connsiteY545" fmla="*/ 68470 h 4442370"/>
              <a:gd name="connsiteX546" fmla="*/ 5401003 w 7289379"/>
              <a:gd name="connsiteY546" fmla="*/ 46626 h 4442370"/>
              <a:gd name="connsiteX547" fmla="*/ 5630859 w 7289379"/>
              <a:gd name="connsiteY547" fmla="*/ 207302 h 4442370"/>
              <a:gd name="connsiteX548" fmla="*/ 5540060 w 7289379"/>
              <a:gd name="connsiteY548" fmla="*/ 110702 h 4442370"/>
              <a:gd name="connsiteX549" fmla="*/ 5448308 w 7289379"/>
              <a:gd name="connsiteY549" fmla="*/ 207302 h 4442370"/>
              <a:gd name="connsiteX550" fmla="*/ 5539563 w 7289379"/>
              <a:gd name="connsiteY550" fmla="*/ 300018 h 4442370"/>
              <a:gd name="connsiteX551" fmla="*/ 5630859 w 7289379"/>
              <a:gd name="connsiteY551" fmla="*/ 207302 h 4442370"/>
              <a:gd name="connsiteX552" fmla="*/ 5596851 w 7289379"/>
              <a:gd name="connsiteY552" fmla="*/ 203904 h 4442370"/>
              <a:gd name="connsiteX553" fmla="*/ 5587655 w 7289379"/>
              <a:gd name="connsiteY553" fmla="*/ 259243 h 4442370"/>
              <a:gd name="connsiteX554" fmla="*/ 5540060 w 7289379"/>
              <a:gd name="connsiteY554" fmla="*/ 289824 h 4442370"/>
              <a:gd name="connsiteX555" fmla="*/ 5492962 w 7289379"/>
              <a:gd name="connsiteY555" fmla="*/ 262155 h 4442370"/>
              <a:gd name="connsiteX556" fmla="*/ 5482317 w 7289379"/>
              <a:gd name="connsiteY556" fmla="*/ 203904 h 4442370"/>
              <a:gd name="connsiteX557" fmla="*/ 5492507 w 7289379"/>
              <a:gd name="connsiteY557" fmla="*/ 147595 h 4442370"/>
              <a:gd name="connsiteX558" fmla="*/ 5539563 w 7289379"/>
              <a:gd name="connsiteY558" fmla="*/ 119925 h 4442370"/>
              <a:gd name="connsiteX559" fmla="*/ 5586164 w 7289379"/>
              <a:gd name="connsiteY559" fmla="*/ 146624 h 4442370"/>
              <a:gd name="connsiteX560" fmla="*/ 5596851 w 7289379"/>
              <a:gd name="connsiteY560" fmla="*/ 203904 h 4442370"/>
              <a:gd name="connsiteX561" fmla="*/ 5863864 w 7289379"/>
              <a:gd name="connsiteY561" fmla="*/ 295649 h 4442370"/>
              <a:gd name="connsiteX562" fmla="*/ 5863864 w 7289379"/>
              <a:gd name="connsiteY562" fmla="*/ 283028 h 4442370"/>
              <a:gd name="connsiteX563" fmla="*/ 5831306 w 7289379"/>
              <a:gd name="connsiteY563" fmla="*/ 270407 h 4442370"/>
              <a:gd name="connsiteX564" fmla="*/ 5831306 w 7289379"/>
              <a:gd name="connsiteY564" fmla="*/ 191768 h 4442370"/>
              <a:gd name="connsiteX565" fmla="*/ 5818713 w 7289379"/>
              <a:gd name="connsiteY565" fmla="*/ 128663 h 4442370"/>
              <a:gd name="connsiteX566" fmla="*/ 5775509 w 7289379"/>
              <a:gd name="connsiteY566" fmla="*/ 113129 h 4442370"/>
              <a:gd name="connsiteX567" fmla="*/ 5714327 w 7289379"/>
              <a:gd name="connsiteY567" fmla="*/ 156818 h 4442370"/>
              <a:gd name="connsiteX568" fmla="*/ 5714327 w 7289379"/>
              <a:gd name="connsiteY568" fmla="*/ 113129 h 4442370"/>
              <a:gd name="connsiteX569" fmla="*/ 5656086 w 7289379"/>
              <a:gd name="connsiteY569" fmla="*/ 117984 h 4442370"/>
              <a:gd name="connsiteX570" fmla="*/ 5656086 w 7289379"/>
              <a:gd name="connsiteY570" fmla="*/ 130604 h 4442370"/>
              <a:gd name="connsiteX571" fmla="*/ 5688603 w 7289379"/>
              <a:gd name="connsiteY571" fmla="*/ 153905 h 4442370"/>
              <a:gd name="connsiteX572" fmla="*/ 5688603 w 7289379"/>
              <a:gd name="connsiteY572" fmla="*/ 264097 h 4442370"/>
              <a:gd name="connsiteX573" fmla="*/ 5656086 w 7289379"/>
              <a:gd name="connsiteY573" fmla="*/ 283028 h 4442370"/>
              <a:gd name="connsiteX574" fmla="*/ 5656086 w 7289379"/>
              <a:gd name="connsiteY574" fmla="*/ 295649 h 4442370"/>
              <a:gd name="connsiteX575" fmla="*/ 5702687 w 7289379"/>
              <a:gd name="connsiteY575" fmla="*/ 294193 h 4442370"/>
              <a:gd name="connsiteX576" fmla="*/ 5748791 w 7289379"/>
              <a:gd name="connsiteY576" fmla="*/ 295649 h 4442370"/>
              <a:gd name="connsiteX577" fmla="*/ 5748791 w 7289379"/>
              <a:gd name="connsiteY577" fmla="*/ 283028 h 4442370"/>
              <a:gd name="connsiteX578" fmla="*/ 5716771 w 7289379"/>
              <a:gd name="connsiteY578" fmla="*/ 264097 h 4442370"/>
              <a:gd name="connsiteX579" fmla="*/ 5716771 w 7289379"/>
              <a:gd name="connsiteY579" fmla="*/ 188371 h 4442370"/>
              <a:gd name="connsiteX580" fmla="*/ 5772568 w 7289379"/>
              <a:gd name="connsiteY580" fmla="*/ 122352 h 4442370"/>
              <a:gd name="connsiteX581" fmla="*/ 5803179 w 7289379"/>
              <a:gd name="connsiteY581" fmla="*/ 167983 h 4442370"/>
              <a:gd name="connsiteX582" fmla="*/ 5803179 w 7289379"/>
              <a:gd name="connsiteY582" fmla="*/ 264097 h 4442370"/>
              <a:gd name="connsiteX583" fmla="*/ 5771118 w 7289379"/>
              <a:gd name="connsiteY583" fmla="*/ 283028 h 4442370"/>
              <a:gd name="connsiteX584" fmla="*/ 5771118 w 7289379"/>
              <a:gd name="connsiteY584" fmla="*/ 295649 h 4442370"/>
              <a:gd name="connsiteX585" fmla="*/ 5817719 w 7289379"/>
              <a:gd name="connsiteY585" fmla="*/ 294193 h 4442370"/>
              <a:gd name="connsiteX586" fmla="*/ 6288242 w 7289379"/>
              <a:gd name="connsiteY586" fmla="*/ 259243 h 4442370"/>
              <a:gd name="connsiteX587" fmla="*/ 6282899 w 7289379"/>
              <a:gd name="connsiteY587" fmla="*/ 252447 h 4442370"/>
              <a:gd name="connsiteX588" fmla="*/ 6278053 w 7289379"/>
              <a:gd name="connsiteY588" fmla="*/ 258757 h 4442370"/>
              <a:gd name="connsiteX589" fmla="*/ 6250838 w 7289379"/>
              <a:gd name="connsiteY589" fmla="*/ 295649 h 4442370"/>
              <a:gd name="connsiteX590" fmla="*/ 6221718 w 7289379"/>
              <a:gd name="connsiteY590" fmla="*/ 236427 h 4442370"/>
              <a:gd name="connsiteX591" fmla="*/ 6215918 w 7289379"/>
              <a:gd name="connsiteY591" fmla="*/ 203419 h 4442370"/>
              <a:gd name="connsiteX592" fmla="*/ 6165921 w 7289379"/>
              <a:gd name="connsiteY592" fmla="*/ 155361 h 4442370"/>
              <a:gd name="connsiteX593" fmla="*/ 6238245 w 7289379"/>
              <a:gd name="connsiteY593" fmla="*/ 87887 h 4442370"/>
              <a:gd name="connsiteX594" fmla="*/ 6130463 w 7289379"/>
              <a:gd name="connsiteY594" fmla="*/ 13617 h 4442370"/>
              <a:gd name="connsiteX595" fmla="*/ 6000850 w 7289379"/>
              <a:gd name="connsiteY595" fmla="*/ 13617 h 4442370"/>
              <a:gd name="connsiteX596" fmla="*/ 6000850 w 7289379"/>
              <a:gd name="connsiteY596" fmla="*/ 26723 h 4442370"/>
              <a:gd name="connsiteX597" fmla="*/ 6010585 w 7289379"/>
              <a:gd name="connsiteY597" fmla="*/ 26723 h 4442370"/>
              <a:gd name="connsiteX598" fmla="*/ 6043101 w 7289379"/>
              <a:gd name="connsiteY598" fmla="*/ 46140 h 4442370"/>
              <a:gd name="connsiteX599" fmla="*/ 6043101 w 7289379"/>
              <a:gd name="connsiteY599" fmla="*/ 263611 h 4442370"/>
              <a:gd name="connsiteX600" fmla="*/ 6010585 w 7289379"/>
              <a:gd name="connsiteY600" fmla="*/ 283028 h 4442370"/>
              <a:gd name="connsiteX601" fmla="*/ 6000850 w 7289379"/>
              <a:gd name="connsiteY601" fmla="*/ 283028 h 4442370"/>
              <a:gd name="connsiteX602" fmla="*/ 6000850 w 7289379"/>
              <a:gd name="connsiteY602" fmla="*/ 295649 h 4442370"/>
              <a:gd name="connsiteX603" fmla="*/ 6061037 w 7289379"/>
              <a:gd name="connsiteY603" fmla="*/ 294193 h 4442370"/>
              <a:gd name="connsiteX604" fmla="*/ 6121225 w 7289379"/>
              <a:gd name="connsiteY604" fmla="*/ 295649 h 4442370"/>
              <a:gd name="connsiteX605" fmla="*/ 6121225 w 7289379"/>
              <a:gd name="connsiteY605" fmla="*/ 283028 h 4442370"/>
              <a:gd name="connsiteX606" fmla="*/ 6111532 w 7289379"/>
              <a:gd name="connsiteY606" fmla="*/ 283028 h 4442370"/>
              <a:gd name="connsiteX607" fmla="*/ 6078518 w 7289379"/>
              <a:gd name="connsiteY607" fmla="*/ 263611 h 4442370"/>
              <a:gd name="connsiteX608" fmla="*/ 6078518 w 7289379"/>
              <a:gd name="connsiteY608" fmla="*/ 159245 h 4442370"/>
              <a:gd name="connsiteX609" fmla="*/ 6126113 w 7289379"/>
              <a:gd name="connsiteY609" fmla="*/ 159245 h 4442370"/>
              <a:gd name="connsiteX610" fmla="*/ 6164429 w 7289379"/>
              <a:gd name="connsiteY610" fmla="*/ 173322 h 4442370"/>
              <a:gd name="connsiteX611" fmla="*/ 6180460 w 7289379"/>
              <a:gd name="connsiteY611" fmla="*/ 228175 h 4442370"/>
              <a:gd name="connsiteX612" fmla="*/ 6196988 w 7289379"/>
              <a:gd name="connsiteY612" fmla="*/ 287397 h 4442370"/>
              <a:gd name="connsiteX613" fmla="*/ 6248891 w 7289379"/>
              <a:gd name="connsiteY613" fmla="*/ 304873 h 4442370"/>
              <a:gd name="connsiteX614" fmla="*/ 6288242 w 7289379"/>
              <a:gd name="connsiteY614" fmla="*/ 259243 h 4442370"/>
              <a:gd name="connsiteX615" fmla="*/ 6195496 w 7289379"/>
              <a:gd name="connsiteY615" fmla="*/ 87887 h 4442370"/>
              <a:gd name="connsiteX616" fmla="*/ 6124622 w 7289379"/>
              <a:gd name="connsiteY616" fmla="*/ 150022 h 4442370"/>
              <a:gd name="connsiteX617" fmla="*/ 6078518 w 7289379"/>
              <a:gd name="connsiteY617" fmla="*/ 150022 h 4442370"/>
              <a:gd name="connsiteX618" fmla="*/ 6078518 w 7289379"/>
              <a:gd name="connsiteY618" fmla="*/ 43228 h 4442370"/>
              <a:gd name="connsiteX619" fmla="*/ 6087755 w 7289379"/>
              <a:gd name="connsiteY619" fmla="*/ 27209 h 4442370"/>
              <a:gd name="connsiteX620" fmla="*/ 6112029 w 7289379"/>
              <a:gd name="connsiteY620" fmla="*/ 26723 h 4442370"/>
              <a:gd name="connsiteX621" fmla="*/ 6195496 w 7289379"/>
              <a:gd name="connsiteY621" fmla="*/ 87887 h 4442370"/>
              <a:gd name="connsiteX622" fmla="*/ 6461764 w 7289379"/>
              <a:gd name="connsiteY622" fmla="*/ 246622 h 4442370"/>
              <a:gd name="connsiteX623" fmla="*/ 6456420 w 7289379"/>
              <a:gd name="connsiteY623" fmla="*/ 241767 h 4442370"/>
              <a:gd name="connsiteX624" fmla="*/ 6451076 w 7289379"/>
              <a:gd name="connsiteY624" fmla="*/ 247592 h 4442370"/>
              <a:gd name="connsiteX625" fmla="*/ 6395280 w 7289379"/>
              <a:gd name="connsiteY625" fmla="*/ 289824 h 4442370"/>
              <a:gd name="connsiteX626" fmla="*/ 6348679 w 7289379"/>
              <a:gd name="connsiteY626" fmla="*/ 262155 h 4442370"/>
              <a:gd name="connsiteX627" fmla="*/ 6336045 w 7289379"/>
              <a:gd name="connsiteY627" fmla="*/ 200506 h 4442370"/>
              <a:gd name="connsiteX628" fmla="*/ 6451574 w 7289379"/>
              <a:gd name="connsiteY628" fmla="*/ 200506 h 4442370"/>
              <a:gd name="connsiteX629" fmla="*/ 6461764 w 7289379"/>
              <a:gd name="connsiteY629" fmla="*/ 191768 h 4442370"/>
              <a:gd name="connsiteX630" fmla="*/ 6387989 w 7289379"/>
              <a:gd name="connsiteY630" fmla="*/ 110702 h 4442370"/>
              <a:gd name="connsiteX631" fmla="*/ 6302078 w 7289379"/>
              <a:gd name="connsiteY631" fmla="*/ 204875 h 4442370"/>
              <a:gd name="connsiteX632" fmla="*/ 6392836 w 7289379"/>
              <a:gd name="connsiteY632" fmla="*/ 300018 h 4442370"/>
              <a:gd name="connsiteX633" fmla="*/ 6461764 w 7289379"/>
              <a:gd name="connsiteY633" fmla="*/ 246622 h 4442370"/>
              <a:gd name="connsiteX634" fmla="*/ 6434590 w 7289379"/>
              <a:gd name="connsiteY634" fmla="*/ 191768 h 4442370"/>
              <a:gd name="connsiteX635" fmla="*/ 6336542 w 7289379"/>
              <a:gd name="connsiteY635" fmla="*/ 191768 h 4442370"/>
              <a:gd name="connsiteX636" fmla="*/ 6387989 w 7289379"/>
              <a:gd name="connsiteY636" fmla="*/ 119925 h 4442370"/>
              <a:gd name="connsiteX637" fmla="*/ 6434590 w 7289379"/>
              <a:gd name="connsiteY637" fmla="*/ 191768 h 4442370"/>
              <a:gd name="connsiteX638" fmla="*/ 6622195 w 7289379"/>
              <a:gd name="connsiteY638" fmla="*/ 242738 h 4442370"/>
              <a:gd name="connsiteX639" fmla="*/ 6604714 w 7289379"/>
              <a:gd name="connsiteY639" fmla="*/ 203419 h 4442370"/>
              <a:gd name="connsiteX640" fmla="*/ 6557658 w 7289379"/>
              <a:gd name="connsiteY640" fmla="*/ 184002 h 4442370"/>
              <a:gd name="connsiteX641" fmla="*/ 6507163 w 7289379"/>
              <a:gd name="connsiteY641" fmla="*/ 150022 h 4442370"/>
              <a:gd name="connsiteX642" fmla="*/ 6553267 w 7289379"/>
              <a:gd name="connsiteY642" fmla="*/ 118469 h 4442370"/>
              <a:gd name="connsiteX643" fmla="*/ 6601815 w 7289379"/>
              <a:gd name="connsiteY643" fmla="*/ 168468 h 4442370"/>
              <a:gd name="connsiteX644" fmla="*/ 6606662 w 7289379"/>
              <a:gd name="connsiteY644" fmla="*/ 172351 h 4442370"/>
              <a:gd name="connsiteX645" fmla="*/ 6612005 w 7289379"/>
              <a:gd name="connsiteY645" fmla="*/ 162157 h 4442370"/>
              <a:gd name="connsiteX646" fmla="*/ 6612005 w 7289379"/>
              <a:gd name="connsiteY646" fmla="*/ 120896 h 4442370"/>
              <a:gd name="connsiteX647" fmla="*/ 6607159 w 7289379"/>
              <a:gd name="connsiteY647" fmla="*/ 110702 h 4442370"/>
              <a:gd name="connsiteX648" fmla="*/ 6598915 w 7289379"/>
              <a:gd name="connsiteY648" fmla="*/ 115556 h 4442370"/>
              <a:gd name="connsiteX649" fmla="*/ 6592122 w 7289379"/>
              <a:gd name="connsiteY649" fmla="*/ 122353 h 4442370"/>
              <a:gd name="connsiteX650" fmla="*/ 6553267 w 7289379"/>
              <a:gd name="connsiteY650" fmla="*/ 110702 h 4442370"/>
              <a:gd name="connsiteX651" fmla="*/ 6487239 w 7289379"/>
              <a:gd name="connsiteY651" fmla="*/ 161672 h 4442370"/>
              <a:gd name="connsiteX652" fmla="*/ 6505217 w 7289379"/>
              <a:gd name="connsiteY652" fmla="*/ 196622 h 4442370"/>
              <a:gd name="connsiteX653" fmla="*/ 6559563 w 7289379"/>
              <a:gd name="connsiteY653" fmla="*/ 215554 h 4442370"/>
              <a:gd name="connsiteX654" fmla="*/ 6602312 w 7289379"/>
              <a:gd name="connsiteY654" fmla="*/ 253418 h 4442370"/>
              <a:gd name="connsiteX655" fmla="*/ 6555711 w 7289379"/>
              <a:gd name="connsiteY655" fmla="*/ 291281 h 4442370"/>
              <a:gd name="connsiteX656" fmla="*/ 6498423 w 7289379"/>
              <a:gd name="connsiteY656" fmla="*/ 232544 h 4442370"/>
              <a:gd name="connsiteX657" fmla="*/ 6492583 w 7289379"/>
              <a:gd name="connsiteY657" fmla="*/ 225263 h 4442370"/>
              <a:gd name="connsiteX658" fmla="*/ 6487239 w 7289379"/>
              <a:gd name="connsiteY658" fmla="*/ 235942 h 4442370"/>
              <a:gd name="connsiteX659" fmla="*/ 6487239 w 7289379"/>
              <a:gd name="connsiteY659" fmla="*/ 290310 h 4442370"/>
              <a:gd name="connsiteX660" fmla="*/ 6491630 w 7289379"/>
              <a:gd name="connsiteY660" fmla="*/ 300018 h 4442370"/>
              <a:gd name="connsiteX661" fmla="*/ 6502317 w 7289379"/>
              <a:gd name="connsiteY661" fmla="*/ 291766 h 4442370"/>
              <a:gd name="connsiteX662" fmla="*/ 6510560 w 7289379"/>
              <a:gd name="connsiteY662" fmla="*/ 282543 h 4442370"/>
              <a:gd name="connsiteX663" fmla="*/ 6555711 w 7289379"/>
              <a:gd name="connsiteY663" fmla="*/ 300018 h 4442370"/>
              <a:gd name="connsiteX664" fmla="*/ 6622195 w 7289379"/>
              <a:gd name="connsiteY664" fmla="*/ 242738 h 4442370"/>
              <a:gd name="connsiteX665" fmla="*/ 6857147 w 7289379"/>
              <a:gd name="connsiteY665" fmla="*/ 295649 h 4442370"/>
              <a:gd name="connsiteX666" fmla="*/ 6857147 w 7289379"/>
              <a:gd name="connsiteY666" fmla="*/ 283028 h 4442370"/>
              <a:gd name="connsiteX667" fmla="*/ 6824629 w 7289379"/>
              <a:gd name="connsiteY667" fmla="*/ 259728 h 4442370"/>
              <a:gd name="connsiteX668" fmla="*/ 6824629 w 7289379"/>
              <a:gd name="connsiteY668" fmla="*/ 113129 h 4442370"/>
              <a:gd name="connsiteX669" fmla="*/ 6764442 w 7289379"/>
              <a:gd name="connsiteY669" fmla="*/ 117984 h 4442370"/>
              <a:gd name="connsiteX670" fmla="*/ 6764442 w 7289379"/>
              <a:gd name="connsiteY670" fmla="*/ 130604 h 4442370"/>
              <a:gd name="connsiteX671" fmla="*/ 6796462 w 7289379"/>
              <a:gd name="connsiteY671" fmla="*/ 153905 h 4442370"/>
              <a:gd name="connsiteX672" fmla="*/ 6796462 w 7289379"/>
              <a:gd name="connsiteY672" fmla="*/ 227204 h 4442370"/>
              <a:gd name="connsiteX673" fmla="*/ 6746464 w 7289379"/>
              <a:gd name="connsiteY673" fmla="*/ 291281 h 4442370"/>
              <a:gd name="connsiteX674" fmla="*/ 6710054 w 7289379"/>
              <a:gd name="connsiteY674" fmla="*/ 250020 h 4442370"/>
              <a:gd name="connsiteX675" fmla="*/ 6710054 w 7289379"/>
              <a:gd name="connsiteY675" fmla="*/ 113129 h 4442370"/>
              <a:gd name="connsiteX676" fmla="*/ 6649368 w 7289379"/>
              <a:gd name="connsiteY676" fmla="*/ 117984 h 4442370"/>
              <a:gd name="connsiteX677" fmla="*/ 6649368 w 7289379"/>
              <a:gd name="connsiteY677" fmla="*/ 130604 h 4442370"/>
              <a:gd name="connsiteX678" fmla="*/ 6681927 w 7289379"/>
              <a:gd name="connsiteY678" fmla="*/ 168468 h 4442370"/>
              <a:gd name="connsiteX679" fmla="*/ 6681927 w 7289379"/>
              <a:gd name="connsiteY679" fmla="*/ 230603 h 4442370"/>
              <a:gd name="connsiteX680" fmla="*/ 6744517 w 7289379"/>
              <a:gd name="connsiteY680" fmla="*/ 300018 h 4442370"/>
              <a:gd name="connsiteX681" fmla="*/ 6797456 w 7289379"/>
              <a:gd name="connsiteY681" fmla="*/ 263126 h 4442370"/>
              <a:gd name="connsiteX682" fmla="*/ 6797456 w 7289379"/>
              <a:gd name="connsiteY682" fmla="*/ 300018 h 4442370"/>
              <a:gd name="connsiteX683" fmla="*/ 6971101 w 7289379"/>
              <a:gd name="connsiteY683" fmla="*/ 295649 h 4442370"/>
              <a:gd name="connsiteX684" fmla="*/ 6971101 w 7289379"/>
              <a:gd name="connsiteY684" fmla="*/ 283028 h 4442370"/>
              <a:gd name="connsiteX685" fmla="*/ 6938584 w 7289379"/>
              <a:gd name="connsiteY685" fmla="*/ 264097 h 4442370"/>
              <a:gd name="connsiteX686" fmla="*/ 6938584 w 7289379"/>
              <a:gd name="connsiteY686" fmla="*/ 9248 h 4442370"/>
              <a:gd name="connsiteX687" fmla="*/ 6879349 w 7289379"/>
              <a:gd name="connsiteY687" fmla="*/ 13617 h 4442370"/>
              <a:gd name="connsiteX688" fmla="*/ 6879349 w 7289379"/>
              <a:gd name="connsiteY688" fmla="*/ 26723 h 4442370"/>
              <a:gd name="connsiteX689" fmla="*/ 6911411 w 7289379"/>
              <a:gd name="connsiteY689" fmla="*/ 49538 h 4442370"/>
              <a:gd name="connsiteX690" fmla="*/ 6911411 w 7289379"/>
              <a:gd name="connsiteY690" fmla="*/ 264097 h 4442370"/>
              <a:gd name="connsiteX691" fmla="*/ 6879349 w 7289379"/>
              <a:gd name="connsiteY691" fmla="*/ 283028 h 4442370"/>
              <a:gd name="connsiteX692" fmla="*/ 6879349 w 7289379"/>
              <a:gd name="connsiteY692" fmla="*/ 295649 h 4442370"/>
              <a:gd name="connsiteX693" fmla="*/ 6924997 w 7289379"/>
              <a:gd name="connsiteY693" fmla="*/ 294193 h 4442370"/>
              <a:gd name="connsiteX694" fmla="*/ 7117324 w 7289379"/>
              <a:gd name="connsiteY694" fmla="*/ 244680 h 4442370"/>
              <a:gd name="connsiteX695" fmla="*/ 7117324 w 7289379"/>
              <a:gd name="connsiteY695" fmla="*/ 220894 h 4442370"/>
              <a:gd name="connsiteX696" fmla="*/ 7107135 w 7289379"/>
              <a:gd name="connsiteY696" fmla="*/ 220894 h 4442370"/>
              <a:gd name="connsiteX697" fmla="*/ 7107135 w 7289379"/>
              <a:gd name="connsiteY697" fmla="*/ 243709 h 4442370"/>
              <a:gd name="connsiteX698" fmla="*/ 7079464 w 7289379"/>
              <a:gd name="connsiteY698" fmla="*/ 289824 h 4442370"/>
              <a:gd name="connsiteX699" fmla="*/ 7051794 w 7289379"/>
              <a:gd name="connsiteY699" fmla="*/ 245165 h 4442370"/>
              <a:gd name="connsiteX700" fmla="*/ 7051794 w 7289379"/>
              <a:gd name="connsiteY700" fmla="*/ 130604 h 4442370"/>
              <a:gd name="connsiteX701" fmla="*/ 7111028 w 7289379"/>
              <a:gd name="connsiteY701" fmla="*/ 130604 h 4442370"/>
              <a:gd name="connsiteX702" fmla="*/ 7111028 w 7289379"/>
              <a:gd name="connsiteY702" fmla="*/ 117984 h 4442370"/>
              <a:gd name="connsiteX703" fmla="*/ 7051794 w 7289379"/>
              <a:gd name="connsiteY703" fmla="*/ 117984 h 4442370"/>
              <a:gd name="connsiteX704" fmla="*/ 7051794 w 7289379"/>
              <a:gd name="connsiteY704" fmla="*/ 41772 h 4442370"/>
              <a:gd name="connsiteX705" fmla="*/ 7041603 w 7289379"/>
              <a:gd name="connsiteY705" fmla="*/ 41772 h 4442370"/>
              <a:gd name="connsiteX706" fmla="*/ 6988209 w 7289379"/>
              <a:gd name="connsiteY706" fmla="*/ 121382 h 4442370"/>
              <a:gd name="connsiteX707" fmla="*/ 6988209 w 7289379"/>
              <a:gd name="connsiteY707" fmla="*/ 130604 h 4442370"/>
              <a:gd name="connsiteX708" fmla="*/ 7023170 w 7289379"/>
              <a:gd name="connsiteY708" fmla="*/ 130604 h 4442370"/>
              <a:gd name="connsiteX709" fmla="*/ 7023170 w 7289379"/>
              <a:gd name="connsiteY709" fmla="*/ 244680 h 4442370"/>
              <a:gd name="connsiteX710" fmla="*/ 7076564 w 7289379"/>
              <a:gd name="connsiteY710" fmla="*/ 300018 h 4442370"/>
              <a:gd name="connsiteX711" fmla="*/ 7117324 w 7289379"/>
              <a:gd name="connsiteY711" fmla="*/ 244680 h 4442370"/>
              <a:gd name="connsiteX712" fmla="*/ 7289520 w 7289379"/>
              <a:gd name="connsiteY712" fmla="*/ 242738 h 4442370"/>
              <a:gd name="connsiteX713" fmla="*/ 7272081 w 7289379"/>
              <a:gd name="connsiteY713" fmla="*/ 203419 h 4442370"/>
              <a:gd name="connsiteX714" fmla="*/ 7224983 w 7289379"/>
              <a:gd name="connsiteY714" fmla="*/ 184002 h 4442370"/>
              <a:gd name="connsiteX715" fmla="*/ 7174488 w 7289379"/>
              <a:gd name="connsiteY715" fmla="*/ 150022 h 4442370"/>
              <a:gd name="connsiteX716" fmla="*/ 7220592 w 7289379"/>
              <a:gd name="connsiteY716" fmla="*/ 118469 h 4442370"/>
              <a:gd name="connsiteX717" fmla="*/ 7269140 w 7289379"/>
              <a:gd name="connsiteY717" fmla="*/ 168468 h 4442370"/>
              <a:gd name="connsiteX718" fmla="*/ 7273987 w 7289379"/>
              <a:gd name="connsiteY718" fmla="*/ 172351 h 4442370"/>
              <a:gd name="connsiteX719" fmla="*/ 7279330 w 7289379"/>
              <a:gd name="connsiteY719" fmla="*/ 162157 h 4442370"/>
              <a:gd name="connsiteX720" fmla="*/ 7279330 w 7289379"/>
              <a:gd name="connsiteY720" fmla="*/ 120896 h 4442370"/>
              <a:gd name="connsiteX721" fmla="*/ 7274483 w 7289379"/>
              <a:gd name="connsiteY721" fmla="*/ 110702 h 4442370"/>
              <a:gd name="connsiteX722" fmla="*/ 7266240 w 7289379"/>
              <a:gd name="connsiteY722" fmla="*/ 115556 h 4442370"/>
              <a:gd name="connsiteX723" fmla="*/ 7259447 w 7289379"/>
              <a:gd name="connsiteY723" fmla="*/ 122352 h 4442370"/>
              <a:gd name="connsiteX724" fmla="*/ 7220592 w 7289379"/>
              <a:gd name="connsiteY724" fmla="*/ 110702 h 4442370"/>
              <a:gd name="connsiteX725" fmla="*/ 7154605 w 7289379"/>
              <a:gd name="connsiteY725" fmla="*/ 161672 h 4442370"/>
              <a:gd name="connsiteX726" fmla="*/ 7172541 w 7289379"/>
              <a:gd name="connsiteY726" fmla="*/ 196622 h 4442370"/>
              <a:gd name="connsiteX727" fmla="*/ 7226930 w 7289379"/>
              <a:gd name="connsiteY727" fmla="*/ 215554 h 4442370"/>
              <a:gd name="connsiteX728" fmla="*/ 7269637 w 7289379"/>
              <a:gd name="connsiteY728" fmla="*/ 253418 h 4442370"/>
              <a:gd name="connsiteX729" fmla="*/ 7223036 w 7289379"/>
              <a:gd name="connsiteY729" fmla="*/ 291281 h 4442370"/>
              <a:gd name="connsiteX730" fmla="*/ 7165748 w 7289379"/>
              <a:gd name="connsiteY730" fmla="*/ 232544 h 4442370"/>
              <a:gd name="connsiteX731" fmla="*/ 7159949 w 7289379"/>
              <a:gd name="connsiteY731" fmla="*/ 225263 h 4442370"/>
              <a:gd name="connsiteX732" fmla="*/ 7154605 w 7289379"/>
              <a:gd name="connsiteY732" fmla="*/ 235942 h 4442370"/>
              <a:gd name="connsiteX733" fmla="*/ 7154605 w 7289379"/>
              <a:gd name="connsiteY733" fmla="*/ 290310 h 4442370"/>
              <a:gd name="connsiteX734" fmla="*/ 7158954 w 7289379"/>
              <a:gd name="connsiteY734" fmla="*/ 300018 h 4442370"/>
              <a:gd name="connsiteX735" fmla="*/ 7169641 w 7289379"/>
              <a:gd name="connsiteY735" fmla="*/ 291766 h 4442370"/>
              <a:gd name="connsiteX736" fmla="*/ 7177885 w 7289379"/>
              <a:gd name="connsiteY736" fmla="*/ 282543 h 4442370"/>
              <a:gd name="connsiteX737" fmla="*/ 7223036 w 7289379"/>
              <a:gd name="connsiteY737" fmla="*/ 300018 h 4442370"/>
              <a:gd name="connsiteX738" fmla="*/ 7289520 w 7289379"/>
              <a:gd name="connsiteY738" fmla="*/ 242738 h 4442370"/>
              <a:gd name="connsiteX739" fmla="*/ 5092609 w 7289379"/>
              <a:gd name="connsiteY739" fmla="*/ 1014686 h 4442370"/>
              <a:gd name="connsiteX740" fmla="*/ 5012994 w 7289379"/>
              <a:gd name="connsiteY740" fmla="*/ 943331 h 4442370"/>
              <a:gd name="connsiteX741" fmla="*/ 5081466 w 7289379"/>
              <a:gd name="connsiteY741" fmla="*/ 878280 h 4442370"/>
              <a:gd name="connsiteX742" fmla="*/ 4990211 w 7289379"/>
              <a:gd name="connsiteY742" fmla="*/ 808379 h 4442370"/>
              <a:gd name="connsiteX743" fmla="*/ 4839224 w 7289379"/>
              <a:gd name="connsiteY743" fmla="*/ 808379 h 4442370"/>
              <a:gd name="connsiteX744" fmla="*/ 4839224 w 7289379"/>
              <a:gd name="connsiteY744" fmla="*/ 821489 h 4442370"/>
              <a:gd name="connsiteX745" fmla="*/ 4848959 w 7289379"/>
              <a:gd name="connsiteY745" fmla="*/ 821489 h 4442370"/>
              <a:gd name="connsiteX746" fmla="*/ 4881476 w 7289379"/>
              <a:gd name="connsiteY746" fmla="*/ 840904 h 4442370"/>
              <a:gd name="connsiteX747" fmla="*/ 4881476 w 7289379"/>
              <a:gd name="connsiteY747" fmla="*/ 1058375 h 4442370"/>
              <a:gd name="connsiteX748" fmla="*/ 4848959 w 7289379"/>
              <a:gd name="connsiteY748" fmla="*/ 1077794 h 4442370"/>
              <a:gd name="connsiteX749" fmla="*/ 4839224 w 7289379"/>
              <a:gd name="connsiteY749" fmla="*/ 1077794 h 4442370"/>
              <a:gd name="connsiteX750" fmla="*/ 4839224 w 7289379"/>
              <a:gd name="connsiteY750" fmla="*/ 1090412 h 4442370"/>
              <a:gd name="connsiteX751" fmla="*/ 5000898 w 7289379"/>
              <a:gd name="connsiteY751" fmla="*/ 1090412 h 4442370"/>
              <a:gd name="connsiteX752" fmla="*/ 5092609 w 7289379"/>
              <a:gd name="connsiteY752" fmla="*/ 1014686 h 4442370"/>
              <a:gd name="connsiteX753" fmla="*/ 5041658 w 7289379"/>
              <a:gd name="connsiteY753" fmla="*/ 878280 h 4442370"/>
              <a:gd name="connsiteX754" fmla="*/ 4975630 w 7289379"/>
              <a:gd name="connsiteY754" fmla="*/ 939445 h 4442370"/>
              <a:gd name="connsiteX755" fmla="*/ 4915940 w 7289379"/>
              <a:gd name="connsiteY755" fmla="*/ 939445 h 4442370"/>
              <a:gd name="connsiteX756" fmla="*/ 4915940 w 7289379"/>
              <a:gd name="connsiteY756" fmla="*/ 837992 h 4442370"/>
              <a:gd name="connsiteX757" fmla="*/ 4935823 w 7289379"/>
              <a:gd name="connsiteY757" fmla="*/ 821489 h 4442370"/>
              <a:gd name="connsiteX758" fmla="*/ 4987270 w 7289379"/>
              <a:gd name="connsiteY758" fmla="*/ 821489 h 4442370"/>
              <a:gd name="connsiteX759" fmla="*/ 5041658 w 7289379"/>
              <a:gd name="connsiteY759" fmla="*/ 878280 h 4442370"/>
              <a:gd name="connsiteX760" fmla="*/ 5051351 w 7289379"/>
              <a:gd name="connsiteY760" fmla="*/ 1014686 h 4442370"/>
              <a:gd name="connsiteX761" fmla="*/ 4987767 w 7289379"/>
              <a:gd name="connsiteY761" fmla="*/ 1077794 h 4442370"/>
              <a:gd name="connsiteX762" fmla="*/ 4935823 w 7289379"/>
              <a:gd name="connsiteY762" fmla="*/ 1077794 h 4442370"/>
              <a:gd name="connsiteX763" fmla="*/ 4915940 w 7289379"/>
              <a:gd name="connsiteY763" fmla="*/ 1061287 h 4442370"/>
              <a:gd name="connsiteX764" fmla="*/ 4915940 w 7289379"/>
              <a:gd name="connsiteY764" fmla="*/ 948670 h 4442370"/>
              <a:gd name="connsiteX765" fmla="*/ 4993608 w 7289379"/>
              <a:gd name="connsiteY765" fmla="*/ 948670 h 4442370"/>
              <a:gd name="connsiteX766" fmla="*/ 5051351 w 7289379"/>
              <a:gd name="connsiteY766" fmla="*/ 1014686 h 4442370"/>
              <a:gd name="connsiteX767" fmla="*/ 5287752 w 7289379"/>
              <a:gd name="connsiteY767" fmla="*/ 1041383 h 4442370"/>
              <a:gd name="connsiteX768" fmla="*/ 5282409 w 7289379"/>
              <a:gd name="connsiteY768" fmla="*/ 1036533 h 4442370"/>
              <a:gd name="connsiteX769" fmla="*/ 5277065 w 7289379"/>
              <a:gd name="connsiteY769" fmla="*/ 1042357 h 4442370"/>
              <a:gd name="connsiteX770" fmla="*/ 5221269 w 7289379"/>
              <a:gd name="connsiteY770" fmla="*/ 1084587 h 4442370"/>
              <a:gd name="connsiteX771" fmla="*/ 5174668 w 7289379"/>
              <a:gd name="connsiteY771" fmla="*/ 1056917 h 4442370"/>
              <a:gd name="connsiteX772" fmla="*/ 5162034 w 7289379"/>
              <a:gd name="connsiteY772" fmla="*/ 995271 h 4442370"/>
              <a:gd name="connsiteX773" fmla="*/ 5277563 w 7289379"/>
              <a:gd name="connsiteY773" fmla="*/ 995271 h 4442370"/>
              <a:gd name="connsiteX774" fmla="*/ 5287752 w 7289379"/>
              <a:gd name="connsiteY774" fmla="*/ 986531 h 4442370"/>
              <a:gd name="connsiteX775" fmla="*/ 5213978 w 7289379"/>
              <a:gd name="connsiteY775" fmla="*/ 905466 h 4442370"/>
              <a:gd name="connsiteX776" fmla="*/ 5128067 w 7289379"/>
              <a:gd name="connsiteY776" fmla="*/ 999637 h 4442370"/>
              <a:gd name="connsiteX777" fmla="*/ 5218825 w 7289379"/>
              <a:gd name="connsiteY777" fmla="*/ 1094782 h 4442370"/>
              <a:gd name="connsiteX778" fmla="*/ 5287752 w 7289379"/>
              <a:gd name="connsiteY778" fmla="*/ 1041383 h 4442370"/>
              <a:gd name="connsiteX779" fmla="*/ 5260579 w 7289379"/>
              <a:gd name="connsiteY779" fmla="*/ 986531 h 4442370"/>
              <a:gd name="connsiteX780" fmla="*/ 5162531 w 7289379"/>
              <a:gd name="connsiteY780" fmla="*/ 986531 h 4442370"/>
              <a:gd name="connsiteX781" fmla="*/ 5213978 w 7289379"/>
              <a:gd name="connsiteY781" fmla="*/ 914691 h 4442370"/>
              <a:gd name="connsiteX782" fmla="*/ 5260579 w 7289379"/>
              <a:gd name="connsiteY782" fmla="*/ 986531 h 4442370"/>
              <a:gd name="connsiteX783" fmla="*/ 5446734 w 7289379"/>
              <a:gd name="connsiteY783" fmla="*/ 828283 h 4442370"/>
              <a:gd name="connsiteX784" fmla="*/ 5409868 w 7289379"/>
              <a:gd name="connsiteY784" fmla="*/ 799643 h 4442370"/>
              <a:gd name="connsiteX785" fmla="*/ 5345786 w 7289379"/>
              <a:gd name="connsiteY785" fmla="*/ 865174 h 4442370"/>
              <a:gd name="connsiteX786" fmla="*/ 5345786 w 7289379"/>
              <a:gd name="connsiteY786" fmla="*/ 912748 h 4442370"/>
              <a:gd name="connsiteX787" fmla="*/ 5313269 w 7289379"/>
              <a:gd name="connsiteY787" fmla="*/ 912748 h 4442370"/>
              <a:gd name="connsiteX788" fmla="*/ 5313269 w 7289379"/>
              <a:gd name="connsiteY788" fmla="*/ 925370 h 4442370"/>
              <a:gd name="connsiteX789" fmla="*/ 5345786 w 7289379"/>
              <a:gd name="connsiteY789" fmla="*/ 925370 h 4442370"/>
              <a:gd name="connsiteX790" fmla="*/ 5345786 w 7289379"/>
              <a:gd name="connsiteY790" fmla="*/ 1058860 h 4442370"/>
              <a:gd name="connsiteX791" fmla="*/ 5313725 w 7289379"/>
              <a:gd name="connsiteY791" fmla="*/ 1077794 h 4442370"/>
              <a:gd name="connsiteX792" fmla="*/ 5313725 w 7289379"/>
              <a:gd name="connsiteY792" fmla="*/ 1090412 h 4442370"/>
              <a:gd name="connsiteX793" fmla="*/ 5360823 w 7289379"/>
              <a:gd name="connsiteY793" fmla="*/ 1088958 h 4442370"/>
              <a:gd name="connsiteX794" fmla="*/ 5413265 w 7289379"/>
              <a:gd name="connsiteY794" fmla="*/ 1090412 h 4442370"/>
              <a:gd name="connsiteX795" fmla="*/ 5413265 w 7289379"/>
              <a:gd name="connsiteY795" fmla="*/ 1077794 h 4442370"/>
              <a:gd name="connsiteX796" fmla="*/ 5404524 w 7289379"/>
              <a:gd name="connsiteY796" fmla="*/ 1077794 h 4442370"/>
              <a:gd name="connsiteX797" fmla="*/ 5372960 w 7289379"/>
              <a:gd name="connsiteY797" fmla="*/ 1058375 h 4442370"/>
              <a:gd name="connsiteX798" fmla="*/ 5372960 w 7289379"/>
              <a:gd name="connsiteY798" fmla="*/ 925370 h 4442370"/>
              <a:gd name="connsiteX799" fmla="*/ 5420057 w 7289379"/>
              <a:gd name="connsiteY799" fmla="*/ 925370 h 4442370"/>
              <a:gd name="connsiteX800" fmla="*/ 5420057 w 7289379"/>
              <a:gd name="connsiteY800" fmla="*/ 912748 h 4442370"/>
              <a:gd name="connsiteX801" fmla="*/ 5372007 w 7289379"/>
              <a:gd name="connsiteY801" fmla="*/ 912748 h 4442370"/>
              <a:gd name="connsiteX802" fmla="*/ 5372007 w 7289379"/>
              <a:gd name="connsiteY802" fmla="*/ 864689 h 4442370"/>
              <a:gd name="connsiteX803" fmla="*/ 5409868 w 7289379"/>
              <a:gd name="connsiteY803" fmla="*/ 808379 h 4442370"/>
              <a:gd name="connsiteX804" fmla="*/ 5423454 w 7289379"/>
              <a:gd name="connsiteY804" fmla="*/ 811295 h 4442370"/>
              <a:gd name="connsiteX805" fmla="*/ 5411317 w 7289379"/>
              <a:gd name="connsiteY805" fmla="*/ 828767 h 4442370"/>
              <a:gd name="connsiteX806" fmla="*/ 5428798 w 7289379"/>
              <a:gd name="connsiteY806" fmla="*/ 846728 h 4442370"/>
              <a:gd name="connsiteX807" fmla="*/ 5446734 w 7289379"/>
              <a:gd name="connsiteY807" fmla="*/ 828283 h 4442370"/>
              <a:gd name="connsiteX808" fmla="*/ 5620048 w 7289379"/>
              <a:gd name="connsiteY808" fmla="*/ 1002064 h 4442370"/>
              <a:gd name="connsiteX809" fmla="*/ 5529249 w 7289379"/>
              <a:gd name="connsiteY809" fmla="*/ 905466 h 4442370"/>
              <a:gd name="connsiteX810" fmla="*/ 5437539 w 7289379"/>
              <a:gd name="connsiteY810" fmla="*/ 1002064 h 4442370"/>
              <a:gd name="connsiteX811" fmla="*/ 5528793 w 7289379"/>
              <a:gd name="connsiteY811" fmla="*/ 1094782 h 4442370"/>
              <a:gd name="connsiteX812" fmla="*/ 5620048 w 7289379"/>
              <a:gd name="connsiteY812" fmla="*/ 1002064 h 4442370"/>
              <a:gd name="connsiteX813" fmla="*/ 5586040 w 7289379"/>
              <a:gd name="connsiteY813" fmla="*/ 998668 h 4442370"/>
              <a:gd name="connsiteX814" fmla="*/ 5576844 w 7289379"/>
              <a:gd name="connsiteY814" fmla="*/ 1054005 h 4442370"/>
              <a:gd name="connsiteX815" fmla="*/ 5529249 w 7289379"/>
              <a:gd name="connsiteY815" fmla="*/ 1084587 h 4442370"/>
              <a:gd name="connsiteX816" fmla="*/ 5482192 w 7289379"/>
              <a:gd name="connsiteY816" fmla="*/ 1056921 h 4442370"/>
              <a:gd name="connsiteX817" fmla="*/ 5471505 w 7289379"/>
              <a:gd name="connsiteY817" fmla="*/ 998668 h 4442370"/>
              <a:gd name="connsiteX818" fmla="*/ 5481695 w 7289379"/>
              <a:gd name="connsiteY818" fmla="*/ 942357 h 4442370"/>
              <a:gd name="connsiteX819" fmla="*/ 5528793 w 7289379"/>
              <a:gd name="connsiteY819" fmla="*/ 914691 h 4442370"/>
              <a:gd name="connsiteX820" fmla="*/ 5575394 w 7289379"/>
              <a:gd name="connsiteY820" fmla="*/ 941388 h 4442370"/>
              <a:gd name="connsiteX821" fmla="*/ 5586040 w 7289379"/>
              <a:gd name="connsiteY821" fmla="*/ 998668 h 4442370"/>
              <a:gd name="connsiteX822" fmla="*/ 5782302 w 7289379"/>
              <a:gd name="connsiteY822" fmla="*/ 933137 h 4442370"/>
              <a:gd name="connsiteX823" fmla="*/ 5752187 w 7289379"/>
              <a:gd name="connsiteY823" fmla="*/ 907893 h 4442370"/>
              <a:gd name="connsiteX824" fmla="*/ 5701237 w 7289379"/>
              <a:gd name="connsiteY824" fmla="*/ 953525 h 4442370"/>
              <a:gd name="connsiteX825" fmla="*/ 5701237 w 7289379"/>
              <a:gd name="connsiteY825" fmla="*/ 907893 h 4442370"/>
              <a:gd name="connsiteX826" fmla="*/ 5643949 w 7289379"/>
              <a:gd name="connsiteY826" fmla="*/ 912748 h 4442370"/>
              <a:gd name="connsiteX827" fmla="*/ 5643949 w 7289379"/>
              <a:gd name="connsiteY827" fmla="*/ 925370 h 4442370"/>
              <a:gd name="connsiteX828" fmla="*/ 5675969 w 7289379"/>
              <a:gd name="connsiteY828" fmla="*/ 948670 h 4442370"/>
              <a:gd name="connsiteX829" fmla="*/ 5675969 w 7289379"/>
              <a:gd name="connsiteY829" fmla="*/ 1058860 h 4442370"/>
              <a:gd name="connsiteX830" fmla="*/ 5643949 w 7289379"/>
              <a:gd name="connsiteY830" fmla="*/ 1077794 h 4442370"/>
              <a:gd name="connsiteX831" fmla="*/ 5643949 w 7289379"/>
              <a:gd name="connsiteY831" fmla="*/ 1090412 h 4442370"/>
              <a:gd name="connsiteX832" fmla="*/ 5691047 w 7289379"/>
              <a:gd name="connsiteY832" fmla="*/ 1088958 h 4442370"/>
              <a:gd name="connsiteX833" fmla="*/ 5743447 w 7289379"/>
              <a:gd name="connsiteY833" fmla="*/ 1090412 h 4442370"/>
              <a:gd name="connsiteX834" fmla="*/ 5743447 w 7289379"/>
              <a:gd name="connsiteY834" fmla="*/ 1077794 h 4442370"/>
              <a:gd name="connsiteX835" fmla="*/ 5734707 w 7289379"/>
              <a:gd name="connsiteY835" fmla="*/ 1077794 h 4442370"/>
              <a:gd name="connsiteX836" fmla="*/ 5703184 w 7289379"/>
              <a:gd name="connsiteY836" fmla="*/ 1058375 h 4442370"/>
              <a:gd name="connsiteX837" fmla="*/ 5703184 w 7289379"/>
              <a:gd name="connsiteY837" fmla="*/ 994786 h 4442370"/>
              <a:gd name="connsiteX838" fmla="*/ 5752187 w 7289379"/>
              <a:gd name="connsiteY838" fmla="*/ 917114 h 4442370"/>
              <a:gd name="connsiteX839" fmla="*/ 5756578 w 7289379"/>
              <a:gd name="connsiteY839" fmla="*/ 917603 h 4442370"/>
              <a:gd name="connsiteX840" fmla="*/ 5746844 w 7289379"/>
              <a:gd name="connsiteY840" fmla="*/ 933621 h 4442370"/>
              <a:gd name="connsiteX841" fmla="*/ 5764822 w 7289379"/>
              <a:gd name="connsiteY841" fmla="*/ 951582 h 4442370"/>
              <a:gd name="connsiteX842" fmla="*/ 5782302 w 7289379"/>
              <a:gd name="connsiteY842" fmla="*/ 933137 h 4442370"/>
              <a:gd name="connsiteX843" fmla="*/ 5965433 w 7289379"/>
              <a:gd name="connsiteY843" fmla="*/ 1041387 h 4442370"/>
              <a:gd name="connsiteX844" fmla="*/ 5960089 w 7289379"/>
              <a:gd name="connsiteY844" fmla="*/ 1036533 h 4442370"/>
              <a:gd name="connsiteX845" fmla="*/ 5954746 w 7289379"/>
              <a:gd name="connsiteY845" fmla="*/ 1042357 h 4442370"/>
              <a:gd name="connsiteX846" fmla="*/ 5898908 w 7289379"/>
              <a:gd name="connsiteY846" fmla="*/ 1084587 h 4442370"/>
              <a:gd name="connsiteX847" fmla="*/ 5852307 w 7289379"/>
              <a:gd name="connsiteY847" fmla="*/ 1056921 h 4442370"/>
              <a:gd name="connsiteX848" fmla="*/ 5839715 w 7289379"/>
              <a:gd name="connsiteY848" fmla="*/ 995271 h 4442370"/>
              <a:gd name="connsiteX849" fmla="*/ 5955243 w 7289379"/>
              <a:gd name="connsiteY849" fmla="*/ 995271 h 4442370"/>
              <a:gd name="connsiteX850" fmla="*/ 5965433 w 7289379"/>
              <a:gd name="connsiteY850" fmla="*/ 986531 h 4442370"/>
              <a:gd name="connsiteX851" fmla="*/ 5891617 w 7289379"/>
              <a:gd name="connsiteY851" fmla="*/ 905466 h 4442370"/>
              <a:gd name="connsiteX852" fmla="*/ 5805706 w 7289379"/>
              <a:gd name="connsiteY852" fmla="*/ 999637 h 4442370"/>
              <a:gd name="connsiteX853" fmla="*/ 5896505 w 7289379"/>
              <a:gd name="connsiteY853" fmla="*/ 1094782 h 4442370"/>
              <a:gd name="connsiteX854" fmla="*/ 5965433 w 7289379"/>
              <a:gd name="connsiteY854" fmla="*/ 1041387 h 4442370"/>
              <a:gd name="connsiteX855" fmla="*/ 5938218 w 7289379"/>
              <a:gd name="connsiteY855" fmla="*/ 986531 h 4442370"/>
              <a:gd name="connsiteX856" fmla="*/ 5840170 w 7289379"/>
              <a:gd name="connsiteY856" fmla="*/ 986531 h 4442370"/>
              <a:gd name="connsiteX857" fmla="*/ 5891617 w 7289379"/>
              <a:gd name="connsiteY857" fmla="*/ 914691 h 4442370"/>
              <a:gd name="connsiteX858" fmla="*/ 5938218 w 7289379"/>
              <a:gd name="connsiteY858" fmla="*/ 986531 h 4442370"/>
              <a:gd name="connsiteX859" fmla="*/ 6091400 w 7289379"/>
              <a:gd name="connsiteY859" fmla="*/ 1013232 h 4442370"/>
              <a:gd name="connsiteX860" fmla="*/ 6091400 w 7289379"/>
              <a:gd name="connsiteY860" fmla="*/ 989443 h 4442370"/>
              <a:gd name="connsiteX861" fmla="*/ 5981671 w 7289379"/>
              <a:gd name="connsiteY861" fmla="*/ 989443 h 4442370"/>
              <a:gd name="connsiteX862" fmla="*/ 5981671 w 7289379"/>
              <a:gd name="connsiteY862" fmla="*/ 1013232 h 4442370"/>
              <a:gd name="connsiteX863" fmla="*/ 6410316 w 7289379"/>
              <a:gd name="connsiteY863" fmla="*/ 1090412 h 4442370"/>
              <a:gd name="connsiteX864" fmla="*/ 6410316 w 7289379"/>
              <a:gd name="connsiteY864" fmla="*/ 1077794 h 4442370"/>
              <a:gd name="connsiteX865" fmla="*/ 6403026 w 7289379"/>
              <a:gd name="connsiteY865" fmla="*/ 1077794 h 4442370"/>
              <a:gd name="connsiteX866" fmla="*/ 6368065 w 7289379"/>
              <a:gd name="connsiteY866" fmla="*/ 1061287 h 4442370"/>
              <a:gd name="connsiteX867" fmla="*/ 6278757 w 7289379"/>
              <a:gd name="connsiteY867" fmla="*/ 803039 h 4442370"/>
              <a:gd name="connsiteX868" fmla="*/ 6269519 w 7289379"/>
              <a:gd name="connsiteY868" fmla="*/ 794788 h 4442370"/>
              <a:gd name="connsiteX869" fmla="*/ 6259329 w 7289379"/>
              <a:gd name="connsiteY869" fmla="*/ 803039 h 4442370"/>
              <a:gd name="connsiteX870" fmla="*/ 6173915 w 7289379"/>
              <a:gd name="connsiteY870" fmla="*/ 1050123 h 4442370"/>
              <a:gd name="connsiteX871" fmla="*/ 6127812 w 7289379"/>
              <a:gd name="connsiteY871" fmla="*/ 1077794 h 4442370"/>
              <a:gd name="connsiteX872" fmla="*/ 6127812 w 7289379"/>
              <a:gd name="connsiteY872" fmla="*/ 1090412 h 4442370"/>
              <a:gd name="connsiteX873" fmla="*/ 6170022 w 7289379"/>
              <a:gd name="connsiteY873" fmla="*/ 1088958 h 4442370"/>
              <a:gd name="connsiteX874" fmla="*/ 6217617 w 7289379"/>
              <a:gd name="connsiteY874" fmla="*/ 1090412 h 4442370"/>
              <a:gd name="connsiteX875" fmla="*/ 6217617 w 7289379"/>
              <a:gd name="connsiteY875" fmla="*/ 1077794 h 4442370"/>
              <a:gd name="connsiteX876" fmla="*/ 6186550 w 7289379"/>
              <a:gd name="connsiteY876" fmla="*/ 1056432 h 4442370"/>
              <a:gd name="connsiteX877" fmla="*/ 6187502 w 7289379"/>
              <a:gd name="connsiteY877" fmla="*/ 1050608 h 4442370"/>
              <a:gd name="connsiteX878" fmla="*/ 6206432 w 7289379"/>
              <a:gd name="connsiteY878" fmla="*/ 996240 h 4442370"/>
              <a:gd name="connsiteX879" fmla="*/ 6308374 w 7289379"/>
              <a:gd name="connsiteY879" fmla="*/ 996240 h 4442370"/>
              <a:gd name="connsiteX880" fmla="*/ 6330204 w 7289379"/>
              <a:gd name="connsiteY880" fmla="*/ 1059344 h 4442370"/>
              <a:gd name="connsiteX881" fmla="*/ 6331198 w 7289379"/>
              <a:gd name="connsiteY881" fmla="*/ 1065172 h 4442370"/>
              <a:gd name="connsiteX882" fmla="*/ 6297190 w 7289379"/>
              <a:gd name="connsiteY882" fmla="*/ 1077794 h 4442370"/>
              <a:gd name="connsiteX883" fmla="*/ 6297190 w 7289379"/>
              <a:gd name="connsiteY883" fmla="*/ 1090412 h 4442370"/>
              <a:gd name="connsiteX884" fmla="*/ 6356425 w 7289379"/>
              <a:gd name="connsiteY884" fmla="*/ 1088958 h 4442370"/>
              <a:gd name="connsiteX885" fmla="*/ 6303528 w 7289379"/>
              <a:gd name="connsiteY885" fmla="*/ 983619 h 4442370"/>
              <a:gd name="connsiteX886" fmla="*/ 6210823 w 7289379"/>
              <a:gd name="connsiteY886" fmla="*/ 983619 h 4442370"/>
              <a:gd name="connsiteX887" fmla="*/ 6256927 w 7289379"/>
              <a:gd name="connsiteY887" fmla="*/ 849640 h 4442370"/>
              <a:gd name="connsiteX888" fmla="*/ 6571245 w 7289379"/>
              <a:gd name="connsiteY888" fmla="*/ 828283 h 4442370"/>
              <a:gd name="connsiteX889" fmla="*/ 6534337 w 7289379"/>
              <a:gd name="connsiteY889" fmla="*/ 799643 h 4442370"/>
              <a:gd name="connsiteX890" fmla="*/ 6470256 w 7289379"/>
              <a:gd name="connsiteY890" fmla="*/ 865174 h 4442370"/>
              <a:gd name="connsiteX891" fmla="*/ 6470256 w 7289379"/>
              <a:gd name="connsiteY891" fmla="*/ 912748 h 4442370"/>
              <a:gd name="connsiteX892" fmla="*/ 6437739 w 7289379"/>
              <a:gd name="connsiteY892" fmla="*/ 912748 h 4442370"/>
              <a:gd name="connsiteX893" fmla="*/ 6437739 w 7289379"/>
              <a:gd name="connsiteY893" fmla="*/ 925370 h 4442370"/>
              <a:gd name="connsiteX894" fmla="*/ 6470256 w 7289379"/>
              <a:gd name="connsiteY894" fmla="*/ 925370 h 4442370"/>
              <a:gd name="connsiteX895" fmla="*/ 6470256 w 7289379"/>
              <a:gd name="connsiteY895" fmla="*/ 1058860 h 4442370"/>
              <a:gd name="connsiteX896" fmla="*/ 6438235 w 7289379"/>
              <a:gd name="connsiteY896" fmla="*/ 1077794 h 4442370"/>
              <a:gd name="connsiteX897" fmla="*/ 6438235 w 7289379"/>
              <a:gd name="connsiteY897" fmla="*/ 1090412 h 4442370"/>
              <a:gd name="connsiteX898" fmla="*/ 6485292 w 7289379"/>
              <a:gd name="connsiteY898" fmla="*/ 1088958 h 4442370"/>
              <a:gd name="connsiteX899" fmla="*/ 6537734 w 7289379"/>
              <a:gd name="connsiteY899" fmla="*/ 1090412 h 4442370"/>
              <a:gd name="connsiteX900" fmla="*/ 6537734 w 7289379"/>
              <a:gd name="connsiteY900" fmla="*/ 1077794 h 4442370"/>
              <a:gd name="connsiteX901" fmla="*/ 6528994 w 7289379"/>
              <a:gd name="connsiteY901" fmla="*/ 1077794 h 4442370"/>
              <a:gd name="connsiteX902" fmla="*/ 6497429 w 7289379"/>
              <a:gd name="connsiteY902" fmla="*/ 1058375 h 4442370"/>
              <a:gd name="connsiteX903" fmla="*/ 6497429 w 7289379"/>
              <a:gd name="connsiteY903" fmla="*/ 925370 h 4442370"/>
              <a:gd name="connsiteX904" fmla="*/ 6544527 w 7289379"/>
              <a:gd name="connsiteY904" fmla="*/ 925370 h 4442370"/>
              <a:gd name="connsiteX905" fmla="*/ 6544527 w 7289379"/>
              <a:gd name="connsiteY905" fmla="*/ 912748 h 4442370"/>
              <a:gd name="connsiteX906" fmla="*/ 6496476 w 7289379"/>
              <a:gd name="connsiteY906" fmla="*/ 912748 h 4442370"/>
              <a:gd name="connsiteX907" fmla="*/ 6496476 w 7289379"/>
              <a:gd name="connsiteY907" fmla="*/ 864689 h 4442370"/>
              <a:gd name="connsiteX908" fmla="*/ 6534337 w 7289379"/>
              <a:gd name="connsiteY908" fmla="*/ 808379 h 4442370"/>
              <a:gd name="connsiteX909" fmla="*/ 6547924 w 7289379"/>
              <a:gd name="connsiteY909" fmla="*/ 811295 h 4442370"/>
              <a:gd name="connsiteX910" fmla="*/ 6535787 w 7289379"/>
              <a:gd name="connsiteY910" fmla="*/ 828767 h 4442370"/>
              <a:gd name="connsiteX911" fmla="*/ 6553267 w 7289379"/>
              <a:gd name="connsiteY911" fmla="*/ 846728 h 4442370"/>
              <a:gd name="connsiteX912" fmla="*/ 6571245 w 7289379"/>
              <a:gd name="connsiteY912" fmla="*/ 828283 h 4442370"/>
              <a:gd name="connsiteX913" fmla="*/ 6687354 w 7289379"/>
              <a:gd name="connsiteY913" fmla="*/ 1039445 h 4442370"/>
              <a:gd name="connsiteX914" fmla="*/ 6687354 w 7289379"/>
              <a:gd name="connsiteY914" fmla="*/ 1015660 h 4442370"/>
              <a:gd name="connsiteX915" fmla="*/ 6677164 w 7289379"/>
              <a:gd name="connsiteY915" fmla="*/ 1015660 h 4442370"/>
              <a:gd name="connsiteX916" fmla="*/ 6677164 w 7289379"/>
              <a:gd name="connsiteY916" fmla="*/ 1038471 h 4442370"/>
              <a:gd name="connsiteX917" fmla="*/ 6649493 w 7289379"/>
              <a:gd name="connsiteY917" fmla="*/ 1084587 h 4442370"/>
              <a:gd name="connsiteX918" fmla="*/ 6621822 w 7289379"/>
              <a:gd name="connsiteY918" fmla="*/ 1039929 h 4442370"/>
              <a:gd name="connsiteX919" fmla="*/ 6621822 w 7289379"/>
              <a:gd name="connsiteY919" fmla="*/ 925370 h 4442370"/>
              <a:gd name="connsiteX920" fmla="*/ 6681057 w 7289379"/>
              <a:gd name="connsiteY920" fmla="*/ 925370 h 4442370"/>
              <a:gd name="connsiteX921" fmla="*/ 6681057 w 7289379"/>
              <a:gd name="connsiteY921" fmla="*/ 912748 h 4442370"/>
              <a:gd name="connsiteX922" fmla="*/ 6621822 w 7289379"/>
              <a:gd name="connsiteY922" fmla="*/ 912748 h 4442370"/>
              <a:gd name="connsiteX923" fmla="*/ 6621822 w 7289379"/>
              <a:gd name="connsiteY923" fmla="*/ 836534 h 4442370"/>
              <a:gd name="connsiteX924" fmla="*/ 6611632 w 7289379"/>
              <a:gd name="connsiteY924" fmla="*/ 836534 h 4442370"/>
              <a:gd name="connsiteX925" fmla="*/ 6558238 w 7289379"/>
              <a:gd name="connsiteY925" fmla="*/ 916145 h 4442370"/>
              <a:gd name="connsiteX926" fmla="*/ 6558238 w 7289379"/>
              <a:gd name="connsiteY926" fmla="*/ 925370 h 4442370"/>
              <a:gd name="connsiteX927" fmla="*/ 6593199 w 7289379"/>
              <a:gd name="connsiteY927" fmla="*/ 925370 h 4442370"/>
              <a:gd name="connsiteX928" fmla="*/ 6593199 w 7289379"/>
              <a:gd name="connsiteY928" fmla="*/ 1039445 h 4442370"/>
              <a:gd name="connsiteX929" fmla="*/ 6646593 w 7289379"/>
              <a:gd name="connsiteY929" fmla="*/ 1094782 h 4442370"/>
              <a:gd name="connsiteX930" fmla="*/ 6687354 w 7289379"/>
              <a:gd name="connsiteY930" fmla="*/ 1039445 h 4442370"/>
              <a:gd name="connsiteX931" fmla="*/ 6882373 w 7289379"/>
              <a:gd name="connsiteY931" fmla="*/ 1041383 h 4442370"/>
              <a:gd name="connsiteX932" fmla="*/ 6877029 w 7289379"/>
              <a:gd name="connsiteY932" fmla="*/ 1036533 h 4442370"/>
              <a:gd name="connsiteX933" fmla="*/ 6871728 w 7289379"/>
              <a:gd name="connsiteY933" fmla="*/ 1042357 h 4442370"/>
              <a:gd name="connsiteX934" fmla="*/ 6815889 w 7289379"/>
              <a:gd name="connsiteY934" fmla="*/ 1084587 h 4442370"/>
              <a:gd name="connsiteX935" fmla="*/ 6769288 w 7289379"/>
              <a:gd name="connsiteY935" fmla="*/ 1056917 h 4442370"/>
              <a:gd name="connsiteX936" fmla="*/ 6756655 w 7289379"/>
              <a:gd name="connsiteY936" fmla="*/ 995271 h 4442370"/>
              <a:gd name="connsiteX937" fmla="*/ 6872183 w 7289379"/>
              <a:gd name="connsiteY937" fmla="*/ 995271 h 4442370"/>
              <a:gd name="connsiteX938" fmla="*/ 6882373 w 7289379"/>
              <a:gd name="connsiteY938" fmla="*/ 986531 h 4442370"/>
              <a:gd name="connsiteX939" fmla="*/ 6808599 w 7289379"/>
              <a:gd name="connsiteY939" fmla="*/ 905466 h 4442370"/>
              <a:gd name="connsiteX940" fmla="*/ 6722687 w 7289379"/>
              <a:gd name="connsiteY940" fmla="*/ 999637 h 4442370"/>
              <a:gd name="connsiteX941" fmla="*/ 6813445 w 7289379"/>
              <a:gd name="connsiteY941" fmla="*/ 1094782 h 4442370"/>
              <a:gd name="connsiteX942" fmla="*/ 6882373 w 7289379"/>
              <a:gd name="connsiteY942" fmla="*/ 1041383 h 4442370"/>
              <a:gd name="connsiteX943" fmla="*/ 6855200 w 7289379"/>
              <a:gd name="connsiteY943" fmla="*/ 986531 h 4442370"/>
              <a:gd name="connsiteX944" fmla="*/ 6757151 w 7289379"/>
              <a:gd name="connsiteY944" fmla="*/ 986531 h 4442370"/>
              <a:gd name="connsiteX945" fmla="*/ 6808599 w 7289379"/>
              <a:gd name="connsiteY945" fmla="*/ 914691 h 4442370"/>
              <a:gd name="connsiteX946" fmla="*/ 6855200 w 7289379"/>
              <a:gd name="connsiteY946" fmla="*/ 986531 h 4442370"/>
              <a:gd name="connsiteX947" fmla="*/ 7044296 w 7289379"/>
              <a:gd name="connsiteY947" fmla="*/ 933137 h 4442370"/>
              <a:gd name="connsiteX948" fmla="*/ 7014181 w 7289379"/>
              <a:gd name="connsiteY948" fmla="*/ 907893 h 4442370"/>
              <a:gd name="connsiteX949" fmla="*/ 6963231 w 7289379"/>
              <a:gd name="connsiteY949" fmla="*/ 953525 h 4442370"/>
              <a:gd name="connsiteX950" fmla="*/ 6963231 w 7289379"/>
              <a:gd name="connsiteY950" fmla="*/ 907893 h 4442370"/>
              <a:gd name="connsiteX951" fmla="*/ 6905943 w 7289379"/>
              <a:gd name="connsiteY951" fmla="*/ 912748 h 4442370"/>
              <a:gd name="connsiteX952" fmla="*/ 6905943 w 7289379"/>
              <a:gd name="connsiteY952" fmla="*/ 925370 h 4442370"/>
              <a:gd name="connsiteX953" fmla="*/ 6937963 w 7289379"/>
              <a:gd name="connsiteY953" fmla="*/ 948670 h 4442370"/>
              <a:gd name="connsiteX954" fmla="*/ 6937963 w 7289379"/>
              <a:gd name="connsiteY954" fmla="*/ 1058860 h 4442370"/>
              <a:gd name="connsiteX955" fmla="*/ 6905943 w 7289379"/>
              <a:gd name="connsiteY955" fmla="*/ 1077794 h 4442370"/>
              <a:gd name="connsiteX956" fmla="*/ 6905943 w 7289379"/>
              <a:gd name="connsiteY956" fmla="*/ 1090412 h 4442370"/>
              <a:gd name="connsiteX957" fmla="*/ 6952999 w 7289379"/>
              <a:gd name="connsiteY957" fmla="*/ 1088958 h 4442370"/>
              <a:gd name="connsiteX958" fmla="*/ 7005441 w 7289379"/>
              <a:gd name="connsiteY958" fmla="*/ 1090412 h 4442370"/>
              <a:gd name="connsiteX959" fmla="*/ 7005441 w 7289379"/>
              <a:gd name="connsiteY959" fmla="*/ 1077794 h 4442370"/>
              <a:gd name="connsiteX960" fmla="*/ 6996701 w 7289379"/>
              <a:gd name="connsiteY960" fmla="*/ 1077794 h 4442370"/>
              <a:gd name="connsiteX961" fmla="*/ 6965136 w 7289379"/>
              <a:gd name="connsiteY961" fmla="*/ 1058375 h 4442370"/>
              <a:gd name="connsiteX962" fmla="*/ 6965136 w 7289379"/>
              <a:gd name="connsiteY962" fmla="*/ 994782 h 4442370"/>
              <a:gd name="connsiteX963" fmla="*/ 7014181 w 7289379"/>
              <a:gd name="connsiteY963" fmla="*/ 917114 h 4442370"/>
              <a:gd name="connsiteX964" fmla="*/ 7018572 w 7289379"/>
              <a:gd name="connsiteY964" fmla="*/ 917603 h 4442370"/>
              <a:gd name="connsiteX965" fmla="*/ 7008838 w 7289379"/>
              <a:gd name="connsiteY965" fmla="*/ 933621 h 4442370"/>
              <a:gd name="connsiteX966" fmla="*/ 7026815 w 7289379"/>
              <a:gd name="connsiteY966" fmla="*/ 951582 h 4442370"/>
              <a:gd name="connsiteX967" fmla="*/ 7044296 w 7289379"/>
              <a:gd name="connsiteY967" fmla="*/ 933137 h 4442370"/>
              <a:gd name="connsiteX968" fmla="*/ 501099 w 7289379"/>
              <a:gd name="connsiteY968" fmla="*/ 1695618 h 4442370"/>
              <a:gd name="connsiteX969" fmla="*/ 421492 w 7289379"/>
              <a:gd name="connsiteY969" fmla="*/ 1624259 h 4442370"/>
              <a:gd name="connsiteX970" fmla="*/ 489936 w 7289379"/>
              <a:gd name="connsiteY970" fmla="*/ 1559212 h 4442370"/>
              <a:gd name="connsiteX971" fmla="*/ 398676 w 7289379"/>
              <a:gd name="connsiteY971" fmla="*/ 1489311 h 4442370"/>
              <a:gd name="connsiteX972" fmla="*/ 247708 w 7289379"/>
              <a:gd name="connsiteY972" fmla="*/ 1489311 h 4442370"/>
              <a:gd name="connsiteX973" fmla="*/ 247708 w 7289379"/>
              <a:gd name="connsiteY973" fmla="*/ 1502417 h 4442370"/>
              <a:gd name="connsiteX974" fmla="*/ 257417 w 7289379"/>
              <a:gd name="connsiteY974" fmla="*/ 1502417 h 4442370"/>
              <a:gd name="connsiteX975" fmla="*/ 289940 w 7289379"/>
              <a:gd name="connsiteY975" fmla="*/ 1521836 h 4442370"/>
              <a:gd name="connsiteX976" fmla="*/ 289940 w 7289379"/>
              <a:gd name="connsiteY976" fmla="*/ 1739307 h 4442370"/>
              <a:gd name="connsiteX977" fmla="*/ 257417 w 7289379"/>
              <a:gd name="connsiteY977" fmla="*/ 1758722 h 4442370"/>
              <a:gd name="connsiteX978" fmla="*/ 247708 w 7289379"/>
              <a:gd name="connsiteY978" fmla="*/ 1758722 h 4442370"/>
              <a:gd name="connsiteX979" fmla="*/ 247708 w 7289379"/>
              <a:gd name="connsiteY979" fmla="*/ 1771344 h 4442370"/>
              <a:gd name="connsiteX980" fmla="*/ 409355 w 7289379"/>
              <a:gd name="connsiteY980" fmla="*/ 1771344 h 4442370"/>
              <a:gd name="connsiteX981" fmla="*/ 501099 w 7289379"/>
              <a:gd name="connsiteY981" fmla="*/ 1695618 h 4442370"/>
              <a:gd name="connsiteX982" fmla="*/ 450132 w 7289379"/>
              <a:gd name="connsiteY982" fmla="*/ 1559212 h 4442370"/>
              <a:gd name="connsiteX983" fmla="*/ 384113 w 7289379"/>
              <a:gd name="connsiteY983" fmla="*/ 1620378 h 4442370"/>
              <a:gd name="connsiteX984" fmla="*/ 324405 w 7289379"/>
              <a:gd name="connsiteY984" fmla="*/ 1620378 h 4442370"/>
              <a:gd name="connsiteX985" fmla="*/ 324405 w 7289379"/>
              <a:gd name="connsiteY985" fmla="*/ 1518924 h 4442370"/>
              <a:gd name="connsiteX986" fmla="*/ 344308 w 7289379"/>
              <a:gd name="connsiteY986" fmla="*/ 1502417 h 4442370"/>
              <a:gd name="connsiteX987" fmla="*/ 395763 w 7289379"/>
              <a:gd name="connsiteY987" fmla="*/ 1502417 h 4442370"/>
              <a:gd name="connsiteX988" fmla="*/ 450132 w 7289379"/>
              <a:gd name="connsiteY988" fmla="*/ 1559212 h 4442370"/>
              <a:gd name="connsiteX989" fmla="*/ 459838 w 7289379"/>
              <a:gd name="connsiteY989" fmla="*/ 1695618 h 4442370"/>
              <a:gd name="connsiteX990" fmla="*/ 396248 w 7289379"/>
              <a:gd name="connsiteY990" fmla="*/ 1758722 h 4442370"/>
              <a:gd name="connsiteX991" fmla="*/ 344308 w 7289379"/>
              <a:gd name="connsiteY991" fmla="*/ 1758722 h 4442370"/>
              <a:gd name="connsiteX992" fmla="*/ 324405 w 7289379"/>
              <a:gd name="connsiteY992" fmla="*/ 1742219 h 4442370"/>
              <a:gd name="connsiteX993" fmla="*/ 324405 w 7289379"/>
              <a:gd name="connsiteY993" fmla="*/ 1629598 h 4442370"/>
              <a:gd name="connsiteX994" fmla="*/ 402073 w 7289379"/>
              <a:gd name="connsiteY994" fmla="*/ 1629598 h 4442370"/>
              <a:gd name="connsiteX995" fmla="*/ 459838 w 7289379"/>
              <a:gd name="connsiteY995" fmla="*/ 1695618 h 4442370"/>
              <a:gd name="connsiteX996" fmla="*/ 696243 w 7289379"/>
              <a:gd name="connsiteY996" fmla="*/ 1722316 h 4442370"/>
              <a:gd name="connsiteX997" fmla="*/ 690903 w 7289379"/>
              <a:gd name="connsiteY997" fmla="*/ 1717461 h 4442370"/>
              <a:gd name="connsiteX998" fmla="*/ 685564 w 7289379"/>
              <a:gd name="connsiteY998" fmla="*/ 1723289 h 4442370"/>
              <a:gd name="connsiteX999" fmla="*/ 629738 w 7289379"/>
              <a:gd name="connsiteY999" fmla="*/ 1765520 h 4442370"/>
              <a:gd name="connsiteX1000" fmla="*/ 583137 w 7289379"/>
              <a:gd name="connsiteY1000" fmla="*/ 1737849 h 4442370"/>
              <a:gd name="connsiteX1001" fmla="*/ 570516 w 7289379"/>
              <a:gd name="connsiteY1001" fmla="*/ 1676199 h 4442370"/>
              <a:gd name="connsiteX1002" fmla="*/ 686049 w 7289379"/>
              <a:gd name="connsiteY1002" fmla="*/ 1676199 h 4442370"/>
              <a:gd name="connsiteX1003" fmla="*/ 696243 w 7289379"/>
              <a:gd name="connsiteY1003" fmla="*/ 1667463 h 4442370"/>
              <a:gd name="connsiteX1004" fmla="*/ 622456 w 7289379"/>
              <a:gd name="connsiteY1004" fmla="*/ 1586398 h 4442370"/>
              <a:gd name="connsiteX1005" fmla="*/ 536536 w 7289379"/>
              <a:gd name="connsiteY1005" fmla="*/ 1680569 h 4442370"/>
              <a:gd name="connsiteX1006" fmla="*/ 627311 w 7289379"/>
              <a:gd name="connsiteY1006" fmla="*/ 1775714 h 4442370"/>
              <a:gd name="connsiteX1007" fmla="*/ 696243 w 7289379"/>
              <a:gd name="connsiteY1007" fmla="*/ 1722316 h 4442370"/>
              <a:gd name="connsiteX1008" fmla="*/ 669057 w 7289379"/>
              <a:gd name="connsiteY1008" fmla="*/ 1667463 h 4442370"/>
              <a:gd name="connsiteX1009" fmla="*/ 571000 w 7289379"/>
              <a:gd name="connsiteY1009" fmla="*/ 1667463 h 4442370"/>
              <a:gd name="connsiteX1010" fmla="*/ 622456 w 7289379"/>
              <a:gd name="connsiteY1010" fmla="*/ 1595619 h 4442370"/>
              <a:gd name="connsiteX1011" fmla="*/ 669057 w 7289379"/>
              <a:gd name="connsiteY1011" fmla="*/ 1667463 h 4442370"/>
              <a:gd name="connsiteX1012" fmla="*/ 855220 w 7289379"/>
              <a:gd name="connsiteY1012" fmla="*/ 1509215 h 4442370"/>
              <a:gd name="connsiteX1013" fmla="*/ 818325 w 7289379"/>
              <a:gd name="connsiteY1013" fmla="*/ 1480575 h 4442370"/>
              <a:gd name="connsiteX1014" fmla="*/ 754252 w 7289379"/>
              <a:gd name="connsiteY1014" fmla="*/ 1546106 h 4442370"/>
              <a:gd name="connsiteX1015" fmla="*/ 754252 w 7289379"/>
              <a:gd name="connsiteY1015" fmla="*/ 1593681 h 4442370"/>
              <a:gd name="connsiteX1016" fmla="*/ 721726 w 7289379"/>
              <a:gd name="connsiteY1016" fmla="*/ 1593681 h 4442370"/>
              <a:gd name="connsiteX1017" fmla="*/ 721726 w 7289379"/>
              <a:gd name="connsiteY1017" fmla="*/ 1606298 h 4442370"/>
              <a:gd name="connsiteX1018" fmla="*/ 754252 w 7289379"/>
              <a:gd name="connsiteY1018" fmla="*/ 1606298 h 4442370"/>
              <a:gd name="connsiteX1019" fmla="*/ 754252 w 7289379"/>
              <a:gd name="connsiteY1019" fmla="*/ 1739792 h 4442370"/>
              <a:gd name="connsiteX1020" fmla="*/ 722211 w 7289379"/>
              <a:gd name="connsiteY1020" fmla="*/ 1758722 h 4442370"/>
              <a:gd name="connsiteX1021" fmla="*/ 722211 w 7289379"/>
              <a:gd name="connsiteY1021" fmla="*/ 1771344 h 4442370"/>
              <a:gd name="connsiteX1022" fmla="*/ 769297 w 7289379"/>
              <a:gd name="connsiteY1022" fmla="*/ 1769890 h 4442370"/>
              <a:gd name="connsiteX1023" fmla="*/ 821726 w 7289379"/>
              <a:gd name="connsiteY1023" fmla="*/ 1771344 h 4442370"/>
              <a:gd name="connsiteX1024" fmla="*/ 821726 w 7289379"/>
              <a:gd name="connsiteY1024" fmla="*/ 1758722 h 4442370"/>
              <a:gd name="connsiteX1025" fmla="*/ 812985 w 7289379"/>
              <a:gd name="connsiteY1025" fmla="*/ 1758722 h 4442370"/>
              <a:gd name="connsiteX1026" fmla="*/ 781433 w 7289379"/>
              <a:gd name="connsiteY1026" fmla="*/ 1739307 h 4442370"/>
              <a:gd name="connsiteX1027" fmla="*/ 781433 w 7289379"/>
              <a:gd name="connsiteY1027" fmla="*/ 1606298 h 4442370"/>
              <a:gd name="connsiteX1028" fmla="*/ 828519 w 7289379"/>
              <a:gd name="connsiteY1028" fmla="*/ 1606298 h 4442370"/>
              <a:gd name="connsiteX1029" fmla="*/ 828519 w 7289379"/>
              <a:gd name="connsiteY1029" fmla="*/ 1593681 h 4442370"/>
              <a:gd name="connsiteX1030" fmla="*/ 780464 w 7289379"/>
              <a:gd name="connsiteY1030" fmla="*/ 1593681 h 4442370"/>
              <a:gd name="connsiteX1031" fmla="*/ 780464 w 7289379"/>
              <a:gd name="connsiteY1031" fmla="*/ 1545622 h 4442370"/>
              <a:gd name="connsiteX1032" fmla="*/ 818325 w 7289379"/>
              <a:gd name="connsiteY1032" fmla="*/ 1489311 h 4442370"/>
              <a:gd name="connsiteX1033" fmla="*/ 831920 w 7289379"/>
              <a:gd name="connsiteY1033" fmla="*/ 1492223 h 4442370"/>
              <a:gd name="connsiteX1034" fmla="*/ 819783 w 7289379"/>
              <a:gd name="connsiteY1034" fmla="*/ 1509699 h 4442370"/>
              <a:gd name="connsiteX1035" fmla="*/ 837259 w 7289379"/>
              <a:gd name="connsiteY1035" fmla="*/ 1527661 h 4442370"/>
              <a:gd name="connsiteX1036" fmla="*/ 855220 w 7289379"/>
              <a:gd name="connsiteY1036" fmla="*/ 1509215 h 4442370"/>
              <a:gd name="connsiteX1037" fmla="*/ 1028518 w 7289379"/>
              <a:gd name="connsiteY1037" fmla="*/ 1682997 h 4442370"/>
              <a:gd name="connsiteX1038" fmla="*/ 937739 w 7289379"/>
              <a:gd name="connsiteY1038" fmla="*/ 1586398 h 4442370"/>
              <a:gd name="connsiteX1039" fmla="*/ 845995 w 7289379"/>
              <a:gd name="connsiteY1039" fmla="*/ 1682997 h 4442370"/>
              <a:gd name="connsiteX1040" fmla="*/ 937254 w 7289379"/>
              <a:gd name="connsiteY1040" fmla="*/ 1775714 h 4442370"/>
              <a:gd name="connsiteX1041" fmla="*/ 1028518 w 7289379"/>
              <a:gd name="connsiteY1041" fmla="*/ 1682997 h 4442370"/>
              <a:gd name="connsiteX1042" fmla="*/ 994534 w 7289379"/>
              <a:gd name="connsiteY1042" fmla="*/ 1679600 h 4442370"/>
              <a:gd name="connsiteX1043" fmla="*/ 985313 w 7289379"/>
              <a:gd name="connsiteY1043" fmla="*/ 1734937 h 4442370"/>
              <a:gd name="connsiteX1044" fmla="*/ 937739 w 7289379"/>
              <a:gd name="connsiteY1044" fmla="*/ 1765520 h 4442370"/>
              <a:gd name="connsiteX1045" fmla="*/ 890654 w 7289379"/>
              <a:gd name="connsiteY1045" fmla="*/ 1737849 h 4442370"/>
              <a:gd name="connsiteX1046" fmla="*/ 879975 w 7289379"/>
              <a:gd name="connsiteY1046" fmla="*/ 1679600 h 4442370"/>
              <a:gd name="connsiteX1047" fmla="*/ 890169 w 7289379"/>
              <a:gd name="connsiteY1047" fmla="*/ 1623290 h 4442370"/>
              <a:gd name="connsiteX1048" fmla="*/ 937254 w 7289379"/>
              <a:gd name="connsiteY1048" fmla="*/ 1595619 h 4442370"/>
              <a:gd name="connsiteX1049" fmla="*/ 983855 w 7289379"/>
              <a:gd name="connsiteY1049" fmla="*/ 1622320 h 4442370"/>
              <a:gd name="connsiteX1050" fmla="*/ 994534 w 7289379"/>
              <a:gd name="connsiteY1050" fmla="*/ 1679600 h 4442370"/>
              <a:gd name="connsiteX1051" fmla="*/ 1190768 w 7289379"/>
              <a:gd name="connsiteY1051" fmla="*/ 1614065 h 4442370"/>
              <a:gd name="connsiteX1052" fmla="*/ 1160674 w 7289379"/>
              <a:gd name="connsiteY1052" fmla="*/ 1588826 h 4442370"/>
              <a:gd name="connsiteX1053" fmla="*/ 1109703 w 7289379"/>
              <a:gd name="connsiteY1053" fmla="*/ 1634453 h 4442370"/>
              <a:gd name="connsiteX1054" fmla="*/ 1109703 w 7289379"/>
              <a:gd name="connsiteY1054" fmla="*/ 1588826 h 4442370"/>
              <a:gd name="connsiteX1055" fmla="*/ 1052423 w 7289379"/>
              <a:gd name="connsiteY1055" fmla="*/ 1593681 h 4442370"/>
              <a:gd name="connsiteX1056" fmla="*/ 1052423 w 7289379"/>
              <a:gd name="connsiteY1056" fmla="*/ 1606298 h 4442370"/>
              <a:gd name="connsiteX1057" fmla="*/ 1084459 w 7289379"/>
              <a:gd name="connsiteY1057" fmla="*/ 1629598 h 4442370"/>
              <a:gd name="connsiteX1058" fmla="*/ 1084459 w 7289379"/>
              <a:gd name="connsiteY1058" fmla="*/ 1739792 h 4442370"/>
              <a:gd name="connsiteX1059" fmla="*/ 1052423 w 7289379"/>
              <a:gd name="connsiteY1059" fmla="*/ 1758722 h 4442370"/>
              <a:gd name="connsiteX1060" fmla="*/ 1052423 w 7289379"/>
              <a:gd name="connsiteY1060" fmla="*/ 1771344 h 4442370"/>
              <a:gd name="connsiteX1061" fmla="*/ 1099508 w 7289379"/>
              <a:gd name="connsiteY1061" fmla="*/ 1769890 h 4442370"/>
              <a:gd name="connsiteX1062" fmla="*/ 1151933 w 7289379"/>
              <a:gd name="connsiteY1062" fmla="*/ 1771344 h 4442370"/>
              <a:gd name="connsiteX1063" fmla="*/ 1151933 w 7289379"/>
              <a:gd name="connsiteY1063" fmla="*/ 1758722 h 4442370"/>
              <a:gd name="connsiteX1064" fmla="*/ 1143197 w 7289379"/>
              <a:gd name="connsiteY1064" fmla="*/ 1758722 h 4442370"/>
              <a:gd name="connsiteX1065" fmla="*/ 1111645 w 7289379"/>
              <a:gd name="connsiteY1065" fmla="*/ 1739307 h 4442370"/>
              <a:gd name="connsiteX1066" fmla="*/ 1111645 w 7289379"/>
              <a:gd name="connsiteY1066" fmla="*/ 1675715 h 4442370"/>
              <a:gd name="connsiteX1067" fmla="*/ 1160674 w 7289379"/>
              <a:gd name="connsiteY1067" fmla="*/ 1598047 h 4442370"/>
              <a:gd name="connsiteX1068" fmla="*/ 1165044 w 7289379"/>
              <a:gd name="connsiteY1068" fmla="*/ 1598531 h 4442370"/>
              <a:gd name="connsiteX1069" fmla="*/ 1155334 w 7289379"/>
              <a:gd name="connsiteY1069" fmla="*/ 1614554 h 4442370"/>
              <a:gd name="connsiteX1070" fmla="*/ 1173295 w 7289379"/>
              <a:gd name="connsiteY1070" fmla="*/ 1632515 h 4442370"/>
              <a:gd name="connsiteX1071" fmla="*/ 1190768 w 7289379"/>
              <a:gd name="connsiteY1071" fmla="*/ 1614065 h 4442370"/>
              <a:gd name="connsiteX1072" fmla="*/ 1373895 w 7289379"/>
              <a:gd name="connsiteY1072" fmla="*/ 1722316 h 4442370"/>
              <a:gd name="connsiteX1073" fmla="*/ 1368555 w 7289379"/>
              <a:gd name="connsiteY1073" fmla="*/ 1717461 h 4442370"/>
              <a:gd name="connsiteX1074" fmla="*/ 1363216 w 7289379"/>
              <a:gd name="connsiteY1074" fmla="*/ 1723289 h 4442370"/>
              <a:gd name="connsiteX1075" fmla="*/ 1307394 w 7289379"/>
              <a:gd name="connsiteY1075" fmla="*/ 1765520 h 4442370"/>
              <a:gd name="connsiteX1076" fmla="*/ 1260793 w 7289379"/>
              <a:gd name="connsiteY1076" fmla="*/ 1737849 h 4442370"/>
              <a:gd name="connsiteX1077" fmla="*/ 1248172 w 7289379"/>
              <a:gd name="connsiteY1077" fmla="*/ 1676199 h 4442370"/>
              <a:gd name="connsiteX1078" fmla="*/ 1363704 w 7289379"/>
              <a:gd name="connsiteY1078" fmla="*/ 1676199 h 4442370"/>
              <a:gd name="connsiteX1079" fmla="*/ 1373895 w 7289379"/>
              <a:gd name="connsiteY1079" fmla="*/ 1667463 h 4442370"/>
              <a:gd name="connsiteX1080" fmla="*/ 1300112 w 7289379"/>
              <a:gd name="connsiteY1080" fmla="*/ 1586398 h 4442370"/>
              <a:gd name="connsiteX1081" fmla="*/ 1214192 w 7289379"/>
              <a:gd name="connsiteY1081" fmla="*/ 1680569 h 4442370"/>
              <a:gd name="connsiteX1082" fmla="*/ 1304967 w 7289379"/>
              <a:gd name="connsiteY1082" fmla="*/ 1775714 h 4442370"/>
              <a:gd name="connsiteX1083" fmla="*/ 1373895 w 7289379"/>
              <a:gd name="connsiteY1083" fmla="*/ 1722316 h 4442370"/>
              <a:gd name="connsiteX1084" fmla="*/ 1346713 w 7289379"/>
              <a:gd name="connsiteY1084" fmla="*/ 1667463 h 4442370"/>
              <a:gd name="connsiteX1085" fmla="*/ 1248656 w 7289379"/>
              <a:gd name="connsiteY1085" fmla="*/ 1667463 h 4442370"/>
              <a:gd name="connsiteX1086" fmla="*/ 1300112 w 7289379"/>
              <a:gd name="connsiteY1086" fmla="*/ 1595619 h 4442370"/>
              <a:gd name="connsiteX1087" fmla="*/ 1346713 w 7289379"/>
              <a:gd name="connsiteY1087" fmla="*/ 1667463 h 4442370"/>
              <a:gd name="connsiteX1088" fmla="*/ 1732871 w 7289379"/>
              <a:gd name="connsiteY1088" fmla="*/ 1606298 h 4442370"/>
              <a:gd name="connsiteX1089" fmla="*/ 1732871 w 7289379"/>
              <a:gd name="connsiteY1089" fmla="*/ 1593681 h 4442370"/>
              <a:gd name="connsiteX1090" fmla="*/ 1701803 w 7289379"/>
              <a:gd name="connsiteY1090" fmla="*/ 1594650 h 4442370"/>
              <a:gd name="connsiteX1091" fmla="*/ 1665881 w 7289379"/>
              <a:gd name="connsiteY1091" fmla="*/ 1593681 h 4442370"/>
              <a:gd name="connsiteX1092" fmla="*/ 1665881 w 7289379"/>
              <a:gd name="connsiteY1092" fmla="*/ 1606298 h 4442370"/>
              <a:gd name="connsiteX1093" fmla="*/ 1685781 w 7289379"/>
              <a:gd name="connsiteY1093" fmla="*/ 1624259 h 4442370"/>
              <a:gd name="connsiteX1094" fmla="*/ 1683358 w 7289379"/>
              <a:gd name="connsiteY1094" fmla="*/ 1633969 h 4442370"/>
              <a:gd name="connsiteX1095" fmla="*/ 1641123 w 7289379"/>
              <a:gd name="connsiteY1095" fmla="*/ 1739307 h 4442370"/>
              <a:gd name="connsiteX1096" fmla="*/ 1595006 w 7289379"/>
              <a:gd name="connsiteY1096" fmla="*/ 1624259 h 4442370"/>
              <a:gd name="connsiteX1097" fmla="*/ 1592583 w 7289379"/>
              <a:gd name="connsiteY1097" fmla="*/ 1616981 h 4442370"/>
              <a:gd name="connsiteX1098" fmla="*/ 1615884 w 7289379"/>
              <a:gd name="connsiteY1098" fmla="*/ 1606298 h 4442370"/>
              <a:gd name="connsiteX1099" fmla="*/ 1615884 w 7289379"/>
              <a:gd name="connsiteY1099" fmla="*/ 1593681 h 4442370"/>
              <a:gd name="connsiteX1100" fmla="*/ 1571221 w 7289379"/>
              <a:gd name="connsiteY1100" fmla="*/ 1594650 h 4442370"/>
              <a:gd name="connsiteX1101" fmla="*/ 1530933 w 7289379"/>
              <a:gd name="connsiteY1101" fmla="*/ 1593681 h 4442370"/>
              <a:gd name="connsiteX1102" fmla="*/ 1530933 w 7289379"/>
              <a:gd name="connsiteY1102" fmla="*/ 1606298 h 4442370"/>
              <a:gd name="connsiteX1103" fmla="*/ 1563939 w 7289379"/>
              <a:gd name="connsiteY1103" fmla="*/ 1621347 h 4442370"/>
              <a:gd name="connsiteX1104" fmla="*/ 1623651 w 7289379"/>
              <a:gd name="connsiteY1104" fmla="*/ 1767947 h 4442370"/>
              <a:gd name="connsiteX1105" fmla="*/ 1631902 w 7289379"/>
              <a:gd name="connsiteY1105" fmla="*/ 1775714 h 4442370"/>
              <a:gd name="connsiteX1106" fmla="*/ 1640638 w 7289379"/>
              <a:gd name="connsiteY1106" fmla="*/ 1767947 h 4442370"/>
              <a:gd name="connsiteX1107" fmla="*/ 1695006 w 7289379"/>
              <a:gd name="connsiteY1107" fmla="*/ 1633969 h 4442370"/>
              <a:gd name="connsiteX1108" fmla="*/ 1732871 w 7289379"/>
              <a:gd name="connsiteY1108" fmla="*/ 1606298 h 4442370"/>
              <a:gd name="connsiteX1109" fmla="*/ 1889541 w 7289379"/>
              <a:gd name="connsiteY1109" fmla="*/ 1718434 h 4442370"/>
              <a:gd name="connsiteX1110" fmla="*/ 1872064 w 7289379"/>
              <a:gd name="connsiteY1110" fmla="*/ 1679116 h 4442370"/>
              <a:gd name="connsiteX1111" fmla="*/ 1824979 w 7289379"/>
              <a:gd name="connsiteY1111" fmla="*/ 1659696 h 4442370"/>
              <a:gd name="connsiteX1112" fmla="*/ 1774492 w 7289379"/>
              <a:gd name="connsiteY1112" fmla="*/ 1625717 h 4442370"/>
              <a:gd name="connsiteX1113" fmla="*/ 1820609 w 7289379"/>
              <a:gd name="connsiteY1113" fmla="*/ 1594165 h 4442370"/>
              <a:gd name="connsiteX1114" fmla="*/ 1869152 w 7289379"/>
              <a:gd name="connsiteY1114" fmla="*/ 1644163 h 4442370"/>
              <a:gd name="connsiteX1115" fmla="*/ 1874007 w 7289379"/>
              <a:gd name="connsiteY1115" fmla="*/ 1648048 h 4442370"/>
              <a:gd name="connsiteX1116" fmla="*/ 1879346 w 7289379"/>
              <a:gd name="connsiteY1116" fmla="*/ 1637854 h 4442370"/>
              <a:gd name="connsiteX1117" fmla="*/ 1879346 w 7289379"/>
              <a:gd name="connsiteY1117" fmla="*/ 1596593 h 4442370"/>
              <a:gd name="connsiteX1118" fmla="*/ 1874492 w 7289379"/>
              <a:gd name="connsiteY1118" fmla="*/ 1586398 h 4442370"/>
              <a:gd name="connsiteX1119" fmla="*/ 1866240 w 7289379"/>
              <a:gd name="connsiteY1119" fmla="*/ 1591253 h 4442370"/>
              <a:gd name="connsiteX1120" fmla="*/ 1859443 w 7289379"/>
              <a:gd name="connsiteY1120" fmla="*/ 1598047 h 4442370"/>
              <a:gd name="connsiteX1121" fmla="*/ 1820609 w 7289379"/>
              <a:gd name="connsiteY1121" fmla="*/ 1586398 h 4442370"/>
              <a:gd name="connsiteX1122" fmla="*/ 1754593 w 7289379"/>
              <a:gd name="connsiteY1122" fmla="*/ 1637365 h 4442370"/>
              <a:gd name="connsiteX1123" fmla="*/ 1772554 w 7289379"/>
              <a:gd name="connsiteY1123" fmla="*/ 1672318 h 4442370"/>
              <a:gd name="connsiteX1124" fmla="*/ 1826922 w 7289379"/>
              <a:gd name="connsiteY1124" fmla="*/ 1691248 h 4442370"/>
              <a:gd name="connsiteX1125" fmla="*/ 1869637 w 7289379"/>
              <a:gd name="connsiteY1125" fmla="*/ 1729113 h 4442370"/>
              <a:gd name="connsiteX1126" fmla="*/ 1823036 w 7289379"/>
              <a:gd name="connsiteY1126" fmla="*/ 1766978 h 4442370"/>
              <a:gd name="connsiteX1127" fmla="*/ 1765756 w 7289379"/>
              <a:gd name="connsiteY1127" fmla="*/ 1708240 h 4442370"/>
              <a:gd name="connsiteX1128" fmla="*/ 1759932 w 7289379"/>
              <a:gd name="connsiteY1128" fmla="*/ 1700958 h 4442370"/>
              <a:gd name="connsiteX1129" fmla="*/ 1754593 w 7289379"/>
              <a:gd name="connsiteY1129" fmla="*/ 1711637 h 4442370"/>
              <a:gd name="connsiteX1130" fmla="*/ 1754593 w 7289379"/>
              <a:gd name="connsiteY1130" fmla="*/ 1766004 h 4442370"/>
              <a:gd name="connsiteX1131" fmla="*/ 1758959 w 7289379"/>
              <a:gd name="connsiteY1131" fmla="*/ 1775714 h 4442370"/>
              <a:gd name="connsiteX1132" fmla="*/ 1769642 w 7289379"/>
              <a:gd name="connsiteY1132" fmla="*/ 1767463 h 4442370"/>
              <a:gd name="connsiteX1133" fmla="*/ 1777893 w 7289379"/>
              <a:gd name="connsiteY1133" fmla="*/ 1758238 h 4442370"/>
              <a:gd name="connsiteX1134" fmla="*/ 1823036 w 7289379"/>
              <a:gd name="connsiteY1134" fmla="*/ 1775714 h 4442370"/>
              <a:gd name="connsiteX1135" fmla="*/ 1889541 w 7289379"/>
              <a:gd name="connsiteY1135" fmla="*/ 1718434 h 4442370"/>
              <a:gd name="connsiteX1136" fmla="*/ 1982742 w 7289379"/>
              <a:gd name="connsiteY1136" fmla="*/ 1749502 h 4442370"/>
              <a:gd name="connsiteX1137" fmla="*/ 1960896 w 7289379"/>
              <a:gd name="connsiteY1137" fmla="*/ 1727655 h 4442370"/>
              <a:gd name="connsiteX1138" fmla="*/ 1939054 w 7289379"/>
              <a:gd name="connsiteY1138" fmla="*/ 1749502 h 4442370"/>
              <a:gd name="connsiteX1139" fmla="*/ 1960896 w 7289379"/>
              <a:gd name="connsiteY1139" fmla="*/ 1771344 h 4442370"/>
              <a:gd name="connsiteX1140" fmla="*/ 1982742 w 7289379"/>
              <a:gd name="connsiteY1140" fmla="*/ 1749502 h 4442370"/>
              <a:gd name="connsiteX1141" fmla="*/ 2497171 w 7289379"/>
              <a:gd name="connsiteY1141" fmla="*/ 1771344 h 4442370"/>
              <a:gd name="connsiteX1142" fmla="*/ 2497171 w 7289379"/>
              <a:gd name="connsiteY1142" fmla="*/ 1758722 h 4442370"/>
              <a:gd name="connsiteX1143" fmla="*/ 2489893 w 7289379"/>
              <a:gd name="connsiteY1143" fmla="*/ 1758722 h 4442370"/>
              <a:gd name="connsiteX1144" fmla="*/ 2454940 w 7289379"/>
              <a:gd name="connsiteY1144" fmla="*/ 1742219 h 4442370"/>
              <a:gd name="connsiteX1145" fmla="*/ 2365624 w 7289379"/>
              <a:gd name="connsiteY1145" fmla="*/ 1483972 h 4442370"/>
              <a:gd name="connsiteX1146" fmla="*/ 2356399 w 7289379"/>
              <a:gd name="connsiteY1146" fmla="*/ 1475720 h 4442370"/>
              <a:gd name="connsiteX1147" fmla="*/ 2346205 w 7289379"/>
              <a:gd name="connsiteY1147" fmla="*/ 1483972 h 4442370"/>
              <a:gd name="connsiteX1148" fmla="*/ 2260770 w 7289379"/>
              <a:gd name="connsiteY1148" fmla="*/ 1731056 h 4442370"/>
              <a:gd name="connsiteX1149" fmla="*/ 2214653 w 7289379"/>
              <a:gd name="connsiteY1149" fmla="*/ 1758722 h 4442370"/>
              <a:gd name="connsiteX1150" fmla="*/ 2214653 w 7289379"/>
              <a:gd name="connsiteY1150" fmla="*/ 1771344 h 4442370"/>
              <a:gd name="connsiteX1151" fmla="*/ 2256888 w 7289379"/>
              <a:gd name="connsiteY1151" fmla="*/ 1769890 h 4442370"/>
              <a:gd name="connsiteX1152" fmla="*/ 2304458 w 7289379"/>
              <a:gd name="connsiteY1152" fmla="*/ 1771344 h 4442370"/>
              <a:gd name="connsiteX1153" fmla="*/ 2304458 w 7289379"/>
              <a:gd name="connsiteY1153" fmla="*/ 1758722 h 4442370"/>
              <a:gd name="connsiteX1154" fmla="*/ 2273391 w 7289379"/>
              <a:gd name="connsiteY1154" fmla="*/ 1737365 h 4442370"/>
              <a:gd name="connsiteX1155" fmla="*/ 2274361 w 7289379"/>
              <a:gd name="connsiteY1155" fmla="*/ 1731540 h 4442370"/>
              <a:gd name="connsiteX1156" fmla="*/ 2293295 w 7289379"/>
              <a:gd name="connsiteY1156" fmla="*/ 1677173 h 4442370"/>
              <a:gd name="connsiteX1157" fmla="*/ 2395233 w 7289379"/>
              <a:gd name="connsiteY1157" fmla="*/ 1677173 h 4442370"/>
              <a:gd name="connsiteX1158" fmla="*/ 2417075 w 7289379"/>
              <a:gd name="connsiteY1158" fmla="*/ 1740277 h 4442370"/>
              <a:gd name="connsiteX1159" fmla="*/ 2418049 w 7289379"/>
              <a:gd name="connsiteY1159" fmla="*/ 1746101 h 4442370"/>
              <a:gd name="connsiteX1160" fmla="*/ 2384069 w 7289379"/>
              <a:gd name="connsiteY1160" fmla="*/ 1758722 h 4442370"/>
              <a:gd name="connsiteX1161" fmla="*/ 2384069 w 7289379"/>
              <a:gd name="connsiteY1161" fmla="*/ 1771344 h 4442370"/>
              <a:gd name="connsiteX1162" fmla="*/ 2443292 w 7289379"/>
              <a:gd name="connsiteY1162" fmla="*/ 1769890 h 4442370"/>
              <a:gd name="connsiteX1163" fmla="*/ 2390378 w 7289379"/>
              <a:gd name="connsiteY1163" fmla="*/ 1664551 h 4442370"/>
              <a:gd name="connsiteX1164" fmla="*/ 2297661 w 7289379"/>
              <a:gd name="connsiteY1164" fmla="*/ 1664551 h 4442370"/>
              <a:gd name="connsiteX1165" fmla="*/ 2343777 w 7289379"/>
              <a:gd name="connsiteY1165" fmla="*/ 1530573 h 4442370"/>
              <a:gd name="connsiteX1166" fmla="*/ 2658211 w 7289379"/>
              <a:gd name="connsiteY1166" fmla="*/ 1509215 h 4442370"/>
              <a:gd name="connsiteX1167" fmla="*/ 2621320 w 7289379"/>
              <a:gd name="connsiteY1167" fmla="*/ 1480575 h 4442370"/>
              <a:gd name="connsiteX1168" fmla="*/ 2557242 w 7289379"/>
              <a:gd name="connsiteY1168" fmla="*/ 1546106 h 4442370"/>
              <a:gd name="connsiteX1169" fmla="*/ 2557242 w 7289379"/>
              <a:gd name="connsiteY1169" fmla="*/ 1593681 h 4442370"/>
              <a:gd name="connsiteX1170" fmla="*/ 2524721 w 7289379"/>
              <a:gd name="connsiteY1170" fmla="*/ 1593681 h 4442370"/>
              <a:gd name="connsiteX1171" fmla="*/ 2524721 w 7289379"/>
              <a:gd name="connsiteY1171" fmla="*/ 1606298 h 4442370"/>
              <a:gd name="connsiteX1172" fmla="*/ 2557242 w 7289379"/>
              <a:gd name="connsiteY1172" fmla="*/ 1606298 h 4442370"/>
              <a:gd name="connsiteX1173" fmla="*/ 2557242 w 7289379"/>
              <a:gd name="connsiteY1173" fmla="*/ 1739792 h 4442370"/>
              <a:gd name="connsiteX1174" fmla="*/ 2525206 w 7289379"/>
              <a:gd name="connsiteY1174" fmla="*/ 1758722 h 4442370"/>
              <a:gd name="connsiteX1175" fmla="*/ 2525206 w 7289379"/>
              <a:gd name="connsiteY1175" fmla="*/ 1771344 h 4442370"/>
              <a:gd name="connsiteX1176" fmla="*/ 2572291 w 7289379"/>
              <a:gd name="connsiteY1176" fmla="*/ 1769890 h 4442370"/>
              <a:gd name="connsiteX1177" fmla="*/ 2624717 w 7289379"/>
              <a:gd name="connsiteY1177" fmla="*/ 1771344 h 4442370"/>
              <a:gd name="connsiteX1178" fmla="*/ 2624717 w 7289379"/>
              <a:gd name="connsiteY1178" fmla="*/ 1758722 h 4442370"/>
              <a:gd name="connsiteX1179" fmla="*/ 2615980 w 7289379"/>
              <a:gd name="connsiteY1179" fmla="*/ 1758722 h 4442370"/>
              <a:gd name="connsiteX1180" fmla="*/ 2584428 w 7289379"/>
              <a:gd name="connsiteY1180" fmla="*/ 1739307 h 4442370"/>
              <a:gd name="connsiteX1181" fmla="*/ 2584428 w 7289379"/>
              <a:gd name="connsiteY1181" fmla="*/ 1606298 h 4442370"/>
              <a:gd name="connsiteX1182" fmla="*/ 2631514 w 7289379"/>
              <a:gd name="connsiteY1182" fmla="*/ 1606298 h 4442370"/>
              <a:gd name="connsiteX1183" fmla="*/ 2631514 w 7289379"/>
              <a:gd name="connsiteY1183" fmla="*/ 1593681 h 4442370"/>
              <a:gd name="connsiteX1184" fmla="*/ 2583455 w 7289379"/>
              <a:gd name="connsiteY1184" fmla="*/ 1593681 h 4442370"/>
              <a:gd name="connsiteX1185" fmla="*/ 2583455 w 7289379"/>
              <a:gd name="connsiteY1185" fmla="*/ 1545622 h 4442370"/>
              <a:gd name="connsiteX1186" fmla="*/ 2621320 w 7289379"/>
              <a:gd name="connsiteY1186" fmla="*/ 1489311 h 4442370"/>
              <a:gd name="connsiteX1187" fmla="*/ 2634911 w 7289379"/>
              <a:gd name="connsiteY1187" fmla="*/ 1492223 h 4442370"/>
              <a:gd name="connsiteX1188" fmla="*/ 2622778 w 7289379"/>
              <a:gd name="connsiteY1188" fmla="*/ 1509699 h 4442370"/>
              <a:gd name="connsiteX1189" fmla="*/ 2640250 w 7289379"/>
              <a:gd name="connsiteY1189" fmla="*/ 1527661 h 4442370"/>
              <a:gd name="connsiteX1190" fmla="*/ 2658211 w 7289379"/>
              <a:gd name="connsiteY1190" fmla="*/ 1509215 h 4442370"/>
              <a:gd name="connsiteX1191" fmla="*/ 2774229 w 7289379"/>
              <a:gd name="connsiteY1191" fmla="*/ 1720377 h 4442370"/>
              <a:gd name="connsiteX1192" fmla="*/ 2774229 w 7289379"/>
              <a:gd name="connsiteY1192" fmla="*/ 1696588 h 4442370"/>
              <a:gd name="connsiteX1193" fmla="*/ 2764035 w 7289379"/>
              <a:gd name="connsiteY1193" fmla="*/ 1696588 h 4442370"/>
              <a:gd name="connsiteX1194" fmla="*/ 2764035 w 7289379"/>
              <a:gd name="connsiteY1194" fmla="*/ 1719404 h 4442370"/>
              <a:gd name="connsiteX1195" fmla="*/ 2736364 w 7289379"/>
              <a:gd name="connsiteY1195" fmla="*/ 1765520 h 4442370"/>
              <a:gd name="connsiteX1196" fmla="*/ 2708698 w 7289379"/>
              <a:gd name="connsiteY1196" fmla="*/ 1720862 h 4442370"/>
              <a:gd name="connsiteX1197" fmla="*/ 2708698 w 7289379"/>
              <a:gd name="connsiteY1197" fmla="*/ 1606298 h 4442370"/>
              <a:gd name="connsiteX1198" fmla="*/ 2767920 w 7289379"/>
              <a:gd name="connsiteY1198" fmla="*/ 1606298 h 4442370"/>
              <a:gd name="connsiteX1199" fmla="*/ 2767920 w 7289379"/>
              <a:gd name="connsiteY1199" fmla="*/ 1593681 h 4442370"/>
              <a:gd name="connsiteX1200" fmla="*/ 2708698 w 7289379"/>
              <a:gd name="connsiteY1200" fmla="*/ 1593681 h 4442370"/>
              <a:gd name="connsiteX1201" fmla="*/ 2708698 w 7289379"/>
              <a:gd name="connsiteY1201" fmla="*/ 1517466 h 4442370"/>
              <a:gd name="connsiteX1202" fmla="*/ 2698503 w 7289379"/>
              <a:gd name="connsiteY1202" fmla="*/ 1517466 h 4442370"/>
              <a:gd name="connsiteX1203" fmla="*/ 2645105 w 7289379"/>
              <a:gd name="connsiteY1203" fmla="*/ 1597077 h 4442370"/>
              <a:gd name="connsiteX1204" fmla="*/ 2645105 w 7289379"/>
              <a:gd name="connsiteY1204" fmla="*/ 1606298 h 4442370"/>
              <a:gd name="connsiteX1205" fmla="*/ 2680057 w 7289379"/>
              <a:gd name="connsiteY1205" fmla="*/ 1606298 h 4442370"/>
              <a:gd name="connsiteX1206" fmla="*/ 2680057 w 7289379"/>
              <a:gd name="connsiteY1206" fmla="*/ 1720377 h 4442370"/>
              <a:gd name="connsiteX1207" fmla="*/ 2733452 w 7289379"/>
              <a:gd name="connsiteY1207" fmla="*/ 1775714 h 4442370"/>
              <a:gd name="connsiteX1208" fmla="*/ 2774229 w 7289379"/>
              <a:gd name="connsiteY1208" fmla="*/ 1720377 h 4442370"/>
              <a:gd name="connsiteX1209" fmla="*/ 2969248 w 7289379"/>
              <a:gd name="connsiteY1209" fmla="*/ 1722316 h 4442370"/>
              <a:gd name="connsiteX1210" fmla="*/ 2963909 w 7289379"/>
              <a:gd name="connsiteY1210" fmla="*/ 1717461 h 4442370"/>
              <a:gd name="connsiteX1211" fmla="*/ 2958569 w 7289379"/>
              <a:gd name="connsiteY1211" fmla="*/ 1723289 h 4442370"/>
              <a:gd name="connsiteX1212" fmla="*/ 2902748 w 7289379"/>
              <a:gd name="connsiteY1212" fmla="*/ 1765520 h 4442370"/>
              <a:gd name="connsiteX1213" fmla="*/ 2856147 w 7289379"/>
              <a:gd name="connsiteY1213" fmla="*/ 1737849 h 4442370"/>
              <a:gd name="connsiteX1214" fmla="*/ 2843525 w 7289379"/>
              <a:gd name="connsiteY1214" fmla="*/ 1676199 h 4442370"/>
              <a:gd name="connsiteX1215" fmla="*/ 2959054 w 7289379"/>
              <a:gd name="connsiteY1215" fmla="*/ 1676199 h 4442370"/>
              <a:gd name="connsiteX1216" fmla="*/ 2969248 w 7289379"/>
              <a:gd name="connsiteY1216" fmla="*/ 1667463 h 4442370"/>
              <a:gd name="connsiteX1217" fmla="*/ 2895466 w 7289379"/>
              <a:gd name="connsiteY1217" fmla="*/ 1586398 h 4442370"/>
              <a:gd name="connsiteX1218" fmla="*/ 2809546 w 7289379"/>
              <a:gd name="connsiteY1218" fmla="*/ 1680569 h 4442370"/>
              <a:gd name="connsiteX1219" fmla="*/ 2900320 w 7289379"/>
              <a:gd name="connsiteY1219" fmla="*/ 1775714 h 4442370"/>
              <a:gd name="connsiteX1220" fmla="*/ 2969248 w 7289379"/>
              <a:gd name="connsiteY1220" fmla="*/ 1722316 h 4442370"/>
              <a:gd name="connsiteX1221" fmla="*/ 2942066 w 7289379"/>
              <a:gd name="connsiteY1221" fmla="*/ 1667463 h 4442370"/>
              <a:gd name="connsiteX1222" fmla="*/ 2844010 w 7289379"/>
              <a:gd name="connsiteY1222" fmla="*/ 1667463 h 4442370"/>
              <a:gd name="connsiteX1223" fmla="*/ 2895466 w 7289379"/>
              <a:gd name="connsiteY1223" fmla="*/ 1595619 h 4442370"/>
              <a:gd name="connsiteX1224" fmla="*/ 2942066 w 7289379"/>
              <a:gd name="connsiteY1224" fmla="*/ 1667463 h 4442370"/>
              <a:gd name="connsiteX1225" fmla="*/ 3131138 w 7289379"/>
              <a:gd name="connsiteY1225" fmla="*/ 1614065 h 4442370"/>
              <a:gd name="connsiteX1226" fmla="*/ 3101044 w 7289379"/>
              <a:gd name="connsiteY1226" fmla="*/ 1588826 h 4442370"/>
              <a:gd name="connsiteX1227" fmla="*/ 3050073 w 7289379"/>
              <a:gd name="connsiteY1227" fmla="*/ 1634453 h 4442370"/>
              <a:gd name="connsiteX1228" fmla="*/ 3050073 w 7289379"/>
              <a:gd name="connsiteY1228" fmla="*/ 1588826 h 4442370"/>
              <a:gd name="connsiteX1229" fmla="*/ 2992793 w 7289379"/>
              <a:gd name="connsiteY1229" fmla="*/ 1593681 h 4442370"/>
              <a:gd name="connsiteX1230" fmla="*/ 2992793 w 7289379"/>
              <a:gd name="connsiteY1230" fmla="*/ 1606298 h 4442370"/>
              <a:gd name="connsiteX1231" fmla="*/ 3024830 w 7289379"/>
              <a:gd name="connsiteY1231" fmla="*/ 1629598 h 4442370"/>
              <a:gd name="connsiteX1232" fmla="*/ 3024830 w 7289379"/>
              <a:gd name="connsiteY1232" fmla="*/ 1739792 h 4442370"/>
              <a:gd name="connsiteX1233" fmla="*/ 2992793 w 7289379"/>
              <a:gd name="connsiteY1233" fmla="*/ 1758722 h 4442370"/>
              <a:gd name="connsiteX1234" fmla="*/ 2992793 w 7289379"/>
              <a:gd name="connsiteY1234" fmla="*/ 1771344 h 4442370"/>
              <a:gd name="connsiteX1235" fmla="*/ 3039879 w 7289379"/>
              <a:gd name="connsiteY1235" fmla="*/ 1769890 h 4442370"/>
              <a:gd name="connsiteX1236" fmla="*/ 3092304 w 7289379"/>
              <a:gd name="connsiteY1236" fmla="*/ 1771344 h 4442370"/>
              <a:gd name="connsiteX1237" fmla="*/ 3092304 w 7289379"/>
              <a:gd name="connsiteY1237" fmla="*/ 1758722 h 4442370"/>
              <a:gd name="connsiteX1238" fmla="*/ 3083567 w 7289379"/>
              <a:gd name="connsiteY1238" fmla="*/ 1758722 h 4442370"/>
              <a:gd name="connsiteX1239" fmla="*/ 3052015 w 7289379"/>
              <a:gd name="connsiteY1239" fmla="*/ 1739307 h 4442370"/>
              <a:gd name="connsiteX1240" fmla="*/ 3052015 w 7289379"/>
              <a:gd name="connsiteY1240" fmla="*/ 1675715 h 4442370"/>
              <a:gd name="connsiteX1241" fmla="*/ 3101044 w 7289379"/>
              <a:gd name="connsiteY1241" fmla="*/ 1598047 h 4442370"/>
              <a:gd name="connsiteX1242" fmla="*/ 3105410 w 7289379"/>
              <a:gd name="connsiteY1242" fmla="*/ 1598531 h 4442370"/>
              <a:gd name="connsiteX1243" fmla="*/ 3095704 w 7289379"/>
              <a:gd name="connsiteY1243" fmla="*/ 1614554 h 4442370"/>
              <a:gd name="connsiteX1244" fmla="*/ 3113661 w 7289379"/>
              <a:gd name="connsiteY1244" fmla="*/ 1632515 h 4442370"/>
              <a:gd name="connsiteX1245" fmla="*/ 3131138 w 7289379"/>
              <a:gd name="connsiteY1245" fmla="*/ 1614065 h 4442370"/>
              <a:gd name="connsiteX1246" fmla="*/ 3549212 w 7289379"/>
              <a:gd name="connsiteY1246" fmla="*/ 1665036 h 4442370"/>
              <a:gd name="connsiteX1247" fmla="*/ 3539018 w 7289379"/>
              <a:gd name="connsiteY1247" fmla="*/ 1665036 h 4442370"/>
              <a:gd name="connsiteX1248" fmla="*/ 3448243 w 7289379"/>
              <a:gd name="connsiteY1248" fmla="*/ 1758722 h 4442370"/>
              <a:gd name="connsiteX1249" fmla="*/ 3393391 w 7289379"/>
              <a:gd name="connsiteY1249" fmla="*/ 1758722 h 4442370"/>
              <a:gd name="connsiteX1250" fmla="*/ 3373002 w 7289379"/>
              <a:gd name="connsiteY1250" fmla="*/ 1742219 h 4442370"/>
              <a:gd name="connsiteX1251" fmla="*/ 3373002 w 7289379"/>
              <a:gd name="connsiteY1251" fmla="*/ 1632026 h 4442370"/>
              <a:gd name="connsiteX1252" fmla="*/ 3410379 w 7289379"/>
              <a:gd name="connsiteY1252" fmla="*/ 1632026 h 4442370"/>
              <a:gd name="connsiteX1253" fmla="*/ 3455041 w 7289379"/>
              <a:gd name="connsiteY1253" fmla="*/ 1680085 h 4442370"/>
              <a:gd name="connsiteX1254" fmla="*/ 3465235 w 7289379"/>
              <a:gd name="connsiteY1254" fmla="*/ 1680085 h 4442370"/>
              <a:gd name="connsiteX1255" fmla="*/ 3465235 w 7289379"/>
              <a:gd name="connsiteY1255" fmla="*/ 1570865 h 4442370"/>
              <a:gd name="connsiteX1256" fmla="*/ 3455041 w 7289379"/>
              <a:gd name="connsiteY1256" fmla="*/ 1570865 h 4442370"/>
              <a:gd name="connsiteX1257" fmla="*/ 3410379 w 7289379"/>
              <a:gd name="connsiteY1257" fmla="*/ 1618920 h 4442370"/>
              <a:gd name="connsiteX1258" fmla="*/ 3373002 w 7289379"/>
              <a:gd name="connsiteY1258" fmla="*/ 1618920 h 4442370"/>
              <a:gd name="connsiteX1259" fmla="*/ 3373002 w 7289379"/>
              <a:gd name="connsiteY1259" fmla="*/ 1519894 h 4442370"/>
              <a:gd name="connsiteX1260" fmla="*/ 3393391 w 7289379"/>
              <a:gd name="connsiteY1260" fmla="*/ 1503391 h 4442370"/>
              <a:gd name="connsiteX1261" fmla="*/ 3446785 w 7289379"/>
              <a:gd name="connsiteY1261" fmla="*/ 1503391 h 4442370"/>
              <a:gd name="connsiteX1262" fmla="*/ 3527369 w 7289379"/>
              <a:gd name="connsiteY1262" fmla="*/ 1583486 h 4442370"/>
              <a:gd name="connsiteX1263" fmla="*/ 3537560 w 7289379"/>
              <a:gd name="connsiteY1263" fmla="*/ 1583486 h 4442370"/>
              <a:gd name="connsiteX1264" fmla="*/ 3526396 w 7289379"/>
              <a:gd name="connsiteY1264" fmla="*/ 1490769 h 4442370"/>
              <a:gd name="connsiteX1265" fmla="*/ 3293876 w 7289379"/>
              <a:gd name="connsiteY1265" fmla="*/ 1490769 h 4442370"/>
              <a:gd name="connsiteX1266" fmla="*/ 3293876 w 7289379"/>
              <a:gd name="connsiteY1266" fmla="*/ 1503391 h 4442370"/>
              <a:gd name="connsiteX1267" fmla="*/ 3303586 w 7289379"/>
              <a:gd name="connsiteY1267" fmla="*/ 1503391 h 4442370"/>
              <a:gd name="connsiteX1268" fmla="*/ 3336596 w 7289379"/>
              <a:gd name="connsiteY1268" fmla="*/ 1522806 h 4442370"/>
              <a:gd name="connsiteX1269" fmla="*/ 3336596 w 7289379"/>
              <a:gd name="connsiteY1269" fmla="*/ 1739307 h 4442370"/>
              <a:gd name="connsiteX1270" fmla="*/ 3303586 w 7289379"/>
              <a:gd name="connsiteY1270" fmla="*/ 1758722 h 4442370"/>
              <a:gd name="connsiteX1271" fmla="*/ 3293876 w 7289379"/>
              <a:gd name="connsiteY1271" fmla="*/ 1758722 h 4442370"/>
              <a:gd name="connsiteX1272" fmla="*/ 3293876 w 7289379"/>
              <a:gd name="connsiteY1272" fmla="*/ 1771344 h 4442370"/>
              <a:gd name="connsiteX1273" fmla="*/ 3532220 w 7289379"/>
              <a:gd name="connsiteY1273" fmla="*/ 1771344 h 4442370"/>
              <a:gd name="connsiteX1274" fmla="*/ 3820566 w 7289379"/>
              <a:gd name="connsiteY1274" fmla="*/ 1509215 h 4442370"/>
              <a:gd name="connsiteX1275" fmla="*/ 3782701 w 7289379"/>
              <a:gd name="connsiteY1275" fmla="*/ 1480575 h 4442370"/>
              <a:gd name="connsiteX1276" fmla="*/ 3738528 w 7289379"/>
              <a:gd name="connsiteY1276" fmla="*/ 1497563 h 4442370"/>
              <a:gd name="connsiteX1277" fmla="*/ 3691927 w 7289379"/>
              <a:gd name="connsiteY1277" fmla="*/ 1480575 h 4442370"/>
              <a:gd name="connsiteX1278" fmla="*/ 3605038 w 7289379"/>
              <a:gd name="connsiteY1278" fmla="*/ 1546591 h 4442370"/>
              <a:gd name="connsiteX1279" fmla="*/ 3605038 w 7289379"/>
              <a:gd name="connsiteY1279" fmla="*/ 1593681 h 4442370"/>
              <a:gd name="connsiteX1280" fmla="*/ 3572512 w 7289379"/>
              <a:gd name="connsiteY1280" fmla="*/ 1593681 h 4442370"/>
              <a:gd name="connsiteX1281" fmla="*/ 3572512 w 7289379"/>
              <a:gd name="connsiteY1281" fmla="*/ 1606298 h 4442370"/>
              <a:gd name="connsiteX1282" fmla="*/ 3605038 w 7289379"/>
              <a:gd name="connsiteY1282" fmla="*/ 1606298 h 4442370"/>
              <a:gd name="connsiteX1283" fmla="*/ 3605038 w 7289379"/>
              <a:gd name="connsiteY1283" fmla="*/ 1739792 h 4442370"/>
              <a:gd name="connsiteX1284" fmla="*/ 3572997 w 7289379"/>
              <a:gd name="connsiteY1284" fmla="*/ 1758722 h 4442370"/>
              <a:gd name="connsiteX1285" fmla="*/ 3572997 w 7289379"/>
              <a:gd name="connsiteY1285" fmla="*/ 1771344 h 4442370"/>
              <a:gd name="connsiteX1286" fmla="*/ 3618629 w 7289379"/>
              <a:gd name="connsiteY1286" fmla="*/ 1769890 h 4442370"/>
              <a:gd name="connsiteX1287" fmla="*/ 3664745 w 7289379"/>
              <a:gd name="connsiteY1287" fmla="*/ 1771344 h 4442370"/>
              <a:gd name="connsiteX1288" fmla="*/ 3664745 w 7289379"/>
              <a:gd name="connsiteY1288" fmla="*/ 1758722 h 4442370"/>
              <a:gd name="connsiteX1289" fmla="*/ 3632220 w 7289379"/>
              <a:gd name="connsiteY1289" fmla="*/ 1739792 h 4442370"/>
              <a:gd name="connsiteX1290" fmla="*/ 3632220 w 7289379"/>
              <a:gd name="connsiteY1290" fmla="*/ 1606298 h 4442370"/>
              <a:gd name="connsiteX1291" fmla="*/ 3719113 w 7289379"/>
              <a:gd name="connsiteY1291" fmla="*/ 1606298 h 4442370"/>
              <a:gd name="connsiteX1292" fmla="*/ 3719113 w 7289379"/>
              <a:gd name="connsiteY1292" fmla="*/ 1739792 h 4442370"/>
              <a:gd name="connsiteX1293" fmla="*/ 3686587 w 7289379"/>
              <a:gd name="connsiteY1293" fmla="*/ 1758722 h 4442370"/>
              <a:gd name="connsiteX1294" fmla="*/ 3686587 w 7289379"/>
              <a:gd name="connsiteY1294" fmla="*/ 1771344 h 4442370"/>
              <a:gd name="connsiteX1295" fmla="*/ 3733673 w 7289379"/>
              <a:gd name="connsiteY1295" fmla="*/ 1769890 h 4442370"/>
              <a:gd name="connsiteX1296" fmla="*/ 3786098 w 7289379"/>
              <a:gd name="connsiteY1296" fmla="*/ 1771344 h 4442370"/>
              <a:gd name="connsiteX1297" fmla="*/ 3786098 w 7289379"/>
              <a:gd name="connsiteY1297" fmla="*/ 1758722 h 4442370"/>
              <a:gd name="connsiteX1298" fmla="*/ 3777362 w 7289379"/>
              <a:gd name="connsiteY1298" fmla="*/ 1758722 h 4442370"/>
              <a:gd name="connsiteX1299" fmla="*/ 3746294 w 7289379"/>
              <a:gd name="connsiteY1299" fmla="*/ 1739307 h 4442370"/>
              <a:gd name="connsiteX1300" fmla="*/ 3746294 w 7289379"/>
              <a:gd name="connsiteY1300" fmla="*/ 1606298 h 4442370"/>
              <a:gd name="connsiteX1301" fmla="*/ 3793865 w 7289379"/>
              <a:gd name="connsiteY1301" fmla="*/ 1606298 h 4442370"/>
              <a:gd name="connsiteX1302" fmla="*/ 3793865 w 7289379"/>
              <a:gd name="connsiteY1302" fmla="*/ 1593681 h 4442370"/>
              <a:gd name="connsiteX1303" fmla="*/ 3744840 w 7289379"/>
              <a:gd name="connsiteY1303" fmla="*/ 1593681 h 4442370"/>
              <a:gd name="connsiteX1304" fmla="*/ 3744840 w 7289379"/>
              <a:gd name="connsiteY1304" fmla="*/ 1545622 h 4442370"/>
              <a:gd name="connsiteX1305" fmla="*/ 3783186 w 7289379"/>
              <a:gd name="connsiteY1305" fmla="*/ 1489311 h 4442370"/>
              <a:gd name="connsiteX1306" fmla="*/ 3796781 w 7289379"/>
              <a:gd name="connsiteY1306" fmla="*/ 1492223 h 4442370"/>
              <a:gd name="connsiteX1307" fmla="*/ 3784644 w 7289379"/>
              <a:gd name="connsiteY1307" fmla="*/ 1509699 h 4442370"/>
              <a:gd name="connsiteX1308" fmla="*/ 3802120 w 7289379"/>
              <a:gd name="connsiteY1308" fmla="*/ 1527661 h 4442370"/>
              <a:gd name="connsiteX1309" fmla="*/ 3820566 w 7289379"/>
              <a:gd name="connsiteY1309" fmla="*/ 1509215 h 4442370"/>
              <a:gd name="connsiteX1310" fmla="*/ 3723478 w 7289379"/>
              <a:gd name="connsiteY1310" fmla="*/ 1497563 h 4442370"/>
              <a:gd name="connsiteX1311" fmla="*/ 3708430 w 7289379"/>
              <a:gd name="connsiteY1311" fmla="*/ 1515524 h 4442370"/>
              <a:gd name="connsiteX1312" fmla="*/ 3720082 w 7289379"/>
              <a:gd name="connsiteY1312" fmla="*/ 1532031 h 4442370"/>
              <a:gd name="connsiteX1313" fmla="*/ 3719113 w 7289379"/>
              <a:gd name="connsiteY1313" fmla="*/ 1546106 h 4442370"/>
              <a:gd name="connsiteX1314" fmla="*/ 3719113 w 7289379"/>
              <a:gd name="connsiteY1314" fmla="*/ 1593681 h 4442370"/>
              <a:gd name="connsiteX1315" fmla="*/ 3631250 w 7289379"/>
              <a:gd name="connsiteY1315" fmla="*/ 1593681 h 4442370"/>
              <a:gd name="connsiteX1316" fmla="*/ 3631250 w 7289379"/>
              <a:gd name="connsiteY1316" fmla="*/ 1547080 h 4442370"/>
              <a:gd name="connsiteX1317" fmla="*/ 3691927 w 7289379"/>
              <a:gd name="connsiteY1317" fmla="*/ 1489311 h 4442370"/>
              <a:gd name="connsiteX1318" fmla="*/ 3723478 w 7289379"/>
              <a:gd name="connsiteY1318" fmla="*/ 1497563 h 4442370"/>
              <a:gd name="connsiteX1319" fmla="*/ 3973355 w 7289379"/>
              <a:gd name="connsiteY1319" fmla="*/ 1722316 h 4442370"/>
              <a:gd name="connsiteX1320" fmla="*/ 3968011 w 7289379"/>
              <a:gd name="connsiteY1320" fmla="*/ 1717461 h 4442370"/>
              <a:gd name="connsiteX1321" fmla="*/ 3962672 w 7289379"/>
              <a:gd name="connsiteY1321" fmla="*/ 1723289 h 4442370"/>
              <a:gd name="connsiteX1322" fmla="*/ 3906850 w 7289379"/>
              <a:gd name="connsiteY1322" fmla="*/ 1765520 h 4442370"/>
              <a:gd name="connsiteX1323" fmla="*/ 3860249 w 7289379"/>
              <a:gd name="connsiteY1323" fmla="*/ 1737849 h 4442370"/>
              <a:gd name="connsiteX1324" fmla="*/ 3847627 w 7289379"/>
              <a:gd name="connsiteY1324" fmla="*/ 1676199 h 4442370"/>
              <a:gd name="connsiteX1325" fmla="*/ 3963160 w 7289379"/>
              <a:gd name="connsiteY1325" fmla="*/ 1676199 h 4442370"/>
              <a:gd name="connsiteX1326" fmla="*/ 3973355 w 7289379"/>
              <a:gd name="connsiteY1326" fmla="*/ 1667463 h 4442370"/>
              <a:gd name="connsiteX1327" fmla="*/ 3899568 w 7289379"/>
              <a:gd name="connsiteY1327" fmla="*/ 1586398 h 4442370"/>
              <a:gd name="connsiteX1328" fmla="*/ 3813648 w 7289379"/>
              <a:gd name="connsiteY1328" fmla="*/ 1680569 h 4442370"/>
              <a:gd name="connsiteX1329" fmla="*/ 3904422 w 7289379"/>
              <a:gd name="connsiteY1329" fmla="*/ 1775714 h 4442370"/>
              <a:gd name="connsiteX1330" fmla="*/ 3973355 w 7289379"/>
              <a:gd name="connsiteY1330" fmla="*/ 1722316 h 4442370"/>
              <a:gd name="connsiteX1331" fmla="*/ 3946169 w 7289379"/>
              <a:gd name="connsiteY1331" fmla="*/ 1667463 h 4442370"/>
              <a:gd name="connsiteX1332" fmla="*/ 3848112 w 7289379"/>
              <a:gd name="connsiteY1332" fmla="*/ 1667463 h 4442370"/>
              <a:gd name="connsiteX1333" fmla="*/ 3899568 w 7289379"/>
              <a:gd name="connsiteY1333" fmla="*/ 1595619 h 4442370"/>
              <a:gd name="connsiteX1334" fmla="*/ 3946169 w 7289379"/>
              <a:gd name="connsiteY1334" fmla="*/ 1667463 h 4442370"/>
              <a:gd name="connsiteX1335" fmla="*/ 4156614 w 7289379"/>
              <a:gd name="connsiteY1335" fmla="*/ 1722316 h 4442370"/>
              <a:gd name="connsiteX1336" fmla="*/ 4151270 w 7289379"/>
              <a:gd name="connsiteY1336" fmla="*/ 1717950 h 4442370"/>
              <a:gd name="connsiteX1337" fmla="*/ 4145927 w 7289379"/>
              <a:gd name="connsiteY1337" fmla="*/ 1722316 h 4442370"/>
              <a:gd name="connsiteX1338" fmla="*/ 4091555 w 7289379"/>
              <a:gd name="connsiteY1338" fmla="*/ 1765520 h 4442370"/>
              <a:gd name="connsiteX1339" fmla="*/ 4033302 w 7289379"/>
              <a:gd name="connsiteY1339" fmla="*/ 1681539 h 4442370"/>
              <a:gd name="connsiteX1340" fmla="*/ 4089128 w 7289379"/>
              <a:gd name="connsiteY1340" fmla="*/ 1596593 h 4442370"/>
              <a:gd name="connsiteX1341" fmla="*/ 4133293 w 7289379"/>
              <a:gd name="connsiteY1341" fmla="*/ 1612126 h 4442370"/>
              <a:gd name="connsiteX1342" fmla="*/ 4113882 w 7289379"/>
              <a:gd name="connsiteY1342" fmla="*/ 1631056 h 4442370"/>
              <a:gd name="connsiteX1343" fmla="*/ 4132796 w 7289379"/>
              <a:gd name="connsiteY1343" fmla="*/ 1649987 h 4442370"/>
              <a:gd name="connsiteX1344" fmla="*/ 4151726 w 7289379"/>
              <a:gd name="connsiteY1344" fmla="*/ 1630572 h 4442370"/>
              <a:gd name="connsiteX1345" fmla="*/ 4088643 w 7289379"/>
              <a:gd name="connsiteY1345" fmla="*/ 1586398 h 4442370"/>
              <a:gd name="connsiteX1346" fmla="*/ 3999323 w 7289379"/>
              <a:gd name="connsiteY1346" fmla="*/ 1682028 h 4442370"/>
              <a:gd name="connsiteX1347" fmla="*/ 4088154 w 7289379"/>
              <a:gd name="connsiteY1347" fmla="*/ 1775714 h 4442370"/>
              <a:gd name="connsiteX1348" fmla="*/ 4156614 w 7289379"/>
              <a:gd name="connsiteY1348" fmla="*/ 1722316 h 4442370"/>
              <a:gd name="connsiteX1349" fmla="*/ 4305281 w 7289379"/>
              <a:gd name="connsiteY1349" fmla="*/ 1720377 h 4442370"/>
              <a:gd name="connsiteX1350" fmla="*/ 4305281 w 7289379"/>
              <a:gd name="connsiteY1350" fmla="*/ 1696588 h 4442370"/>
              <a:gd name="connsiteX1351" fmla="*/ 4295050 w 7289379"/>
              <a:gd name="connsiteY1351" fmla="*/ 1696588 h 4442370"/>
              <a:gd name="connsiteX1352" fmla="*/ 4295050 w 7289379"/>
              <a:gd name="connsiteY1352" fmla="*/ 1719404 h 4442370"/>
              <a:gd name="connsiteX1353" fmla="*/ 4267379 w 7289379"/>
              <a:gd name="connsiteY1353" fmla="*/ 1765520 h 4442370"/>
              <a:gd name="connsiteX1354" fmla="*/ 4239750 w 7289379"/>
              <a:gd name="connsiteY1354" fmla="*/ 1720862 h 4442370"/>
              <a:gd name="connsiteX1355" fmla="*/ 4239750 w 7289379"/>
              <a:gd name="connsiteY1355" fmla="*/ 1606298 h 4442370"/>
              <a:gd name="connsiteX1356" fmla="*/ 4298944 w 7289379"/>
              <a:gd name="connsiteY1356" fmla="*/ 1606298 h 4442370"/>
              <a:gd name="connsiteX1357" fmla="*/ 4298944 w 7289379"/>
              <a:gd name="connsiteY1357" fmla="*/ 1593681 h 4442370"/>
              <a:gd name="connsiteX1358" fmla="*/ 4239750 w 7289379"/>
              <a:gd name="connsiteY1358" fmla="*/ 1593681 h 4442370"/>
              <a:gd name="connsiteX1359" fmla="*/ 4239750 w 7289379"/>
              <a:gd name="connsiteY1359" fmla="*/ 1517466 h 4442370"/>
              <a:gd name="connsiteX1360" fmla="*/ 4229519 w 7289379"/>
              <a:gd name="connsiteY1360" fmla="*/ 1517466 h 4442370"/>
              <a:gd name="connsiteX1361" fmla="*/ 4176125 w 7289379"/>
              <a:gd name="connsiteY1361" fmla="*/ 1597077 h 4442370"/>
              <a:gd name="connsiteX1362" fmla="*/ 4176125 w 7289379"/>
              <a:gd name="connsiteY1362" fmla="*/ 1606298 h 4442370"/>
              <a:gd name="connsiteX1363" fmla="*/ 4211085 w 7289379"/>
              <a:gd name="connsiteY1363" fmla="*/ 1606298 h 4442370"/>
              <a:gd name="connsiteX1364" fmla="*/ 4211085 w 7289379"/>
              <a:gd name="connsiteY1364" fmla="*/ 1720377 h 4442370"/>
              <a:gd name="connsiteX1365" fmla="*/ 4264480 w 7289379"/>
              <a:gd name="connsiteY1365" fmla="*/ 1775714 h 4442370"/>
              <a:gd name="connsiteX1366" fmla="*/ 4305281 w 7289379"/>
              <a:gd name="connsiteY1366" fmla="*/ 1720377 h 4442370"/>
              <a:gd name="connsiteX1367" fmla="*/ 4999283 w 7289379"/>
              <a:gd name="connsiteY1367" fmla="*/ 1694160 h 4442370"/>
              <a:gd name="connsiteX1368" fmla="*/ 4999283 w 7289379"/>
              <a:gd name="connsiteY1368" fmla="*/ 1670375 h 4442370"/>
              <a:gd name="connsiteX1369" fmla="*/ 4889595 w 7289379"/>
              <a:gd name="connsiteY1369" fmla="*/ 1670375 h 4442370"/>
              <a:gd name="connsiteX1370" fmla="*/ 4889595 w 7289379"/>
              <a:gd name="connsiteY1370" fmla="*/ 1694160 h 4442370"/>
              <a:gd name="connsiteX1371" fmla="*/ 5211079 w 7289379"/>
              <a:gd name="connsiteY1371" fmla="*/ 1687367 h 4442370"/>
              <a:gd name="connsiteX1372" fmla="*/ 5128564 w 7289379"/>
              <a:gd name="connsiteY1372" fmla="*/ 1595134 h 4442370"/>
              <a:gd name="connsiteX1373" fmla="*/ 5077075 w 7289379"/>
              <a:gd name="connsiteY1373" fmla="*/ 1635911 h 4442370"/>
              <a:gd name="connsiteX1374" fmla="*/ 5077075 w 7289379"/>
              <a:gd name="connsiteY1374" fmla="*/ 1626202 h 4442370"/>
              <a:gd name="connsiteX1375" fmla="*/ 5149400 w 7289379"/>
              <a:gd name="connsiteY1375" fmla="*/ 1506787 h 4442370"/>
              <a:gd name="connsiteX1376" fmla="*/ 5185811 w 7289379"/>
              <a:gd name="connsiteY1376" fmla="*/ 1523290 h 4442370"/>
              <a:gd name="connsiteX1377" fmla="*/ 5163028 w 7289379"/>
              <a:gd name="connsiteY1377" fmla="*/ 1541740 h 4442370"/>
              <a:gd name="connsiteX1378" fmla="*/ 5181958 w 7289379"/>
              <a:gd name="connsiteY1378" fmla="*/ 1560671 h 4442370"/>
              <a:gd name="connsiteX1379" fmla="*/ 5200889 w 7289379"/>
              <a:gd name="connsiteY1379" fmla="*/ 1541251 h 4442370"/>
              <a:gd name="connsiteX1380" fmla="*/ 5148447 w 7289379"/>
              <a:gd name="connsiteY1380" fmla="*/ 1496593 h 4442370"/>
              <a:gd name="connsiteX1381" fmla="*/ 5040209 w 7289379"/>
              <a:gd name="connsiteY1381" fmla="*/ 1640766 h 4442370"/>
              <a:gd name="connsiteX1382" fmla="*/ 5126120 w 7289379"/>
              <a:gd name="connsiteY1382" fmla="*/ 1780569 h 4442370"/>
              <a:gd name="connsiteX1383" fmla="*/ 5211079 w 7289379"/>
              <a:gd name="connsiteY1383" fmla="*/ 1687367 h 4442370"/>
              <a:gd name="connsiteX1384" fmla="*/ 5174171 w 7289379"/>
              <a:gd name="connsiteY1384" fmla="*/ 1686882 h 4442370"/>
              <a:gd name="connsiteX1385" fmla="*/ 5167377 w 7289379"/>
              <a:gd name="connsiteY1385" fmla="*/ 1742219 h 4442370"/>
              <a:gd name="connsiteX1386" fmla="*/ 5126120 w 7289379"/>
              <a:gd name="connsiteY1386" fmla="*/ 1768916 h 4442370"/>
              <a:gd name="connsiteX1387" fmla="*/ 5085360 w 7289379"/>
              <a:gd name="connsiteY1387" fmla="*/ 1737849 h 4442370"/>
              <a:gd name="connsiteX1388" fmla="*/ 5078069 w 7289379"/>
              <a:gd name="connsiteY1388" fmla="*/ 1678142 h 4442370"/>
              <a:gd name="connsiteX1389" fmla="*/ 5128564 w 7289379"/>
              <a:gd name="connsiteY1389" fmla="*/ 1604844 h 4442370"/>
              <a:gd name="connsiteX1390" fmla="*/ 5166880 w 7289379"/>
              <a:gd name="connsiteY1390" fmla="*/ 1630087 h 4442370"/>
              <a:gd name="connsiteX1391" fmla="*/ 5174171 w 7289379"/>
              <a:gd name="connsiteY1391" fmla="*/ 1686882 h 4442370"/>
              <a:gd name="connsiteX1392" fmla="*/ 5417366 w 7289379"/>
              <a:gd name="connsiteY1392" fmla="*/ 1687367 h 4442370"/>
              <a:gd name="connsiteX1393" fmla="*/ 5334851 w 7289379"/>
              <a:gd name="connsiteY1393" fmla="*/ 1595134 h 4442370"/>
              <a:gd name="connsiteX1394" fmla="*/ 5283403 w 7289379"/>
              <a:gd name="connsiteY1394" fmla="*/ 1635911 h 4442370"/>
              <a:gd name="connsiteX1395" fmla="*/ 5283403 w 7289379"/>
              <a:gd name="connsiteY1395" fmla="*/ 1626202 h 4442370"/>
              <a:gd name="connsiteX1396" fmla="*/ 5355728 w 7289379"/>
              <a:gd name="connsiteY1396" fmla="*/ 1506787 h 4442370"/>
              <a:gd name="connsiteX1397" fmla="*/ 5392139 w 7289379"/>
              <a:gd name="connsiteY1397" fmla="*/ 1523290 h 4442370"/>
              <a:gd name="connsiteX1398" fmla="*/ 5369315 w 7289379"/>
              <a:gd name="connsiteY1398" fmla="*/ 1541740 h 4442370"/>
              <a:gd name="connsiteX1399" fmla="*/ 5388245 w 7289379"/>
              <a:gd name="connsiteY1399" fmla="*/ 1560671 h 4442370"/>
              <a:gd name="connsiteX1400" fmla="*/ 5407175 w 7289379"/>
              <a:gd name="connsiteY1400" fmla="*/ 1541251 h 4442370"/>
              <a:gd name="connsiteX1401" fmla="*/ 5354734 w 7289379"/>
              <a:gd name="connsiteY1401" fmla="*/ 1496593 h 4442370"/>
              <a:gd name="connsiteX1402" fmla="*/ 5246495 w 7289379"/>
              <a:gd name="connsiteY1402" fmla="*/ 1640766 h 4442370"/>
              <a:gd name="connsiteX1403" fmla="*/ 5332406 w 7289379"/>
              <a:gd name="connsiteY1403" fmla="*/ 1780569 h 4442370"/>
              <a:gd name="connsiteX1404" fmla="*/ 5417366 w 7289379"/>
              <a:gd name="connsiteY1404" fmla="*/ 1687367 h 4442370"/>
              <a:gd name="connsiteX1405" fmla="*/ 5380499 w 7289379"/>
              <a:gd name="connsiteY1405" fmla="*/ 1686882 h 4442370"/>
              <a:gd name="connsiteX1406" fmla="*/ 5373706 w 7289379"/>
              <a:gd name="connsiteY1406" fmla="*/ 1742219 h 4442370"/>
              <a:gd name="connsiteX1407" fmla="*/ 5332406 w 7289379"/>
              <a:gd name="connsiteY1407" fmla="*/ 1768916 h 4442370"/>
              <a:gd name="connsiteX1408" fmla="*/ 5291647 w 7289379"/>
              <a:gd name="connsiteY1408" fmla="*/ 1737849 h 4442370"/>
              <a:gd name="connsiteX1409" fmla="*/ 5284356 w 7289379"/>
              <a:gd name="connsiteY1409" fmla="*/ 1678142 h 4442370"/>
              <a:gd name="connsiteX1410" fmla="*/ 5334851 w 7289379"/>
              <a:gd name="connsiteY1410" fmla="*/ 1604844 h 4442370"/>
              <a:gd name="connsiteX1411" fmla="*/ 5373208 w 7289379"/>
              <a:gd name="connsiteY1411" fmla="*/ 1630087 h 4442370"/>
              <a:gd name="connsiteX1412" fmla="*/ 5380499 w 7289379"/>
              <a:gd name="connsiteY1412" fmla="*/ 1686882 h 4442370"/>
              <a:gd name="connsiteX1413" fmla="*/ 5629492 w 7289379"/>
              <a:gd name="connsiteY1413" fmla="*/ 1703385 h 4442370"/>
              <a:gd name="connsiteX1414" fmla="*/ 5629492 w 7289379"/>
              <a:gd name="connsiteY1414" fmla="*/ 1690279 h 4442370"/>
              <a:gd name="connsiteX1415" fmla="*/ 5588235 w 7289379"/>
              <a:gd name="connsiteY1415" fmla="*/ 1690279 h 4442370"/>
              <a:gd name="connsiteX1416" fmla="*/ 5588235 w 7289379"/>
              <a:gd name="connsiteY1416" fmla="*/ 1502906 h 4442370"/>
              <a:gd name="connsiteX1417" fmla="*/ 5581939 w 7289379"/>
              <a:gd name="connsiteY1417" fmla="*/ 1492223 h 4442370"/>
              <a:gd name="connsiteX1418" fmla="*/ 5573695 w 7289379"/>
              <a:gd name="connsiteY1418" fmla="*/ 1497078 h 4442370"/>
              <a:gd name="connsiteX1419" fmla="*/ 5446983 w 7289379"/>
              <a:gd name="connsiteY1419" fmla="*/ 1690279 h 4442370"/>
              <a:gd name="connsiteX1420" fmla="*/ 5446983 w 7289379"/>
              <a:gd name="connsiteY1420" fmla="*/ 1703385 h 4442370"/>
              <a:gd name="connsiteX1421" fmla="*/ 5556671 w 7289379"/>
              <a:gd name="connsiteY1421" fmla="*/ 1703385 h 4442370"/>
              <a:gd name="connsiteX1422" fmla="*/ 5556671 w 7289379"/>
              <a:gd name="connsiteY1422" fmla="*/ 1739307 h 4442370"/>
              <a:gd name="connsiteX1423" fmla="*/ 5525148 w 7289379"/>
              <a:gd name="connsiteY1423" fmla="*/ 1758722 h 4442370"/>
              <a:gd name="connsiteX1424" fmla="*/ 5516408 w 7289379"/>
              <a:gd name="connsiteY1424" fmla="*/ 1758722 h 4442370"/>
              <a:gd name="connsiteX1425" fmla="*/ 5516408 w 7289379"/>
              <a:gd name="connsiteY1425" fmla="*/ 1771344 h 4442370"/>
              <a:gd name="connsiteX1426" fmla="*/ 5572204 w 7289379"/>
              <a:gd name="connsiteY1426" fmla="*/ 1769890 h 4442370"/>
              <a:gd name="connsiteX1427" fmla="*/ 5628540 w 7289379"/>
              <a:gd name="connsiteY1427" fmla="*/ 1771344 h 4442370"/>
              <a:gd name="connsiteX1428" fmla="*/ 5628540 w 7289379"/>
              <a:gd name="connsiteY1428" fmla="*/ 1758722 h 4442370"/>
              <a:gd name="connsiteX1429" fmla="*/ 5619800 w 7289379"/>
              <a:gd name="connsiteY1429" fmla="*/ 1758722 h 4442370"/>
              <a:gd name="connsiteX1430" fmla="*/ 5588235 w 7289379"/>
              <a:gd name="connsiteY1430" fmla="*/ 1739307 h 4442370"/>
              <a:gd name="connsiteX1431" fmla="*/ 5588235 w 7289379"/>
              <a:gd name="connsiteY1431" fmla="*/ 1703385 h 4442370"/>
              <a:gd name="connsiteX1432" fmla="*/ 5559115 w 7289379"/>
              <a:gd name="connsiteY1432" fmla="*/ 1690279 h 4442370"/>
              <a:gd name="connsiteX1433" fmla="*/ 5458622 w 7289379"/>
              <a:gd name="connsiteY1433" fmla="*/ 1690279 h 4442370"/>
              <a:gd name="connsiteX1434" fmla="*/ 5559115 w 7289379"/>
              <a:gd name="connsiteY1434" fmla="*/ 1536397 h 4442370"/>
              <a:gd name="connsiteX1435" fmla="*/ 5720872 w 7289379"/>
              <a:gd name="connsiteY1435" fmla="*/ 1749502 h 4442370"/>
              <a:gd name="connsiteX1436" fmla="*/ 5699042 w 7289379"/>
              <a:gd name="connsiteY1436" fmla="*/ 1727655 h 4442370"/>
              <a:gd name="connsiteX1437" fmla="*/ 5677212 w 7289379"/>
              <a:gd name="connsiteY1437" fmla="*/ 1749502 h 4442370"/>
              <a:gd name="connsiteX1438" fmla="*/ 5699042 w 7289379"/>
              <a:gd name="connsiteY1438" fmla="*/ 1771344 h 4442370"/>
              <a:gd name="connsiteX1439" fmla="*/ 5720872 w 7289379"/>
              <a:gd name="connsiteY1439" fmla="*/ 1749502 h 4442370"/>
              <a:gd name="connsiteX1440" fmla="*/ 5944804 w 7289379"/>
              <a:gd name="connsiteY1440" fmla="*/ 1635427 h 4442370"/>
              <a:gd name="connsiteX1441" fmla="*/ 5860798 w 7289379"/>
              <a:gd name="connsiteY1441" fmla="*/ 1496593 h 4442370"/>
              <a:gd name="connsiteX1442" fmla="*/ 5800114 w 7289379"/>
              <a:gd name="connsiteY1442" fmla="*/ 1522321 h 4442370"/>
              <a:gd name="connsiteX1443" fmla="*/ 5773934 w 7289379"/>
              <a:gd name="connsiteY1443" fmla="*/ 1589310 h 4442370"/>
              <a:gd name="connsiteX1444" fmla="*/ 5856449 w 7289379"/>
              <a:gd name="connsiteY1444" fmla="*/ 1681539 h 4442370"/>
              <a:gd name="connsiteX1445" fmla="*/ 5907897 w 7289379"/>
              <a:gd name="connsiteY1445" fmla="*/ 1640281 h 4442370"/>
              <a:gd name="connsiteX1446" fmla="*/ 5907897 w 7289379"/>
              <a:gd name="connsiteY1446" fmla="*/ 1653388 h 4442370"/>
              <a:gd name="connsiteX1447" fmla="*/ 5840915 w 7289379"/>
              <a:gd name="connsiteY1447" fmla="*/ 1768916 h 4442370"/>
              <a:gd name="connsiteX1448" fmla="*/ 5800611 w 7289379"/>
              <a:gd name="connsiteY1448" fmla="*/ 1753867 h 4442370"/>
              <a:gd name="connsiteX1449" fmla="*/ 5821985 w 7289379"/>
              <a:gd name="connsiteY1449" fmla="*/ 1734937 h 4442370"/>
              <a:gd name="connsiteX1450" fmla="*/ 5803055 w 7289379"/>
              <a:gd name="connsiteY1450" fmla="*/ 1716007 h 4442370"/>
              <a:gd name="connsiteX1451" fmla="*/ 5784124 w 7289379"/>
              <a:gd name="connsiteY1451" fmla="*/ 1735906 h 4442370"/>
              <a:gd name="connsiteX1452" fmla="*/ 5841413 w 7289379"/>
              <a:gd name="connsiteY1452" fmla="*/ 1780569 h 4442370"/>
              <a:gd name="connsiteX1453" fmla="*/ 5944804 w 7289379"/>
              <a:gd name="connsiteY1453" fmla="*/ 1635427 h 4442370"/>
              <a:gd name="connsiteX1454" fmla="*/ 5906944 w 7289379"/>
              <a:gd name="connsiteY1454" fmla="*/ 1597562 h 4442370"/>
              <a:gd name="connsiteX1455" fmla="*/ 5856947 w 7289379"/>
              <a:gd name="connsiteY1455" fmla="*/ 1671833 h 4442370"/>
              <a:gd name="connsiteX1456" fmla="*/ 5818588 w 7289379"/>
              <a:gd name="connsiteY1456" fmla="*/ 1646105 h 4442370"/>
              <a:gd name="connsiteX1457" fmla="*/ 5810801 w 7289379"/>
              <a:gd name="connsiteY1457" fmla="*/ 1589795 h 4442370"/>
              <a:gd name="connsiteX1458" fmla="*/ 5819542 w 7289379"/>
              <a:gd name="connsiteY1458" fmla="*/ 1533000 h 4442370"/>
              <a:gd name="connsiteX1459" fmla="*/ 5860798 w 7289379"/>
              <a:gd name="connsiteY1459" fmla="*/ 1506787 h 4442370"/>
              <a:gd name="connsiteX1460" fmla="*/ 5900606 w 7289379"/>
              <a:gd name="connsiteY1460" fmla="*/ 1539313 h 4442370"/>
              <a:gd name="connsiteX1461" fmla="*/ 5906944 w 7289379"/>
              <a:gd name="connsiteY1461" fmla="*/ 1597562 h 4442370"/>
              <a:gd name="connsiteX1462" fmla="*/ 6148191 w 7289379"/>
              <a:gd name="connsiteY1462" fmla="*/ 1688336 h 4442370"/>
              <a:gd name="connsiteX1463" fmla="*/ 6069529 w 7289379"/>
              <a:gd name="connsiteY1463" fmla="*/ 1598047 h 4442370"/>
              <a:gd name="connsiteX1464" fmla="*/ 6017129 w 7289379"/>
              <a:gd name="connsiteY1464" fmla="*/ 1618920 h 4442370"/>
              <a:gd name="connsiteX1465" fmla="*/ 6017129 w 7289379"/>
              <a:gd name="connsiteY1465" fmla="*/ 1538824 h 4442370"/>
              <a:gd name="connsiteX1466" fmla="*/ 6052049 w 7289379"/>
              <a:gd name="connsiteY1466" fmla="*/ 1544163 h 4442370"/>
              <a:gd name="connsiteX1467" fmla="*/ 6132161 w 7289379"/>
              <a:gd name="connsiteY1467" fmla="*/ 1500963 h 4442370"/>
              <a:gd name="connsiteX1468" fmla="*/ 6127812 w 7289379"/>
              <a:gd name="connsiteY1468" fmla="*/ 1496593 h 4442370"/>
              <a:gd name="connsiteX1469" fmla="*/ 6124415 w 7289379"/>
              <a:gd name="connsiteY1469" fmla="*/ 1497563 h 4442370"/>
              <a:gd name="connsiteX1470" fmla="*/ 6068576 w 7289379"/>
              <a:gd name="connsiteY1470" fmla="*/ 1509699 h 4442370"/>
              <a:gd name="connsiteX1471" fmla="*/ 6013732 w 7289379"/>
              <a:gd name="connsiteY1471" fmla="*/ 1498051 h 4442370"/>
              <a:gd name="connsiteX1472" fmla="*/ 6008389 w 7289379"/>
              <a:gd name="connsiteY1472" fmla="*/ 1497078 h 4442370"/>
              <a:gd name="connsiteX1473" fmla="*/ 6004495 w 7289379"/>
              <a:gd name="connsiteY1473" fmla="*/ 1506787 h 4442370"/>
              <a:gd name="connsiteX1474" fmla="*/ 6004495 w 7289379"/>
              <a:gd name="connsiteY1474" fmla="*/ 1629114 h 4442370"/>
              <a:gd name="connsiteX1475" fmla="*/ 6010335 w 7289379"/>
              <a:gd name="connsiteY1475" fmla="*/ 1639793 h 4442370"/>
              <a:gd name="connsiteX1476" fmla="*/ 6015680 w 7289379"/>
              <a:gd name="connsiteY1476" fmla="*/ 1635911 h 4442370"/>
              <a:gd name="connsiteX1477" fmla="*/ 6068576 w 7289379"/>
              <a:gd name="connsiteY1477" fmla="*/ 1607271 h 4442370"/>
              <a:gd name="connsiteX1478" fmla="*/ 6103993 w 7289379"/>
              <a:gd name="connsiteY1478" fmla="*/ 1633484 h 4442370"/>
              <a:gd name="connsiteX1479" fmla="*/ 6111284 w 7289379"/>
              <a:gd name="connsiteY1479" fmla="*/ 1685424 h 4442370"/>
              <a:gd name="connsiteX1480" fmla="*/ 6101591 w 7289379"/>
              <a:gd name="connsiteY1480" fmla="*/ 1742219 h 4442370"/>
              <a:gd name="connsiteX1481" fmla="*/ 6057392 w 7289379"/>
              <a:gd name="connsiteY1481" fmla="*/ 1768916 h 4442370"/>
              <a:gd name="connsiteX1482" fmla="*/ 5996749 w 7289379"/>
              <a:gd name="connsiteY1482" fmla="*/ 1722800 h 4442370"/>
              <a:gd name="connsiteX1483" fmla="*/ 6003543 w 7289379"/>
              <a:gd name="connsiteY1483" fmla="*/ 1723289 h 4442370"/>
              <a:gd name="connsiteX1484" fmla="*/ 6024420 w 7289379"/>
              <a:gd name="connsiteY1484" fmla="*/ 1703385 h 4442370"/>
              <a:gd name="connsiteX1485" fmla="*/ 6003543 w 7289379"/>
              <a:gd name="connsiteY1485" fmla="*/ 1682997 h 4442370"/>
              <a:gd name="connsiteX1486" fmla="*/ 5983618 w 7289379"/>
              <a:gd name="connsiteY1486" fmla="*/ 1704843 h 4442370"/>
              <a:gd name="connsiteX1487" fmla="*/ 6057890 w 7289379"/>
              <a:gd name="connsiteY1487" fmla="*/ 1780569 h 4442370"/>
              <a:gd name="connsiteX1488" fmla="*/ 6148191 w 7289379"/>
              <a:gd name="connsiteY1488" fmla="*/ 1688336 h 4442370"/>
              <a:gd name="connsiteX1489" fmla="*/ 6354478 w 7289379"/>
              <a:gd name="connsiteY1489" fmla="*/ 1699500 h 4442370"/>
              <a:gd name="connsiteX1490" fmla="*/ 6343791 w 7289379"/>
              <a:gd name="connsiteY1490" fmla="*/ 1699500 h 4442370"/>
              <a:gd name="connsiteX1491" fmla="*/ 6335092 w 7289379"/>
              <a:gd name="connsiteY1491" fmla="*/ 1736395 h 4442370"/>
              <a:gd name="connsiteX1492" fmla="*/ 6295740 w 7289379"/>
              <a:gd name="connsiteY1492" fmla="*/ 1739792 h 4442370"/>
              <a:gd name="connsiteX1493" fmla="*/ 6221469 w 7289379"/>
              <a:gd name="connsiteY1493" fmla="*/ 1739792 h 4442370"/>
              <a:gd name="connsiteX1494" fmla="*/ 6265170 w 7289379"/>
              <a:gd name="connsiteY1494" fmla="*/ 1697072 h 4442370"/>
              <a:gd name="connsiteX1495" fmla="*/ 6354478 w 7289379"/>
              <a:gd name="connsiteY1495" fmla="*/ 1576689 h 4442370"/>
              <a:gd name="connsiteX1496" fmla="*/ 6266620 w 7289379"/>
              <a:gd name="connsiteY1496" fmla="*/ 1496593 h 4442370"/>
              <a:gd name="connsiteX1497" fmla="*/ 6189946 w 7289379"/>
              <a:gd name="connsiteY1497" fmla="*/ 1571349 h 4442370"/>
              <a:gd name="connsiteX1498" fmla="*/ 6211776 w 7289379"/>
              <a:gd name="connsiteY1498" fmla="*/ 1594165 h 4442370"/>
              <a:gd name="connsiteX1499" fmla="*/ 6233150 w 7289379"/>
              <a:gd name="connsiteY1499" fmla="*/ 1572319 h 4442370"/>
              <a:gd name="connsiteX1500" fmla="*/ 6211279 w 7289379"/>
              <a:gd name="connsiteY1500" fmla="*/ 1550961 h 4442370"/>
              <a:gd name="connsiteX1501" fmla="*/ 6205935 w 7289379"/>
              <a:gd name="connsiteY1501" fmla="*/ 1551446 h 4442370"/>
              <a:gd name="connsiteX1502" fmla="*/ 6261277 w 7289379"/>
              <a:gd name="connsiteY1502" fmla="*/ 1509215 h 4442370"/>
              <a:gd name="connsiteX1503" fmla="*/ 6316618 w 7289379"/>
              <a:gd name="connsiteY1503" fmla="*/ 1576689 h 4442370"/>
              <a:gd name="connsiteX1504" fmla="*/ 6273414 w 7289379"/>
              <a:gd name="connsiteY1504" fmla="*/ 1667948 h 4442370"/>
              <a:gd name="connsiteX1505" fmla="*/ 6194295 w 7289379"/>
              <a:gd name="connsiteY1505" fmla="*/ 1756295 h 4442370"/>
              <a:gd name="connsiteX1506" fmla="*/ 6189946 w 7289379"/>
              <a:gd name="connsiteY1506" fmla="*/ 1771344 h 4442370"/>
              <a:gd name="connsiteX1507" fmla="*/ 6342838 w 7289379"/>
              <a:gd name="connsiteY1507" fmla="*/ 1771344 h 4442370"/>
              <a:gd name="connsiteX1508" fmla="*/ 6554593 w 7289379"/>
              <a:gd name="connsiteY1508" fmla="*/ 1589310 h 4442370"/>
              <a:gd name="connsiteX1509" fmla="*/ 6545853 w 7289379"/>
              <a:gd name="connsiteY1509" fmla="*/ 1578147 h 4442370"/>
              <a:gd name="connsiteX1510" fmla="*/ 6487612 w 7289379"/>
              <a:gd name="connsiteY1510" fmla="*/ 1550961 h 4442370"/>
              <a:gd name="connsiteX1511" fmla="*/ 6544899 w 7289379"/>
              <a:gd name="connsiteY1511" fmla="*/ 1523779 h 4442370"/>
              <a:gd name="connsiteX1512" fmla="*/ 6554593 w 7289379"/>
              <a:gd name="connsiteY1512" fmla="*/ 1512127 h 4442370"/>
              <a:gd name="connsiteX1513" fmla="*/ 6543450 w 7289379"/>
              <a:gd name="connsiteY1513" fmla="*/ 1500479 h 4442370"/>
              <a:gd name="connsiteX1514" fmla="*/ 6528869 w 7289379"/>
              <a:gd name="connsiteY1514" fmla="*/ 1508730 h 4442370"/>
              <a:gd name="connsiteX1515" fmla="*/ 6483262 w 7289379"/>
              <a:gd name="connsiteY1515" fmla="*/ 1542225 h 4442370"/>
              <a:gd name="connsiteX1516" fmla="*/ 6489558 w 7289379"/>
              <a:gd name="connsiteY1516" fmla="*/ 1472323 h 4442370"/>
              <a:gd name="connsiteX1517" fmla="*/ 6478871 w 7289379"/>
              <a:gd name="connsiteY1517" fmla="*/ 1461645 h 4442370"/>
              <a:gd name="connsiteX1518" fmla="*/ 6467729 w 7289379"/>
              <a:gd name="connsiteY1518" fmla="*/ 1472323 h 4442370"/>
              <a:gd name="connsiteX1519" fmla="*/ 6473528 w 7289379"/>
              <a:gd name="connsiteY1519" fmla="*/ 1542225 h 4442370"/>
              <a:gd name="connsiteX1520" fmla="*/ 6422578 w 7289379"/>
              <a:gd name="connsiteY1520" fmla="*/ 1505329 h 4442370"/>
              <a:gd name="connsiteX1521" fmla="*/ 6413340 w 7289379"/>
              <a:gd name="connsiteY1521" fmla="*/ 1500479 h 4442370"/>
              <a:gd name="connsiteX1522" fmla="*/ 6402198 w 7289379"/>
              <a:gd name="connsiteY1522" fmla="*/ 1512127 h 4442370"/>
              <a:gd name="connsiteX1523" fmla="*/ 6410938 w 7289379"/>
              <a:gd name="connsiteY1523" fmla="*/ 1523290 h 4442370"/>
              <a:gd name="connsiteX1524" fmla="*/ 6469179 w 7289379"/>
              <a:gd name="connsiteY1524" fmla="*/ 1550476 h 4442370"/>
              <a:gd name="connsiteX1525" fmla="*/ 6411890 w 7289379"/>
              <a:gd name="connsiteY1525" fmla="*/ 1577658 h 4442370"/>
              <a:gd name="connsiteX1526" fmla="*/ 6402198 w 7289379"/>
              <a:gd name="connsiteY1526" fmla="*/ 1589310 h 4442370"/>
              <a:gd name="connsiteX1527" fmla="*/ 6415784 w 7289379"/>
              <a:gd name="connsiteY1527" fmla="*/ 1600959 h 4442370"/>
              <a:gd name="connsiteX1528" fmla="*/ 6473528 w 7289379"/>
              <a:gd name="connsiteY1528" fmla="*/ 1559212 h 4442370"/>
              <a:gd name="connsiteX1529" fmla="*/ 6467729 w 7289379"/>
              <a:gd name="connsiteY1529" fmla="*/ 1629598 h 4442370"/>
              <a:gd name="connsiteX1530" fmla="*/ 6478375 w 7289379"/>
              <a:gd name="connsiteY1530" fmla="*/ 1639793 h 4442370"/>
              <a:gd name="connsiteX1531" fmla="*/ 6489558 w 7289379"/>
              <a:gd name="connsiteY1531" fmla="*/ 1629598 h 4442370"/>
              <a:gd name="connsiteX1532" fmla="*/ 6483262 w 7289379"/>
              <a:gd name="connsiteY1532" fmla="*/ 1559212 h 4442370"/>
              <a:gd name="connsiteX1533" fmla="*/ 6536657 w 7289379"/>
              <a:gd name="connsiteY1533" fmla="*/ 1598531 h 4442370"/>
              <a:gd name="connsiteX1534" fmla="*/ 6543450 w 7289379"/>
              <a:gd name="connsiteY1534" fmla="*/ 1600959 h 4442370"/>
              <a:gd name="connsiteX1535" fmla="*/ 6554593 w 7289379"/>
              <a:gd name="connsiteY1535" fmla="*/ 1589310 h 4442370"/>
              <a:gd name="connsiteX1536" fmla="*/ 6760921 w 7289379"/>
              <a:gd name="connsiteY1536" fmla="*/ 1589310 h 4442370"/>
              <a:gd name="connsiteX1537" fmla="*/ 6752181 w 7289379"/>
              <a:gd name="connsiteY1537" fmla="*/ 1578147 h 4442370"/>
              <a:gd name="connsiteX1538" fmla="*/ 6693940 w 7289379"/>
              <a:gd name="connsiteY1538" fmla="*/ 1550961 h 4442370"/>
              <a:gd name="connsiteX1539" fmla="*/ 6751187 w 7289379"/>
              <a:gd name="connsiteY1539" fmla="*/ 1523779 h 4442370"/>
              <a:gd name="connsiteX1540" fmla="*/ 6760921 w 7289379"/>
              <a:gd name="connsiteY1540" fmla="*/ 1512127 h 4442370"/>
              <a:gd name="connsiteX1541" fmla="*/ 6749737 w 7289379"/>
              <a:gd name="connsiteY1541" fmla="*/ 1500479 h 4442370"/>
              <a:gd name="connsiteX1542" fmla="*/ 6735197 w 7289379"/>
              <a:gd name="connsiteY1542" fmla="*/ 1508730 h 4442370"/>
              <a:gd name="connsiteX1543" fmla="*/ 6689549 w 7289379"/>
              <a:gd name="connsiteY1543" fmla="*/ 1542225 h 4442370"/>
              <a:gd name="connsiteX1544" fmla="*/ 6695845 w 7289379"/>
              <a:gd name="connsiteY1544" fmla="*/ 1472323 h 4442370"/>
              <a:gd name="connsiteX1545" fmla="*/ 6685200 w 7289379"/>
              <a:gd name="connsiteY1545" fmla="*/ 1461645 h 4442370"/>
              <a:gd name="connsiteX1546" fmla="*/ 6674015 w 7289379"/>
              <a:gd name="connsiteY1546" fmla="*/ 1472323 h 4442370"/>
              <a:gd name="connsiteX1547" fmla="*/ 6679856 w 7289379"/>
              <a:gd name="connsiteY1547" fmla="*/ 1542225 h 4442370"/>
              <a:gd name="connsiteX1548" fmla="*/ 6628864 w 7289379"/>
              <a:gd name="connsiteY1548" fmla="*/ 1505329 h 4442370"/>
              <a:gd name="connsiteX1549" fmla="*/ 6619668 w 7289379"/>
              <a:gd name="connsiteY1549" fmla="*/ 1500479 h 4442370"/>
              <a:gd name="connsiteX1550" fmla="*/ 6608484 w 7289379"/>
              <a:gd name="connsiteY1550" fmla="*/ 1512127 h 4442370"/>
              <a:gd name="connsiteX1551" fmla="*/ 6617224 w 7289379"/>
              <a:gd name="connsiteY1551" fmla="*/ 1523290 h 4442370"/>
              <a:gd name="connsiteX1552" fmla="*/ 6675465 w 7289379"/>
              <a:gd name="connsiteY1552" fmla="*/ 1550476 h 4442370"/>
              <a:gd name="connsiteX1553" fmla="*/ 6618177 w 7289379"/>
              <a:gd name="connsiteY1553" fmla="*/ 1577658 h 4442370"/>
              <a:gd name="connsiteX1554" fmla="*/ 6608484 w 7289379"/>
              <a:gd name="connsiteY1554" fmla="*/ 1589310 h 4442370"/>
              <a:gd name="connsiteX1555" fmla="*/ 6622071 w 7289379"/>
              <a:gd name="connsiteY1555" fmla="*/ 1600959 h 4442370"/>
              <a:gd name="connsiteX1556" fmla="*/ 6679856 w 7289379"/>
              <a:gd name="connsiteY1556" fmla="*/ 1559212 h 4442370"/>
              <a:gd name="connsiteX1557" fmla="*/ 6674015 w 7289379"/>
              <a:gd name="connsiteY1557" fmla="*/ 1629598 h 4442370"/>
              <a:gd name="connsiteX1558" fmla="*/ 6684702 w 7289379"/>
              <a:gd name="connsiteY1558" fmla="*/ 1639793 h 4442370"/>
              <a:gd name="connsiteX1559" fmla="*/ 6695845 w 7289379"/>
              <a:gd name="connsiteY1559" fmla="*/ 1629598 h 4442370"/>
              <a:gd name="connsiteX1560" fmla="*/ 6689549 w 7289379"/>
              <a:gd name="connsiteY1560" fmla="*/ 1559212 h 4442370"/>
              <a:gd name="connsiteX1561" fmla="*/ 6742943 w 7289379"/>
              <a:gd name="connsiteY1561" fmla="*/ 1598531 h 4442370"/>
              <a:gd name="connsiteX1562" fmla="*/ 6749737 w 7289379"/>
              <a:gd name="connsiteY1562" fmla="*/ 1600959 h 4442370"/>
              <a:gd name="connsiteX1563" fmla="*/ 6760921 w 7289379"/>
              <a:gd name="connsiteY1563" fmla="*/ 1589310 h 4442370"/>
              <a:gd name="connsiteX1564" fmla="*/ 6967207 w 7289379"/>
              <a:gd name="connsiteY1564" fmla="*/ 1589310 h 4442370"/>
              <a:gd name="connsiteX1565" fmla="*/ 6958467 w 7289379"/>
              <a:gd name="connsiteY1565" fmla="*/ 1578147 h 4442370"/>
              <a:gd name="connsiteX1566" fmla="*/ 6900226 w 7289379"/>
              <a:gd name="connsiteY1566" fmla="*/ 1550961 h 4442370"/>
              <a:gd name="connsiteX1567" fmla="*/ 6957515 w 7289379"/>
              <a:gd name="connsiteY1567" fmla="*/ 1523779 h 4442370"/>
              <a:gd name="connsiteX1568" fmla="*/ 6967207 w 7289379"/>
              <a:gd name="connsiteY1568" fmla="*/ 1512127 h 4442370"/>
              <a:gd name="connsiteX1569" fmla="*/ 6956065 w 7289379"/>
              <a:gd name="connsiteY1569" fmla="*/ 1500479 h 4442370"/>
              <a:gd name="connsiteX1570" fmla="*/ 6941484 w 7289379"/>
              <a:gd name="connsiteY1570" fmla="*/ 1508730 h 4442370"/>
              <a:gd name="connsiteX1571" fmla="*/ 6895877 w 7289379"/>
              <a:gd name="connsiteY1571" fmla="*/ 1542225 h 4442370"/>
              <a:gd name="connsiteX1572" fmla="*/ 6902173 w 7289379"/>
              <a:gd name="connsiteY1572" fmla="*/ 1472323 h 4442370"/>
              <a:gd name="connsiteX1573" fmla="*/ 6891486 w 7289379"/>
              <a:gd name="connsiteY1573" fmla="*/ 1461645 h 4442370"/>
              <a:gd name="connsiteX1574" fmla="*/ 6880343 w 7289379"/>
              <a:gd name="connsiteY1574" fmla="*/ 1472323 h 4442370"/>
              <a:gd name="connsiteX1575" fmla="*/ 6886143 w 7289379"/>
              <a:gd name="connsiteY1575" fmla="*/ 1542225 h 4442370"/>
              <a:gd name="connsiteX1576" fmla="*/ 6835192 w 7289379"/>
              <a:gd name="connsiteY1576" fmla="*/ 1505329 h 4442370"/>
              <a:gd name="connsiteX1577" fmla="*/ 6825955 w 7289379"/>
              <a:gd name="connsiteY1577" fmla="*/ 1500479 h 4442370"/>
              <a:gd name="connsiteX1578" fmla="*/ 6814812 w 7289379"/>
              <a:gd name="connsiteY1578" fmla="*/ 1512127 h 4442370"/>
              <a:gd name="connsiteX1579" fmla="*/ 6823511 w 7289379"/>
              <a:gd name="connsiteY1579" fmla="*/ 1523290 h 4442370"/>
              <a:gd name="connsiteX1580" fmla="*/ 6881793 w 7289379"/>
              <a:gd name="connsiteY1580" fmla="*/ 1550476 h 4442370"/>
              <a:gd name="connsiteX1581" fmla="*/ 6824505 w 7289379"/>
              <a:gd name="connsiteY1581" fmla="*/ 1577658 h 4442370"/>
              <a:gd name="connsiteX1582" fmla="*/ 6814812 w 7289379"/>
              <a:gd name="connsiteY1582" fmla="*/ 1589310 h 4442370"/>
              <a:gd name="connsiteX1583" fmla="*/ 6828399 w 7289379"/>
              <a:gd name="connsiteY1583" fmla="*/ 1600959 h 4442370"/>
              <a:gd name="connsiteX1584" fmla="*/ 6886143 w 7289379"/>
              <a:gd name="connsiteY1584" fmla="*/ 1559212 h 4442370"/>
              <a:gd name="connsiteX1585" fmla="*/ 6880343 w 7289379"/>
              <a:gd name="connsiteY1585" fmla="*/ 1629598 h 4442370"/>
              <a:gd name="connsiteX1586" fmla="*/ 6890989 w 7289379"/>
              <a:gd name="connsiteY1586" fmla="*/ 1639793 h 4442370"/>
              <a:gd name="connsiteX1587" fmla="*/ 6902173 w 7289379"/>
              <a:gd name="connsiteY1587" fmla="*/ 1629598 h 4442370"/>
              <a:gd name="connsiteX1588" fmla="*/ 6895877 w 7289379"/>
              <a:gd name="connsiteY1588" fmla="*/ 1559212 h 4442370"/>
              <a:gd name="connsiteX1589" fmla="*/ 6949271 w 7289379"/>
              <a:gd name="connsiteY1589" fmla="*/ 1598531 h 4442370"/>
              <a:gd name="connsiteX1590" fmla="*/ 6956065 w 7289379"/>
              <a:gd name="connsiteY1590" fmla="*/ 1600959 h 4442370"/>
              <a:gd name="connsiteX1591" fmla="*/ 6967207 w 7289379"/>
              <a:gd name="connsiteY1591" fmla="*/ 1589310 h 4442370"/>
              <a:gd name="connsiteX1592" fmla="*/ 5342721 w 7289379"/>
              <a:gd name="connsiteY1592" fmla="*/ 2530673 h 4442370"/>
              <a:gd name="connsiteX1593" fmla="*/ 5335928 w 7289379"/>
              <a:gd name="connsiteY1593" fmla="*/ 2521449 h 4442370"/>
              <a:gd name="connsiteX1594" fmla="*/ 5270894 w 7289379"/>
              <a:gd name="connsiteY1594" fmla="*/ 2328252 h 4442370"/>
              <a:gd name="connsiteX1595" fmla="*/ 5337419 w 7289379"/>
              <a:gd name="connsiteY1595" fmla="*/ 2133108 h 4442370"/>
              <a:gd name="connsiteX1596" fmla="*/ 5342721 w 7289379"/>
              <a:gd name="connsiteY1596" fmla="*/ 2126314 h 4442370"/>
              <a:gd name="connsiteX1597" fmla="*/ 5338869 w 7289379"/>
              <a:gd name="connsiteY1597" fmla="*/ 2121944 h 4442370"/>
              <a:gd name="connsiteX1598" fmla="*/ 5273337 w 7289379"/>
              <a:gd name="connsiteY1598" fmla="*/ 2202524 h 4442370"/>
              <a:gd name="connsiteX1599" fmla="*/ 5247117 w 7289379"/>
              <a:gd name="connsiteY1599" fmla="*/ 2328252 h 4442370"/>
              <a:gd name="connsiteX1600" fmla="*/ 5274290 w 7289379"/>
              <a:gd name="connsiteY1600" fmla="*/ 2457371 h 4442370"/>
              <a:gd name="connsiteX1601" fmla="*/ 5338869 w 7289379"/>
              <a:gd name="connsiteY1601" fmla="*/ 2535039 h 4442370"/>
              <a:gd name="connsiteX1602" fmla="*/ 5342721 w 7289379"/>
              <a:gd name="connsiteY1602" fmla="*/ 2530673 h 4442370"/>
              <a:gd name="connsiteX1603" fmla="*/ 5552322 w 7289379"/>
              <a:gd name="connsiteY1603" fmla="*/ 2359803 h 4442370"/>
              <a:gd name="connsiteX1604" fmla="*/ 5541635 w 7289379"/>
              <a:gd name="connsiteY1604" fmla="*/ 2359803 h 4442370"/>
              <a:gd name="connsiteX1605" fmla="*/ 5532894 w 7289379"/>
              <a:gd name="connsiteY1605" fmla="*/ 2396695 h 4442370"/>
              <a:gd name="connsiteX1606" fmla="*/ 5493584 w 7289379"/>
              <a:gd name="connsiteY1606" fmla="*/ 2400092 h 4442370"/>
              <a:gd name="connsiteX1607" fmla="*/ 5419312 w 7289379"/>
              <a:gd name="connsiteY1607" fmla="*/ 2400092 h 4442370"/>
              <a:gd name="connsiteX1608" fmla="*/ 5463013 w 7289379"/>
              <a:gd name="connsiteY1608" fmla="*/ 2357376 h 4442370"/>
              <a:gd name="connsiteX1609" fmla="*/ 5552322 w 7289379"/>
              <a:gd name="connsiteY1609" fmla="*/ 2236988 h 4442370"/>
              <a:gd name="connsiteX1610" fmla="*/ 5464463 w 7289379"/>
              <a:gd name="connsiteY1610" fmla="*/ 2156893 h 4442370"/>
              <a:gd name="connsiteX1611" fmla="*/ 5387748 w 7289379"/>
              <a:gd name="connsiteY1611" fmla="*/ 2231649 h 4442370"/>
              <a:gd name="connsiteX1612" fmla="*/ 5409619 w 7289379"/>
              <a:gd name="connsiteY1612" fmla="*/ 2254465 h 4442370"/>
              <a:gd name="connsiteX1613" fmla="*/ 5430952 w 7289379"/>
              <a:gd name="connsiteY1613" fmla="*/ 2232622 h 4442370"/>
              <a:gd name="connsiteX1614" fmla="*/ 5409122 w 7289379"/>
              <a:gd name="connsiteY1614" fmla="*/ 2211261 h 4442370"/>
              <a:gd name="connsiteX1615" fmla="*/ 5403779 w 7289379"/>
              <a:gd name="connsiteY1615" fmla="*/ 2211749 h 4442370"/>
              <a:gd name="connsiteX1616" fmla="*/ 5459120 w 7289379"/>
              <a:gd name="connsiteY1616" fmla="*/ 2169514 h 4442370"/>
              <a:gd name="connsiteX1617" fmla="*/ 5514461 w 7289379"/>
              <a:gd name="connsiteY1617" fmla="*/ 2236988 h 4442370"/>
              <a:gd name="connsiteX1618" fmla="*/ 5471257 w 7289379"/>
              <a:gd name="connsiteY1618" fmla="*/ 2328252 h 4442370"/>
              <a:gd name="connsiteX1619" fmla="*/ 5392139 w 7289379"/>
              <a:gd name="connsiteY1619" fmla="*/ 2416599 h 4442370"/>
              <a:gd name="connsiteX1620" fmla="*/ 5387748 w 7289379"/>
              <a:gd name="connsiteY1620" fmla="*/ 2431643 h 4442370"/>
              <a:gd name="connsiteX1621" fmla="*/ 5540681 w 7289379"/>
              <a:gd name="connsiteY1621" fmla="*/ 2431643 h 4442370"/>
              <a:gd name="connsiteX1622" fmla="*/ 5761549 w 7289379"/>
              <a:gd name="connsiteY1622" fmla="*/ 2361258 h 4442370"/>
              <a:gd name="connsiteX1623" fmla="*/ 5693077 w 7289379"/>
              <a:gd name="connsiteY1623" fmla="*/ 2286501 h 4442370"/>
              <a:gd name="connsiteX1624" fmla="*/ 5750862 w 7289379"/>
              <a:gd name="connsiteY1624" fmla="*/ 2213688 h 4442370"/>
              <a:gd name="connsiteX1625" fmla="*/ 5674644 w 7289379"/>
              <a:gd name="connsiteY1625" fmla="*/ 2156893 h 4442370"/>
              <a:gd name="connsiteX1626" fmla="*/ 5601822 w 7289379"/>
              <a:gd name="connsiteY1626" fmla="*/ 2212719 h 4442370"/>
              <a:gd name="connsiteX1627" fmla="*/ 5622699 w 7289379"/>
              <a:gd name="connsiteY1627" fmla="*/ 2234561 h 4442370"/>
              <a:gd name="connsiteX1628" fmla="*/ 5643577 w 7289379"/>
              <a:gd name="connsiteY1628" fmla="*/ 2213203 h 4442370"/>
              <a:gd name="connsiteX1629" fmla="*/ 5618350 w 7289379"/>
              <a:gd name="connsiteY1629" fmla="*/ 2192815 h 4442370"/>
              <a:gd name="connsiteX1630" fmla="*/ 5673194 w 7289379"/>
              <a:gd name="connsiteY1630" fmla="*/ 2167087 h 4442370"/>
              <a:gd name="connsiteX1631" fmla="*/ 5712505 w 7289379"/>
              <a:gd name="connsiteY1631" fmla="*/ 2213203 h 4442370"/>
              <a:gd name="connsiteX1632" fmla="*/ 5701361 w 7289379"/>
              <a:gd name="connsiteY1632" fmla="*/ 2260289 h 4442370"/>
              <a:gd name="connsiteX1633" fmla="*/ 5664454 w 7289379"/>
              <a:gd name="connsiteY1633" fmla="*/ 2281651 h 4442370"/>
              <a:gd name="connsiteX1634" fmla="*/ 5648423 w 7289379"/>
              <a:gd name="connsiteY1634" fmla="*/ 2283105 h 4442370"/>
              <a:gd name="connsiteX1635" fmla="*/ 5642127 w 7289379"/>
              <a:gd name="connsiteY1635" fmla="*/ 2287959 h 4442370"/>
              <a:gd name="connsiteX1636" fmla="*/ 5651819 w 7289379"/>
              <a:gd name="connsiteY1636" fmla="*/ 2292814 h 4442370"/>
              <a:gd name="connsiteX1637" fmla="*/ 5670294 w 7289379"/>
              <a:gd name="connsiteY1637" fmla="*/ 2292814 h 4442370"/>
              <a:gd name="connsiteX1638" fmla="*/ 5719297 w 7289379"/>
              <a:gd name="connsiteY1638" fmla="*/ 2361258 h 4442370"/>
              <a:gd name="connsiteX1639" fmla="*/ 5672696 w 7289379"/>
              <a:gd name="connsiteY1639" fmla="*/ 2429220 h 4442370"/>
              <a:gd name="connsiteX1640" fmla="*/ 5609609 w 7289379"/>
              <a:gd name="connsiteY1640" fmla="*/ 2397664 h 4442370"/>
              <a:gd name="connsiteX1641" fmla="*/ 5636783 w 7289379"/>
              <a:gd name="connsiteY1641" fmla="*/ 2375337 h 4442370"/>
              <a:gd name="connsiteX1642" fmla="*/ 5613504 w 7289379"/>
              <a:gd name="connsiteY1642" fmla="*/ 2352037 h 4442370"/>
              <a:gd name="connsiteX1643" fmla="*/ 5590679 w 7289379"/>
              <a:gd name="connsiteY1643" fmla="*/ 2375822 h 4442370"/>
              <a:gd name="connsiteX1644" fmla="*/ 5673691 w 7289379"/>
              <a:gd name="connsiteY1644" fmla="*/ 2440868 h 4442370"/>
              <a:gd name="connsiteX1645" fmla="*/ 5761549 w 7289379"/>
              <a:gd name="connsiteY1645" fmla="*/ 2361258 h 4442370"/>
              <a:gd name="connsiteX1646" fmla="*/ 5858728 w 7289379"/>
              <a:gd name="connsiteY1646" fmla="*/ 2409801 h 4442370"/>
              <a:gd name="connsiteX1647" fmla="*/ 5836897 w 7289379"/>
              <a:gd name="connsiteY1647" fmla="*/ 2387959 h 4442370"/>
              <a:gd name="connsiteX1648" fmla="*/ 5815068 w 7289379"/>
              <a:gd name="connsiteY1648" fmla="*/ 2409801 h 4442370"/>
              <a:gd name="connsiteX1649" fmla="*/ 5836897 w 7289379"/>
              <a:gd name="connsiteY1649" fmla="*/ 2431648 h 4442370"/>
              <a:gd name="connsiteX1650" fmla="*/ 5858728 w 7289379"/>
              <a:gd name="connsiteY1650" fmla="*/ 2409801 h 4442370"/>
              <a:gd name="connsiteX1651" fmla="*/ 6084110 w 7289379"/>
              <a:gd name="connsiteY1651" fmla="*/ 2299612 h 4442370"/>
              <a:gd name="connsiteX1652" fmla="*/ 6067582 w 7289379"/>
              <a:gd name="connsiteY1652" fmla="*/ 2203009 h 4442370"/>
              <a:gd name="connsiteX1653" fmla="*/ 5997702 w 7289379"/>
              <a:gd name="connsiteY1653" fmla="*/ 2156893 h 4442370"/>
              <a:gd name="connsiteX1654" fmla="*/ 5925875 w 7289379"/>
              <a:gd name="connsiteY1654" fmla="*/ 2205921 h 4442370"/>
              <a:gd name="connsiteX1655" fmla="*/ 5910341 w 7289379"/>
              <a:gd name="connsiteY1655" fmla="*/ 2299612 h 4442370"/>
              <a:gd name="connsiteX1656" fmla="*/ 5928774 w 7289379"/>
              <a:gd name="connsiteY1656" fmla="*/ 2399122 h 4442370"/>
              <a:gd name="connsiteX1657" fmla="*/ 5997205 w 7289379"/>
              <a:gd name="connsiteY1657" fmla="*/ 2440868 h 4442370"/>
              <a:gd name="connsiteX1658" fmla="*/ 6069073 w 7289379"/>
              <a:gd name="connsiteY1658" fmla="*/ 2392814 h 4442370"/>
              <a:gd name="connsiteX1659" fmla="*/ 6084110 w 7289379"/>
              <a:gd name="connsiteY1659" fmla="*/ 2299612 h 4442370"/>
              <a:gd name="connsiteX1660" fmla="*/ 6049646 w 7289379"/>
              <a:gd name="connsiteY1660" fmla="*/ 2294757 h 4442370"/>
              <a:gd name="connsiteX1661" fmla="*/ 6045255 w 7289379"/>
              <a:gd name="connsiteY1661" fmla="*/ 2380192 h 4442370"/>
              <a:gd name="connsiteX1662" fmla="*/ 5997205 w 7289379"/>
              <a:gd name="connsiteY1662" fmla="*/ 2431648 h 4442370"/>
              <a:gd name="connsiteX1663" fmla="*/ 5949154 w 7289379"/>
              <a:gd name="connsiteY1663" fmla="*/ 2381646 h 4442370"/>
              <a:gd name="connsiteX1664" fmla="*/ 5944804 w 7289379"/>
              <a:gd name="connsiteY1664" fmla="*/ 2294757 h 4442370"/>
              <a:gd name="connsiteX1665" fmla="*/ 5948201 w 7289379"/>
              <a:gd name="connsiteY1665" fmla="*/ 2218543 h 4442370"/>
              <a:gd name="connsiteX1666" fmla="*/ 5997205 w 7289379"/>
              <a:gd name="connsiteY1666" fmla="*/ 2166118 h 4442370"/>
              <a:gd name="connsiteX1667" fmla="*/ 6045753 w 7289379"/>
              <a:gd name="connsiteY1667" fmla="*/ 2214177 h 4442370"/>
              <a:gd name="connsiteX1668" fmla="*/ 6049646 w 7289379"/>
              <a:gd name="connsiteY1668" fmla="*/ 2294757 h 4442370"/>
              <a:gd name="connsiteX1669" fmla="*/ 6290397 w 7289379"/>
              <a:gd name="connsiteY1669" fmla="*/ 2299612 h 4442370"/>
              <a:gd name="connsiteX1670" fmla="*/ 6273910 w 7289379"/>
              <a:gd name="connsiteY1670" fmla="*/ 2203009 h 4442370"/>
              <a:gd name="connsiteX1671" fmla="*/ 6203988 w 7289379"/>
              <a:gd name="connsiteY1671" fmla="*/ 2156893 h 4442370"/>
              <a:gd name="connsiteX1672" fmla="*/ 6132161 w 7289379"/>
              <a:gd name="connsiteY1672" fmla="*/ 2205921 h 4442370"/>
              <a:gd name="connsiteX1673" fmla="*/ 6116627 w 7289379"/>
              <a:gd name="connsiteY1673" fmla="*/ 2299612 h 4442370"/>
              <a:gd name="connsiteX1674" fmla="*/ 6135060 w 7289379"/>
              <a:gd name="connsiteY1674" fmla="*/ 2399122 h 4442370"/>
              <a:gd name="connsiteX1675" fmla="*/ 6203532 w 7289379"/>
              <a:gd name="connsiteY1675" fmla="*/ 2440868 h 4442370"/>
              <a:gd name="connsiteX1676" fmla="*/ 6275360 w 7289379"/>
              <a:gd name="connsiteY1676" fmla="*/ 2392814 h 4442370"/>
              <a:gd name="connsiteX1677" fmla="*/ 6290397 w 7289379"/>
              <a:gd name="connsiteY1677" fmla="*/ 2299612 h 4442370"/>
              <a:gd name="connsiteX1678" fmla="*/ 6255933 w 7289379"/>
              <a:gd name="connsiteY1678" fmla="*/ 2294757 h 4442370"/>
              <a:gd name="connsiteX1679" fmla="*/ 6251583 w 7289379"/>
              <a:gd name="connsiteY1679" fmla="*/ 2380192 h 4442370"/>
              <a:gd name="connsiteX1680" fmla="*/ 6203532 w 7289379"/>
              <a:gd name="connsiteY1680" fmla="*/ 2431648 h 4442370"/>
              <a:gd name="connsiteX1681" fmla="*/ 6155482 w 7289379"/>
              <a:gd name="connsiteY1681" fmla="*/ 2381646 h 4442370"/>
              <a:gd name="connsiteX1682" fmla="*/ 6151091 w 7289379"/>
              <a:gd name="connsiteY1682" fmla="*/ 2294757 h 4442370"/>
              <a:gd name="connsiteX1683" fmla="*/ 6154488 w 7289379"/>
              <a:gd name="connsiteY1683" fmla="*/ 2218543 h 4442370"/>
              <a:gd name="connsiteX1684" fmla="*/ 6203532 w 7289379"/>
              <a:gd name="connsiteY1684" fmla="*/ 2166118 h 4442370"/>
              <a:gd name="connsiteX1685" fmla="*/ 6252081 w 7289379"/>
              <a:gd name="connsiteY1685" fmla="*/ 2214177 h 4442370"/>
              <a:gd name="connsiteX1686" fmla="*/ 6255933 w 7289379"/>
              <a:gd name="connsiteY1686" fmla="*/ 2294757 h 4442370"/>
              <a:gd name="connsiteX1687" fmla="*/ 6492334 w 7289379"/>
              <a:gd name="connsiteY1687" fmla="*/ 2359803 h 4442370"/>
              <a:gd name="connsiteX1688" fmla="*/ 6481689 w 7289379"/>
              <a:gd name="connsiteY1688" fmla="*/ 2359803 h 4442370"/>
              <a:gd name="connsiteX1689" fmla="*/ 6472948 w 7289379"/>
              <a:gd name="connsiteY1689" fmla="*/ 2396695 h 4442370"/>
              <a:gd name="connsiteX1690" fmla="*/ 6433596 w 7289379"/>
              <a:gd name="connsiteY1690" fmla="*/ 2400092 h 4442370"/>
              <a:gd name="connsiteX1691" fmla="*/ 6359325 w 7289379"/>
              <a:gd name="connsiteY1691" fmla="*/ 2400092 h 4442370"/>
              <a:gd name="connsiteX1692" fmla="*/ 6403026 w 7289379"/>
              <a:gd name="connsiteY1692" fmla="*/ 2357376 h 4442370"/>
              <a:gd name="connsiteX1693" fmla="*/ 6492334 w 7289379"/>
              <a:gd name="connsiteY1693" fmla="*/ 2236988 h 4442370"/>
              <a:gd name="connsiteX1694" fmla="*/ 6404475 w 7289379"/>
              <a:gd name="connsiteY1694" fmla="*/ 2156893 h 4442370"/>
              <a:gd name="connsiteX1695" fmla="*/ 6327802 w 7289379"/>
              <a:gd name="connsiteY1695" fmla="*/ 2231649 h 4442370"/>
              <a:gd name="connsiteX1696" fmla="*/ 6349632 w 7289379"/>
              <a:gd name="connsiteY1696" fmla="*/ 2254465 h 4442370"/>
              <a:gd name="connsiteX1697" fmla="*/ 6371006 w 7289379"/>
              <a:gd name="connsiteY1697" fmla="*/ 2232622 h 4442370"/>
              <a:gd name="connsiteX1698" fmla="*/ 6349134 w 7289379"/>
              <a:gd name="connsiteY1698" fmla="*/ 2211261 h 4442370"/>
              <a:gd name="connsiteX1699" fmla="*/ 6343791 w 7289379"/>
              <a:gd name="connsiteY1699" fmla="*/ 2211749 h 4442370"/>
              <a:gd name="connsiteX1700" fmla="*/ 6399132 w 7289379"/>
              <a:gd name="connsiteY1700" fmla="*/ 2169514 h 4442370"/>
              <a:gd name="connsiteX1701" fmla="*/ 6454473 w 7289379"/>
              <a:gd name="connsiteY1701" fmla="*/ 2236988 h 4442370"/>
              <a:gd name="connsiteX1702" fmla="*/ 6411269 w 7289379"/>
              <a:gd name="connsiteY1702" fmla="*/ 2328252 h 4442370"/>
              <a:gd name="connsiteX1703" fmla="*/ 6332151 w 7289379"/>
              <a:gd name="connsiteY1703" fmla="*/ 2416599 h 4442370"/>
              <a:gd name="connsiteX1704" fmla="*/ 6327802 w 7289379"/>
              <a:gd name="connsiteY1704" fmla="*/ 2431648 h 4442370"/>
              <a:gd name="connsiteX1705" fmla="*/ 6480694 w 7289379"/>
              <a:gd name="connsiteY1705" fmla="*/ 2431648 h 4442370"/>
              <a:gd name="connsiteX1706" fmla="*/ 6632758 w 7289379"/>
              <a:gd name="connsiteY1706" fmla="*/ 2328252 h 4442370"/>
              <a:gd name="connsiteX1707" fmla="*/ 6605585 w 7289379"/>
              <a:gd name="connsiteY1707" fmla="*/ 2199612 h 4442370"/>
              <a:gd name="connsiteX1708" fmla="*/ 6541006 w 7289379"/>
              <a:gd name="connsiteY1708" fmla="*/ 2121944 h 4442370"/>
              <a:gd name="connsiteX1709" fmla="*/ 6536657 w 7289379"/>
              <a:gd name="connsiteY1709" fmla="*/ 2126314 h 4442370"/>
              <a:gd name="connsiteX1710" fmla="*/ 6544899 w 7289379"/>
              <a:gd name="connsiteY1710" fmla="*/ 2136020 h 4442370"/>
              <a:gd name="connsiteX1711" fmla="*/ 6608484 w 7289379"/>
              <a:gd name="connsiteY1711" fmla="*/ 2328252 h 4442370"/>
              <a:gd name="connsiteX1712" fmla="*/ 6542456 w 7289379"/>
              <a:gd name="connsiteY1712" fmla="*/ 2523876 h 4442370"/>
              <a:gd name="connsiteX1713" fmla="*/ 6536657 w 7289379"/>
              <a:gd name="connsiteY1713" fmla="*/ 2530673 h 4442370"/>
              <a:gd name="connsiteX1714" fmla="*/ 6541006 w 7289379"/>
              <a:gd name="connsiteY1714" fmla="*/ 2535039 h 4442370"/>
              <a:gd name="connsiteX1715" fmla="*/ 6606537 w 7289379"/>
              <a:gd name="connsiteY1715" fmla="*/ 2454459 h 4442370"/>
              <a:gd name="connsiteX1716" fmla="*/ 6632758 w 7289379"/>
              <a:gd name="connsiteY1716" fmla="*/ 2328252 h 4442370"/>
              <a:gd name="connsiteX1717" fmla="*/ 369064 w 7289379"/>
              <a:gd name="connsiteY1717" fmla="*/ 3190973 h 4442370"/>
              <a:gd name="connsiteX1718" fmla="*/ 362269 w 7289379"/>
              <a:gd name="connsiteY1718" fmla="*/ 3181748 h 4442370"/>
              <a:gd name="connsiteX1719" fmla="*/ 297222 w 7289379"/>
              <a:gd name="connsiteY1719" fmla="*/ 2988551 h 4442370"/>
              <a:gd name="connsiteX1720" fmla="*/ 363725 w 7289379"/>
              <a:gd name="connsiteY1720" fmla="*/ 2793407 h 4442370"/>
              <a:gd name="connsiteX1721" fmla="*/ 369064 w 7289379"/>
              <a:gd name="connsiteY1721" fmla="*/ 2786614 h 4442370"/>
              <a:gd name="connsiteX1722" fmla="*/ 365181 w 7289379"/>
              <a:gd name="connsiteY1722" fmla="*/ 2782244 h 4442370"/>
              <a:gd name="connsiteX1723" fmla="*/ 299649 w 7289379"/>
              <a:gd name="connsiteY1723" fmla="*/ 2862824 h 4442370"/>
              <a:gd name="connsiteX1724" fmla="*/ 273436 w 7289379"/>
              <a:gd name="connsiteY1724" fmla="*/ 2988551 h 4442370"/>
              <a:gd name="connsiteX1725" fmla="*/ 300620 w 7289379"/>
              <a:gd name="connsiteY1725" fmla="*/ 3117675 h 4442370"/>
              <a:gd name="connsiteX1726" fmla="*/ 365181 w 7289379"/>
              <a:gd name="connsiteY1726" fmla="*/ 3195343 h 4442370"/>
              <a:gd name="connsiteX1727" fmla="*/ 369064 w 7289379"/>
              <a:gd name="connsiteY1727" fmla="*/ 3190973 h 4442370"/>
              <a:gd name="connsiteX1728" fmla="*/ 530588 w 7289379"/>
              <a:gd name="connsiteY1728" fmla="*/ 3091947 h 4442370"/>
              <a:gd name="connsiteX1729" fmla="*/ 530588 w 7289379"/>
              <a:gd name="connsiteY1729" fmla="*/ 3079325 h 4442370"/>
              <a:gd name="connsiteX1730" fmla="*/ 519909 w 7289379"/>
              <a:gd name="connsiteY1730" fmla="*/ 3079325 h 4442370"/>
              <a:gd name="connsiteX1731" fmla="*/ 485930 w 7289379"/>
              <a:gd name="connsiteY1731" fmla="*/ 3059906 h 4442370"/>
              <a:gd name="connsiteX1732" fmla="*/ 485930 w 7289379"/>
              <a:gd name="connsiteY1732" fmla="*/ 2842436 h 4442370"/>
              <a:gd name="connsiteX1733" fmla="*/ 519909 w 7289379"/>
              <a:gd name="connsiteY1733" fmla="*/ 2823021 h 4442370"/>
              <a:gd name="connsiteX1734" fmla="*/ 530588 w 7289379"/>
              <a:gd name="connsiteY1734" fmla="*/ 2823021 h 4442370"/>
              <a:gd name="connsiteX1735" fmla="*/ 530588 w 7289379"/>
              <a:gd name="connsiteY1735" fmla="*/ 2809914 h 4442370"/>
              <a:gd name="connsiteX1736" fmla="*/ 467969 w 7289379"/>
              <a:gd name="connsiteY1736" fmla="*/ 2811368 h 4442370"/>
              <a:gd name="connsiteX1737" fmla="*/ 404865 w 7289379"/>
              <a:gd name="connsiteY1737" fmla="*/ 2809914 h 4442370"/>
              <a:gd name="connsiteX1738" fmla="*/ 404865 w 7289379"/>
              <a:gd name="connsiteY1738" fmla="*/ 2823021 h 4442370"/>
              <a:gd name="connsiteX1739" fmla="*/ 415544 w 7289379"/>
              <a:gd name="connsiteY1739" fmla="*/ 2823021 h 4442370"/>
              <a:gd name="connsiteX1740" fmla="*/ 449523 w 7289379"/>
              <a:gd name="connsiteY1740" fmla="*/ 2842436 h 4442370"/>
              <a:gd name="connsiteX1741" fmla="*/ 449523 w 7289379"/>
              <a:gd name="connsiteY1741" fmla="*/ 3059906 h 4442370"/>
              <a:gd name="connsiteX1742" fmla="*/ 415544 w 7289379"/>
              <a:gd name="connsiteY1742" fmla="*/ 3079325 h 4442370"/>
              <a:gd name="connsiteX1743" fmla="*/ 404865 w 7289379"/>
              <a:gd name="connsiteY1743" fmla="*/ 3079325 h 4442370"/>
              <a:gd name="connsiteX1744" fmla="*/ 404865 w 7289379"/>
              <a:gd name="connsiteY1744" fmla="*/ 3091947 h 4442370"/>
              <a:gd name="connsiteX1745" fmla="*/ 467484 w 7289379"/>
              <a:gd name="connsiteY1745" fmla="*/ 3090489 h 4442370"/>
              <a:gd name="connsiteX1746" fmla="*/ 530588 w 7289379"/>
              <a:gd name="connsiteY1746" fmla="*/ 3091947 h 4442370"/>
              <a:gd name="connsiteX1747" fmla="*/ 763108 w 7289379"/>
              <a:gd name="connsiteY1747" fmla="*/ 3091947 h 4442370"/>
              <a:gd name="connsiteX1748" fmla="*/ 763108 w 7289379"/>
              <a:gd name="connsiteY1748" fmla="*/ 3079325 h 4442370"/>
              <a:gd name="connsiteX1749" fmla="*/ 730587 w 7289379"/>
              <a:gd name="connsiteY1749" fmla="*/ 3066704 h 4442370"/>
              <a:gd name="connsiteX1750" fmla="*/ 730587 w 7289379"/>
              <a:gd name="connsiteY1750" fmla="*/ 2988067 h 4442370"/>
              <a:gd name="connsiteX1751" fmla="*/ 717965 w 7289379"/>
              <a:gd name="connsiteY1751" fmla="*/ 2924958 h 4442370"/>
              <a:gd name="connsiteX1752" fmla="*/ 674761 w 7289379"/>
              <a:gd name="connsiteY1752" fmla="*/ 2909425 h 4442370"/>
              <a:gd name="connsiteX1753" fmla="*/ 613600 w 7289379"/>
              <a:gd name="connsiteY1753" fmla="*/ 2953114 h 4442370"/>
              <a:gd name="connsiteX1754" fmla="*/ 613600 w 7289379"/>
              <a:gd name="connsiteY1754" fmla="*/ 2909425 h 4442370"/>
              <a:gd name="connsiteX1755" fmla="*/ 555347 w 7289379"/>
              <a:gd name="connsiteY1755" fmla="*/ 2914280 h 4442370"/>
              <a:gd name="connsiteX1756" fmla="*/ 555347 w 7289379"/>
              <a:gd name="connsiteY1756" fmla="*/ 2926901 h 4442370"/>
              <a:gd name="connsiteX1757" fmla="*/ 587872 w 7289379"/>
              <a:gd name="connsiteY1757" fmla="*/ 2950202 h 4442370"/>
              <a:gd name="connsiteX1758" fmla="*/ 587872 w 7289379"/>
              <a:gd name="connsiteY1758" fmla="*/ 3060395 h 4442370"/>
              <a:gd name="connsiteX1759" fmla="*/ 555347 w 7289379"/>
              <a:gd name="connsiteY1759" fmla="*/ 3079325 h 4442370"/>
              <a:gd name="connsiteX1760" fmla="*/ 555347 w 7289379"/>
              <a:gd name="connsiteY1760" fmla="*/ 3091947 h 4442370"/>
              <a:gd name="connsiteX1761" fmla="*/ 601948 w 7289379"/>
              <a:gd name="connsiteY1761" fmla="*/ 3090489 h 4442370"/>
              <a:gd name="connsiteX1762" fmla="*/ 648064 w 7289379"/>
              <a:gd name="connsiteY1762" fmla="*/ 3091947 h 4442370"/>
              <a:gd name="connsiteX1763" fmla="*/ 648064 w 7289379"/>
              <a:gd name="connsiteY1763" fmla="*/ 3079325 h 4442370"/>
              <a:gd name="connsiteX1764" fmla="*/ 616023 w 7289379"/>
              <a:gd name="connsiteY1764" fmla="*/ 3060395 h 4442370"/>
              <a:gd name="connsiteX1765" fmla="*/ 616023 w 7289379"/>
              <a:gd name="connsiteY1765" fmla="*/ 2984666 h 4442370"/>
              <a:gd name="connsiteX1766" fmla="*/ 671849 w 7289379"/>
              <a:gd name="connsiteY1766" fmla="*/ 2918650 h 4442370"/>
              <a:gd name="connsiteX1767" fmla="*/ 702431 w 7289379"/>
              <a:gd name="connsiteY1767" fmla="*/ 2964277 h 4442370"/>
              <a:gd name="connsiteX1768" fmla="*/ 702431 w 7289379"/>
              <a:gd name="connsiteY1768" fmla="*/ 3060395 h 4442370"/>
              <a:gd name="connsiteX1769" fmla="*/ 670391 w 7289379"/>
              <a:gd name="connsiteY1769" fmla="*/ 3079325 h 4442370"/>
              <a:gd name="connsiteX1770" fmla="*/ 670391 w 7289379"/>
              <a:gd name="connsiteY1770" fmla="*/ 3091947 h 4442370"/>
              <a:gd name="connsiteX1771" fmla="*/ 716992 w 7289379"/>
              <a:gd name="connsiteY1771" fmla="*/ 3090489 h 4442370"/>
              <a:gd name="connsiteX1772" fmla="*/ 897451 w 7289379"/>
              <a:gd name="connsiteY1772" fmla="*/ 3040976 h 4442370"/>
              <a:gd name="connsiteX1773" fmla="*/ 897451 w 7289379"/>
              <a:gd name="connsiteY1773" fmla="*/ 3017191 h 4442370"/>
              <a:gd name="connsiteX1774" fmla="*/ 887257 w 7289379"/>
              <a:gd name="connsiteY1774" fmla="*/ 3017191 h 4442370"/>
              <a:gd name="connsiteX1775" fmla="*/ 887257 w 7289379"/>
              <a:gd name="connsiteY1775" fmla="*/ 3040007 h 4442370"/>
              <a:gd name="connsiteX1776" fmla="*/ 859586 w 7289379"/>
              <a:gd name="connsiteY1776" fmla="*/ 3086123 h 4442370"/>
              <a:gd name="connsiteX1777" fmla="*/ 831920 w 7289379"/>
              <a:gd name="connsiteY1777" fmla="*/ 3041461 h 4442370"/>
              <a:gd name="connsiteX1778" fmla="*/ 831920 w 7289379"/>
              <a:gd name="connsiteY1778" fmla="*/ 2926901 h 4442370"/>
              <a:gd name="connsiteX1779" fmla="*/ 891138 w 7289379"/>
              <a:gd name="connsiteY1779" fmla="*/ 2926901 h 4442370"/>
              <a:gd name="connsiteX1780" fmla="*/ 891138 w 7289379"/>
              <a:gd name="connsiteY1780" fmla="*/ 2914280 h 4442370"/>
              <a:gd name="connsiteX1781" fmla="*/ 831920 w 7289379"/>
              <a:gd name="connsiteY1781" fmla="*/ 2914280 h 4442370"/>
              <a:gd name="connsiteX1782" fmla="*/ 831920 w 7289379"/>
              <a:gd name="connsiteY1782" fmla="*/ 2838070 h 4442370"/>
              <a:gd name="connsiteX1783" fmla="*/ 821726 w 7289379"/>
              <a:gd name="connsiteY1783" fmla="*/ 2838070 h 4442370"/>
              <a:gd name="connsiteX1784" fmla="*/ 768327 w 7289379"/>
              <a:gd name="connsiteY1784" fmla="*/ 2917676 h 4442370"/>
              <a:gd name="connsiteX1785" fmla="*/ 768327 w 7289379"/>
              <a:gd name="connsiteY1785" fmla="*/ 2926901 h 4442370"/>
              <a:gd name="connsiteX1786" fmla="*/ 803280 w 7289379"/>
              <a:gd name="connsiteY1786" fmla="*/ 2926901 h 4442370"/>
              <a:gd name="connsiteX1787" fmla="*/ 803280 w 7289379"/>
              <a:gd name="connsiteY1787" fmla="*/ 3040976 h 4442370"/>
              <a:gd name="connsiteX1788" fmla="*/ 856674 w 7289379"/>
              <a:gd name="connsiteY1788" fmla="*/ 3096313 h 4442370"/>
              <a:gd name="connsiteX1789" fmla="*/ 897451 w 7289379"/>
              <a:gd name="connsiteY1789" fmla="*/ 3040976 h 4442370"/>
              <a:gd name="connsiteX1790" fmla="*/ 1092351 w 7289379"/>
              <a:gd name="connsiteY1790" fmla="*/ 3042919 h 4442370"/>
              <a:gd name="connsiteX1791" fmla="*/ 1087011 w 7289379"/>
              <a:gd name="connsiteY1791" fmla="*/ 3038064 h 4442370"/>
              <a:gd name="connsiteX1792" fmla="*/ 1081672 w 7289379"/>
              <a:gd name="connsiteY1792" fmla="*/ 3043888 h 4442370"/>
              <a:gd name="connsiteX1793" fmla="*/ 1025846 w 7289379"/>
              <a:gd name="connsiteY1793" fmla="*/ 3086123 h 4442370"/>
              <a:gd name="connsiteX1794" fmla="*/ 979245 w 7289379"/>
              <a:gd name="connsiteY1794" fmla="*/ 3058452 h 4442370"/>
              <a:gd name="connsiteX1795" fmla="*/ 966623 w 7289379"/>
              <a:gd name="connsiteY1795" fmla="*/ 2996803 h 4442370"/>
              <a:gd name="connsiteX1796" fmla="*/ 1082156 w 7289379"/>
              <a:gd name="connsiteY1796" fmla="*/ 2996803 h 4442370"/>
              <a:gd name="connsiteX1797" fmla="*/ 1092351 w 7289379"/>
              <a:gd name="connsiteY1797" fmla="*/ 2988067 h 4442370"/>
              <a:gd name="connsiteX1798" fmla="*/ 1018564 w 7289379"/>
              <a:gd name="connsiteY1798" fmla="*/ 2906997 h 4442370"/>
              <a:gd name="connsiteX1799" fmla="*/ 932644 w 7289379"/>
              <a:gd name="connsiteY1799" fmla="*/ 3001173 h 4442370"/>
              <a:gd name="connsiteX1800" fmla="*/ 1023418 w 7289379"/>
              <a:gd name="connsiteY1800" fmla="*/ 3096313 h 4442370"/>
              <a:gd name="connsiteX1801" fmla="*/ 1092351 w 7289379"/>
              <a:gd name="connsiteY1801" fmla="*/ 3042919 h 4442370"/>
              <a:gd name="connsiteX1802" fmla="*/ 1065165 w 7289379"/>
              <a:gd name="connsiteY1802" fmla="*/ 2988067 h 4442370"/>
              <a:gd name="connsiteX1803" fmla="*/ 967108 w 7289379"/>
              <a:gd name="connsiteY1803" fmla="*/ 2988067 h 4442370"/>
              <a:gd name="connsiteX1804" fmla="*/ 1018564 w 7289379"/>
              <a:gd name="connsiteY1804" fmla="*/ 2916222 h 4442370"/>
              <a:gd name="connsiteX1805" fmla="*/ 1065165 w 7289379"/>
              <a:gd name="connsiteY1805" fmla="*/ 2988067 h 4442370"/>
              <a:gd name="connsiteX1806" fmla="*/ 1254240 w 7289379"/>
              <a:gd name="connsiteY1806" fmla="*/ 2934668 h 4442370"/>
              <a:gd name="connsiteX1807" fmla="*/ 1224142 w 7289379"/>
              <a:gd name="connsiteY1807" fmla="*/ 2909425 h 4442370"/>
              <a:gd name="connsiteX1808" fmla="*/ 1173171 w 7289379"/>
              <a:gd name="connsiteY1808" fmla="*/ 2955056 h 4442370"/>
              <a:gd name="connsiteX1809" fmla="*/ 1173171 w 7289379"/>
              <a:gd name="connsiteY1809" fmla="*/ 2909425 h 4442370"/>
              <a:gd name="connsiteX1810" fmla="*/ 1115891 w 7289379"/>
              <a:gd name="connsiteY1810" fmla="*/ 2914280 h 4442370"/>
              <a:gd name="connsiteX1811" fmla="*/ 1115891 w 7289379"/>
              <a:gd name="connsiteY1811" fmla="*/ 2926901 h 4442370"/>
              <a:gd name="connsiteX1812" fmla="*/ 1147932 w 7289379"/>
              <a:gd name="connsiteY1812" fmla="*/ 2950202 h 4442370"/>
              <a:gd name="connsiteX1813" fmla="*/ 1147932 w 7289379"/>
              <a:gd name="connsiteY1813" fmla="*/ 3060395 h 4442370"/>
              <a:gd name="connsiteX1814" fmla="*/ 1115891 w 7289379"/>
              <a:gd name="connsiteY1814" fmla="*/ 3079325 h 4442370"/>
              <a:gd name="connsiteX1815" fmla="*/ 1115891 w 7289379"/>
              <a:gd name="connsiteY1815" fmla="*/ 3091947 h 4442370"/>
              <a:gd name="connsiteX1816" fmla="*/ 1162977 w 7289379"/>
              <a:gd name="connsiteY1816" fmla="*/ 3090489 h 4442370"/>
              <a:gd name="connsiteX1817" fmla="*/ 1215406 w 7289379"/>
              <a:gd name="connsiteY1817" fmla="*/ 3091947 h 4442370"/>
              <a:gd name="connsiteX1818" fmla="*/ 1215406 w 7289379"/>
              <a:gd name="connsiteY1818" fmla="*/ 3079325 h 4442370"/>
              <a:gd name="connsiteX1819" fmla="*/ 1206666 w 7289379"/>
              <a:gd name="connsiteY1819" fmla="*/ 3079325 h 4442370"/>
              <a:gd name="connsiteX1820" fmla="*/ 1175114 w 7289379"/>
              <a:gd name="connsiteY1820" fmla="*/ 3059906 h 4442370"/>
              <a:gd name="connsiteX1821" fmla="*/ 1175114 w 7289379"/>
              <a:gd name="connsiteY1821" fmla="*/ 2996318 h 4442370"/>
              <a:gd name="connsiteX1822" fmla="*/ 1224142 w 7289379"/>
              <a:gd name="connsiteY1822" fmla="*/ 2918650 h 4442370"/>
              <a:gd name="connsiteX1823" fmla="*/ 1228512 w 7289379"/>
              <a:gd name="connsiteY1823" fmla="*/ 2919134 h 4442370"/>
              <a:gd name="connsiteX1824" fmla="*/ 1218803 w 7289379"/>
              <a:gd name="connsiteY1824" fmla="*/ 2935153 h 4442370"/>
              <a:gd name="connsiteX1825" fmla="*/ 1236764 w 7289379"/>
              <a:gd name="connsiteY1825" fmla="*/ 2953114 h 4442370"/>
              <a:gd name="connsiteX1826" fmla="*/ 1254240 w 7289379"/>
              <a:gd name="connsiteY1826" fmla="*/ 2934668 h 4442370"/>
              <a:gd name="connsiteX1827" fmla="*/ 1437367 w 7289379"/>
              <a:gd name="connsiteY1827" fmla="*/ 3042919 h 4442370"/>
              <a:gd name="connsiteX1828" fmla="*/ 1432028 w 7289379"/>
              <a:gd name="connsiteY1828" fmla="*/ 3038549 h 4442370"/>
              <a:gd name="connsiteX1829" fmla="*/ 1426688 w 7289379"/>
              <a:gd name="connsiteY1829" fmla="*/ 3042919 h 4442370"/>
              <a:gd name="connsiteX1830" fmla="*/ 1372320 w 7289379"/>
              <a:gd name="connsiteY1830" fmla="*/ 3086123 h 4442370"/>
              <a:gd name="connsiteX1831" fmla="*/ 1314067 w 7289379"/>
              <a:gd name="connsiteY1831" fmla="*/ 3002142 h 4442370"/>
              <a:gd name="connsiteX1832" fmla="*/ 1369893 w 7289379"/>
              <a:gd name="connsiteY1832" fmla="*/ 2917192 h 4442370"/>
              <a:gd name="connsiteX1833" fmla="*/ 1414067 w 7289379"/>
              <a:gd name="connsiteY1833" fmla="*/ 2932725 h 4442370"/>
              <a:gd name="connsiteX1834" fmla="*/ 1394647 w 7289379"/>
              <a:gd name="connsiteY1834" fmla="*/ 2951660 h 4442370"/>
              <a:gd name="connsiteX1835" fmla="*/ 1413582 w 7289379"/>
              <a:gd name="connsiteY1835" fmla="*/ 2970590 h 4442370"/>
              <a:gd name="connsiteX1836" fmla="*/ 1432512 w 7289379"/>
              <a:gd name="connsiteY1836" fmla="*/ 2951171 h 4442370"/>
              <a:gd name="connsiteX1837" fmla="*/ 1369404 w 7289379"/>
              <a:gd name="connsiteY1837" fmla="*/ 2906997 h 4442370"/>
              <a:gd name="connsiteX1838" fmla="*/ 1280088 w 7289379"/>
              <a:gd name="connsiteY1838" fmla="*/ 3002627 h 4442370"/>
              <a:gd name="connsiteX1839" fmla="*/ 1368920 w 7289379"/>
              <a:gd name="connsiteY1839" fmla="*/ 3096313 h 4442370"/>
              <a:gd name="connsiteX1840" fmla="*/ 1437367 w 7289379"/>
              <a:gd name="connsiteY1840" fmla="*/ 3042919 h 4442370"/>
              <a:gd name="connsiteX1841" fmla="*/ 1620614 w 7289379"/>
              <a:gd name="connsiteY1841" fmla="*/ 3042919 h 4442370"/>
              <a:gd name="connsiteX1842" fmla="*/ 1615275 w 7289379"/>
              <a:gd name="connsiteY1842" fmla="*/ 3038064 h 4442370"/>
              <a:gd name="connsiteX1843" fmla="*/ 1609935 w 7289379"/>
              <a:gd name="connsiteY1843" fmla="*/ 3043888 h 4442370"/>
              <a:gd name="connsiteX1844" fmla="*/ 1554109 w 7289379"/>
              <a:gd name="connsiteY1844" fmla="*/ 3086123 h 4442370"/>
              <a:gd name="connsiteX1845" fmla="*/ 1507509 w 7289379"/>
              <a:gd name="connsiteY1845" fmla="*/ 3058452 h 4442370"/>
              <a:gd name="connsiteX1846" fmla="*/ 1494887 w 7289379"/>
              <a:gd name="connsiteY1846" fmla="*/ 2996803 h 4442370"/>
              <a:gd name="connsiteX1847" fmla="*/ 1610420 w 7289379"/>
              <a:gd name="connsiteY1847" fmla="*/ 2996803 h 4442370"/>
              <a:gd name="connsiteX1848" fmla="*/ 1620614 w 7289379"/>
              <a:gd name="connsiteY1848" fmla="*/ 2988067 h 4442370"/>
              <a:gd name="connsiteX1849" fmla="*/ 1546832 w 7289379"/>
              <a:gd name="connsiteY1849" fmla="*/ 2906997 h 4442370"/>
              <a:gd name="connsiteX1850" fmla="*/ 1460908 w 7289379"/>
              <a:gd name="connsiteY1850" fmla="*/ 3001173 h 4442370"/>
              <a:gd name="connsiteX1851" fmla="*/ 1551682 w 7289379"/>
              <a:gd name="connsiteY1851" fmla="*/ 3096313 h 4442370"/>
              <a:gd name="connsiteX1852" fmla="*/ 1620614 w 7289379"/>
              <a:gd name="connsiteY1852" fmla="*/ 3042919 h 4442370"/>
              <a:gd name="connsiteX1853" fmla="*/ 1593432 w 7289379"/>
              <a:gd name="connsiteY1853" fmla="*/ 2988067 h 4442370"/>
              <a:gd name="connsiteX1854" fmla="*/ 1495376 w 7289379"/>
              <a:gd name="connsiteY1854" fmla="*/ 2988067 h 4442370"/>
              <a:gd name="connsiteX1855" fmla="*/ 1546832 w 7289379"/>
              <a:gd name="connsiteY1855" fmla="*/ 2916222 h 4442370"/>
              <a:gd name="connsiteX1856" fmla="*/ 1593432 w 7289379"/>
              <a:gd name="connsiteY1856" fmla="*/ 2988067 h 4442370"/>
              <a:gd name="connsiteX1857" fmla="*/ 1847550 w 7289379"/>
              <a:gd name="connsiteY1857" fmla="*/ 3002627 h 4442370"/>
              <a:gd name="connsiteX1858" fmla="*/ 1761146 w 7289379"/>
              <a:gd name="connsiteY1858" fmla="*/ 2909425 h 4442370"/>
              <a:gd name="connsiteX1859" fmla="*/ 1703377 w 7289379"/>
              <a:gd name="connsiteY1859" fmla="*/ 2936611 h 4442370"/>
              <a:gd name="connsiteX1860" fmla="*/ 1703377 w 7289379"/>
              <a:gd name="connsiteY1860" fmla="*/ 2909425 h 4442370"/>
              <a:gd name="connsiteX1861" fmla="*/ 1644159 w 7289379"/>
              <a:gd name="connsiteY1861" fmla="*/ 2914280 h 4442370"/>
              <a:gd name="connsiteX1862" fmla="*/ 1644159 w 7289379"/>
              <a:gd name="connsiteY1862" fmla="*/ 2926901 h 4442370"/>
              <a:gd name="connsiteX1863" fmla="*/ 1676195 w 7289379"/>
              <a:gd name="connsiteY1863" fmla="*/ 2947289 h 4442370"/>
              <a:gd name="connsiteX1864" fmla="*/ 1676195 w 7289379"/>
              <a:gd name="connsiteY1864" fmla="*/ 3140491 h 4442370"/>
              <a:gd name="connsiteX1865" fmla="*/ 1644159 w 7289379"/>
              <a:gd name="connsiteY1865" fmla="*/ 3159421 h 4442370"/>
              <a:gd name="connsiteX1866" fmla="*/ 1644159 w 7289379"/>
              <a:gd name="connsiteY1866" fmla="*/ 3172043 h 4442370"/>
              <a:gd name="connsiteX1867" fmla="*/ 1690271 w 7289379"/>
              <a:gd name="connsiteY1867" fmla="*/ 3170585 h 4442370"/>
              <a:gd name="connsiteX1868" fmla="*/ 1736872 w 7289379"/>
              <a:gd name="connsiteY1868" fmla="*/ 3172043 h 4442370"/>
              <a:gd name="connsiteX1869" fmla="*/ 1736872 w 7289379"/>
              <a:gd name="connsiteY1869" fmla="*/ 3159421 h 4442370"/>
              <a:gd name="connsiteX1870" fmla="*/ 1704835 w 7289379"/>
              <a:gd name="connsiteY1870" fmla="*/ 3140491 h 4442370"/>
              <a:gd name="connsiteX1871" fmla="*/ 1704835 w 7289379"/>
              <a:gd name="connsiteY1871" fmla="*/ 3067673 h 4442370"/>
              <a:gd name="connsiteX1872" fmla="*/ 1755322 w 7289379"/>
              <a:gd name="connsiteY1872" fmla="*/ 3096313 h 4442370"/>
              <a:gd name="connsiteX1873" fmla="*/ 1847550 w 7289379"/>
              <a:gd name="connsiteY1873" fmla="*/ 3002627 h 4442370"/>
              <a:gd name="connsiteX1874" fmla="*/ 1813086 w 7289379"/>
              <a:gd name="connsiteY1874" fmla="*/ 3002627 h 4442370"/>
              <a:gd name="connsiteX1875" fmla="*/ 1753864 w 7289379"/>
              <a:gd name="connsiteY1875" fmla="*/ 3087577 h 4442370"/>
              <a:gd name="connsiteX1876" fmla="*/ 1710659 w 7289379"/>
              <a:gd name="connsiteY1876" fmla="*/ 3062334 h 4442370"/>
              <a:gd name="connsiteX1877" fmla="*/ 1704835 w 7289379"/>
              <a:gd name="connsiteY1877" fmla="*/ 3044862 h 4442370"/>
              <a:gd name="connsiteX1878" fmla="*/ 1704835 w 7289379"/>
              <a:gd name="connsiteY1878" fmla="*/ 2953114 h 4442370"/>
              <a:gd name="connsiteX1879" fmla="*/ 1757745 w 7289379"/>
              <a:gd name="connsiteY1879" fmla="*/ 2920104 h 4442370"/>
              <a:gd name="connsiteX1880" fmla="*/ 1813086 w 7289379"/>
              <a:gd name="connsiteY1880" fmla="*/ 3002627 h 4442370"/>
              <a:gd name="connsiteX1881" fmla="*/ 1998881 w 7289379"/>
              <a:gd name="connsiteY1881" fmla="*/ 3040976 h 4442370"/>
              <a:gd name="connsiteX1882" fmla="*/ 1998881 w 7289379"/>
              <a:gd name="connsiteY1882" fmla="*/ 3017191 h 4442370"/>
              <a:gd name="connsiteX1883" fmla="*/ 1988687 w 7289379"/>
              <a:gd name="connsiteY1883" fmla="*/ 3017191 h 4442370"/>
              <a:gd name="connsiteX1884" fmla="*/ 1988687 w 7289379"/>
              <a:gd name="connsiteY1884" fmla="*/ 3040007 h 4442370"/>
              <a:gd name="connsiteX1885" fmla="*/ 1961020 w 7289379"/>
              <a:gd name="connsiteY1885" fmla="*/ 3086123 h 4442370"/>
              <a:gd name="connsiteX1886" fmla="*/ 1933350 w 7289379"/>
              <a:gd name="connsiteY1886" fmla="*/ 3041461 h 4442370"/>
              <a:gd name="connsiteX1887" fmla="*/ 1933350 w 7289379"/>
              <a:gd name="connsiteY1887" fmla="*/ 2926901 h 4442370"/>
              <a:gd name="connsiteX1888" fmla="*/ 1992572 w 7289379"/>
              <a:gd name="connsiteY1888" fmla="*/ 2926901 h 4442370"/>
              <a:gd name="connsiteX1889" fmla="*/ 1992572 w 7289379"/>
              <a:gd name="connsiteY1889" fmla="*/ 2914280 h 4442370"/>
              <a:gd name="connsiteX1890" fmla="*/ 1933350 w 7289379"/>
              <a:gd name="connsiteY1890" fmla="*/ 2914280 h 4442370"/>
              <a:gd name="connsiteX1891" fmla="*/ 1933350 w 7289379"/>
              <a:gd name="connsiteY1891" fmla="*/ 2838070 h 4442370"/>
              <a:gd name="connsiteX1892" fmla="*/ 1923155 w 7289379"/>
              <a:gd name="connsiteY1892" fmla="*/ 2838070 h 4442370"/>
              <a:gd name="connsiteX1893" fmla="*/ 1869757 w 7289379"/>
              <a:gd name="connsiteY1893" fmla="*/ 2917676 h 4442370"/>
              <a:gd name="connsiteX1894" fmla="*/ 1869757 w 7289379"/>
              <a:gd name="connsiteY1894" fmla="*/ 2926901 h 4442370"/>
              <a:gd name="connsiteX1895" fmla="*/ 1904710 w 7289379"/>
              <a:gd name="connsiteY1895" fmla="*/ 2926901 h 4442370"/>
              <a:gd name="connsiteX1896" fmla="*/ 1904710 w 7289379"/>
              <a:gd name="connsiteY1896" fmla="*/ 3040976 h 4442370"/>
              <a:gd name="connsiteX1897" fmla="*/ 1958108 w 7289379"/>
              <a:gd name="connsiteY1897" fmla="*/ 3096313 h 4442370"/>
              <a:gd name="connsiteX1898" fmla="*/ 1998881 w 7289379"/>
              <a:gd name="connsiteY1898" fmla="*/ 3040976 h 4442370"/>
              <a:gd name="connsiteX1899" fmla="*/ 2141960 w 7289379"/>
              <a:gd name="connsiteY1899" fmla="*/ 2988551 h 4442370"/>
              <a:gd name="connsiteX1900" fmla="*/ 2114778 w 7289379"/>
              <a:gd name="connsiteY1900" fmla="*/ 2859912 h 4442370"/>
              <a:gd name="connsiteX1901" fmla="*/ 2050216 w 7289379"/>
              <a:gd name="connsiteY1901" fmla="*/ 2782244 h 4442370"/>
              <a:gd name="connsiteX1902" fmla="*/ 2045846 w 7289379"/>
              <a:gd name="connsiteY1902" fmla="*/ 2786614 h 4442370"/>
              <a:gd name="connsiteX1903" fmla="*/ 2054098 w 7289379"/>
              <a:gd name="connsiteY1903" fmla="*/ 2796323 h 4442370"/>
              <a:gd name="connsiteX1904" fmla="*/ 2117690 w 7289379"/>
              <a:gd name="connsiteY1904" fmla="*/ 2988551 h 4442370"/>
              <a:gd name="connsiteX1905" fmla="*/ 2051675 w 7289379"/>
              <a:gd name="connsiteY1905" fmla="*/ 3184175 h 4442370"/>
              <a:gd name="connsiteX1906" fmla="*/ 2045846 w 7289379"/>
              <a:gd name="connsiteY1906" fmla="*/ 3190973 h 4442370"/>
              <a:gd name="connsiteX1907" fmla="*/ 2050216 w 7289379"/>
              <a:gd name="connsiteY1907" fmla="*/ 3195343 h 4442370"/>
              <a:gd name="connsiteX1908" fmla="*/ 2115748 w 7289379"/>
              <a:gd name="connsiteY1908" fmla="*/ 3114763 h 4442370"/>
              <a:gd name="connsiteX1909" fmla="*/ 2141960 w 7289379"/>
              <a:gd name="connsiteY1909" fmla="*/ 2988551 h 4442370"/>
              <a:gd name="connsiteX1910" fmla="*/ 5023805 w 7289379"/>
              <a:gd name="connsiteY1910" fmla="*/ 3091947 h 4442370"/>
              <a:gd name="connsiteX1911" fmla="*/ 5023805 w 7289379"/>
              <a:gd name="connsiteY1911" fmla="*/ 3079325 h 4442370"/>
              <a:gd name="connsiteX1912" fmla="*/ 5010715 w 7289379"/>
              <a:gd name="connsiteY1912" fmla="*/ 3079325 h 4442370"/>
              <a:gd name="connsiteX1913" fmla="*/ 4972358 w 7289379"/>
              <a:gd name="connsiteY1913" fmla="*/ 3059422 h 4442370"/>
              <a:gd name="connsiteX1914" fmla="*/ 4972358 w 7289379"/>
              <a:gd name="connsiteY1914" fmla="*/ 2827875 h 4442370"/>
              <a:gd name="connsiteX1915" fmla="*/ 4962665 w 7289379"/>
              <a:gd name="connsiteY1915" fmla="*/ 2817196 h 4442370"/>
              <a:gd name="connsiteX1916" fmla="*/ 4887896 w 7289379"/>
              <a:gd name="connsiteY1916" fmla="*/ 2843409 h 4442370"/>
              <a:gd name="connsiteX1917" fmla="*/ 4887896 w 7289379"/>
              <a:gd name="connsiteY1917" fmla="*/ 2856515 h 4442370"/>
              <a:gd name="connsiteX1918" fmla="*/ 4941788 w 7289379"/>
              <a:gd name="connsiteY1918" fmla="*/ 2845836 h 4442370"/>
              <a:gd name="connsiteX1919" fmla="*/ 4941788 w 7289379"/>
              <a:gd name="connsiteY1919" fmla="*/ 3059422 h 4442370"/>
              <a:gd name="connsiteX1920" fmla="*/ 4903430 w 7289379"/>
              <a:gd name="connsiteY1920" fmla="*/ 3079325 h 4442370"/>
              <a:gd name="connsiteX1921" fmla="*/ 4890340 w 7289379"/>
              <a:gd name="connsiteY1921" fmla="*/ 3079325 h 4442370"/>
              <a:gd name="connsiteX1922" fmla="*/ 4890340 w 7289379"/>
              <a:gd name="connsiteY1922" fmla="*/ 3091947 h 4442370"/>
              <a:gd name="connsiteX1923" fmla="*/ 4956824 w 7289379"/>
              <a:gd name="connsiteY1923" fmla="*/ 3090489 h 4442370"/>
              <a:gd name="connsiteX1924" fmla="*/ 5023805 w 7289379"/>
              <a:gd name="connsiteY1924" fmla="*/ 3091947 h 4442370"/>
              <a:gd name="connsiteX1925" fmla="*/ 5251590 w 7289379"/>
              <a:gd name="connsiteY1925" fmla="*/ 3023988 h 4442370"/>
              <a:gd name="connsiteX1926" fmla="*/ 5251590 w 7289379"/>
              <a:gd name="connsiteY1926" fmla="*/ 3010878 h 4442370"/>
              <a:gd name="connsiteX1927" fmla="*/ 5210333 w 7289379"/>
              <a:gd name="connsiteY1927" fmla="*/ 3010878 h 4442370"/>
              <a:gd name="connsiteX1928" fmla="*/ 5210333 w 7289379"/>
              <a:gd name="connsiteY1928" fmla="*/ 2823505 h 4442370"/>
              <a:gd name="connsiteX1929" fmla="*/ 5204037 w 7289379"/>
              <a:gd name="connsiteY1929" fmla="*/ 2812826 h 4442370"/>
              <a:gd name="connsiteX1930" fmla="*/ 5195794 w 7289379"/>
              <a:gd name="connsiteY1930" fmla="*/ 2817681 h 4442370"/>
              <a:gd name="connsiteX1931" fmla="*/ 5069081 w 7289379"/>
              <a:gd name="connsiteY1931" fmla="*/ 3010878 h 4442370"/>
              <a:gd name="connsiteX1932" fmla="*/ 5069081 w 7289379"/>
              <a:gd name="connsiteY1932" fmla="*/ 3023988 h 4442370"/>
              <a:gd name="connsiteX1933" fmla="*/ 5178769 w 7289379"/>
              <a:gd name="connsiteY1933" fmla="*/ 3023988 h 4442370"/>
              <a:gd name="connsiteX1934" fmla="*/ 5178769 w 7289379"/>
              <a:gd name="connsiteY1934" fmla="*/ 3059906 h 4442370"/>
              <a:gd name="connsiteX1935" fmla="*/ 5147246 w 7289379"/>
              <a:gd name="connsiteY1935" fmla="*/ 3079325 h 4442370"/>
              <a:gd name="connsiteX1936" fmla="*/ 5138505 w 7289379"/>
              <a:gd name="connsiteY1936" fmla="*/ 3079325 h 4442370"/>
              <a:gd name="connsiteX1937" fmla="*/ 5138505 w 7289379"/>
              <a:gd name="connsiteY1937" fmla="*/ 3091947 h 4442370"/>
              <a:gd name="connsiteX1938" fmla="*/ 5194302 w 7289379"/>
              <a:gd name="connsiteY1938" fmla="*/ 3090489 h 4442370"/>
              <a:gd name="connsiteX1939" fmla="*/ 5250637 w 7289379"/>
              <a:gd name="connsiteY1939" fmla="*/ 3091947 h 4442370"/>
              <a:gd name="connsiteX1940" fmla="*/ 5250637 w 7289379"/>
              <a:gd name="connsiteY1940" fmla="*/ 3079325 h 4442370"/>
              <a:gd name="connsiteX1941" fmla="*/ 5241897 w 7289379"/>
              <a:gd name="connsiteY1941" fmla="*/ 3079325 h 4442370"/>
              <a:gd name="connsiteX1942" fmla="*/ 5210333 w 7289379"/>
              <a:gd name="connsiteY1942" fmla="*/ 3059906 h 4442370"/>
              <a:gd name="connsiteX1943" fmla="*/ 5210333 w 7289379"/>
              <a:gd name="connsiteY1943" fmla="*/ 3023988 h 4442370"/>
              <a:gd name="connsiteX1944" fmla="*/ 5181213 w 7289379"/>
              <a:gd name="connsiteY1944" fmla="*/ 3010878 h 4442370"/>
              <a:gd name="connsiteX1945" fmla="*/ 5080720 w 7289379"/>
              <a:gd name="connsiteY1945" fmla="*/ 3010878 h 4442370"/>
              <a:gd name="connsiteX1946" fmla="*/ 5181213 w 7289379"/>
              <a:gd name="connsiteY1946" fmla="*/ 2857000 h 4442370"/>
              <a:gd name="connsiteX1947" fmla="*/ 5457918 w 7289379"/>
              <a:gd name="connsiteY1947" fmla="*/ 3023988 h 4442370"/>
              <a:gd name="connsiteX1948" fmla="*/ 5457918 w 7289379"/>
              <a:gd name="connsiteY1948" fmla="*/ 3010878 h 4442370"/>
              <a:gd name="connsiteX1949" fmla="*/ 5416661 w 7289379"/>
              <a:gd name="connsiteY1949" fmla="*/ 3010878 h 4442370"/>
              <a:gd name="connsiteX1950" fmla="*/ 5416661 w 7289379"/>
              <a:gd name="connsiteY1950" fmla="*/ 2823505 h 4442370"/>
              <a:gd name="connsiteX1951" fmla="*/ 5410323 w 7289379"/>
              <a:gd name="connsiteY1951" fmla="*/ 2812826 h 4442370"/>
              <a:gd name="connsiteX1952" fmla="*/ 5402080 w 7289379"/>
              <a:gd name="connsiteY1952" fmla="*/ 2817681 h 4442370"/>
              <a:gd name="connsiteX1953" fmla="*/ 5275367 w 7289379"/>
              <a:gd name="connsiteY1953" fmla="*/ 3010878 h 4442370"/>
              <a:gd name="connsiteX1954" fmla="*/ 5275367 w 7289379"/>
              <a:gd name="connsiteY1954" fmla="*/ 3023988 h 4442370"/>
              <a:gd name="connsiteX1955" fmla="*/ 5385097 w 7289379"/>
              <a:gd name="connsiteY1955" fmla="*/ 3023988 h 4442370"/>
              <a:gd name="connsiteX1956" fmla="*/ 5385097 w 7289379"/>
              <a:gd name="connsiteY1956" fmla="*/ 3059906 h 4442370"/>
              <a:gd name="connsiteX1957" fmla="*/ 5353533 w 7289379"/>
              <a:gd name="connsiteY1957" fmla="*/ 3079325 h 4442370"/>
              <a:gd name="connsiteX1958" fmla="*/ 5344792 w 7289379"/>
              <a:gd name="connsiteY1958" fmla="*/ 3079325 h 4442370"/>
              <a:gd name="connsiteX1959" fmla="*/ 5344792 w 7289379"/>
              <a:gd name="connsiteY1959" fmla="*/ 3091947 h 4442370"/>
              <a:gd name="connsiteX1960" fmla="*/ 5400630 w 7289379"/>
              <a:gd name="connsiteY1960" fmla="*/ 3090489 h 4442370"/>
              <a:gd name="connsiteX1961" fmla="*/ 5456924 w 7289379"/>
              <a:gd name="connsiteY1961" fmla="*/ 3091947 h 4442370"/>
              <a:gd name="connsiteX1962" fmla="*/ 5456924 w 7289379"/>
              <a:gd name="connsiteY1962" fmla="*/ 3079325 h 4442370"/>
              <a:gd name="connsiteX1963" fmla="*/ 5448184 w 7289379"/>
              <a:gd name="connsiteY1963" fmla="*/ 3079325 h 4442370"/>
              <a:gd name="connsiteX1964" fmla="*/ 5416661 w 7289379"/>
              <a:gd name="connsiteY1964" fmla="*/ 3059906 h 4442370"/>
              <a:gd name="connsiteX1965" fmla="*/ 5416661 w 7289379"/>
              <a:gd name="connsiteY1965" fmla="*/ 3023988 h 4442370"/>
              <a:gd name="connsiteX1966" fmla="*/ 5387541 w 7289379"/>
              <a:gd name="connsiteY1966" fmla="*/ 3010878 h 4442370"/>
              <a:gd name="connsiteX1967" fmla="*/ 5287049 w 7289379"/>
              <a:gd name="connsiteY1967" fmla="*/ 3010878 h 4442370"/>
              <a:gd name="connsiteX1968" fmla="*/ 5387541 w 7289379"/>
              <a:gd name="connsiteY1968" fmla="*/ 2857000 h 4442370"/>
              <a:gd name="connsiteX1969" fmla="*/ 5658406 w 7289379"/>
              <a:gd name="connsiteY1969" fmla="*/ 3022531 h 4442370"/>
              <a:gd name="connsiteX1970" fmla="*/ 5638481 w 7289379"/>
              <a:gd name="connsiteY1970" fmla="*/ 2972044 h 4442370"/>
              <a:gd name="connsiteX1971" fmla="*/ 5597721 w 7289379"/>
              <a:gd name="connsiteY1971" fmla="*/ 2942435 h 4442370"/>
              <a:gd name="connsiteX1972" fmla="*/ 5647718 w 7289379"/>
              <a:gd name="connsiteY1972" fmla="*/ 2878842 h 4442370"/>
              <a:gd name="connsiteX1973" fmla="*/ 5573447 w 7289379"/>
              <a:gd name="connsiteY1973" fmla="*/ 2817196 h 4442370"/>
              <a:gd name="connsiteX1974" fmla="*/ 5498679 w 7289379"/>
              <a:gd name="connsiteY1974" fmla="*/ 2886124 h 4442370"/>
              <a:gd name="connsiteX1975" fmla="*/ 5516656 w 7289379"/>
              <a:gd name="connsiteY1975" fmla="*/ 2931271 h 4442370"/>
              <a:gd name="connsiteX1976" fmla="*/ 5546730 w 7289379"/>
              <a:gd name="connsiteY1976" fmla="*/ 2953598 h 4442370"/>
              <a:gd name="connsiteX1977" fmla="*/ 5487536 w 7289379"/>
              <a:gd name="connsiteY1977" fmla="*/ 3029813 h 4442370"/>
              <a:gd name="connsiteX1978" fmla="*/ 5572950 w 7289379"/>
              <a:gd name="connsiteY1978" fmla="*/ 3101168 h 4442370"/>
              <a:gd name="connsiteX1979" fmla="*/ 5658406 w 7289379"/>
              <a:gd name="connsiteY1979" fmla="*/ 3022531 h 4442370"/>
              <a:gd name="connsiteX1980" fmla="*/ 5629244 w 7289379"/>
              <a:gd name="connsiteY1980" fmla="*/ 2878842 h 4442370"/>
              <a:gd name="connsiteX1981" fmla="*/ 5588484 w 7289379"/>
              <a:gd name="connsiteY1981" fmla="*/ 2936611 h 4442370"/>
              <a:gd name="connsiteX1982" fmla="*/ 5537534 w 7289379"/>
              <a:gd name="connsiteY1982" fmla="*/ 2903601 h 4442370"/>
              <a:gd name="connsiteX1983" fmla="*/ 5516656 w 7289379"/>
              <a:gd name="connsiteY1983" fmla="*/ 2870106 h 4442370"/>
              <a:gd name="connsiteX1984" fmla="*/ 5572950 w 7289379"/>
              <a:gd name="connsiteY1984" fmla="*/ 2827391 h 4442370"/>
              <a:gd name="connsiteX1985" fmla="*/ 5629244 w 7289379"/>
              <a:gd name="connsiteY1985" fmla="*/ 2878842 h 4442370"/>
              <a:gd name="connsiteX1986" fmla="*/ 5637984 w 7289379"/>
              <a:gd name="connsiteY1986" fmla="*/ 3037579 h 4442370"/>
              <a:gd name="connsiteX1987" fmla="*/ 5573447 w 7289379"/>
              <a:gd name="connsiteY1987" fmla="*/ 3089520 h 4442370"/>
              <a:gd name="connsiteX1988" fmla="*/ 5507916 w 7289379"/>
              <a:gd name="connsiteY1988" fmla="*/ 3029813 h 4442370"/>
              <a:gd name="connsiteX1989" fmla="*/ 5556463 w 7289379"/>
              <a:gd name="connsiteY1989" fmla="*/ 2959911 h 4442370"/>
              <a:gd name="connsiteX1990" fmla="*/ 5606917 w 7289379"/>
              <a:gd name="connsiteY1990" fmla="*/ 2991948 h 4442370"/>
              <a:gd name="connsiteX1991" fmla="*/ 5637984 w 7289379"/>
              <a:gd name="connsiteY1991" fmla="*/ 3037579 h 4442370"/>
              <a:gd name="connsiteX1992" fmla="*/ 5755460 w 7289379"/>
              <a:gd name="connsiteY1992" fmla="*/ 3070101 h 4442370"/>
              <a:gd name="connsiteX1993" fmla="*/ 5733630 w 7289379"/>
              <a:gd name="connsiteY1993" fmla="*/ 3048258 h 4442370"/>
              <a:gd name="connsiteX1994" fmla="*/ 5711800 w 7289379"/>
              <a:gd name="connsiteY1994" fmla="*/ 3070101 h 4442370"/>
              <a:gd name="connsiteX1995" fmla="*/ 5733630 w 7289379"/>
              <a:gd name="connsiteY1995" fmla="*/ 3091947 h 4442370"/>
              <a:gd name="connsiteX1996" fmla="*/ 5755460 w 7289379"/>
              <a:gd name="connsiteY1996" fmla="*/ 3070101 h 4442370"/>
              <a:gd name="connsiteX1997" fmla="*/ 5979517 w 7289379"/>
              <a:gd name="connsiteY1997" fmla="*/ 2956026 h 4442370"/>
              <a:gd name="connsiteX1998" fmla="*/ 5895511 w 7289379"/>
              <a:gd name="connsiteY1998" fmla="*/ 2817196 h 4442370"/>
              <a:gd name="connsiteX1999" fmla="*/ 5834826 w 7289379"/>
              <a:gd name="connsiteY1999" fmla="*/ 2842924 h 4442370"/>
              <a:gd name="connsiteX2000" fmla="*/ 5808647 w 7289379"/>
              <a:gd name="connsiteY2000" fmla="*/ 2909909 h 4442370"/>
              <a:gd name="connsiteX2001" fmla="*/ 5891162 w 7289379"/>
              <a:gd name="connsiteY2001" fmla="*/ 3002142 h 4442370"/>
              <a:gd name="connsiteX2002" fmla="*/ 5942609 w 7289379"/>
              <a:gd name="connsiteY2002" fmla="*/ 2960880 h 4442370"/>
              <a:gd name="connsiteX2003" fmla="*/ 5942609 w 7289379"/>
              <a:gd name="connsiteY2003" fmla="*/ 2973987 h 4442370"/>
              <a:gd name="connsiteX2004" fmla="*/ 5875628 w 7289379"/>
              <a:gd name="connsiteY2004" fmla="*/ 3089520 h 4442370"/>
              <a:gd name="connsiteX2005" fmla="*/ 5835324 w 7289379"/>
              <a:gd name="connsiteY2005" fmla="*/ 3074471 h 4442370"/>
              <a:gd name="connsiteX2006" fmla="*/ 5856698 w 7289379"/>
              <a:gd name="connsiteY2006" fmla="*/ 3055540 h 4442370"/>
              <a:gd name="connsiteX2007" fmla="*/ 5837767 w 7289379"/>
              <a:gd name="connsiteY2007" fmla="*/ 3036606 h 4442370"/>
              <a:gd name="connsiteX2008" fmla="*/ 5818837 w 7289379"/>
              <a:gd name="connsiteY2008" fmla="*/ 3056510 h 4442370"/>
              <a:gd name="connsiteX2009" fmla="*/ 5876084 w 7289379"/>
              <a:gd name="connsiteY2009" fmla="*/ 3101168 h 4442370"/>
              <a:gd name="connsiteX2010" fmla="*/ 5979517 w 7289379"/>
              <a:gd name="connsiteY2010" fmla="*/ 2956026 h 4442370"/>
              <a:gd name="connsiteX2011" fmla="*/ 5941615 w 7289379"/>
              <a:gd name="connsiteY2011" fmla="*/ 2918165 h 4442370"/>
              <a:gd name="connsiteX2012" fmla="*/ 5891617 w 7289379"/>
              <a:gd name="connsiteY2012" fmla="*/ 2992433 h 4442370"/>
              <a:gd name="connsiteX2013" fmla="*/ 5853301 w 7289379"/>
              <a:gd name="connsiteY2013" fmla="*/ 2966705 h 4442370"/>
              <a:gd name="connsiteX2014" fmla="*/ 5845514 w 7289379"/>
              <a:gd name="connsiteY2014" fmla="*/ 2910398 h 4442370"/>
              <a:gd name="connsiteX2015" fmla="*/ 5854254 w 7289379"/>
              <a:gd name="connsiteY2015" fmla="*/ 2853603 h 4442370"/>
              <a:gd name="connsiteX2016" fmla="*/ 5895511 w 7289379"/>
              <a:gd name="connsiteY2016" fmla="*/ 2827391 h 4442370"/>
              <a:gd name="connsiteX2017" fmla="*/ 5935319 w 7289379"/>
              <a:gd name="connsiteY2017" fmla="*/ 2859912 h 4442370"/>
              <a:gd name="connsiteX2018" fmla="*/ 5941615 w 7289379"/>
              <a:gd name="connsiteY2018" fmla="*/ 2918165 h 4442370"/>
              <a:gd name="connsiteX2019" fmla="*/ 6185804 w 7289379"/>
              <a:gd name="connsiteY2019" fmla="*/ 3007966 h 4442370"/>
              <a:gd name="connsiteX2020" fmla="*/ 6103289 w 7289379"/>
              <a:gd name="connsiteY2020" fmla="*/ 2915738 h 4442370"/>
              <a:gd name="connsiteX2021" fmla="*/ 6051841 w 7289379"/>
              <a:gd name="connsiteY2021" fmla="*/ 2956510 h 4442370"/>
              <a:gd name="connsiteX2022" fmla="*/ 6051841 w 7289379"/>
              <a:gd name="connsiteY2022" fmla="*/ 2946805 h 4442370"/>
              <a:gd name="connsiteX2023" fmla="*/ 6124166 w 7289379"/>
              <a:gd name="connsiteY2023" fmla="*/ 2827391 h 4442370"/>
              <a:gd name="connsiteX2024" fmla="*/ 6160577 w 7289379"/>
              <a:gd name="connsiteY2024" fmla="*/ 2843894 h 4442370"/>
              <a:gd name="connsiteX2025" fmla="*/ 6137753 w 7289379"/>
              <a:gd name="connsiteY2025" fmla="*/ 2862339 h 4442370"/>
              <a:gd name="connsiteX2026" fmla="*/ 6156683 w 7289379"/>
              <a:gd name="connsiteY2026" fmla="*/ 2881270 h 4442370"/>
              <a:gd name="connsiteX2027" fmla="*/ 6175614 w 7289379"/>
              <a:gd name="connsiteY2027" fmla="*/ 2861855 h 4442370"/>
              <a:gd name="connsiteX2028" fmla="*/ 6123172 w 7289379"/>
              <a:gd name="connsiteY2028" fmla="*/ 2817196 h 4442370"/>
              <a:gd name="connsiteX2029" fmla="*/ 6014934 w 7289379"/>
              <a:gd name="connsiteY2029" fmla="*/ 2961365 h 4442370"/>
              <a:gd name="connsiteX2030" fmla="*/ 6100845 w 7289379"/>
              <a:gd name="connsiteY2030" fmla="*/ 3101168 h 4442370"/>
              <a:gd name="connsiteX2031" fmla="*/ 6185804 w 7289379"/>
              <a:gd name="connsiteY2031" fmla="*/ 3007966 h 4442370"/>
              <a:gd name="connsiteX2032" fmla="*/ 6148896 w 7289379"/>
              <a:gd name="connsiteY2032" fmla="*/ 3007481 h 4442370"/>
              <a:gd name="connsiteX2033" fmla="*/ 6142102 w 7289379"/>
              <a:gd name="connsiteY2033" fmla="*/ 3062818 h 4442370"/>
              <a:gd name="connsiteX2034" fmla="*/ 6100845 w 7289379"/>
              <a:gd name="connsiteY2034" fmla="*/ 3089520 h 4442370"/>
              <a:gd name="connsiteX2035" fmla="*/ 6060085 w 7289379"/>
              <a:gd name="connsiteY2035" fmla="*/ 3058452 h 4442370"/>
              <a:gd name="connsiteX2036" fmla="*/ 6052794 w 7289379"/>
              <a:gd name="connsiteY2036" fmla="*/ 2998745 h 4442370"/>
              <a:gd name="connsiteX2037" fmla="*/ 6103289 w 7289379"/>
              <a:gd name="connsiteY2037" fmla="*/ 2925443 h 4442370"/>
              <a:gd name="connsiteX2038" fmla="*/ 6141647 w 7289379"/>
              <a:gd name="connsiteY2038" fmla="*/ 2950686 h 4442370"/>
              <a:gd name="connsiteX2039" fmla="*/ 6148896 w 7289379"/>
              <a:gd name="connsiteY2039" fmla="*/ 3007481 h 4442370"/>
              <a:gd name="connsiteX2040" fmla="*/ 6392090 w 7289379"/>
              <a:gd name="connsiteY2040" fmla="*/ 2956026 h 4442370"/>
              <a:gd name="connsiteX2041" fmla="*/ 6308126 w 7289379"/>
              <a:gd name="connsiteY2041" fmla="*/ 2817196 h 4442370"/>
              <a:gd name="connsiteX2042" fmla="*/ 6247441 w 7289379"/>
              <a:gd name="connsiteY2042" fmla="*/ 2842924 h 4442370"/>
              <a:gd name="connsiteX2043" fmla="*/ 6221220 w 7289379"/>
              <a:gd name="connsiteY2043" fmla="*/ 2909909 h 4442370"/>
              <a:gd name="connsiteX2044" fmla="*/ 6303776 w 7289379"/>
              <a:gd name="connsiteY2044" fmla="*/ 3002142 h 4442370"/>
              <a:gd name="connsiteX2045" fmla="*/ 6355224 w 7289379"/>
              <a:gd name="connsiteY2045" fmla="*/ 2960880 h 4442370"/>
              <a:gd name="connsiteX2046" fmla="*/ 6355224 w 7289379"/>
              <a:gd name="connsiteY2046" fmla="*/ 2973987 h 4442370"/>
              <a:gd name="connsiteX2047" fmla="*/ 6288242 w 7289379"/>
              <a:gd name="connsiteY2047" fmla="*/ 3089520 h 4442370"/>
              <a:gd name="connsiteX2048" fmla="*/ 6247938 w 7289379"/>
              <a:gd name="connsiteY2048" fmla="*/ 3074471 h 4442370"/>
              <a:gd name="connsiteX2049" fmla="*/ 6269312 w 7289379"/>
              <a:gd name="connsiteY2049" fmla="*/ 3055540 h 4442370"/>
              <a:gd name="connsiteX2050" fmla="*/ 6250382 w 7289379"/>
              <a:gd name="connsiteY2050" fmla="*/ 3036606 h 4442370"/>
              <a:gd name="connsiteX2051" fmla="*/ 6231452 w 7289379"/>
              <a:gd name="connsiteY2051" fmla="*/ 3056510 h 4442370"/>
              <a:gd name="connsiteX2052" fmla="*/ 6288698 w 7289379"/>
              <a:gd name="connsiteY2052" fmla="*/ 3101168 h 4442370"/>
              <a:gd name="connsiteX2053" fmla="*/ 6392090 w 7289379"/>
              <a:gd name="connsiteY2053" fmla="*/ 2956026 h 4442370"/>
              <a:gd name="connsiteX2054" fmla="*/ 6354229 w 7289379"/>
              <a:gd name="connsiteY2054" fmla="*/ 2918165 h 4442370"/>
              <a:gd name="connsiteX2055" fmla="*/ 6304232 w 7289379"/>
              <a:gd name="connsiteY2055" fmla="*/ 2992433 h 4442370"/>
              <a:gd name="connsiteX2056" fmla="*/ 6265916 w 7289379"/>
              <a:gd name="connsiteY2056" fmla="*/ 2966705 h 4442370"/>
              <a:gd name="connsiteX2057" fmla="*/ 6258128 w 7289379"/>
              <a:gd name="connsiteY2057" fmla="*/ 2910398 h 4442370"/>
              <a:gd name="connsiteX2058" fmla="*/ 6266869 w 7289379"/>
              <a:gd name="connsiteY2058" fmla="*/ 2853603 h 4442370"/>
              <a:gd name="connsiteX2059" fmla="*/ 6308126 w 7289379"/>
              <a:gd name="connsiteY2059" fmla="*/ 2827391 h 4442370"/>
              <a:gd name="connsiteX2060" fmla="*/ 6347933 w 7289379"/>
              <a:gd name="connsiteY2060" fmla="*/ 2859912 h 4442370"/>
              <a:gd name="connsiteX2061" fmla="*/ 6354229 w 7289379"/>
              <a:gd name="connsiteY2061" fmla="*/ 2918165 h 4442370"/>
              <a:gd name="connsiteX2062" fmla="*/ 6589305 w 7289379"/>
              <a:gd name="connsiteY2062" fmla="*/ 2909909 h 4442370"/>
              <a:gd name="connsiteX2063" fmla="*/ 6580565 w 7289379"/>
              <a:gd name="connsiteY2063" fmla="*/ 2898746 h 4442370"/>
              <a:gd name="connsiteX2064" fmla="*/ 6522324 w 7289379"/>
              <a:gd name="connsiteY2064" fmla="*/ 2871564 h 4442370"/>
              <a:gd name="connsiteX2065" fmla="*/ 6579612 w 7289379"/>
              <a:gd name="connsiteY2065" fmla="*/ 2844378 h 4442370"/>
              <a:gd name="connsiteX2066" fmla="*/ 6589305 w 7289379"/>
              <a:gd name="connsiteY2066" fmla="*/ 2832730 h 4442370"/>
              <a:gd name="connsiteX2067" fmla="*/ 6578163 w 7289379"/>
              <a:gd name="connsiteY2067" fmla="*/ 2821078 h 4442370"/>
              <a:gd name="connsiteX2068" fmla="*/ 6563581 w 7289379"/>
              <a:gd name="connsiteY2068" fmla="*/ 2829329 h 4442370"/>
              <a:gd name="connsiteX2069" fmla="*/ 6517975 w 7289379"/>
              <a:gd name="connsiteY2069" fmla="*/ 2862824 h 4442370"/>
              <a:gd name="connsiteX2070" fmla="*/ 6524271 w 7289379"/>
              <a:gd name="connsiteY2070" fmla="*/ 2792923 h 4442370"/>
              <a:gd name="connsiteX2071" fmla="*/ 6513584 w 7289379"/>
              <a:gd name="connsiteY2071" fmla="*/ 2782244 h 4442370"/>
              <a:gd name="connsiteX2072" fmla="*/ 6502441 w 7289379"/>
              <a:gd name="connsiteY2072" fmla="*/ 2792923 h 4442370"/>
              <a:gd name="connsiteX2073" fmla="*/ 6508240 w 7289379"/>
              <a:gd name="connsiteY2073" fmla="*/ 2862824 h 4442370"/>
              <a:gd name="connsiteX2074" fmla="*/ 6457290 w 7289379"/>
              <a:gd name="connsiteY2074" fmla="*/ 2825933 h 4442370"/>
              <a:gd name="connsiteX2075" fmla="*/ 6448053 w 7289379"/>
              <a:gd name="connsiteY2075" fmla="*/ 2821078 h 4442370"/>
              <a:gd name="connsiteX2076" fmla="*/ 6436910 w 7289379"/>
              <a:gd name="connsiteY2076" fmla="*/ 2832730 h 4442370"/>
              <a:gd name="connsiteX2077" fmla="*/ 6445609 w 7289379"/>
              <a:gd name="connsiteY2077" fmla="*/ 2843894 h 4442370"/>
              <a:gd name="connsiteX2078" fmla="*/ 6503891 w 7289379"/>
              <a:gd name="connsiteY2078" fmla="*/ 2871075 h 4442370"/>
              <a:gd name="connsiteX2079" fmla="*/ 6446603 w 7289379"/>
              <a:gd name="connsiteY2079" fmla="*/ 2898261 h 4442370"/>
              <a:gd name="connsiteX2080" fmla="*/ 6436910 w 7289379"/>
              <a:gd name="connsiteY2080" fmla="*/ 2909909 h 4442370"/>
              <a:gd name="connsiteX2081" fmla="*/ 6450497 w 7289379"/>
              <a:gd name="connsiteY2081" fmla="*/ 2921562 h 4442370"/>
              <a:gd name="connsiteX2082" fmla="*/ 6508240 w 7289379"/>
              <a:gd name="connsiteY2082" fmla="*/ 2879816 h 4442370"/>
              <a:gd name="connsiteX2083" fmla="*/ 6502441 w 7289379"/>
              <a:gd name="connsiteY2083" fmla="*/ 2950202 h 4442370"/>
              <a:gd name="connsiteX2084" fmla="*/ 6513087 w 7289379"/>
              <a:gd name="connsiteY2084" fmla="*/ 2960396 h 4442370"/>
              <a:gd name="connsiteX2085" fmla="*/ 6524271 w 7289379"/>
              <a:gd name="connsiteY2085" fmla="*/ 2950202 h 4442370"/>
              <a:gd name="connsiteX2086" fmla="*/ 6517975 w 7289379"/>
              <a:gd name="connsiteY2086" fmla="*/ 2879816 h 4442370"/>
              <a:gd name="connsiteX2087" fmla="*/ 6571369 w 7289379"/>
              <a:gd name="connsiteY2087" fmla="*/ 2919134 h 4442370"/>
              <a:gd name="connsiteX2088" fmla="*/ 6578163 w 7289379"/>
              <a:gd name="connsiteY2088" fmla="*/ 2921562 h 4442370"/>
              <a:gd name="connsiteX2089" fmla="*/ 6589305 w 7289379"/>
              <a:gd name="connsiteY2089" fmla="*/ 2909909 h 4442370"/>
              <a:gd name="connsiteX2090" fmla="*/ 6795633 w 7289379"/>
              <a:gd name="connsiteY2090" fmla="*/ 2909909 h 4442370"/>
              <a:gd name="connsiteX2091" fmla="*/ 6786893 w 7289379"/>
              <a:gd name="connsiteY2091" fmla="*/ 2898746 h 4442370"/>
              <a:gd name="connsiteX2092" fmla="*/ 6728611 w 7289379"/>
              <a:gd name="connsiteY2092" fmla="*/ 2871564 h 4442370"/>
              <a:gd name="connsiteX2093" fmla="*/ 6785899 w 7289379"/>
              <a:gd name="connsiteY2093" fmla="*/ 2844378 h 4442370"/>
              <a:gd name="connsiteX2094" fmla="*/ 6795633 w 7289379"/>
              <a:gd name="connsiteY2094" fmla="*/ 2832730 h 4442370"/>
              <a:gd name="connsiteX2095" fmla="*/ 6784449 w 7289379"/>
              <a:gd name="connsiteY2095" fmla="*/ 2821078 h 4442370"/>
              <a:gd name="connsiteX2096" fmla="*/ 6769910 w 7289379"/>
              <a:gd name="connsiteY2096" fmla="*/ 2829329 h 4442370"/>
              <a:gd name="connsiteX2097" fmla="*/ 6724261 w 7289379"/>
              <a:gd name="connsiteY2097" fmla="*/ 2862824 h 4442370"/>
              <a:gd name="connsiteX2098" fmla="*/ 6730558 w 7289379"/>
              <a:gd name="connsiteY2098" fmla="*/ 2792923 h 4442370"/>
              <a:gd name="connsiteX2099" fmla="*/ 6719912 w 7289379"/>
              <a:gd name="connsiteY2099" fmla="*/ 2782244 h 4442370"/>
              <a:gd name="connsiteX2100" fmla="*/ 6708728 w 7289379"/>
              <a:gd name="connsiteY2100" fmla="*/ 2792923 h 4442370"/>
              <a:gd name="connsiteX2101" fmla="*/ 6714568 w 7289379"/>
              <a:gd name="connsiteY2101" fmla="*/ 2862824 h 4442370"/>
              <a:gd name="connsiteX2102" fmla="*/ 6663577 w 7289379"/>
              <a:gd name="connsiteY2102" fmla="*/ 2825933 h 4442370"/>
              <a:gd name="connsiteX2103" fmla="*/ 6654381 w 7289379"/>
              <a:gd name="connsiteY2103" fmla="*/ 2821078 h 4442370"/>
              <a:gd name="connsiteX2104" fmla="*/ 6643196 w 7289379"/>
              <a:gd name="connsiteY2104" fmla="*/ 2832730 h 4442370"/>
              <a:gd name="connsiteX2105" fmla="*/ 6651937 w 7289379"/>
              <a:gd name="connsiteY2105" fmla="*/ 2843894 h 4442370"/>
              <a:gd name="connsiteX2106" fmla="*/ 6710178 w 7289379"/>
              <a:gd name="connsiteY2106" fmla="*/ 2871075 h 4442370"/>
              <a:gd name="connsiteX2107" fmla="*/ 6652890 w 7289379"/>
              <a:gd name="connsiteY2107" fmla="*/ 2898261 h 4442370"/>
              <a:gd name="connsiteX2108" fmla="*/ 6643196 w 7289379"/>
              <a:gd name="connsiteY2108" fmla="*/ 2909909 h 4442370"/>
              <a:gd name="connsiteX2109" fmla="*/ 6656783 w 7289379"/>
              <a:gd name="connsiteY2109" fmla="*/ 2921562 h 4442370"/>
              <a:gd name="connsiteX2110" fmla="*/ 6714568 w 7289379"/>
              <a:gd name="connsiteY2110" fmla="*/ 2879816 h 4442370"/>
              <a:gd name="connsiteX2111" fmla="*/ 6708728 w 7289379"/>
              <a:gd name="connsiteY2111" fmla="*/ 2950202 h 4442370"/>
              <a:gd name="connsiteX2112" fmla="*/ 6719415 w 7289379"/>
              <a:gd name="connsiteY2112" fmla="*/ 2960396 h 4442370"/>
              <a:gd name="connsiteX2113" fmla="*/ 6730558 w 7289379"/>
              <a:gd name="connsiteY2113" fmla="*/ 2950202 h 4442370"/>
              <a:gd name="connsiteX2114" fmla="*/ 6724261 w 7289379"/>
              <a:gd name="connsiteY2114" fmla="*/ 2879816 h 4442370"/>
              <a:gd name="connsiteX2115" fmla="*/ 6777656 w 7289379"/>
              <a:gd name="connsiteY2115" fmla="*/ 2919134 h 4442370"/>
              <a:gd name="connsiteX2116" fmla="*/ 6784449 w 7289379"/>
              <a:gd name="connsiteY2116" fmla="*/ 2921562 h 4442370"/>
              <a:gd name="connsiteX2117" fmla="*/ 6795633 w 7289379"/>
              <a:gd name="connsiteY2117" fmla="*/ 2909909 h 4442370"/>
              <a:gd name="connsiteX2118" fmla="*/ 7001920 w 7289379"/>
              <a:gd name="connsiteY2118" fmla="*/ 2909909 h 4442370"/>
              <a:gd name="connsiteX2119" fmla="*/ 6993180 w 7289379"/>
              <a:gd name="connsiteY2119" fmla="*/ 2898746 h 4442370"/>
              <a:gd name="connsiteX2120" fmla="*/ 6934939 w 7289379"/>
              <a:gd name="connsiteY2120" fmla="*/ 2871564 h 4442370"/>
              <a:gd name="connsiteX2121" fmla="*/ 6992227 w 7289379"/>
              <a:gd name="connsiteY2121" fmla="*/ 2844378 h 4442370"/>
              <a:gd name="connsiteX2122" fmla="*/ 7001920 w 7289379"/>
              <a:gd name="connsiteY2122" fmla="*/ 2832730 h 4442370"/>
              <a:gd name="connsiteX2123" fmla="*/ 6990777 w 7289379"/>
              <a:gd name="connsiteY2123" fmla="*/ 2821078 h 4442370"/>
              <a:gd name="connsiteX2124" fmla="*/ 6976196 w 7289379"/>
              <a:gd name="connsiteY2124" fmla="*/ 2829329 h 4442370"/>
              <a:gd name="connsiteX2125" fmla="*/ 6930548 w 7289379"/>
              <a:gd name="connsiteY2125" fmla="*/ 2862824 h 4442370"/>
              <a:gd name="connsiteX2126" fmla="*/ 6936886 w 7289379"/>
              <a:gd name="connsiteY2126" fmla="*/ 2792923 h 4442370"/>
              <a:gd name="connsiteX2127" fmla="*/ 6926198 w 7289379"/>
              <a:gd name="connsiteY2127" fmla="*/ 2782244 h 4442370"/>
              <a:gd name="connsiteX2128" fmla="*/ 6915015 w 7289379"/>
              <a:gd name="connsiteY2128" fmla="*/ 2792923 h 4442370"/>
              <a:gd name="connsiteX2129" fmla="*/ 6920855 w 7289379"/>
              <a:gd name="connsiteY2129" fmla="*/ 2862824 h 4442370"/>
              <a:gd name="connsiteX2130" fmla="*/ 6869905 w 7289379"/>
              <a:gd name="connsiteY2130" fmla="*/ 2825933 h 4442370"/>
              <a:gd name="connsiteX2131" fmla="*/ 6860667 w 7289379"/>
              <a:gd name="connsiteY2131" fmla="*/ 2821078 h 4442370"/>
              <a:gd name="connsiteX2132" fmla="*/ 6849483 w 7289379"/>
              <a:gd name="connsiteY2132" fmla="*/ 2832730 h 4442370"/>
              <a:gd name="connsiteX2133" fmla="*/ 6858224 w 7289379"/>
              <a:gd name="connsiteY2133" fmla="*/ 2843894 h 4442370"/>
              <a:gd name="connsiteX2134" fmla="*/ 6916506 w 7289379"/>
              <a:gd name="connsiteY2134" fmla="*/ 2871075 h 4442370"/>
              <a:gd name="connsiteX2135" fmla="*/ 6859218 w 7289379"/>
              <a:gd name="connsiteY2135" fmla="*/ 2898261 h 4442370"/>
              <a:gd name="connsiteX2136" fmla="*/ 6849483 w 7289379"/>
              <a:gd name="connsiteY2136" fmla="*/ 2909909 h 4442370"/>
              <a:gd name="connsiteX2137" fmla="*/ 6863111 w 7289379"/>
              <a:gd name="connsiteY2137" fmla="*/ 2921562 h 4442370"/>
              <a:gd name="connsiteX2138" fmla="*/ 6920855 w 7289379"/>
              <a:gd name="connsiteY2138" fmla="*/ 2879816 h 4442370"/>
              <a:gd name="connsiteX2139" fmla="*/ 6915015 w 7289379"/>
              <a:gd name="connsiteY2139" fmla="*/ 2950202 h 4442370"/>
              <a:gd name="connsiteX2140" fmla="*/ 6925702 w 7289379"/>
              <a:gd name="connsiteY2140" fmla="*/ 2960396 h 4442370"/>
              <a:gd name="connsiteX2141" fmla="*/ 6936886 w 7289379"/>
              <a:gd name="connsiteY2141" fmla="*/ 2950202 h 4442370"/>
              <a:gd name="connsiteX2142" fmla="*/ 6930548 w 7289379"/>
              <a:gd name="connsiteY2142" fmla="*/ 2879816 h 4442370"/>
              <a:gd name="connsiteX2143" fmla="*/ 6983984 w 7289379"/>
              <a:gd name="connsiteY2143" fmla="*/ 2919134 h 4442370"/>
              <a:gd name="connsiteX2144" fmla="*/ 6990777 w 7289379"/>
              <a:gd name="connsiteY2144" fmla="*/ 2921562 h 4442370"/>
              <a:gd name="connsiteX2145" fmla="*/ 7001920 w 7289379"/>
              <a:gd name="connsiteY2145" fmla="*/ 2909909 h 4442370"/>
              <a:gd name="connsiteX2146" fmla="*/ 5342721 w 7289379"/>
              <a:gd name="connsiteY2146" fmla="*/ 3851273 h 4442370"/>
              <a:gd name="connsiteX2147" fmla="*/ 5335928 w 7289379"/>
              <a:gd name="connsiteY2147" fmla="*/ 3842052 h 4442370"/>
              <a:gd name="connsiteX2148" fmla="*/ 5270894 w 7289379"/>
              <a:gd name="connsiteY2148" fmla="*/ 3648851 h 4442370"/>
              <a:gd name="connsiteX2149" fmla="*/ 5337419 w 7289379"/>
              <a:gd name="connsiteY2149" fmla="*/ 3453711 h 4442370"/>
              <a:gd name="connsiteX2150" fmla="*/ 5342721 w 7289379"/>
              <a:gd name="connsiteY2150" fmla="*/ 3446913 h 4442370"/>
              <a:gd name="connsiteX2151" fmla="*/ 5338869 w 7289379"/>
              <a:gd name="connsiteY2151" fmla="*/ 3442543 h 4442370"/>
              <a:gd name="connsiteX2152" fmla="*/ 5273337 w 7289379"/>
              <a:gd name="connsiteY2152" fmla="*/ 3523124 h 4442370"/>
              <a:gd name="connsiteX2153" fmla="*/ 5247117 w 7289379"/>
              <a:gd name="connsiteY2153" fmla="*/ 3648851 h 4442370"/>
              <a:gd name="connsiteX2154" fmla="*/ 5274290 w 7289379"/>
              <a:gd name="connsiteY2154" fmla="*/ 3777974 h 4442370"/>
              <a:gd name="connsiteX2155" fmla="*/ 5338869 w 7289379"/>
              <a:gd name="connsiteY2155" fmla="*/ 3855643 h 4442370"/>
              <a:gd name="connsiteX2156" fmla="*/ 5342721 w 7289379"/>
              <a:gd name="connsiteY2156" fmla="*/ 3851273 h 4442370"/>
              <a:gd name="connsiteX2157" fmla="*/ 5539687 w 7289379"/>
              <a:gd name="connsiteY2157" fmla="*/ 3752247 h 4442370"/>
              <a:gd name="connsiteX2158" fmla="*/ 5539687 w 7289379"/>
              <a:gd name="connsiteY2158" fmla="*/ 3739625 h 4442370"/>
              <a:gd name="connsiteX2159" fmla="*/ 5526598 w 7289379"/>
              <a:gd name="connsiteY2159" fmla="*/ 3739625 h 4442370"/>
              <a:gd name="connsiteX2160" fmla="*/ 5488240 w 7289379"/>
              <a:gd name="connsiteY2160" fmla="*/ 3719721 h 4442370"/>
              <a:gd name="connsiteX2161" fmla="*/ 5488240 w 7289379"/>
              <a:gd name="connsiteY2161" fmla="*/ 3488175 h 4442370"/>
              <a:gd name="connsiteX2162" fmla="*/ 5478547 w 7289379"/>
              <a:gd name="connsiteY2162" fmla="*/ 3477496 h 4442370"/>
              <a:gd name="connsiteX2163" fmla="*/ 5403779 w 7289379"/>
              <a:gd name="connsiteY2163" fmla="*/ 3503708 h 4442370"/>
              <a:gd name="connsiteX2164" fmla="*/ 5403779 w 7289379"/>
              <a:gd name="connsiteY2164" fmla="*/ 3516815 h 4442370"/>
              <a:gd name="connsiteX2165" fmla="*/ 5457670 w 7289379"/>
              <a:gd name="connsiteY2165" fmla="*/ 3506136 h 4442370"/>
              <a:gd name="connsiteX2166" fmla="*/ 5457670 w 7289379"/>
              <a:gd name="connsiteY2166" fmla="*/ 3719721 h 4442370"/>
              <a:gd name="connsiteX2167" fmla="*/ 5419312 w 7289379"/>
              <a:gd name="connsiteY2167" fmla="*/ 3739625 h 4442370"/>
              <a:gd name="connsiteX2168" fmla="*/ 5406222 w 7289379"/>
              <a:gd name="connsiteY2168" fmla="*/ 3739625 h 4442370"/>
              <a:gd name="connsiteX2169" fmla="*/ 5406222 w 7289379"/>
              <a:gd name="connsiteY2169" fmla="*/ 3752247 h 4442370"/>
              <a:gd name="connsiteX2170" fmla="*/ 5472707 w 7289379"/>
              <a:gd name="connsiteY2170" fmla="*/ 3750788 h 4442370"/>
              <a:gd name="connsiteX2171" fmla="*/ 5539687 w 7289379"/>
              <a:gd name="connsiteY2171" fmla="*/ 3752247 h 4442370"/>
              <a:gd name="connsiteX2172" fmla="*/ 5767348 w 7289379"/>
              <a:gd name="connsiteY2172" fmla="*/ 3684288 h 4442370"/>
              <a:gd name="connsiteX2173" fmla="*/ 5767348 w 7289379"/>
              <a:gd name="connsiteY2173" fmla="*/ 3671182 h 4442370"/>
              <a:gd name="connsiteX2174" fmla="*/ 5726091 w 7289379"/>
              <a:gd name="connsiteY2174" fmla="*/ 3671182 h 4442370"/>
              <a:gd name="connsiteX2175" fmla="*/ 5726091 w 7289379"/>
              <a:gd name="connsiteY2175" fmla="*/ 3483805 h 4442370"/>
              <a:gd name="connsiteX2176" fmla="*/ 5719795 w 7289379"/>
              <a:gd name="connsiteY2176" fmla="*/ 3473126 h 4442370"/>
              <a:gd name="connsiteX2177" fmla="*/ 5711551 w 7289379"/>
              <a:gd name="connsiteY2177" fmla="*/ 3477981 h 4442370"/>
              <a:gd name="connsiteX2178" fmla="*/ 5584839 w 7289379"/>
              <a:gd name="connsiteY2178" fmla="*/ 3671182 h 4442370"/>
              <a:gd name="connsiteX2179" fmla="*/ 5584839 w 7289379"/>
              <a:gd name="connsiteY2179" fmla="*/ 3684288 h 4442370"/>
              <a:gd name="connsiteX2180" fmla="*/ 5694568 w 7289379"/>
              <a:gd name="connsiteY2180" fmla="*/ 3684288 h 4442370"/>
              <a:gd name="connsiteX2181" fmla="*/ 5694568 w 7289379"/>
              <a:gd name="connsiteY2181" fmla="*/ 3720210 h 4442370"/>
              <a:gd name="connsiteX2182" fmla="*/ 5663004 w 7289379"/>
              <a:gd name="connsiteY2182" fmla="*/ 3739625 h 4442370"/>
              <a:gd name="connsiteX2183" fmla="*/ 5654264 w 7289379"/>
              <a:gd name="connsiteY2183" fmla="*/ 3739625 h 4442370"/>
              <a:gd name="connsiteX2184" fmla="*/ 5654264 w 7289379"/>
              <a:gd name="connsiteY2184" fmla="*/ 3752247 h 4442370"/>
              <a:gd name="connsiteX2185" fmla="*/ 5710101 w 7289379"/>
              <a:gd name="connsiteY2185" fmla="*/ 3750788 h 4442370"/>
              <a:gd name="connsiteX2186" fmla="*/ 5766396 w 7289379"/>
              <a:gd name="connsiteY2186" fmla="*/ 3752247 h 4442370"/>
              <a:gd name="connsiteX2187" fmla="*/ 5766396 w 7289379"/>
              <a:gd name="connsiteY2187" fmla="*/ 3739625 h 4442370"/>
              <a:gd name="connsiteX2188" fmla="*/ 5757655 w 7289379"/>
              <a:gd name="connsiteY2188" fmla="*/ 3739625 h 4442370"/>
              <a:gd name="connsiteX2189" fmla="*/ 5726091 w 7289379"/>
              <a:gd name="connsiteY2189" fmla="*/ 3720210 h 4442370"/>
              <a:gd name="connsiteX2190" fmla="*/ 5726091 w 7289379"/>
              <a:gd name="connsiteY2190" fmla="*/ 3684288 h 4442370"/>
              <a:gd name="connsiteX2191" fmla="*/ 5696971 w 7289379"/>
              <a:gd name="connsiteY2191" fmla="*/ 3671182 h 4442370"/>
              <a:gd name="connsiteX2192" fmla="*/ 5596478 w 7289379"/>
              <a:gd name="connsiteY2192" fmla="*/ 3671182 h 4442370"/>
              <a:gd name="connsiteX2193" fmla="*/ 5696971 w 7289379"/>
              <a:gd name="connsiteY2193" fmla="*/ 3517299 h 4442370"/>
              <a:gd name="connsiteX2194" fmla="*/ 5858728 w 7289379"/>
              <a:gd name="connsiteY2194" fmla="*/ 3730404 h 4442370"/>
              <a:gd name="connsiteX2195" fmla="*/ 5836897 w 7289379"/>
              <a:gd name="connsiteY2195" fmla="*/ 3708558 h 4442370"/>
              <a:gd name="connsiteX2196" fmla="*/ 5815068 w 7289379"/>
              <a:gd name="connsiteY2196" fmla="*/ 3730404 h 4442370"/>
              <a:gd name="connsiteX2197" fmla="*/ 5836897 w 7289379"/>
              <a:gd name="connsiteY2197" fmla="*/ 3752247 h 4442370"/>
              <a:gd name="connsiteX2198" fmla="*/ 5858728 w 7289379"/>
              <a:gd name="connsiteY2198" fmla="*/ 3730404 h 4442370"/>
              <a:gd name="connsiteX2199" fmla="*/ 6079719 w 7289379"/>
              <a:gd name="connsiteY2199" fmla="*/ 3669239 h 4442370"/>
              <a:gd name="connsiteX2200" fmla="*/ 6001098 w 7289379"/>
              <a:gd name="connsiteY2200" fmla="*/ 3578949 h 4442370"/>
              <a:gd name="connsiteX2201" fmla="*/ 5948657 w 7289379"/>
              <a:gd name="connsiteY2201" fmla="*/ 3599822 h 4442370"/>
              <a:gd name="connsiteX2202" fmla="*/ 5948657 w 7289379"/>
              <a:gd name="connsiteY2202" fmla="*/ 3519727 h 4442370"/>
              <a:gd name="connsiteX2203" fmla="*/ 5983618 w 7289379"/>
              <a:gd name="connsiteY2203" fmla="*/ 3525066 h 4442370"/>
              <a:gd name="connsiteX2204" fmla="*/ 6063730 w 7289379"/>
              <a:gd name="connsiteY2204" fmla="*/ 3481866 h 4442370"/>
              <a:gd name="connsiteX2205" fmla="*/ 6059339 w 7289379"/>
              <a:gd name="connsiteY2205" fmla="*/ 3477496 h 4442370"/>
              <a:gd name="connsiteX2206" fmla="*/ 6055943 w 7289379"/>
              <a:gd name="connsiteY2206" fmla="*/ 3478465 h 4442370"/>
              <a:gd name="connsiteX2207" fmla="*/ 6000146 w 7289379"/>
              <a:gd name="connsiteY2207" fmla="*/ 3490602 h 4442370"/>
              <a:gd name="connsiteX2208" fmla="*/ 5945260 w 7289379"/>
              <a:gd name="connsiteY2208" fmla="*/ 3478950 h 4442370"/>
              <a:gd name="connsiteX2209" fmla="*/ 5939916 w 7289379"/>
              <a:gd name="connsiteY2209" fmla="*/ 3477981 h 4442370"/>
              <a:gd name="connsiteX2210" fmla="*/ 5936064 w 7289379"/>
              <a:gd name="connsiteY2210" fmla="*/ 3487690 h 4442370"/>
              <a:gd name="connsiteX2211" fmla="*/ 5936064 w 7289379"/>
              <a:gd name="connsiteY2211" fmla="*/ 3610016 h 4442370"/>
              <a:gd name="connsiteX2212" fmla="*/ 5941863 w 7289379"/>
              <a:gd name="connsiteY2212" fmla="*/ 3620695 h 4442370"/>
              <a:gd name="connsiteX2213" fmla="*/ 5947207 w 7289379"/>
              <a:gd name="connsiteY2213" fmla="*/ 3616814 h 4442370"/>
              <a:gd name="connsiteX2214" fmla="*/ 6000146 w 7289379"/>
              <a:gd name="connsiteY2214" fmla="*/ 3588174 h 4442370"/>
              <a:gd name="connsiteX2215" fmla="*/ 6035562 w 7289379"/>
              <a:gd name="connsiteY2215" fmla="*/ 3614387 h 4442370"/>
              <a:gd name="connsiteX2216" fmla="*/ 6042853 w 7289379"/>
              <a:gd name="connsiteY2216" fmla="*/ 3666327 h 4442370"/>
              <a:gd name="connsiteX2217" fmla="*/ 6033160 w 7289379"/>
              <a:gd name="connsiteY2217" fmla="*/ 3723122 h 4442370"/>
              <a:gd name="connsiteX2218" fmla="*/ 5988962 w 7289379"/>
              <a:gd name="connsiteY2218" fmla="*/ 3749819 h 4442370"/>
              <a:gd name="connsiteX2219" fmla="*/ 5928277 w 7289379"/>
              <a:gd name="connsiteY2219" fmla="*/ 3703703 h 4442370"/>
              <a:gd name="connsiteX2220" fmla="*/ 5935070 w 7289379"/>
              <a:gd name="connsiteY2220" fmla="*/ 3704187 h 4442370"/>
              <a:gd name="connsiteX2221" fmla="*/ 5955948 w 7289379"/>
              <a:gd name="connsiteY2221" fmla="*/ 3684288 h 4442370"/>
              <a:gd name="connsiteX2222" fmla="*/ 5935070 w 7289379"/>
              <a:gd name="connsiteY2222" fmla="*/ 3663900 h 4442370"/>
              <a:gd name="connsiteX2223" fmla="*/ 5915187 w 7289379"/>
              <a:gd name="connsiteY2223" fmla="*/ 3685742 h 4442370"/>
              <a:gd name="connsiteX2224" fmla="*/ 5989458 w 7289379"/>
              <a:gd name="connsiteY2224" fmla="*/ 3761472 h 4442370"/>
              <a:gd name="connsiteX2225" fmla="*/ 6079761 w 7289379"/>
              <a:gd name="connsiteY2225" fmla="*/ 3669239 h 4442370"/>
              <a:gd name="connsiteX2226" fmla="*/ 6288947 w 7289379"/>
              <a:gd name="connsiteY2226" fmla="*/ 3616325 h 4442370"/>
              <a:gd name="connsiteX2227" fmla="*/ 6204982 w 7289379"/>
              <a:gd name="connsiteY2227" fmla="*/ 3477496 h 4442370"/>
              <a:gd name="connsiteX2228" fmla="*/ 6144298 w 7289379"/>
              <a:gd name="connsiteY2228" fmla="*/ 3503224 h 4442370"/>
              <a:gd name="connsiteX2229" fmla="*/ 6118077 w 7289379"/>
              <a:gd name="connsiteY2229" fmla="*/ 3570213 h 4442370"/>
              <a:gd name="connsiteX2230" fmla="*/ 6200591 w 7289379"/>
              <a:gd name="connsiteY2230" fmla="*/ 3662441 h 4442370"/>
              <a:gd name="connsiteX2231" fmla="*/ 6252081 w 7289379"/>
              <a:gd name="connsiteY2231" fmla="*/ 3621180 h 4442370"/>
              <a:gd name="connsiteX2232" fmla="*/ 6252081 w 7289379"/>
              <a:gd name="connsiteY2232" fmla="*/ 3634286 h 4442370"/>
              <a:gd name="connsiteX2233" fmla="*/ 6185058 w 7289379"/>
              <a:gd name="connsiteY2233" fmla="*/ 3749819 h 4442370"/>
              <a:gd name="connsiteX2234" fmla="*/ 6144795 w 7289379"/>
              <a:gd name="connsiteY2234" fmla="*/ 3734770 h 4442370"/>
              <a:gd name="connsiteX2235" fmla="*/ 6166128 w 7289379"/>
              <a:gd name="connsiteY2235" fmla="*/ 3715840 h 4442370"/>
              <a:gd name="connsiteX2236" fmla="*/ 6147197 w 7289379"/>
              <a:gd name="connsiteY2236" fmla="*/ 3696910 h 4442370"/>
              <a:gd name="connsiteX2237" fmla="*/ 6128267 w 7289379"/>
              <a:gd name="connsiteY2237" fmla="*/ 3716809 h 4442370"/>
              <a:gd name="connsiteX2238" fmla="*/ 6185555 w 7289379"/>
              <a:gd name="connsiteY2238" fmla="*/ 3761472 h 4442370"/>
              <a:gd name="connsiteX2239" fmla="*/ 6288947 w 7289379"/>
              <a:gd name="connsiteY2239" fmla="*/ 3616325 h 4442370"/>
              <a:gd name="connsiteX2240" fmla="*/ 6251087 w 7289379"/>
              <a:gd name="connsiteY2240" fmla="*/ 3578465 h 4442370"/>
              <a:gd name="connsiteX2241" fmla="*/ 6201089 w 7289379"/>
              <a:gd name="connsiteY2241" fmla="*/ 3652736 h 4442370"/>
              <a:gd name="connsiteX2242" fmla="*/ 6162731 w 7289379"/>
              <a:gd name="connsiteY2242" fmla="*/ 3627008 h 4442370"/>
              <a:gd name="connsiteX2243" fmla="*/ 6154985 w 7289379"/>
              <a:gd name="connsiteY2243" fmla="*/ 3570698 h 4442370"/>
              <a:gd name="connsiteX2244" fmla="*/ 6163725 w 7289379"/>
              <a:gd name="connsiteY2244" fmla="*/ 3513903 h 4442370"/>
              <a:gd name="connsiteX2245" fmla="*/ 6204982 w 7289379"/>
              <a:gd name="connsiteY2245" fmla="*/ 3487690 h 4442370"/>
              <a:gd name="connsiteX2246" fmla="*/ 6244790 w 7289379"/>
              <a:gd name="connsiteY2246" fmla="*/ 3520211 h 4442370"/>
              <a:gd name="connsiteX2247" fmla="*/ 6251087 w 7289379"/>
              <a:gd name="connsiteY2247" fmla="*/ 3578465 h 4442370"/>
              <a:gd name="connsiteX2248" fmla="*/ 6495275 w 7289379"/>
              <a:gd name="connsiteY2248" fmla="*/ 3668270 h 4442370"/>
              <a:gd name="connsiteX2249" fmla="*/ 6412761 w 7289379"/>
              <a:gd name="connsiteY2249" fmla="*/ 3576037 h 4442370"/>
              <a:gd name="connsiteX2250" fmla="*/ 6361271 w 7289379"/>
              <a:gd name="connsiteY2250" fmla="*/ 3616814 h 4442370"/>
              <a:gd name="connsiteX2251" fmla="*/ 6361271 w 7289379"/>
              <a:gd name="connsiteY2251" fmla="*/ 3607104 h 4442370"/>
              <a:gd name="connsiteX2252" fmla="*/ 6433596 w 7289379"/>
              <a:gd name="connsiteY2252" fmla="*/ 3487690 h 4442370"/>
              <a:gd name="connsiteX2253" fmla="*/ 6470007 w 7289379"/>
              <a:gd name="connsiteY2253" fmla="*/ 3504193 h 4442370"/>
              <a:gd name="connsiteX2254" fmla="*/ 6447225 w 7289379"/>
              <a:gd name="connsiteY2254" fmla="*/ 3522639 h 4442370"/>
              <a:gd name="connsiteX2255" fmla="*/ 6466155 w 7289379"/>
              <a:gd name="connsiteY2255" fmla="*/ 3541573 h 4442370"/>
              <a:gd name="connsiteX2256" fmla="*/ 6485085 w 7289379"/>
              <a:gd name="connsiteY2256" fmla="*/ 3522154 h 4442370"/>
              <a:gd name="connsiteX2257" fmla="*/ 6432643 w 7289379"/>
              <a:gd name="connsiteY2257" fmla="*/ 3477496 h 4442370"/>
              <a:gd name="connsiteX2258" fmla="*/ 6324405 w 7289379"/>
              <a:gd name="connsiteY2258" fmla="*/ 3621669 h 4442370"/>
              <a:gd name="connsiteX2259" fmla="*/ 6410316 w 7289379"/>
              <a:gd name="connsiteY2259" fmla="*/ 3761472 h 4442370"/>
              <a:gd name="connsiteX2260" fmla="*/ 6495275 w 7289379"/>
              <a:gd name="connsiteY2260" fmla="*/ 3668270 h 4442370"/>
              <a:gd name="connsiteX2261" fmla="*/ 6458367 w 7289379"/>
              <a:gd name="connsiteY2261" fmla="*/ 3667781 h 4442370"/>
              <a:gd name="connsiteX2262" fmla="*/ 6451574 w 7289379"/>
              <a:gd name="connsiteY2262" fmla="*/ 3723122 h 4442370"/>
              <a:gd name="connsiteX2263" fmla="*/ 6410316 w 7289379"/>
              <a:gd name="connsiteY2263" fmla="*/ 3749819 h 4442370"/>
              <a:gd name="connsiteX2264" fmla="*/ 6369556 w 7289379"/>
              <a:gd name="connsiteY2264" fmla="*/ 3718752 h 4442370"/>
              <a:gd name="connsiteX2265" fmla="*/ 6362266 w 7289379"/>
              <a:gd name="connsiteY2265" fmla="*/ 3659045 h 4442370"/>
              <a:gd name="connsiteX2266" fmla="*/ 6412761 w 7289379"/>
              <a:gd name="connsiteY2266" fmla="*/ 3585747 h 4442370"/>
              <a:gd name="connsiteX2267" fmla="*/ 6451076 w 7289379"/>
              <a:gd name="connsiteY2267" fmla="*/ 3610986 h 4442370"/>
              <a:gd name="connsiteX2268" fmla="*/ 6458367 w 7289379"/>
              <a:gd name="connsiteY2268" fmla="*/ 3667781 h 4442370"/>
              <a:gd name="connsiteX2269" fmla="*/ 6632758 w 7289379"/>
              <a:gd name="connsiteY2269" fmla="*/ 3648851 h 4442370"/>
              <a:gd name="connsiteX2270" fmla="*/ 6605585 w 7289379"/>
              <a:gd name="connsiteY2270" fmla="*/ 3520211 h 4442370"/>
              <a:gd name="connsiteX2271" fmla="*/ 6541006 w 7289379"/>
              <a:gd name="connsiteY2271" fmla="*/ 3442543 h 4442370"/>
              <a:gd name="connsiteX2272" fmla="*/ 6536657 w 7289379"/>
              <a:gd name="connsiteY2272" fmla="*/ 3446913 h 4442370"/>
              <a:gd name="connsiteX2273" fmla="*/ 6544899 w 7289379"/>
              <a:gd name="connsiteY2273" fmla="*/ 3456623 h 4442370"/>
              <a:gd name="connsiteX2274" fmla="*/ 6608484 w 7289379"/>
              <a:gd name="connsiteY2274" fmla="*/ 3648851 h 4442370"/>
              <a:gd name="connsiteX2275" fmla="*/ 6542456 w 7289379"/>
              <a:gd name="connsiteY2275" fmla="*/ 3844479 h 4442370"/>
              <a:gd name="connsiteX2276" fmla="*/ 6536657 w 7289379"/>
              <a:gd name="connsiteY2276" fmla="*/ 3851273 h 4442370"/>
              <a:gd name="connsiteX2277" fmla="*/ 6541006 w 7289379"/>
              <a:gd name="connsiteY2277" fmla="*/ 3855643 h 4442370"/>
              <a:gd name="connsiteX2278" fmla="*/ 6606537 w 7289379"/>
              <a:gd name="connsiteY2278" fmla="*/ 3775063 h 4442370"/>
              <a:gd name="connsiteX2279" fmla="*/ 6632758 w 7289379"/>
              <a:gd name="connsiteY2279" fmla="*/ 3648851 h 4442370"/>
              <a:gd name="connsiteX2280" fmla="*/ 528285 w 7289379"/>
              <a:gd name="connsiteY2280" fmla="*/ 4164253 h 4442370"/>
              <a:gd name="connsiteX2281" fmla="*/ 528285 w 7289379"/>
              <a:gd name="connsiteY2281" fmla="*/ 4151146 h 4442370"/>
              <a:gd name="connsiteX2282" fmla="*/ 479741 w 7289379"/>
              <a:gd name="connsiteY2282" fmla="*/ 4152604 h 4442370"/>
              <a:gd name="connsiteX2283" fmla="*/ 431687 w 7289379"/>
              <a:gd name="connsiteY2283" fmla="*/ 4151146 h 4442370"/>
              <a:gd name="connsiteX2284" fmla="*/ 431687 w 7289379"/>
              <a:gd name="connsiteY2284" fmla="*/ 4164253 h 4442370"/>
              <a:gd name="connsiteX2285" fmla="*/ 473917 w 7289379"/>
              <a:gd name="connsiteY2285" fmla="*/ 4194835 h 4442370"/>
              <a:gd name="connsiteX2286" fmla="*/ 473917 w 7289379"/>
              <a:gd name="connsiteY2286" fmla="*/ 4371044 h 4442370"/>
              <a:gd name="connsiteX2287" fmla="*/ 328289 w 7289379"/>
              <a:gd name="connsiteY2287" fmla="*/ 4156486 h 4442370"/>
              <a:gd name="connsiteX2288" fmla="*/ 316639 w 7289379"/>
              <a:gd name="connsiteY2288" fmla="*/ 4151146 h 4442370"/>
              <a:gd name="connsiteX2289" fmla="*/ 246252 w 7289379"/>
              <a:gd name="connsiteY2289" fmla="*/ 4151146 h 4442370"/>
              <a:gd name="connsiteX2290" fmla="*/ 246252 w 7289379"/>
              <a:gd name="connsiteY2290" fmla="*/ 4164253 h 4442370"/>
              <a:gd name="connsiteX2291" fmla="*/ 258388 w 7289379"/>
              <a:gd name="connsiteY2291" fmla="*/ 4164253 h 4442370"/>
              <a:gd name="connsiteX2292" fmla="*/ 278776 w 7289379"/>
              <a:gd name="connsiteY2292" fmla="*/ 4164737 h 4442370"/>
              <a:gd name="connsiteX2293" fmla="*/ 288969 w 7289379"/>
              <a:gd name="connsiteY2293" fmla="*/ 4174446 h 4442370"/>
              <a:gd name="connsiteX2294" fmla="*/ 288969 w 7289379"/>
              <a:gd name="connsiteY2294" fmla="*/ 4389975 h 4442370"/>
              <a:gd name="connsiteX2295" fmla="*/ 246252 w 7289379"/>
              <a:gd name="connsiteY2295" fmla="*/ 4420558 h 4442370"/>
              <a:gd name="connsiteX2296" fmla="*/ 246252 w 7289379"/>
              <a:gd name="connsiteY2296" fmla="*/ 4433179 h 4442370"/>
              <a:gd name="connsiteX2297" fmla="*/ 294794 w 7289379"/>
              <a:gd name="connsiteY2297" fmla="*/ 4431721 h 4442370"/>
              <a:gd name="connsiteX2298" fmla="*/ 342852 w 7289379"/>
              <a:gd name="connsiteY2298" fmla="*/ 4433179 h 4442370"/>
              <a:gd name="connsiteX2299" fmla="*/ 342852 w 7289379"/>
              <a:gd name="connsiteY2299" fmla="*/ 4420558 h 4442370"/>
              <a:gd name="connsiteX2300" fmla="*/ 300134 w 7289379"/>
              <a:gd name="connsiteY2300" fmla="*/ 4389975 h 4442370"/>
              <a:gd name="connsiteX2301" fmla="*/ 300134 w 7289379"/>
              <a:gd name="connsiteY2301" fmla="*/ 4175416 h 4442370"/>
              <a:gd name="connsiteX2302" fmla="*/ 304503 w 7289379"/>
              <a:gd name="connsiteY2302" fmla="*/ 4180271 h 4442370"/>
              <a:gd name="connsiteX2303" fmla="*/ 472944 w 7289379"/>
              <a:gd name="connsiteY2303" fmla="*/ 4427840 h 4442370"/>
              <a:gd name="connsiteX2304" fmla="*/ 479741 w 7289379"/>
              <a:gd name="connsiteY2304" fmla="*/ 4433179 h 4442370"/>
              <a:gd name="connsiteX2305" fmla="*/ 485565 w 7289379"/>
              <a:gd name="connsiteY2305" fmla="*/ 4422500 h 4442370"/>
              <a:gd name="connsiteX2306" fmla="*/ 485565 w 7289379"/>
              <a:gd name="connsiteY2306" fmla="*/ 4194835 h 4442370"/>
              <a:gd name="connsiteX2307" fmla="*/ 528285 w 7289379"/>
              <a:gd name="connsiteY2307" fmla="*/ 4164253 h 4442370"/>
              <a:gd name="connsiteX2308" fmla="*/ 763108 w 7289379"/>
              <a:gd name="connsiteY2308" fmla="*/ 4433179 h 4442370"/>
              <a:gd name="connsiteX2309" fmla="*/ 763108 w 7289379"/>
              <a:gd name="connsiteY2309" fmla="*/ 4420558 h 4442370"/>
              <a:gd name="connsiteX2310" fmla="*/ 730587 w 7289379"/>
              <a:gd name="connsiteY2310" fmla="*/ 4397257 h 4442370"/>
              <a:gd name="connsiteX2311" fmla="*/ 730587 w 7289379"/>
              <a:gd name="connsiteY2311" fmla="*/ 4250657 h 4442370"/>
              <a:gd name="connsiteX2312" fmla="*/ 670391 w 7289379"/>
              <a:gd name="connsiteY2312" fmla="*/ 4255511 h 4442370"/>
              <a:gd name="connsiteX2313" fmla="*/ 670391 w 7289379"/>
              <a:gd name="connsiteY2313" fmla="*/ 4268133 h 4442370"/>
              <a:gd name="connsiteX2314" fmla="*/ 702431 w 7289379"/>
              <a:gd name="connsiteY2314" fmla="*/ 4291434 h 4442370"/>
              <a:gd name="connsiteX2315" fmla="*/ 702431 w 7289379"/>
              <a:gd name="connsiteY2315" fmla="*/ 4364732 h 4442370"/>
              <a:gd name="connsiteX2316" fmla="*/ 652434 w 7289379"/>
              <a:gd name="connsiteY2316" fmla="*/ 4428809 h 4442370"/>
              <a:gd name="connsiteX2317" fmla="*/ 616023 w 7289379"/>
              <a:gd name="connsiteY2317" fmla="*/ 4387547 h 4442370"/>
              <a:gd name="connsiteX2318" fmla="*/ 616023 w 7289379"/>
              <a:gd name="connsiteY2318" fmla="*/ 4250657 h 4442370"/>
              <a:gd name="connsiteX2319" fmla="*/ 555347 w 7289379"/>
              <a:gd name="connsiteY2319" fmla="*/ 4255511 h 4442370"/>
              <a:gd name="connsiteX2320" fmla="*/ 555347 w 7289379"/>
              <a:gd name="connsiteY2320" fmla="*/ 4268133 h 4442370"/>
              <a:gd name="connsiteX2321" fmla="*/ 587872 w 7289379"/>
              <a:gd name="connsiteY2321" fmla="*/ 4305998 h 4442370"/>
              <a:gd name="connsiteX2322" fmla="*/ 587872 w 7289379"/>
              <a:gd name="connsiteY2322" fmla="*/ 4368133 h 4442370"/>
              <a:gd name="connsiteX2323" fmla="*/ 650491 w 7289379"/>
              <a:gd name="connsiteY2323" fmla="*/ 4437549 h 4442370"/>
              <a:gd name="connsiteX2324" fmla="*/ 703401 w 7289379"/>
              <a:gd name="connsiteY2324" fmla="*/ 4400654 h 4442370"/>
              <a:gd name="connsiteX2325" fmla="*/ 703401 w 7289379"/>
              <a:gd name="connsiteY2325" fmla="*/ 4437549 h 4442370"/>
              <a:gd name="connsiteX2326" fmla="*/ 1107035 w 7289379"/>
              <a:gd name="connsiteY2326" fmla="*/ 4433179 h 4442370"/>
              <a:gd name="connsiteX2327" fmla="*/ 1107035 w 7289379"/>
              <a:gd name="connsiteY2327" fmla="*/ 4420558 h 4442370"/>
              <a:gd name="connsiteX2328" fmla="*/ 1074994 w 7289379"/>
              <a:gd name="connsiteY2328" fmla="*/ 4407936 h 4442370"/>
              <a:gd name="connsiteX2329" fmla="*/ 1074994 w 7289379"/>
              <a:gd name="connsiteY2329" fmla="*/ 4329298 h 4442370"/>
              <a:gd name="connsiteX2330" fmla="*/ 1061888 w 7289379"/>
              <a:gd name="connsiteY2330" fmla="*/ 4266191 h 4442370"/>
              <a:gd name="connsiteX2331" fmla="*/ 1018684 w 7289379"/>
              <a:gd name="connsiteY2331" fmla="*/ 4250657 h 4442370"/>
              <a:gd name="connsiteX2332" fmla="*/ 958977 w 7289379"/>
              <a:gd name="connsiteY2332" fmla="*/ 4291434 h 4442370"/>
              <a:gd name="connsiteX2333" fmla="*/ 904124 w 7289379"/>
              <a:gd name="connsiteY2333" fmla="*/ 4250657 h 4442370"/>
              <a:gd name="connsiteX2334" fmla="*/ 842963 w 7289379"/>
              <a:gd name="connsiteY2334" fmla="*/ 4294346 h 4442370"/>
              <a:gd name="connsiteX2335" fmla="*/ 842963 w 7289379"/>
              <a:gd name="connsiteY2335" fmla="*/ 4250657 h 4442370"/>
              <a:gd name="connsiteX2336" fmla="*/ 784710 w 7289379"/>
              <a:gd name="connsiteY2336" fmla="*/ 4255511 h 4442370"/>
              <a:gd name="connsiteX2337" fmla="*/ 784710 w 7289379"/>
              <a:gd name="connsiteY2337" fmla="*/ 4268133 h 4442370"/>
              <a:gd name="connsiteX2338" fmla="*/ 817235 w 7289379"/>
              <a:gd name="connsiteY2338" fmla="*/ 4291434 h 4442370"/>
              <a:gd name="connsiteX2339" fmla="*/ 817235 w 7289379"/>
              <a:gd name="connsiteY2339" fmla="*/ 4401627 h 4442370"/>
              <a:gd name="connsiteX2340" fmla="*/ 784710 w 7289379"/>
              <a:gd name="connsiteY2340" fmla="*/ 4420558 h 4442370"/>
              <a:gd name="connsiteX2341" fmla="*/ 784710 w 7289379"/>
              <a:gd name="connsiteY2341" fmla="*/ 4433179 h 4442370"/>
              <a:gd name="connsiteX2342" fmla="*/ 831311 w 7289379"/>
              <a:gd name="connsiteY2342" fmla="*/ 4431721 h 4442370"/>
              <a:gd name="connsiteX2343" fmla="*/ 877427 w 7289379"/>
              <a:gd name="connsiteY2343" fmla="*/ 4433179 h 4442370"/>
              <a:gd name="connsiteX2344" fmla="*/ 877427 w 7289379"/>
              <a:gd name="connsiteY2344" fmla="*/ 4420558 h 4442370"/>
              <a:gd name="connsiteX2345" fmla="*/ 845391 w 7289379"/>
              <a:gd name="connsiteY2345" fmla="*/ 4401627 h 4442370"/>
              <a:gd name="connsiteX2346" fmla="*/ 845391 w 7289379"/>
              <a:gd name="connsiteY2346" fmla="*/ 4325898 h 4442370"/>
              <a:gd name="connsiteX2347" fmla="*/ 901212 w 7289379"/>
              <a:gd name="connsiteY2347" fmla="*/ 4259882 h 4442370"/>
              <a:gd name="connsiteX2348" fmla="*/ 931795 w 7289379"/>
              <a:gd name="connsiteY2348" fmla="*/ 4305513 h 4442370"/>
              <a:gd name="connsiteX2349" fmla="*/ 931795 w 7289379"/>
              <a:gd name="connsiteY2349" fmla="*/ 4401627 h 4442370"/>
              <a:gd name="connsiteX2350" fmla="*/ 899758 w 7289379"/>
              <a:gd name="connsiteY2350" fmla="*/ 4420558 h 4442370"/>
              <a:gd name="connsiteX2351" fmla="*/ 899758 w 7289379"/>
              <a:gd name="connsiteY2351" fmla="*/ 4433179 h 4442370"/>
              <a:gd name="connsiteX2352" fmla="*/ 946359 w 7289379"/>
              <a:gd name="connsiteY2352" fmla="*/ 4431721 h 4442370"/>
              <a:gd name="connsiteX2353" fmla="*/ 992471 w 7289379"/>
              <a:gd name="connsiteY2353" fmla="*/ 4433179 h 4442370"/>
              <a:gd name="connsiteX2354" fmla="*/ 992471 w 7289379"/>
              <a:gd name="connsiteY2354" fmla="*/ 4420558 h 4442370"/>
              <a:gd name="connsiteX2355" fmla="*/ 959950 w 7289379"/>
              <a:gd name="connsiteY2355" fmla="*/ 4401627 h 4442370"/>
              <a:gd name="connsiteX2356" fmla="*/ 959950 w 7289379"/>
              <a:gd name="connsiteY2356" fmla="*/ 4325898 h 4442370"/>
              <a:gd name="connsiteX2357" fmla="*/ 1015772 w 7289379"/>
              <a:gd name="connsiteY2357" fmla="*/ 4259882 h 4442370"/>
              <a:gd name="connsiteX2358" fmla="*/ 1046354 w 7289379"/>
              <a:gd name="connsiteY2358" fmla="*/ 4305513 h 4442370"/>
              <a:gd name="connsiteX2359" fmla="*/ 1046354 w 7289379"/>
              <a:gd name="connsiteY2359" fmla="*/ 4401627 h 4442370"/>
              <a:gd name="connsiteX2360" fmla="*/ 1014318 w 7289379"/>
              <a:gd name="connsiteY2360" fmla="*/ 4420558 h 4442370"/>
              <a:gd name="connsiteX2361" fmla="*/ 1014318 w 7289379"/>
              <a:gd name="connsiteY2361" fmla="*/ 4433179 h 4442370"/>
              <a:gd name="connsiteX2362" fmla="*/ 1060919 w 7289379"/>
              <a:gd name="connsiteY2362" fmla="*/ 4431721 h 4442370"/>
              <a:gd name="connsiteX2363" fmla="*/ 1194533 w 7289379"/>
              <a:gd name="connsiteY2363" fmla="*/ 4411333 h 4442370"/>
              <a:gd name="connsiteX2364" fmla="*/ 1172686 w 7289379"/>
              <a:gd name="connsiteY2364" fmla="*/ 4389490 h 4442370"/>
              <a:gd name="connsiteX2365" fmla="*/ 1150844 w 7289379"/>
              <a:gd name="connsiteY2365" fmla="*/ 4411333 h 4442370"/>
              <a:gd name="connsiteX2366" fmla="*/ 1172686 w 7289379"/>
              <a:gd name="connsiteY2366" fmla="*/ 4433179 h 4442370"/>
              <a:gd name="connsiteX2367" fmla="*/ 1194533 w 7289379"/>
              <a:gd name="connsiteY2367" fmla="*/ 4411333 h 4442370"/>
              <a:gd name="connsiteX2368" fmla="*/ 1527657 w 7289379"/>
              <a:gd name="connsiteY2368" fmla="*/ 4293376 h 4442370"/>
              <a:gd name="connsiteX2369" fmla="*/ 1390281 w 7289379"/>
              <a:gd name="connsiteY2369" fmla="*/ 4142410 h 4442370"/>
              <a:gd name="connsiteX2370" fmla="*/ 1253391 w 7289379"/>
              <a:gd name="connsiteY2370" fmla="*/ 4293376 h 4442370"/>
              <a:gd name="connsiteX2371" fmla="*/ 1390281 w 7289379"/>
              <a:gd name="connsiteY2371" fmla="*/ 4442396 h 4442370"/>
              <a:gd name="connsiteX2372" fmla="*/ 1527657 w 7289379"/>
              <a:gd name="connsiteY2372" fmla="*/ 4293376 h 4442370"/>
              <a:gd name="connsiteX2373" fmla="*/ 1484937 w 7289379"/>
              <a:gd name="connsiteY2373" fmla="*/ 4287552 h 4442370"/>
              <a:gd name="connsiteX2374" fmla="*/ 1390766 w 7289379"/>
              <a:gd name="connsiteY2374" fmla="*/ 4431721 h 4442370"/>
              <a:gd name="connsiteX2375" fmla="*/ 1295622 w 7289379"/>
              <a:gd name="connsiteY2375" fmla="*/ 4287552 h 4442370"/>
              <a:gd name="connsiteX2376" fmla="*/ 1390281 w 7289379"/>
              <a:gd name="connsiteY2376" fmla="*/ 4152600 h 4442370"/>
              <a:gd name="connsiteX2377" fmla="*/ 1484937 w 7289379"/>
              <a:gd name="connsiteY2377" fmla="*/ 4287552 h 4442370"/>
              <a:gd name="connsiteX2378" fmla="*/ 1766241 w 7289379"/>
              <a:gd name="connsiteY2378" fmla="*/ 4343859 h 4442370"/>
              <a:gd name="connsiteX2379" fmla="*/ 1678867 w 7289379"/>
              <a:gd name="connsiteY2379" fmla="*/ 4250657 h 4442370"/>
              <a:gd name="connsiteX2380" fmla="*/ 1622072 w 7289379"/>
              <a:gd name="connsiteY2380" fmla="*/ 4277843 h 4442370"/>
              <a:gd name="connsiteX2381" fmla="*/ 1622072 w 7289379"/>
              <a:gd name="connsiteY2381" fmla="*/ 4146776 h 4442370"/>
              <a:gd name="connsiteX2382" fmla="*/ 1562850 w 7289379"/>
              <a:gd name="connsiteY2382" fmla="*/ 4151146 h 4442370"/>
              <a:gd name="connsiteX2383" fmla="*/ 1562850 w 7289379"/>
              <a:gd name="connsiteY2383" fmla="*/ 4164253 h 4442370"/>
              <a:gd name="connsiteX2384" fmla="*/ 1594886 w 7289379"/>
              <a:gd name="connsiteY2384" fmla="*/ 4187068 h 4442370"/>
              <a:gd name="connsiteX2385" fmla="*/ 1594886 w 7289379"/>
              <a:gd name="connsiteY2385" fmla="*/ 4433179 h 4442370"/>
              <a:gd name="connsiteX2386" fmla="*/ 1605081 w 7289379"/>
              <a:gd name="connsiteY2386" fmla="*/ 4433179 h 4442370"/>
              <a:gd name="connsiteX2387" fmla="*/ 1620129 w 7289379"/>
              <a:gd name="connsiteY2387" fmla="*/ 4407451 h 4442370"/>
              <a:gd name="connsiteX2388" fmla="*/ 1674013 w 7289379"/>
              <a:gd name="connsiteY2388" fmla="*/ 4437549 h 4442370"/>
              <a:gd name="connsiteX2389" fmla="*/ 1766241 w 7289379"/>
              <a:gd name="connsiteY2389" fmla="*/ 4343859 h 4442370"/>
              <a:gd name="connsiteX2390" fmla="*/ 1731777 w 7289379"/>
              <a:gd name="connsiteY2390" fmla="*/ 4343859 h 4442370"/>
              <a:gd name="connsiteX2391" fmla="*/ 1719155 w 7289379"/>
              <a:gd name="connsiteY2391" fmla="*/ 4402112 h 4442370"/>
              <a:gd name="connsiteX2392" fmla="*/ 1672554 w 7289379"/>
              <a:gd name="connsiteY2392" fmla="*/ 4428809 h 4442370"/>
              <a:gd name="connsiteX2393" fmla="*/ 1629350 w 7289379"/>
              <a:gd name="connsiteY2393" fmla="*/ 4403566 h 4442370"/>
              <a:gd name="connsiteX2394" fmla="*/ 1623526 w 7289379"/>
              <a:gd name="connsiteY2394" fmla="*/ 4386094 h 4442370"/>
              <a:gd name="connsiteX2395" fmla="*/ 1623526 w 7289379"/>
              <a:gd name="connsiteY2395" fmla="*/ 4301143 h 4442370"/>
              <a:gd name="connsiteX2396" fmla="*/ 1627896 w 7289379"/>
              <a:gd name="connsiteY2396" fmla="*/ 4286094 h 4442370"/>
              <a:gd name="connsiteX2397" fmla="*/ 1676440 w 7289379"/>
              <a:gd name="connsiteY2397" fmla="*/ 4259882 h 4442370"/>
              <a:gd name="connsiteX2398" fmla="*/ 1720125 w 7289379"/>
              <a:gd name="connsiteY2398" fmla="*/ 4286094 h 4442370"/>
              <a:gd name="connsiteX2399" fmla="*/ 1731777 w 7289379"/>
              <a:gd name="connsiteY2399" fmla="*/ 4343859 h 4442370"/>
              <a:gd name="connsiteX2400" fmla="*/ 1929224 w 7289379"/>
              <a:gd name="connsiteY2400" fmla="*/ 4380265 h 4442370"/>
              <a:gd name="connsiteX2401" fmla="*/ 1911748 w 7289379"/>
              <a:gd name="connsiteY2401" fmla="*/ 4340946 h 4442370"/>
              <a:gd name="connsiteX2402" fmla="*/ 1864662 w 7289379"/>
              <a:gd name="connsiteY2402" fmla="*/ 4321532 h 4442370"/>
              <a:gd name="connsiteX2403" fmla="*/ 1814180 w 7289379"/>
              <a:gd name="connsiteY2403" fmla="*/ 4287552 h 4442370"/>
              <a:gd name="connsiteX2404" fmla="*/ 1860292 w 7289379"/>
              <a:gd name="connsiteY2404" fmla="*/ 4255996 h 4442370"/>
              <a:gd name="connsiteX2405" fmla="*/ 1908836 w 7289379"/>
              <a:gd name="connsiteY2405" fmla="*/ 4305998 h 4442370"/>
              <a:gd name="connsiteX2406" fmla="*/ 1913690 w 7289379"/>
              <a:gd name="connsiteY2406" fmla="*/ 4309879 h 4442370"/>
              <a:gd name="connsiteX2407" fmla="*/ 1919030 w 7289379"/>
              <a:gd name="connsiteY2407" fmla="*/ 4299685 h 4442370"/>
              <a:gd name="connsiteX2408" fmla="*/ 1919030 w 7289379"/>
              <a:gd name="connsiteY2408" fmla="*/ 4258424 h 4442370"/>
              <a:gd name="connsiteX2409" fmla="*/ 1914175 w 7289379"/>
              <a:gd name="connsiteY2409" fmla="*/ 4248229 h 4442370"/>
              <a:gd name="connsiteX2410" fmla="*/ 1905924 w 7289379"/>
              <a:gd name="connsiteY2410" fmla="*/ 4253084 h 4442370"/>
              <a:gd name="connsiteX2411" fmla="*/ 1899126 w 7289379"/>
              <a:gd name="connsiteY2411" fmla="*/ 4259882 h 4442370"/>
              <a:gd name="connsiteX2412" fmla="*/ 1860292 w 7289379"/>
              <a:gd name="connsiteY2412" fmla="*/ 4248229 h 4442370"/>
              <a:gd name="connsiteX2413" fmla="*/ 1794276 w 7289379"/>
              <a:gd name="connsiteY2413" fmla="*/ 4299200 h 4442370"/>
              <a:gd name="connsiteX2414" fmla="*/ 1812237 w 7289379"/>
              <a:gd name="connsiteY2414" fmla="*/ 4334153 h 4442370"/>
              <a:gd name="connsiteX2415" fmla="*/ 1866605 w 7289379"/>
              <a:gd name="connsiteY2415" fmla="*/ 4353083 h 4442370"/>
              <a:gd name="connsiteX2416" fmla="*/ 1909320 w 7289379"/>
              <a:gd name="connsiteY2416" fmla="*/ 4390948 h 4442370"/>
              <a:gd name="connsiteX2417" fmla="*/ 1862719 w 7289379"/>
              <a:gd name="connsiteY2417" fmla="*/ 4428809 h 4442370"/>
              <a:gd name="connsiteX2418" fmla="*/ 1805440 w 7289379"/>
              <a:gd name="connsiteY2418" fmla="*/ 4370071 h 4442370"/>
              <a:gd name="connsiteX2419" fmla="*/ 1799615 w 7289379"/>
              <a:gd name="connsiteY2419" fmla="*/ 4362793 h 4442370"/>
              <a:gd name="connsiteX2420" fmla="*/ 1794276 w 7289379"/>
              <a:gd name="connsiteY2420" fmla="*/ 4373472 h 4442370"/>
              <a:gd name="connsiteX2421" fmla="*/ 1794276 w 7289379"/>
              <a:gd name="connsiteY2421" fmla="*/ 4427840 h 4442370"/>
              <a:gd name="connsiteX2422" fmla="*/ 1798646 w 7289379"/>
              <a:gd name="connsiteY2422" fmla="*/ 4437549 h 4442370"/>
              <a:gd name="connsiteX2423" fmla="*/ 1809325 w 7289379"/>
              <a:gd name="connsiteY2423" fmla="*/ 4429294 h 4442370"/>
              <a:gd name="connsiteX2424" fmla="*/ 1817576 w 7289379"/>
              <a:gd name="connsiteY2424" fmla="*/ 4420073 h 4442370"/>
              <a:gd name="connsiteX2425" fmla="*/ 1862719 w 7289379"/>
              <a:gd name="connsiteY2425" fmla="*/ 4437549 h 4442370"/>
              <a:gd name="connsiteX2426" fmla="*/ 1929224 w 7289379"/>
              <a:gd name="connsiteY2426" fmla="*/ 4380265 h 4442370"/>
              <a:gd name="connsiteX2427" fmla="*/ 2022426 w 7289379"/>
              <a:gd name="connsiteY2427" fmla="*/ 4411333 h 4442370"/>
              <a:gd name="connsiteX2428" fmla="*/ 2000583 w 7289379"/>
              <a:gd name="connsiteY2428" fmla="*/ 4389490 h 4442370"/>
              <a:gd name="connsiteX2429" fmla="*/ 1978737 w 7289379"/>
              <a:gd name="connsiteY2429" fmla="*/ 4411333 h 4442370"/>
              <a:gd name="connsiteX2430" fmla="*/ 2000583 w 7289379"/>
              <a:gd name="connsiteY2430" fmla="*/ 4433179 h 4442370"/>
              <a:gd name="connsiteX2431" fmla="*/ 2022426 w 7289379"/>
              <a:gd name="connsiteY2431" fmla="*/ 4411333 h 4442370"/>
              <a:gd name="connsiteX2432" fmla="*/ 5712877 w 7289379"/>
              <a:gd name="connsiteY2432" fmla="*/ 4350171 h 4442370"/>
              <a:gd name="connsiteX2433" fmla="*/ 5634256 w 7289379"/>
              <a:gd name="connsiteY2433" fmla="*/ 4259882 h 4442370"/>
              <a:gd name="connsiteX2434" fmla="*/ 5581814 w 7289379"/>
              <a:gd name="connsiteY2434" fmla="*/ 4280755 h 4442370"/>
              <a:gd name="connsiteX2435" fmla="*/ 5581814 w 7289379"/>
              <a:gd name="connsiteY2435" fmla="*/ 4200659 h 4442370"/>
              <a:gd name="connsiteX2436" fmla="*/ 5616776 w 7289379"/>
              <a:gd name="connsiteY2436" fmla="*/ 4205999 h 4442370"/>
              <a:gd name="connsiteX2437" fmla="*/ 5696846 w 7289379"/>
              <a:gd name="connsiteY2437" fmla="*/ 4162794 h 4442370"/>
              <a:gd name="connsiteX2438" fmla="*/ 5692497 w 7289379"/>
              <a:gd name="connsiteY2438" fmla="*/ 4158428 h 4442370"/>
              <a:gd name="connsiteX2439" fmla="*/ 5689100 w 7289379"/>
              <a:gd name="connsiteY2439" fmla="*/ 4159398 h 4442370"/>
              <a:gd name="connsiteX2440" fmla="*/ 5633262 w 7289379"/>
              <a:gd name="connsiteY2440" fmla="*/ 4171535 h 4442370"/>
              <a:gd name="connsiteX2441" fmla="*/ 5578418 w 7289379"/>
              <a:gd name="connsiteY2441" fmla="*/ 4159882 h 4442370"/>
              <a:gd name="connsiteX2442" fmla="*/ 5573074 w 7289379"/>
              <a:gd name="connsiteY2442" fmla="*/ 4158913 h 4442370"/>
              <a:gd name="connsiteX2443" fmla="*/ 5569181 w 7289379"/>
              <a:gd name="connsiteY2443" fmla="*/ 4168623 h 4442370"/>
              <a:gd name="connsiteX2444" fmla="*/ 5569181 w 7289379"/>
              <a:gd name="connsiteY2444" fmla="*/ 4290949 h 4442370"/>
              <a:gd name="connsiteX2445" fmla="*/ 5575022 w 7289379"/>
              <a:gd name="connsiteY2445" fmla="*/ 4301628 h 4442370"/>
              <a:gd name="connsiteX2446" fmla="*/ 5580365 w 7289379"/>
              <a:gd name="connsiteY2446" fmla="*/ 4297746 h 4442370"/>
              <a:gd name="connsiteX2447" fmla="*/ 5633262 w 7289379"/>
              <a:gd name="connsiteY2447" fmla="*/ 4269102 h 4442370"/>
              <a:gd name="connsiteX2448" fmla="*/ 5668720 w 7289379"/>
              <a:gd name="connsiteY2448" fmla="*/ 4295319 h 4442370"/>
              <a:gd name="connsiteX2449" fmla="*/ 5675969 w 7289379"/>
              <a:gd name="connsiteY2449" fmla="*/ 4347260 h 4442370"/>
              <a:gd name="connsiteX2450" fmla="*/ 5666276 w 7289379"/>
              <a:gd name="connsiteY2450" fmla="*/ 4404055 h 4442370"/>
              <a:gd name="connsiteX2451" fmla="*/ 5622119 w 7289379"/>
              <a:gd name="connsiteY2451" fmla="*/ 4430752 h 4442370"/>
              <a:gd name="connsiteX2452" fmla="*/ 5561435 w 7289379"/>
              <a:gd name="connsiteY2452" fmla="*/ 4384635 h 4442370"/>
              <a:gd name="connsiteX2453" fmla="*/ 5568228 w 7289379"/>
              <a:gd name="connsiteY2453" fmla="*/ 4385120 h 4442370"/>
              <a:gd name="connsiteX2454" fmla="*/ 5589105 w 7289379"/>
              <a:gd name="connsiteY2454" fmla="*/ 4365221 h 4442370"/>
              <a:gd name="connsiteX2455" fmla="*/ 5568228 w 7289379"/>
              <a:gd name="connsiteY2455" fmla="*/ 4344832 h 4442370"/>
              <a:gd name="connsiteX2456" fmla="*/ 5548303 w 7289379"/>
              <a:gd name="connsiteY2456" fmla="*/ 4366674 h 4442370"/>
              <a:gd name="connsiteX2457" fmla="*/ 5622575 w 7289379"/>
              <a:gd name="connsiteY2457" fmla="*/ 4442396 h 4442370"/>
              <a:gd name="connsiteX2458" fmla="*/ 5712877 w 7289379"/>
              <a:gd name="connsiteY2458" fmla="*/ 4350171 h 4442370"/>
              <a:gd name="connsiteX2459" fmla="*/ 5922105 w 7289379"/>
              <a:gd name="connsiteY2459" fmla="*/ 4297258 h 4442370"/>
              <a:gd name="connsiteX2460" fmla="*/ 5838099 w 7289379"/>
              <a:gd name="connsiteY2460" fmla="*/ 4158428 h 4442370"/>
              <a:gd name="connsiteX2461" fmla="*/ 5777456 w 7289379"/>
              <a:gd name="connsiteY2461" fmla="*/ 4184156 h 4442370"/>
              <a:gd name="connsiteX2462" fmla="*/ 5751235 w 7289379"/>
              <a:gd name="connsiteY2462" fmla="*/ 4251145 h 4442370"/>
              <a:gd name="connsiteX2463" fmla="*/ 5833749 w 7289379"/>
              <a:gd name="connsiteY2463" fmla="*/ 4343374 h 4442370"/>
              <a:gd name="connsiteX2464" fmla="*/ 5885197 w 7289379"/>
              <a:gd name="connsiteY2464" fmla="*/ 4302112 h 4442370"/>
              <a:gd name="connsiteX2465" fmla="*/ 5885197 w 7289379"/>
              <a:gd name="connsiteY2465" fmla="*/ 4315219 h 4442370"/>
              <a:gd name="connsiteX2466" fmla="*/ 5818216 w 7289379"/>
              <a:gd name="connsiteY2466" fmla="*/ 4430752 h 4442370"/>
              <a:gd name="connsiteX2467" fmla="*/ 5777911 w 7289379"/>
              <a:gd name="connsiteY2467" fmla="*/ 4415703 h 4442370"/>
              <a:gd name="connsiteX2468" fmla="*/ 5799285 w 7289379"/>
              <a:gd name="connsiteY2468" fmla="*/ 4396772 h 4442370"/>
              <a:gd name="connsiteX2469" fmla="*/ 5780355 w 7289379"/>
              <a:gd name="connsiteY2469" fmla="*/ 4377838 h 4442370"/>
              <a:gd name="connsiteX2470" fmla="*/ 5761425 w 7289379"/>
              <a:gd name="connsiteY2470" fmla="*/ 4397742 h 4442370"/>
              <a:gd name="connsiteX2471" fmla="*/ 5818713 w 7289379"/>
              <a:gd name="connsiteY2471" fmla="*/ 4442396 h 4442370"/>
              <a:gd name="connsiteX2472" fmla="*/ 5922105 w 7289379"/>
              <a:gd name="connsiteY2472" fmla="*/ 4297258 h 4442370"/>
              <a:gd name="connsiteX2473" fmla="*/ 5884244 w 7289379"/>
              <a:gd name="connsiteY2473" fmla="*/ 4259397 h 4442370"/>
              <a:gd name="connsiteX2474" fmla="*/ 5834247 w 7289379"/>
              <a:gd name="connsiteY2474" fmla="*/ 4333664 h 4442370"/>
              <a:gd name="connsiteX2475" fmla="*/ 5795889 w 7289379"/>
              <a:gd name="connsiteY2475" fmla="*/ 4307937 h 4442370"/>
              <a:gd name="connsiteX2476" fmla="*/ 5788101 w 7289379"/>
              <a:gd name="connsiteY2476" fmla="*/ 4251630 h 4442370"/>
              <a:gd name="connsiteX2477" fmla="*/ 5796842 w 7289379"/>
              <a:gd name="connsiteY2477" fmla="*/ 4194835 h 4442370"/>
              <a:gd name="connsiteX2478" fmla="*/ 5838099 w 7289379"/>
              <a:gd name="connsiteY2478" fmla="*/ 4168623 h 4442370"/>
              <a:gd name="connsiteX2479" fmla="*/ 5877906 w 7289379"/>
              <a:gd name="connsiteY2479" fmla="*/ 4201144 h 4442370"/>
              <a:gd name="connsiteX2480" fmla="*/ 5884244 w 7289379"/>
              <a:gd name="connsiteY2480" fmla="*/ 4259397 h 4442370"/>
              <a:gd name="connsiteX2481" fmla="*/ 6125491 w 7289379"/>
              <a:gd name="connsiteY2481" fmla="*/ 4361335 h 4442370"/>
              <a:gd name="connsiteX2482" fmla="*/ 6114804 w 7289379"/>
              <a:gd name="connsiteY2482" fmla="*/ 4361335 h 4442370"/>
              <a:gd name="connsiteX2483" fmla="*/ 6106064 w 7289379"/>
              <a:gd name="connsiteY2483" fmla="*/ 4398226 h 4442370"/>
              <a:gd name="connsiteX2484" fmla="*/ 6066754 w 7289379"/>
              <a:gd name="connsiteY2484" fmla="*/ 4401627 h 4442370"/>
              <a:gd name="connsiteX2485" fmla="*/ 5992482 w 7289379"/>
              <a:gd name="connsiteY2485" fmla="*/ 4401627 h 4442370"/>
              <a:gd name="connsiteX2486" fmla="*/ 6036184 w 7289379"/>
              <a:gd name="connsiteY2486" fmla="*/ 4358908 h 4442370"/>
              <a:gd name="connsiteX2487" fmla="*/ 6125491 w 7289379"/>
              <a:gd name="connsiteY2487" fmla="*/ 4238524 h 4442370"/>
              <a:gd name="connsiteX2488" fmla="*/ 6037634 w 7289379"/>
              <a:gd name="connsiteY2488" fmla="*/ 4158428 h 4442370"/>
              <a:gd name="connsiteX2489" fmla="*/ 5960918 w 7289379"/>
              <a:gd name="connsiteY2489" fmla="*/ 4233185 h 4442370"/>
              <a:gd name="connsiteX2490" fmla="*/ 5982789 w 7289379"/>
              <a:gd name="connsiteY2490" fmla="*/ 4255996 h 4442370"/>
              <a:gd name="connsiteX2491" fmla="*/ 6004122 w 7289379"/>
              <a:gd name="connsiteY2491" fmla="*/ 4234154 h 4442370"/>
              <a:gd name="connsiteX2492" fmla="*/ 5982293 w 7289379"/>
              <a:gd name="connsiteY2492" fmla="*/ 4212796 h 4442370"/>
              <a:gd name="connsiteX2493" fmla="*/ 5976949 w 7289379"/>
              <a:gd name="connsiteY2493" fmla="*/ 4213281 h 4442370"/>
              <a:gd name="connsiteX2494" fmla="*/ 6032290 w 7289379"/>
              <a:gd name="connsiteY2494" fmla="*/ 4171050 h 4442370"/>
              <a:gd name="connsiteX2495" fmla="*/ 6087631 w 7289379"/>
              <a:gd name="connsiteY2495" fmla="*/ 4238524 h 4442370"/>
              <a:gd name="connsiteX2496" fmla="*/ 6044427 w 7289379"/>
              <a:gd name="connsiteY2496" fmla="*/ 4329783 h 4442370"/>
              <a:gd name="connsiteX2497" fmla="*/ 5965309 w 7289379"/>
              <a:gd name="connsiteY2497" fmla="*/ 4418130 h 4442370"/>
              <a:gd name="connsiteX2498" fmla="*/ 5960918 w 7289379"/>
              <a:gd name="connsiteY2498" fmla="*/ 4433179 h 4442370"/>
              <a:gd name="connsiteX2499" fmla="*/ 6113852 w 7289379"/>
              <a:gd name="connsiteY2499" fmla="*/ 4433179 h 4442370"/>
              <a:gd name="connsiteX2500" fmla="*/ 6334843 w 7289379"/>
              <a:gd name="connsiteY2500" fmla="*/ 4297258 h 4442370"/>
              <a:gd name="connsiteX2501" fmla="*/ 6250838 w 7289379"/>
              <a:gd name="connsiteY2501" fmla="*/ 4158428 h 4442370"/>
              <a:gd name="connsiteX2502" fmla="*/ 6190153 w 7289379"/>
              <a:gd name="connsiteY2502" fmla="*/ 4184156 h 4442370"/>
              <a:gd name="connsiteX2503" fmla="*/ 6163973 w 7289379"/>
              <a:gd name="connsiteY2503" fmla="*/ 4251145 h 4442370"/>
              <a:gd name="connsiteX2504" fmla="*/ 6246488 w 7289379"/>
              <a:gd name="connsiteY2504" fmla="*/ 4343374 h 4442370"/>
              <a:gd name="connsiteX2505" fmla="*/ 6297936 w 7289379"/>
              <a:gd name="connsiteY2505" fmla="*/ 4302112 h 4442370"/>
              <a:gd name="connsiteX2506" fmla="*/ 6297936 w 7289379"/>
              <a:gd name="connsiteY2506" fmla="*/ 4315219 h 4442370"/>
              <a:gd name="connsiteX2507" fmla="*/ 6230955 w 7289379"/>
              <a:gd name="connsiteY2507" fmla="*/ 4430752 h 4442370"/>
              <a:gd name="connsiteX2508" fmla="*/ 6190650 w 7289379"/>
              <a:gd name="connsiteY2508" fmla="*/ 4415703 h 4442370"/>
              <a:gd name="connsiteX2509" fmla="*/ 6212024 w 7289379"/>
              <a:gd name="connsiteY2509" fmla="*/ 4396772 h 4442370"/>
              <a:gd name="connsiteX2510" fmla="*/ 6193094 w 7289379"/>
              <a:gd name="connsiteY2510" fmla="*/ 4377838 h 4442370"/>
              <a:gd name="connsiteX2511" fmla="*/ 6174164 w 7289379"/>
              <a:gd name="connsiteY2511" fmla="*/ 4397742 h 4442370"/>
              <a:gd name="connsiteX2512" fmla="*/ 6231452 w 7289379"/>
              <a:gd name="connsiteY2512" fmla="*/ 4442396 h 4442370"/>
              <a:gd name="connsiteX2513" fmla="*/ 6334843 w 7289379"/>
              <a:gd name="connsiteY2513" fmla="*/ 4297258 h 4442370"/>
              <a:gd name="connsiteX2514" fmla="*/ 6296983 w 7289379"/>
              <a:gd name="connsiteY2514" fmla="*/ 4259397 h 4442370"/>
              <a:gd name="connsiteX2515" fmla="*/ 6246986 w 7289379"/>
              <a:gd name="connsiteY2515" fmla="*/ 4333664 h 4442370"/>
              <a:gd name="connsiteX2516" fmla="*/ 6208628 w 7289379"/>
              <a:gd name="connsiteY2516" fmla="*/ 4307937 h 4442370"/>
              <a:gd name="connsiteX2517" fmla="*/ 6200840 w 7289379"/>
              <a:gd name="connsiteY2517" fmla="*/ 4251630 h 4442370"/>
              <a:gd name="connsiteX2518" fmla="*/ 6209581 w 7289379"/>
              <a:gd name="connsiteY2518" fmla="*/ 4194835 h 4442370"/>
              <a:gd name="connsiteX2519" fmla="*/ 6250838 w 7289379"/>
              <a:gd name="connsiteY2519" fmla="*/ 4168623 h 4442370"/>
              <a:gd name="connsiteX2520" fmla="*/ 6290646 w 7289379"/>
              <a:gd name="connsiteY2520" fmla="*/ 4201144 h 4442370"/>
              <a:gd name="connsiteX2521" fmla="*/ 6296983 w 7289379"/>
              <a:gd name="connsiteY2521" fmla="*/ 4259397 h 4442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Lst>
            <a:rect l="l" t="t" r="r" b="b"/>
            <a:pathLst>
              <a:path w="7289379" h="4442370">
                <a:moveTo>
                  <a:pt x="267610" y="109246"/>
                </a:moveTo>
                <a:lnTo>
                  <a:pt x="259844" y="16530"/>
                </a:lnTo>
                <a:lnTo>
                  <a:pt x="7908" y="16530"/>
                </a:lnTo>
                <a:lnTo>
                  <a:pt x="141" y="109246"/>
                </a:lnTo>
                <a:lnTo>
                  <a:pt x="10335" y="109246"/>
                </a:lnTo>
                <a:cubicBezTo>
                  <a:pt x="16160" y="42743"/>
                  <a:pt x="22470" y="29150"/>
                  <a:pt x="84605" y="29150"/>
                </a:cubicBezTo>
                <a:cubicBezTo>
                  <a:pt x="91886" y="29150"/>
                  <a:pt x="102566" y="29150"/>
                  <a:pt x="106935" y="30121"/>
                </a:cubicBezTo>
                <a:cubicBezTo>
                  <a:pt x="115672" y="31578"/>
                  <a:pt x="115672" y="35947"/>
                  <a:pt x="115672" y="45655"/>
                </a:cubicBezTo>
                <a:lnTo>
                  <a:pt x="115672" y="263126"/>
                </a:lnTo>
                <a:cubicBezTo>
                  <a:pt x="115672" y="277203"/>
                  <a:pt x="115672" y="283028"/>
                  <a:pt x="71984" y="283028"/>
                </a:cubicBezTo>
                <a:lnTo>
                  <a:pt x="55479" y="283028"/>
                </a:lnTo>
                <a:lnTo>
                  <a:pt x="55479" y="295649"/>
                </a:lnTo>
                <a:cubicBezTo>
                  <a:pt x="72469" y="294193"/>
                  <a:pt x="114701" y="294193"/>
                  <a:pt x="133633" y="294193"/>
                </a:cubicBezTo>
                <a:cubicBezTo>
                  <a:pt x="152565" y="294193"/>
                  <a:pt x="195282" y="294193"/>
                  <a:pt x="212272" y="295649"/>
                </a:cubicBezTo>
                <a:lnTo>
                  <a:pt x="212272" y="283028"/>
                </a:lnTo>
                <a:lnTo>
                  <a:pt x="195768" y="283028"/>
                </a:lnTo>
                <a:cubicBezTo>
                  <a:pt x="152079" y="283028"/>
                  <a:pt x="152079" y="277203"/>
                  <a:pt x="152079" y="263126"/>
                </a:cubicBezTo>
                <a:lnTo>
                  <a:pt x="152079" y="45655"/>
                </a:lnTo>
                <a:cubicBezTo>
                  <a:pt x="152079" y="37403"/>
                  <a:pt x="152079" y="31578"/>
                  <a:pt x="159846" y="30121"/>
                </a:cubicBezTo>
                <a:cubicBezTo>
                  <a:pt x="164215" y="29151"/>
                  <a:pt x="175380" y="29151"/>
                  <a:pt x="183146" y="29151"/>
                </a:cubicBezTo>
                <a:cubicBezTo>
                  <a:pt x="245281" y="29151"/>
                  <a:pt x="251592" y="42743"/>
                  <a:pt x="257417" y="109246"/>
                </a:cubicBezTo>
                <a:close/>
                <a:moveTo>
                  <a:pt x="448310" y="258757"/>
                </a:moveTo>
                <a:lnTo>
                  <a:pt x="448310" y="235942"/>
                </a:lnTo>
                <a:lnTo>
                  <a:pt x="437631" y="235942"/>
                </a:lnTo>
                <a:lnTo>
                  <a:pt x="437631" y="258757"/>
                </a:lnTo>
                <a:cubicBezTo>
                  <a:pt x="437631" y="283028"/>
                  <a:pt x="427437" y="285456"/>
                  <a:pt x="423066" y="285456"/>
                </a:cubicBezTo>
                <a:cubicBezTo>
                  <a:pt x="409476" y="285456"/>
                  <a:pt x="407533" y="266524"/>
                  <a:pt x="407533" y="264582"/>
                </a:cubicBezTo>
                <a:lnTo>
                  <a:pt x="407533" y="182060"/>
                </a:lnTo>
                <a:cubicBezTo>
                  <a:pt x="407533" y="165070"/>
                  <a:pt x="407533" y="148565"/>
                  <a:pt x="392972" y="133517"/>
                </a:cubicBezTo>
                <a:cubicBezTo>
                  <a:pt x="376953" y="117498"/>
                  <a:pt x="356080" y="110702"/>
                  <a:pt x="336177" y="110702"/>
                </a:cubicBezTo>
                <a:cubicBezTo>
                  <a:pt x="302682" y="110702"/>
                  <a:pt x="274043" y="130119"/>
                  <a:pt x="274043" y="157303"/>
                </a:cubicBezTo>
                <a:cubicBezTo>
                  <a:pt x="274043" y="169924"/>
                  <a:pt x="282295" y="176720"/>
                  <a:pt x="292974" y="176720"/>
                </a:cubicBezTo>
                <a:cubicBezTo>
                  <a:pt x="304624" y="176720"/>
                  <a:pt x="311906" y="168468"/>
                  <a:pt x="311906" y="157788"/>
                </a:cubicBezTo>
                <a:cubicBezTo>
                  <a:pt x="311906" y="152934"/>
                  <a:pt x="309964" y="139342"/>
                  <a:pt x="291032" y="138857"/>
                </a:cubicBezTo>
                <a:cubicBezTo>
                  <a:pt x="302197" y="124294"/>
                  <a:pt x="322099" y="119925"/>
                  <a:pt x="335692" y="119925"/>
                </a:cubicBezTo>
                <a:cubicBezTo>
                  <a:pt x="355594" y="119925"/>
                  <a:pt x="379380" y="135944"/>
                  <a:pt x="379380" y="172837"/>
                </a:cubicBezTo>
                <a:lnTo>
                  <a:pt x="379380" y="187885"/>
                </a:lnTo>
                <a:cubicBezTo>
                  <a:pt x="358021" y="189341"/>
                  <a:pt x="329381" y="190312"/>
                  <a:pt x="303168" y="202933"/>
                </a:cubicBezTo>
                <a:cubicBezTo>
                  <a:pt x="272101" y="217010"/>
                  <a:pt x="261907" y="238369"/>
                  <a:pt x="261907" y="256330"/>
                </a:cubicBezTo>
                <a:cubicBezTo>
                  <a:pt x="261907" y="289824"/>
                  <a:pt x="302197" y="300018"/>
                  <a:pt x="327925" y="300018"/>
                </a:cubicBezTo>
                <a:cubicBezTo>
                  <a:pt x="355109" y="300018"/>
                  <a:pt x="374040" y="283514"/>
                  <a:pt x="382292" y="264097"/>
                </a:cubicBezTo>
                <a:cubicBezTo>
                  <a:pt x="383748" y="280601"/>
                  <a:pt x="394914" y="298077"/>
                  <a:pt x="414330" y="298077"/>
                </a:cubicBezTo>
                <a:cubicBezTo>
                  <a:pt x="423066" y="298077"/>
                  <a:pt x="448310" y="292251"/>
                  <a:pt x="448310" y="258757"/>
                </a:cubicBezTo>
                <a:close/>
                <a:moveTo>
                  <a:pt x="379380" y="237884"/>
                </a:moveTo>
                <a:cubicBezTo>
                  <a:pt x="379380" y="277203"/>
                  <a:pt x="349283" y="291281"/>
                  <a:pt x="330837" y="291281"/>
                </a:cubicBezTo>
                <a:cubicBezTo>
                  <a:pt x="310935" y="291281"/>
                  <a:pt x="293945" y="276718"/>
                  <a:pt x="293945" y="255845"/>
                </a:cubicBezTo>
                <a:cubicBezTo>
                  <a:pt x="293945" y="233515"/>
                  <a:pt x="310935" y="199050"/>
                  <a:pt x="379380" y="196622"/>
                </a:cubicBezTo>
                <a:close/>
                <a:moveTo>
                  <a:pt x="670151" y="206331"/>
                </a:moveTo>
                <a:cubicBezTo>
                  <a:pt x="670151" y="153905"/>
                  <a:pt x="629858" y="113129"/>
                  <a:pt x="582773" y="113129"/>
                </a:cubicBezTo>
                <a:cubicBezTo>
                  <a:pt x="550252" y="113129"/>
                  <a:pt x="532775" y="132546"/>
                  <a:pt x="525978" y="140313"/>
                </a:cubicBezTo>
                <a:lnTo>
                  <a:pt x="525978" y="9248"/>
                </a:lnTo>
                <a:lnTo>
                  <a:pt x="466755" y="13617"/>
                </a:lnTo>
                <a:lnTo>
                  <a:pt x="466755" y="26723"/>
                </a:lnTo>
                <a:cubicBezTo>
                  <a:pt x="495395" y="26723"/>
                  <a:pt x="498796" y="29636"/>
                  <a:pt x="498796" y="49538"/>
                </a:cubicBezTo>
                <a:lnTo>
                  <a:pt x="498796" y="295649"/>
                </a:lnTo>
                <a:lnTo>
                  <a:pt x="508990" y="295649"/>
                </a:lnTo>
                <a:lnTo>
                  <a:pt x="524035" y="269922"/>
                </a:lnTo>
                <a:cubicBezTo>
                  <a:pt x="530348" y="279630"/>
                  <a:pt x="547335" y="300018"/>
                  <a:pt x="577918" y="300018"/>
                </a:cubicBezTo>
                <a:cubicBezTo>
                  <a:pt x="626946" y="300018"/>
                  <a:pt x="670151" y="259728"/>
                  <a:pt x="670151" y="206331"/>
                </a:cubicBezTo>
                <a:close/>
                <a:moveTo>
                  <a:pt x="635687" y="206331"/>
                </a:moveTo>
                <a:cubicBezTo>
                  <a:pt x="635687" y="221379"/>
                  <a:pt x="635198" y="246136"/>
                  <a:pt x="623065" y="264582"/>
                </a:cubicBezTo>
                <a:cubicBezTo>
                  <a:pt x="614325" y="277689"/>
                  <a:pt x="598791" y="291281"/>
                  <a:pt x="576464" y="291281"/>
                </a:cubicBezTo>
                <a:cubicBezTo>
                  <a:pt x="558018" y="291281"/>
                  <a:pt x="542969" y="281087"/>
                  <a:pt x="533260" y="266038"/>
                </a:cubicBezTo>
                <a:cubicBezTo>
                  <a:pt x="527436" y="257301"/>
                  <a:pt x="527436" y="255845"/>
                  <a:pt x="527436" y="248563"/>
                </a:cubicBezTo>
                <a:lnTo>
                  <a:pt x="527436" y="163614"/>
                </a:lnTo>
                <a:cubicBezTo>
                  <a:pt x="527436" y="155847"/>
                  <a:pt x="527436" y="155361"/>
                  <a:pt x="531802" y="148565"/>
                </a:cubicBezTo>
                <a:cubicBezTo>
                  <a:pt x="547824" y="125751"/>
                  <a:pt x="570636" y="122352"/>
                  <a:pt x="580345" y="122352"/>
                </a:cubicBezTo>
                <a:cubicBezTo>
                  <a:pt x="599276" y="122352"/>
                  <a:pt x="613840" y="133032"/>
                  <a:pt x="624034" y="148565"/>
                </a:cubicBezTo>
                <a:cubicBezTo>
                  <a:pt x="634713" y="165555"/>
                  <a:pt x="635687" y="189341"/>
                  <a:pt x="635687" y="206331"/>
                </a:cubicBezTo>
                <a:close/>
                <a:moveTo>
                  <a:pt x="789929" y="295649"/>
                </a:moveTo>
                <a:lnTo>
                  <a:pt x="789929" y="283028"/>
                </a:lnTo>
                <a:cubicBezTo>
                  <a:pt x="762259" y="283028"/>
                  <a:pt x="757404" y="283028"/>
                  <a:pt x="757404" y="264097"/>
                </a:cubicBezTo>
                <a:lnTo>
                  <a:pt x="757404" y="9248"/>
                </a:lnTo>
                <a:lnTo>
                  <a:pt x="698181" y="13617"/>
                </a:lnTo>
                <a:lnTo>
                  <a:pt x="698181" y="26723"/>
                </a:lnTo>
                <a:cubicBezTo>
                  <a:pt x="727310" y="26723"/>
                  <a:pt x="730222" y="29636"/>
                  <a:pt x="730222" y="49538"/>
                </a:cubicBezTo>
                <a:lnTo>
                  <a:pt x="730222" y="264097"/>
                </a:lnTo>
                <a:cubicBezTo>
                  <a:pt x="730222" y="283028"/>
                  <a:pt x="725852" y="283028"/>
                  <a:pt x="698181" y="283028"/>
                </a:cubicBezTo>
                <a:lnTo>
                  <a:pt x="698181" y="295649"/>
                </a:lnTo>
                <a:lnTo>
                  <a:pt x="743813" y="294193"/>
                </a:lnTo>
                <a:close/>
                <a:moveTo>
                  <a:pt x="970629" y="246621"/>
                </a:moveTo>
                <a:cubicBezTo>
                  <a:pt x="970629" y="242253"/>
                  <a:pt x="967232" y="241767"/>
                  <a:pt x="965290" y="241767"/>
                </a:cubicBezTo>
                <a:cubicBezTo>
                  <a:pt x="961404" y="241767"/>
                  <a:pt x="960435" y="244194"/>
                  <a:pt x="959950" y="247592"/>
                </a:cubicBezTo>
                <a:cubicBezTo>
                  <a:pt x="945386" y="289824"/>
                  <a:pt x="908010" y="289824"/>
                  <a:pt x="904124" y="289824"/>
                </a:cubicBezTo>
                <a:cubicBezTo>
                  <a:pt x="883251" y="289824"/>
                  <a:pt x="866748" y="277689"/>
                  <a:pt x="857523" y="262155"/>
                </a:cubicBezTo>
                <a:cubicBezTo>
                  <a:pt x="844902" y="242253"/>
                  <a:pt x="844902" y="215069"/>
                  <a:pt x="844902" y="200506"/>
                </a:cubicBezTo>
                <a:lnTo>
                  <a:pt x="960435" y="200506"/>
                </a:lnTo>
                <a:cubicBezTo>
                  <a:pt x="969171" y="200506"/>
                  <a:pt x="970629" y="200506"/>
                  <a:pt x="970629" y="191768"/>
                </a:cubicBezTo>
                <a:cubicBezTo>
                  <a:pt x="970629" y="150992"/>
                  <a:pt x="948298" y="110702"/>
                  <a:pt x="896842" y="110702"/>
                </a:cubicBezTo>
                <a:cubicBezTo>
                  <a:pt x="848787" y="110702"/>
                  <a:pt x="810923" y="153420"/>
                  <a:pt x="810923" y="204875"/>
                </a:cubicBezTo>
                <a:cubicBezTo>
                  <a:pt x="810923" y="260213"/>
                  <a:pt x="854127" y="300018"/>
                  <a:pt x="901697" y="300018"/>
                </a:cubicBezTo>
                <a:cubicBezTo>
                  <a:pt x="952183" y="300018"/>
                  <a:pt x="970629" y="254388"/>
                  <a:pt x="970629" y="246621"/>
                </a:cubicBezTo>
                <a:close/>
                <a:moveTo>
                  <a:pt x="943443" y="191768"/>
                </a:moveTo>
                <a:lnTo>
                  <a:pt x="845391" y="191768"/>
                </a:lnTo>
                <a:cubicBezTo>
                  <a:pt x="847814" y="130119"/>
                  <a:pt x="882767" y="119925"/>
                  <a:pt x="896842" y="119925"/>
                </a:cubicBezTo>
                <a:cubicBezTo>
                  <a:pt x="939077" y="119925"/>
                  <a:pt x="943443" y="175749"/>
                  <a:pt x="943443" y="191768"/>
                </a:cubicBezTo>
                <a:close/>
                <a:moveTo>
                  <a:pt x="1258121" y="295649"/>
                </a:moveTo>
                <a:lnTo>
                  <a:pt x="1258121" y="283028"/>
                </a:lnTo>
                <a:lnTo>
                  <a:pt x="1245015" y="283028"/>
                </a:lnTo>
                <a:cubicBezTo>
                  <a:pt x="1207639" y="283028"/>
                  <a:pt x="1206666" y="278174"/>
                  <a:pt x="1206666" y="263126"/>
                </a:cubicBezTo>
                <a:lnTo>
                  <a:pt x="1206666" y="31578"/>
                </a:lnTo>
                <a:cubicBezTo>
                  <a:pt x="1206666" y="21869"/>
                  <a:pt x="1206666" y="20898"/>
                  <a:pt x="1196960" y="20898"/>
                </a:cubicBezTo>
                <a:cubicBezTo>
                  <a:pt x="1171717" y="47111"/>
                  <a:pt x="1135310" y="47111"/>
                  <a:pt x="1122204" y="47111"/>
                </a:cubicBezTo>
                <a:lnTo>
                  <a:pt x="1122204" y="60218"/>
                </a:lnTo>
                <a:cubicBezTo>
                  <a:pt x="1130456" y="60218"/>
                  <a:pt x="1154725" y="60218"/>
                  <a:pt x="1176087" y="49538"/>
                </a:cubicBezTo>
                <a:lnTo>
                  <a:pt x="1176087" y="263126"/>
                </a:lnTo>
                <a:cubicBezTo>
                  <a:pt x="1176087" y="277689"/>
                  <a:pt x="1174629" y="283028"/>
                  <a:pt x="1137738" y="283028"/>
                </a:cubicBezTo>
                <a:lnTo>
                  <a:pt x="1124631" y="283028"/>
                </a:lnTo>
                <a:lnTo>
                  <a:pt x="1124631" y="295649"/>
                </a:lnTo>
                <a:cubicBezTo>
                  <a:pt x="1139192" y="294193"/>
                  <a:pt x="1174629" y="294193"/>
                  <a:pt x="1191132" y="294193"/>
                </a:cubicBezTo>
                <a:cubicBezTo>
                  <a:pt x="1207639" y="294193"/>
                  <a:pt x="1243561" y="294193"/>
                  <a:pt x="1258121" y="295649"/>
                </a:cubicBezTo>
                <a:close/>
                <a:moveTo>
                  <a:pt x="1370742" y="139828"/>
                </a:moveTo>
                <a:cubicBezTo>
                  <a:pt x="1370742" y="127692"/>
                  <a:pt x="1361033" y="117984"/>
                  <a:pt x="1348896" y="117984"/>
                </a:cubicBezTo>
                <a:cubicBezTo>
                  <a:pt x="1337248" y="117984"/>
                  <a:pt x="1327053" y="127692"/>
                  <a:pt x="1327053" y="139828"/>
                </a:cubicBezTo>
                <a:cubicBezTo>
                  <a:pt x="1327053" y="151478"/>
                  <a:pt x="1337248" y="161672"/>
                  <a:pt x="1348896" y="161672"/>
                </a:cubicBezTo>
                <a:cubicBezTo>
                  <a:pt x="1361033" y="161672"/>
                  <a:pt x="1370742" y="151478"/>
                  <a:pt x="1370742" y="139828"/>
                </a:cubicBezTo>
                <a:close/>
                <a:moveTo>
                  <a:pt x="1370742" y="273805"/>
                </a:moveTo>
                <a:cubicBezTo>
                  <a:pt x="1370742" y="261670"/>
                  <a:pt x="1361033" y="251961"/>
                  <a:pt x="1348896" y="251961"/>
                </a:cubicBezTo>
                <a:cubicBezTo>
                  <a:pt x="1337248" y="251961"/>
                  <a:pt x="1327053" y="261670"/>
                  <a:pt x="1327053" y="273805"/>
                </a:cubicBezTo>
                <a:cubicBezTo>
                  <a:pt x="1327053" y="285941"/>
                  <a:pt x="1337248" y="295649"/>
                  <a:pt x="1348896" y="295649"/>
                </a:cubicBezTo>
                <a:cubicBezTo>
                  <a:pt x="1361033" y="295649"/>
                  <a:pt x="1370742" y="285941"/>
                  <a:pt x="1370742" y="273805"/>
                </a:cubicBezTo>
                <a:close/>
                <a:moveTo>
                  <a:pt x="1881165" y="219923"/>
                </a:moveTo>
                <a:cubicBezTo>
                  <a:pt x="1881165" y="184002"/>
                  <a:pt x="1847670" y="153420"/>
                  <a:pt x="1801558" y="148565"/>
                </a:cubicBezTo>
                <a:cubicBezTo>
                  <a:pt x="1841846" y="140313"/>
                  <a:pt x="1870002" y="114100"/>
                  <a:pt x="1870002" y="83518"/>
                </a:cubicBezTo>
                <a:cubicBezTo>
                  <a:pt x="1870002" y="47597"/>
                  <a:pt x="1832137" y="13617"/>
                  <a:pt x="1778742" y="13617"/>
                </a:cubicBezTo>
                <a:lnTo>
                  <a:pt x="1627776" y="13617"/>
                </a:lnTo>
                <a:lnTo>
                  <a:pt x="1627776" y="26723"/>
                </a:lnTo>
                <a:lnTo>
                  <a:pt x="1637482" y="26723"/>
                </a:lnTo>
                <a:cubicBezTo>
                  <a:pt x="1669034" y="26723"/>
                  <a:pt x="1670007" y="31092"/>
                  <a:pt x="1670007" y="46140"/>
                </a:cubicBezTo>
                <a:lnTo>
                  <a:pt x="1670007" y="263611"/>
                </a:lnTo>
                <a:cubicBezTo>
                  <a:pt x="1670007" y="278174"/>
                  <a:pt x="1669034" y="283028"/>
                  <a:pt x="1637482" y="283028"/>
                </a:cubicBezTo>
                <a:lnTo>
                  <a:pt x="1627776" y="283028"/>
                </a:lnTo>
                <a:lnTo>
                  <a:pt x="1627776" y="295649"/>
                </a:lnTo>
                <a:lnTo>
                  <a:pt x="1789421" y="295649"/>
                </a:lnTo>
                <a:cubicBezTo>
                  <a:pt x="1844274" y="295649"/>
                  <a:pt x="1881165" y="258757"/>
                  <a:pt x="1881165" y="219923"/>
                </a:cubicBezTo>
                <a:close/>
                <a:moveTo>
                  <a:pt x="1830198" y="83518"/>
                </a:moveTo>
                <a:cubicBezTo>
                  <a:pt x="1830198" y="109731"/>
                  <a:pt x="1809810" y="144682"/>
                  <a:pt x="1764178" y="144682"/>
                </a:cubicBezTo>
                <a:lnTo>
                  <a:pt x="1704471" y="144682"/>
                </a:lnTo>
                <a:lnTo>
                  <a:pt x="1704471" y="43228"/>
                </a:lnTo>
                <a:cubicBezTo>
                  <a:pt x="1704471" y="29636"/>
                  <a:pt x="1704956" y="26723"/>
                  <a:pt x="1724375" y="26723"/>
                </a:cubicBezTo>
                <a:lnTo>
                  <a:pt x="1775830" y="26723"/>
                </a:lnTo>
                <a:cubicBezTo>
                  <a:pt x="1815634" y="26723"/>
                  <a:pt x="1830198" y="61674"/>
                  <a:pt x="1830198" y="83518"/>
                </a:cubicBezTo>
                <a:close/>
                <a:moveTo>
                  <a:pt x="1839904" y="219923"/>
                </a:moveTo>
                <a:cubicBezTo>
                  <a:pt x="1839904" y="249049"/>
                  <a:pt x="1818546" y="283028"/>
                  <a:pt x="1776315" y="283028"/>
                </a:cubicBezTo>
                <a:lnTo>
                  <a:pt x="1724375" y="283028"/>
                </a:lnTo>
                <a:cubicBezTo>
                  <a:pt x="1704956" y="283028"/>
                  <a:pt x="1704471" y="280116"/>
                  <a:pt x="1704471" y="266524"/>
                </a:cubicBezTo>
                <a:lnTo>
                  <a:pt x="1704471" y="153905"/>
                </a:lnTo>
                <a:lnTo>
                  <a:pt x="1782139" y="153905"/>
                </a:lnTo>
                <a:cubicBezTo>
                  <a:pt x="1822916" y="153905"/>
                  <a:pt x="1839904" y="192254"/>
                  <a:pt x="1839904" y="219923"/>
                </a:cubicBezTo>
                <a:close/>
                <a:moveTo>
                  <a:pt x="2076309" y="246621"/>
                </a:moveTo>
                <a:cubicBezTo>
                  <a:pt x="2076309" y="242253"/>
                  <a:pt x="2072908" y="241767"/>
                  <a:pt x="2070969" y="241767"/>
                </a:cubicBezTo>
                <a:cubicBezTo>
                  <a:pt x="2067084" y="241767"/>
                  <a:pt x="2066115" y="244194"/>
                  <a:pt x="2065630" y="247592"/>
                </a:cubicBezTo>
                <a:cubicBezTo>
                  <a:pt x="2051066" y="289824"/>
                  <a:pt x="2013690" y="289824"/>
                  <a:pt x="2009804" y="289824"/>
                </a:cubicBezTo>
                <a:cubicBezTo>
                  <a:pt x="1988931" y="289824"/>
                  <a:pt x="1972428" y="277689"/>
                  <a:pt x="1963203" y="262155"/>
                </a:cubicBezTo>
                <a:cubicBezTo>
                  <a:pt x="1950582" y="242253"/>
                  <a:pt x="1950582" y="215069"/>
                  <a:pt x="1950582" y="200506"/>
                </a:cubicBezTo>
                <a:lnTo>
                  <a:pt x="2066115" y="200506"/>
                </a:lnTo>
                <a:cubicBezTo>
                  <a:pt x="2074851" y="200506"/>
                  <a:pt x="2076309" y="200506"/>
                  <a:pt x="2076309" y="191768"/>
                </a:cubicBezTo>
                <a:cubicBezTo>
                  <a:pt x="2076309" y="150992"/>
                  <a:pt x="2053978" y="110702"/>
                  <a:pt x="2002522" y="110702"/>
                </a:cubicBezTo>
                <a:cubicBezTo>
                  <a:pt x="1954467" y="110702"/>
                  <a:pt x="1916602" y="153420"/>
                  <a:pt x="1916602" y="204875"/>
                </a:cubicBezTo>
                <a:cubicBezTo>
                  <a:pt x="1916602" y="260213"/>
                  <a:pt x="1959807" y="300018"/>
                  <a:pt x="2007377" y="300018"/>
                </a:cubicBezTo>
                <a:cubicBezTo>
                  <a:pt x="2057863" y="300018"/>
                  <a:pt x="2076309" y="254388"/>
                  <a:pt x="2076309" y="246621"/>
                </a:cubicBezTo>
                <a:close/>
                <a:moveTo>
                  <a:pt x="2049123" y="191768"/>
                </a:moveTo>
                <a:lnTo>
                  <a:pt x="1951066" y="191768"/>
                </a:lnTo>
                <a:cubicBezTo>
                  <a:pt x="1953494" y="130119"/>
                  <a:pt x="1988446" y="119925"/>
                  <a:pt x="2002522" y="119925"/>
                </a:cubicBezTo>
                <a:cubicBezTo>
                  <a:pt x="2044757" y="119925"/>
                  <a:pt x="2049123" y="175749"/>
                  <a:pt x="2049123" y="191768"/>
                </a:cubicBezTo>
                <a:close/>
                <a:moveTo>
                  <a:pt x="2235162" y="33519"/>
                </a:moveTo>
                <a:cubicBezTo>
                  <a:pt x="2235162" y="18471"/>
                  <a:pt x="2220117" y="4879"/>
                  <a:pt x="2198271" y="4879"/>
                </a:cubicBezTo>
                <a:cubicBezTo>
                  <a:pt x="2169146" y="4879"/>
                  <a:pt x="2134193" y="26723"/>
                  <a:pt x="2134193" y="70412"/>
                </a:cubicBezTo>
                <a:lnTo>
                  <a:pt x="2134193" y="117984"/>
                </a:lnTo>
                <a:lnTo>
                  <a:pt x="2101672" y="117984"/>
                </a:lnTo>
                <a:lnTo>
                  <a:pt x="2101672" y="130604"/>
                </a:lnTo>
                <a:lnTo>
                  <a:pt x="2134193" y="130604"/>
                </a:lnTo>
                <a:lnTo>
                  <a:pt x="2134193" y="264097"/>
                </a:lnTo>
                <a:cubicBezTo>
                  <a:pt x="2134193" y="283028"/>
                  <a:pt x="2129827" y="283028"/>
                  <a:pt x="2102157" y="283028"/>
                </a:cubicBezTo>
                <a:lnTo>
                  <a:pt x="2102157" y="295649"/>
                </a:lnTo>
                <a:lnTo>
                  <a:pt x="2149242" y="294193"/>
                </a:lnTo>
                <a:cubicBezTo>
                  <a:pt x="2165749" y="294193"/>
                  <a:pt x="2185164" y="294193"/>
                  <a:pt x="2201667" y="295649"/>
                </a:cubicBezTo>
                <a:lnTo>
                  <a:pt x="2201667" y="283028"/>
                </a:lnTo>
                <a:lnTo>
                  <a:pt x="2192931" y="283028"/>
                </a:lnTo>
                <a:cubicBezTo>
                  <a:pt x="2162349" y="283028"/>
                  <a:pt x="2161379" y="278174"/>
                  <a:pt x="2161379" y="263611"/>
                </a:cubicBezTo>
                <a:lnTo>
                  <a:pt x="2161379" y="130604"/>
                </a:lnTo>
                <a:lnTo>
                  <a:pt x="2208465" y="130604"/>
                </a:lnTo>
                <a:lnTo>
                  <a:pt x="2208465" y="117984"/>
                </a:lnTo>
                <a:lnTo>
                  <a:pt x="2160410" y="117984"/>
                </a:lnTo>
                <a:lnTo>
                  <a:pt x="2160410" y="69926"/>
                </a:lnTo>
                <a:cubicBezTo>
                  <a:pt x="2160410" y="33519"/>
                  <a:pt x="2180310" y="13617"/>
                  <a:pt x="2198271" y="13617"/>
                </a:cubicBezTo>
                <a:cubicBezTo>
                  <a:pt x="2199729" y="13617"/>
                  <a:pt x="2205553" y="13617"/>
                  <a:pt x="2211862" y="16530"/>
                </a:cubicBezTo>
                <a:cubicBezTo>
                  <a:pt x="2207011" y="18471"/>
                  <a:pt x="2199729" y="23811"/>
                  <a:pt x="2199729" y="34005"/>
                </a:cubicBezTo>
                <a:cubicBezTo>
                  <a:pt x="2199729" y="43713"/>
                  <a:pt x="2206037" y="51966"/>
                  <a:pt x="2217201" y="51966"/>
                </a:cubicBezTo>
                <a:cubicBezTo>
                  <a:pt x="2229338" y="51966"/>
                  <a:pt x="2235162" y="43713"/>
                  <a:pt x="2235162" y="33519"/>
                </a:cubicBezTo>
                <a:close/>
                <a:moveTo>
                  <a:pt x="2408584" y="207302"/>
                </a:moveTo>
                <a:cubicBezTo>
                  <a:pt x="2408584" y="154390"/>
                  <a:pt x="2367322" y="110702"/>
                  <a:pt x="2317809" y="110702"/>
                </a:cubicBezTo>
                <a:cubicBezTo>
                  <a:pt x="2265865" y="110702"/>
                  <a:pt x="2226061" y="155847"/>
                  <a:pt x="2226061" y="207302"/>
                </a:cubicBezTo>
                <a:cubicBezTo>
                  <a:pt x="2226061" y="260699"/>
                  <a:pt x="2268781" y="300018"/>
                  <a:pt x="2317320" y="300018"/>
                </a:cubicBezTo>
                <a:cubicBezTo>
                  <a:pt x="2367322" y="300018"/>
                  <a:pt x="2408584" y="259728"/>
                  <a:pt x="2408584" y="207302"/>
                </a:cubicBezTo>
                <a:close/>
                <a:moveTo>
                  <a:pt x="2374600" y="203904"/>
                </a:moveTo>
                <a:cubicBezTo>
                  <a:pt x="2374600" y="218952"/>
                  <a:pt x="2374600" y="241282"/>
                  <a:pt x="2365379" y="259243"/>
                </a:cubicBezTo>
                <a:cubicBezTo>
                  <a:pt x="2356154" y="277689"/>
                  <a:pt x="2338193" y="289824"/>
                  <a:pt x="2317809" y="289824"/>
                </a:cubicBezTo>
                <a:cubicBezTo>
                  <a:pt x="2299848" y="289824"/>
                  <a:pt x="2281887" y="281087"/>
                  <a:pt x="2270719" y="262155"/>
                </a:cubicBezTo>
                <a:cubicBezTo>
                  <a:pt x="2260041" y="244194"/>
                  <a:pt x="2260041" y="218952"/>
                  <a:pt x="2260041" y="203904"/>
                </a:cubicBezTo>
                <a:cubicBezTo>
                  <a:pt x="2260041" y="187885"/>
                  <a:pt x="2260041" y="165555"/>
                  <a:pt x="2270235" y="147595"/>
                </a:cubicBezTo>
                <a:cubicBezTo>
                  <a:pt x="2281398" y="128663"/>
                  <a:pt x="2300817" y="119925"/>
                  <a:pt x="2317320" y="119925"/>
                </a:cubicBezTo>
                <a:cubicBezTo>
                  <a:pt x="2335281" y="119925"/>
                  <a:pt x="2353242" y="129148"/>
                  <a:pt x="2363921" y="146624"/>
                </a:cubicBezTo>
                <a:cubicBezTo>
                  <a:pt x="2374600" y="164585"/>
                  <a:pt x="2374600" y="188371"/>
                  <a:pt x="2374600" y="203904"/>
                </a:cubicBezTo>
                <a:close/>
                <a:moveTo>
                  <a:pt x="2570713" y="138371"/>
                </a:moveTo>
                <a:cubicBezTo>
                  <a:pt x="2570713" y="125265"/>
                  <a:pt x="2558092" y="113129"/>
                  <a:pt x="2540619" y="113129"/>
                </a:cubicBezTo>
                <a:cubicBezTo>
                  <a:pt x="2510037" y="113129"/>
                  <a:pt x="2495472" y="140799"/>
                  <a:pt x="2489648" y="158759"/>
                </a:cubicBezTo>
                <a:lnTo>
                  <a:pt x="2489648" y="113129"/>
                </a:lnTo>
                <a:lnTo>
                  <a:pt x="2432369" y="117984"/>
                </a:lnTo>
                <a:lnTo>
                  <a:pt x="2432369" y="130604"/>
                </a:lnTo>
                <a:cubicBezTo>
                  <a:pt x="2461008" y="130604"/>
                  <a:pt x="2464405" y="133517"/>
                  <a:pt x="2464405" y="153905"/>
                </a:cubicBezTo>
                <a:lnTo>
                  <a:pt x="2464405" y="264097"/>
                </a:lnTo>
                <a:cubicBezTo>
                  <a:pt x="2464405" y="283028"/>
                  <a:pt x="2460035" y="283028"/>
                  <a:pt x="2432369" y="283028"/>
                </a:cubicBezTo>
                <a:lnTo>
                  <a:pt x="2432369" y="295649"/>
                </a:lnTo>
                <a:lnTo>
                  <a:pt x="2479454" y="294193"/>
                </a:lnTo>
                <a:cubicBezTo>
                  <a:pt x="2495957" y="294193"/>
                  <a:pt x="2515376" y="294193"/>
                  <a:pt x="2531879" y="295649"/>
                </a:cubicBezTo>
                <a:lnTo>
                  <a:pt x="2531879" y="283028"/>
                </a:lnTo>
                <a:lnTo>
                  <a:pt x="2523143" y="283028"/>
                </a:lnTo>
                <a:cubicBezTo>
                  <a:pt x="2492560" y="283028"/>
                  <a:pt x="2491591" y="278174"/>
                  <a:pt x="2491591" y="263611"/>
                </a:cubicBezTo>
                <a:lnTo>
                  <a:pt x="2491591" y="200021"/>
                </a:lnTo>
                <a:cubicBezTo>
                  <a:pt x="2491591" y="159245"/>
                  <a:pt x="2509063" y="122352"/>
                  <a:pt x="2540619" y="122352"/>
                </a:cubicBezTo>
                <a:cubicBezTo>
                  <a:pt x="2543047" y="122352"/>
                  <a:pt x="2544016" y="122352"/>
                  <a:pt x="2544985" y="122838"/>
                </a:cubicBezTo>
                <a:cubicBezTo>
                  <a:pt x="2543532" y="123323"/>
                  <a:pt x="2535280" y="128177"/>
                  <a:pt x="2535280" y="138857"/>
                </a:cubicBezTo>
                <a:cubicBezTo>
                  <a:pt x="2535280" y="150507"/>
                  <a:pt x="2544016" y="156818"/>
                  <a:pt x="2553237" y="156818"/>
                </a:cubicBezTo>
                <a:cubicBezTo>
                  <a:pt x="2560519" y="156818"/>
                  <a:pt x="2570713" y="151478"/>
                  <a:pt x="2570713" y="138371"/>
                </a:cubicBezTo>
                <a:close/>
                <a:moveTo>
                  <a:pt x="2753840" y="246622"/>
                </a:moveTo>
                <a:cubicBezTo>
                  <a:pt x="2753840" y="242253"/>
                  <a:pt x="2750444" y="241767"/>
                  <a:pt x="2748501" y="241767"/>
                </a:cubicBezTo>
                <a:cubicBezTo>
                  <a:pt x="2744619" y="241767"/>
                  <a:pt x="2743646" y="244194"/>
                  <a:pt x="2743162" y="247592"/>
                </a:cubicBezTo>
                <a:cubicBezTo>
                  <a:pt x="2728597" y="289824"/>
                  <a:pt x="2691221" y="289824"/>
                  <a:pt x="2687340" y="289824"/>
                </a:cubicBezTo>
                <a:cubicBezTo>
                  <a:pt x="2666463" y="289824"/>
                  <a:pt x="2649960" y="277689"/>
                  <a:pt x="2640739" y="262155"/>
                </a:cubicBezTo>
                <a:cubicBezTo>
                  <a:pt x="2628117" y="242253"/>
                  <a:pt x="2628117" y="215069"/>
                  <a:pt x="2628117" y="200506"/>
                </a:cubicBezTo>
                <a:lnTo>
                  <a:pt x="2743646" y="200506"/>
                </a:lnTo>
                <a:cubicBezTo>
                  <a:pt x="2752386" y="200506"/>
                  <a:pt x="2753840" y="200506"/>
                  <a:pt x="2753840" y="191768"/>
                </a:cubicBezTo>
                <a:cubicBezTo>
                  <a:pt x="2753840" y="150992"/>
                  <a:pt x="2731513" y="110702"/>
                  <a:pt x="2680057" y="110702"/>
                </a:cubicBezTo>
                <a:cubicBezTo>
                  <a:pt x="2631999" y="110702"/>
                  <a:pt x="2594138" y="153420"/>
                  <a:pt x="2594138" y="204875"/>
                </a:cubicBezTo>
                <a:cubicBezTo>
                  <a:pt x="2594138" y="260213"/>
                  <a:pt x="2637338" y="300018"/>
                  <a:pt x="2684912" y="300018"/>
                </a:cubicBezTo>
                <a:cubicBezTo>
                  <a:pt x="2735395" y="300018"/>
                  <a:pt x="2753840" y="254388"/>
                  <a:pt x="2753840" y="246622"/>
                </a:cubicBezTo>
                <a:close/>
                <a:moveTo>
                  <a:pt x="2726658" y="191768"/>
                </a:moveTo>
                <a:lnTo>
                  <a:pt x="2628602" y="191768"/>
                </a:lnTo>
                <a:cubicBezTo>
                  <a:pt x="2631029" y="130119"/>
                  <a:pt x="2665978" y="119925"/>
                  <a:pt x="2680057" y="119925"/>
                </a:cubicBezTo>
                <a:cubicBezTo>
                  <a:pt x="2722288" y="119925"/>
                  <a:pt x="2726658" y="175749"/>
                  <a:pt x="2726658" y="191768"/>
                </a:cubicBezTo>
                <a:close/>
                <a:moveTo>
                  <a:pt x="2879808" y="218467"/>
                </a:moveTo>
                <a:lnTo>
                  <a:pt x="2879808" y="194681"/>
                </a:lnTo>
                <a:lnTo>
                  <a:pt x="2770103" y="194681"/>
                </a:lnTo>
                <a:lnTo>
                  <a:pt x="2770103" y="218467"/>
                </a:lnTo>
                <a:close/>
                <a:moveTo>
                  <a:pt x="3198856" y="295649"/>
                </a:moveTo>
                <a:lnTo>
                  <a:pt x="3198856" y="283028"/>
                </a:lnTo>
                <a:lnTo>
                  <a:pt x="3191574" y="283028"/>
                </a:lnTo>
                <a:cubicBezTo>
                  <a:pt x="3166820" y="283028"/>
                  <a:pt x="3160991" y="280116"/>
                  <a:pt x="3156625" y="266524"/>
                </a:cubicBezTo>
                <a:lnTo>
                  <a:pt x="3067305" y="8277"/>
                </a:lnTo>
                <a:cubicBezTo>
                  <a:pt x="3065362" y="2937"/>
                  <a:pt x="3064393" y="25"/>
                  <a:pt x="3058084" y="25"/>
                </a:cubicBezTo>
                <a:cubicBezTo>
                  <a:pt x="3051287" y="25"/>
                  <a:pt x="3050317" y="2452"/>
                  <a:pt x="3047890" y="8277"/>
                </a:cubicBezTo>
                <a:lnTo>
                  <a:pt x="2962455" y="255359"/>
                </a:lnTo>
                <a:cubicBezTo>
                  <a:pt x="2955173" y="276232"/>
                  <a:pt x="2938666" y="282543"/>
                  <a:pt x="2916339" y="283028"/>
                </a:cubicBezTo>
                <a:lnTo>
                  <a:pt x="2916339" y="295649"/>
                </a:lnTo>
                <a:lnTo>
                  <a:pt x="2958569" y="294193"/>
                </a:lnTo>
                <a:lnTo>
                  <a:pt x="3006140" y="295649"/>
                </a:lnTo>
                <a:lnTo>
                  <a:pt x="3006140" y="283028"/>
                </a:lnTo>
                <a:cubicBezTo>
                  <a:pt x="2985266" y="283028"/>
                  <a:pt x="2975072" y="272349"/>
                  <a:pt x="2975072" y="261670"/>
                </a:cubicBezTo>
                <a:cubicBezTo>
                  <a:pt x="2975072" y="260699"/>
                  <a:pt x="2975561" y="256330"/>
                  <a:pt x="2976046" y="255845"/>
                </a:cubicBezTo>
                <a:lnTo>
                  <a:pt x="2994976" y="201477"/>
                </a:lnTo>
                <a:lnTo>
                  <a:pt x="3096918" y="201477"/>
                </a:lnTo>
                <a:lnTo>
                  <a:pt x="3118761" y="264582"/>
                </a:lnTo>
                <a:cubicBezTo>
                  <a:pt x="3119245" y="266524"/>
                  <a:pt x="3119730" y="268951"/>
                  <a:pt x="3119730" y="270407"/>
                </a:cubicBezTo>
                <a:cubicBezTo>
                  <a:pt x="3119730" y="283028"/>
                  <a:pt x="3096918" y="283028"/>
                  <a:pt x="3085751" y="283028"/>
                </a:cubicBezTo>
                <a:lnTo>
                  <a:pt x="3085751" y="295649"/>
                </a:lnTo>
                <a:cubicBezTo>
                  <a:pt x="3100315" y="294193"/>
                  <a:pt x="3129439" y="294193"/>
                  <a:pt x="3144973" y="294193"/>
                </a:cubicBezTo>
                <a:close/>
                <a:moveTo>
                  <a:pt x="3092063" y="188856"/>
                </a:moveTo>
                <a:lnTo>
                  <a:pt x="2999346" y="188856"/>
                </a:lnTo>
                <a:lnTo>
                  <a:pt x="3045462" y="54878"/>
                </a:lnTo>
                <a:close/>
                <a:moveTo>
                  <a:pt x="3359776" y="33519"/>
                </a:moveTo>
                <a:cubicBezTo>
                  <a:pt x="3359776" y="18471"/>
                  <a:pt x="3344727" y="4879"/>
                  <a:pt x="3322881" y="4879"/>
                </a:cubicBezTo>
                <a:cubicBezTo>
                  <a:pt x="3293756" y="4879"/>
                  <a:pt x="3258808" y="26723"/>
                  <a:pt x="3258808" y="70412"/>
                </a:cubicBezTo>
                <a:lnTo>
                  <a:pt x="3258808" y="117984"/>
                </a:lnTo>
                <a:lnTo>
                  <a:pt x="3226282" y="117984"/>
                </a:lnTo>
                <a:lnTo>
                  <a:pt x="3226282" y="130604"/>
                </a:lnTo>
                <a:lnTo>
                  <a:pt x="3258808" y="130604"/>
                </a:lnTo>
                <a:lnTo>
                  <a:pt x="3258808" y="264097"/>
                </a:lnTo>
                <a:cubicBezTo>
                  <a:pt x="3258808" y="283028"/>
                  <a:pt x="3254437" y="283028"/>
                  <a:pt x="3226767" y="283028"/>
                </a:cubicBezTo>
                <a:lnTo>
                  <a:pt x="3226767" y="295649"/>
                </a:lnTo>
                <a:lnTo>
                  <a:pt x="3273852" y="294193"/>
                </a:lnTo>
                <a:cubicBezTo>
                  <a:pt x="3290360" y="294193"/>
                  <a:pt x="3309774" y="294193"/>
                  <a:pt x="3326281" y="295649"/>
                </a:cubicBezTo>
                <a:lnTo>
                  <a:pt x="3326281" y="283028"/>
                </a:lnTo>
                <a:lnTo>
                  <a:pt x="3317541" y="283028"/>
                </a:lnTo>
                <a:cubicBezTo>
                  <a:pt x="3286959" y="283028"/>
                  <a:pt x="3285989" y="278174"/>
                  <a:pt x="3285989" y="263611"/>
                </a:cubicBezTo>
                <a:lnTo>
                  <a:pt x="3285989" y="130604"/>
                </a:lnTo>
                <a:lnTo>
                  <a:pt x="3333075" y="130604"/>
                </a:lnTo>
                <a:lnTo>
                  <a:pt x="3333075" y="117984"/>
                </a:lnTo>
                <a:lnTo>
                  <a:pt x="3285020" y="117984"/>
                </a:lnTo>
                <a:lnTo>
                  <a:pt x="3285020" y="69926"/>
                </a:lnTo>
                <a:cubicBezTo>
                  <a:pt x="3285020" y="33519"/>
                  <a:pt x="3304920" y="13617"/>
                  <a:pt x="3322881" y="13617"/>
                </a:cubicBezTo>
                <a:cubicBezTo>
                  <a:pt x="3324339" y="13617"/>
                  <a:pt x="3330163" y="13617"/>
                  <a:pt x="3336476" y="16530"/>
                </a:cubicBezTo>
                <a:cubicBezTo>
                  <a:pt x="3331621" y="18471"/>
                  <a:pt x="3324339" y="23811"/>
                  <a:pt x="3324339" y="34005"/>
                </a:cubicBezTo>
                <a:cubicBezTo>
                  <a:pt x="3324339" y="43713"/>
                  <a:pt x="3330647" y="51966"/>
                  <a:pt x="3341815" y="51966"/>
                </a:cubicBezTo>
                <a:cubicBezTo>
                  <a:pt x="3353948" y="51966"/>
                  <a:pt x="3359776" y="43713"/>
                  <a:pt x="3359776" y="33519"/>
                </a:cubicBezTo>
                <a:close/>
                <a:moveTo>
                  <a:pt x="3475914" y="244680"/>
                </a:moveTo>
                <a:lnTo>
                  <a:pt x="3475914" y="220894"/>
                </a:lnTo>
                <a:lnTo>
                  <a:pt x="3465720" y="220894"/>
                </a:lnTo>
                <a:lnTo>
                  <a:pt x="3465720" y="243709"/>
                </a:lnTo>
                <a:cubicBezTo>
                  <a:pt x="3465720" y="274291"/>
                  <a:pt x="3453098" y="289824"/>
                  <a:pt x="3438049" y="289824"/>
                </a:cubicBezTo>
                <a:cubicBezTo>
                  <a:pt x="3410379" y="289824"/>
                  <a:pt x="3410379" y="252447"/>
                  <a:pt x="3410379" y="245165"/>
                </a:cubicBezTo>
                <a:lnTo>
                  <a:pt x="3410379" y="130604"/>
                </a:lnTo>
                <a:lnTo>
                  <a:pt x="3469601" y="130604"/>
                </a:lnTo>
                <a:lnTo>
                  <a:pt x="3469601" y="117984"/>
                </a:lnTo>
                <a:lnTo>
                  <a:pt x="3410379" y="117984"/>
                </a:lnTo>
                <a:lnTo>
                  <a:pt x="3410379" y="41772"/>
                </a:lnTo>
                <a:lnTo>
                  <a:pt x="3400184" y="41772"/>
                </a:lnTo>
                <a:cubicBezTo>
                  <a:pt x="3399700" y="75751"/>
                  <a:pt x="3387078" y="119925"/>
                  <a:pt x="3346790" y="121382"/>
                </a:cubicBezTo>
                <a:lnTo>
                  <a:pt x="3346790" y="130604"/>
                </a:lnTo>
                <a:lnTo>
                  <a:pt x="3381738" y="130604"/>
                </a:lnTo>
                <a:lnTo>
                  <a:pt x="3381738" y="244680"/>
                </a:lnTo>
                <a:cubicBezTo>
                  <a:pt x="3381738" y="295164"/>
                  <a:pt x="3420088" y="300018"/>
                  <a:pt x="3435137" y="300018"/>
                </a:cubicBezTo>
                <a:cubicBezTo>
                  <a:pt x="3464262" y="300018"/>
                  <a:pt x="3475914" y="270893"/>
                  <a:pt x="3475914" y="244680"/>
                </a:cubicBezTo>
                <a:close/>
                <a:moveTo>
                  <a:pt x="3670809" y="246621"/>
                </a:moveTo>
                <a:cubicBezTo>
                  <a:pt x="3670809" y="242253"/>
                  <a:pt x="3667413" y="241767"/>
                  <a:pt x="3665470" y="241767"/>
                </a:cubicBezTo>
                <a:cubicBezTo>
                  <a:pt x="3661588" y="241767"/>
                  <a:pt x="3660615" y="244194"/>
                  <a:pt x="3660130" y="247592"/>
                </a:cubicBezTo>
                <a:cubicBezTo>
                  <a:pt x="3645570" y="289824"/>
                  <a:pt x="3608190" y="289824"/>
                  <a:pt x="3604309" y="289824"/>
                </a:cubicBezTo>
                <a:cubicBezTo>
                  <a:pt x="3583436" y="289824"/>
                  <a:pt x="3566928" y="277689"/>
                  <a:pt x="3557708" y="262155"/>
                </a:cubicBezTo>
                <a:cubicBezTo>
                  <a:pt x="3545086" y="242253"/>
                  <a:pt x="3545086" y="215069"/>
                  <a:pt x="3545086" y="200506"/>
                </a:cubicBezTo>
                <a:lnTo>
                  <a:pt x="3660615" y="200506"/>
                </a:lnTo>
                <a:cubicBezTo>
                  <a:pt x="3669355" y="200506"/>
                  <a:pt x="3670809" y="200506"/>
                  <a:pt x="3670809" y="191768"/>
                </a:cubicBezTo>
                <a:cubicBezTo>
                  <a:pt x="3670809" y="150992"/>
                  <a:pt x="3648482" y="110702"/>
                  <a:pt x="3597026" y="110702"/>
                </a:cubicBezTo>
                <a:cubicBezTo>
                  <a:pt x="3548967" y="110702"/>
                  <a:pt x="3511107" y="153420"/>
                  <a:pt x="3511107" y="204875"/>
                </a:cubicBezTo>
                <a:cubicBezTo>
                  <a:pt x="3511107" y="260213"/>
                  <a:pt x="3554307" y="300018"/>
                  <a:pt x="3601881" y="300018"/>
                </a:cubicBezTo>
                <a:cubicBezTo>
                  <a:pt x="3652363" y="300018"/>
                  <a:pt x="3670809" y="254388"/>
                  <a:pt x="3670809" y="246621"/>
                </a:cubicBezTo>
                <a:close/>
                <a:moveTo>
                  <a:pt x="3643627" y="191768"/>
                </a:moveTo>
                <a:lnTo>
                  <a:pt x="3545571" y="191768"/>
                </a:lnTo>
                <a:cubicBezTo>
                  <a:pt x="3547998" y="130119"/>
                  <a:pt x="3582947" y="119925"/>
                  <a:pt x="3597026" y="119925"/>
                </a:cubicBezTo>
                <a:cubicBezTo>
                  <a:pt x="3639257" y="119925"/>
                  <a:pt x="3643627" y="175749"/>
                  <a:pt x="3643627" y="191768"/>
                </a:cubicBezTo>
                <a:close/>
                <a:moveTo>
                  <a:pt x="3832699" y="138371"/>
                </a:moveTo>
                <a:cubicBezTo>
                  <a:pt x="3832699" y="125265"/>
                  <a:pt x="3820081" y="113129"/>
                  <a:pt x="3802605" y="113129"/>
                </a:cubicBezTo>
                <a:cubicBezTo>
                  <a:pt x="3772022" y="113129"/>
                  <a:pt x="3757458" y="140799"/>
                  <a:pt x="3751634" y="158759"/>
                </a:cubicBezTo>
                <a:lnTo>
                  <a:pt x="3751634" y="113129"/>
                </a:lnTo>
                <a:lnTo>
                  <a:pt x="3694354" y="117984"/>
                </a:lnTo>
                <a:lnTo>
                  <a:pt x="3694354" y="130604"/>
                </a:lnTo>
                <a:cubicBezTo>
                  <a:pt x="3722994" y="130604"/>
                  <a:pt x="3726391" y="133517"/>
                  <a:pt x="3726391" y="153905"/>
                </a:cubicBezTo>
                <a:lnTo>
                  <a:pt x="3726391" y="264097"/>
                </a:lnTo>
                <a:cubicBezTo>
                  <a:pt x="3726391" y="283028"/>
                  <a:pt x="3722025" y="283028"/>
                  <a:pt x="3694354" y="283028"/>
                </a:cubicBezTo>
                <a:lnTo>
                  <a:pt x="3694354" y="295649"/>
                </a:lnTo>
                <a:lnTo>
                  <a:pt x="3741439" y="294193"/>
                </a:lnTo>
                <a:cubicBezTo>
                  <a:pt x="3757947" y="294193"/>
                  <a:pt x="3777362" y="294193"/>
                  <a:pt x="3793865" y="295649"/>
                </a:cubicBezTo>
                <a:lnTo>
                  <a:pt x="3793865" y="283028"/>
                </a:lnTo>
                <a:lnTo>
                  <a:pt x="3785128" y="283028"/>
                </a:lnTo>
                <a:cubicBezTo>
                  <a:pt x="3754546" y="283028"/>
                  <a:pt x="3753576" y="278174"/>
                  <a:pt x="3753576" y="263611"/>
                </a:cubicBezTo>
                <a:lnTo>
                  <a:pt x="3753576" y="200021"/>
                </a:lnTo>
                <a:cubicBezTo>
                  <a:pt x="3753576" y="159245"/>
                  <a:pt x="3771053" y="122352"/>
                  <a:pt x="3802605" y="122352"/>
                </a:cubicBezTo>
                <a:cubicBezTo>
                  <a:pt x="3805032" y="122352"/>
                  <a:pt x="3806001" y="122352"/>
                  <a:pt x="3806975" y="122838"/>
                </a:cubicBezTo>
                <a:cubicBezTo>
                  <a:pt x="3805517" y="123323"/>
                  <a:pt x="3797265" y="128177"/>
                  <a:pt x="3797265" y="138857"/>
                </a:cubicBezTo>
                <a:cubicBezTo>
                  <a:pt x="3797265" y="150507"/>
                  <a:pt x="3806001" y="156818"/>
                  <a:pt x="3815226" y="156818"/>
                </a:cubicBezTo>
                <a:cubicBezTo>
                  <a:pt x="3822508" y="156818"/>
                  <a:pt x="3832699" y="151478"/>
                  <a:pt x="3832699" y="138371"/>
                </a:cubicBezTo>
                <a:close/>
                <a:moveTo>
                  <a:pt x="4260379" y="259243"/>
                </a:moveTo>
                <a:cubicBezTo>
                  <a:pt x="4260379" y="256815"/>
                  <a:pt x="4260379" y="252447"/>
                  <a:pt x="4255035" y="252447"/>
                </a:cubicBezTo>
                <a:cubicBezTo>
                  <a:pt x="4250644" y="252447"/>
                  <a:pt x="4250644" y="255845"/>
                  <a:pt x="4250147" y="258757"/>
                </a:cubicBezTo>
                <a:cubicBezTo>
                  <a:pt x="4247745" y="288368"/>
                  <a:pt x="4233164" y="295649"/>
                  <a:pt x="4222974" y="295649"/>
                </a:cubicBezTo>
                <a:cubicBezTo>
                  <a:pt x="4202594" y="295649"/>
                  <a:pt x="4199197" y="274776"/>
                  <a:pt x="4193853" y="236427"/>
                </a:cubicBezTo>
                <a:lnTo>
                  <a:pt x="4188013" y="203419"/>
                </a:lnTo>
                <a:cubicBezTo>
                  <a:pt x="4180764" y="176720"/>
                  <a:pt x="4160839" y="163128"/>
                  <a:pt x="4138015" y="155361"/>
                </a:cubicBezTo>
                <a:cubicBezTo>
                  <a:pt x="4177823" y="145653"/>
                  <a:pt x="4210381" y="120411"/>
                  <a:pt x="4210381" y="87887"/>
                </a:cubicBezTo>
                <a:cubicBezTo>
                  <a:pt x="4210381" y="48567"/>
                  <a:pt x="4163283" y="13617"/>
                  <a:pt x="4102599" y="13617"/>
                </a:cubicBezTo>
                <a:lnTo>
                  <a:pt x="3972990" y="13617"/>
                </a:lnTo>
                <a:lnTo>
                  <a:pt x="3972990" y="26723"/>
                </a:lnTo>
                <a:lnTo>
                  <a:pt x="3982696" y="26723"/>
                </a:lnTo>
                <a:cubicBezTo>
                  <a:pt x="4014736" y="26723"/>
                  <a:pt x="4015221" y="31092"/>
                  <a:pt x="4015221" y="46140"/>
                </a:cubicBezTo>
                <a:lnTo>
                  <a:pt x="4015221" y="263611"/>
                </a:lnTo>
                <a:cubicBezTo>
                  <a:pt x="4015221" y="278174"/>
                  <a:pt x="4014736" y="283028"/>
                  <a:pt x="3982696" y="283028"/>
                </a:cubicBezTo>
                <a:lnTo>
                  <a:pt x="3972990" y="283028"/>
                </a:lnTo>
                <a:lnTo>
                  <a:pt x="3972990" y="295649"/>
                </a:lnTo>
                <a:cubicBezTo>
                  <a:pt x="3987550" y="294193"/>
                  <a:pt x="4017164" y="294193"/>
                  <a:pt x="4033182" y="294193"/>
                </a:cubicBezTo>
                <a:cubicBezTo>
                  <a:pt x="4049200" y="294193"/>
                  <a:pt x="4078325" y="294193"/>
                  <a:pt x="4093374" y="295649"/>
                </a:cubicBezTo>
                <a:lnTo>
                  <a:pt x="4093374" y="283028"/>
                </a:lnTo>
                <a:lnTo>
                  <a:pt x="4083664" y="283028"/>
                </a:lnTo>
                <a:cubicBezTo>
                  <a:pt x="4051628" y="283028"/>
                  <a:pt x="4050658" y="278174"/>
                  <a:pt x="4050658" y="263611"/>
                </a:cubicBezTo>
                <a:lnTo>
                  <a:pt x="4050658" y="159245"/>
                </a:lnTo>
                <a:lnTo>
                  <a:pt x="4098229" y="159245"/>
                </a:lnTo>
                <a:cubicBezTo>
                  <a:pt x="4105026" y="159245"/>
                  <a:pt x="4122013" y="159245"/>
                  <a:pt x="4136565" y="173322"/>
                </a:cubicBezTo>
                <a:cubicBezTo>
                  <a:pt x="4152596" y="187885"/>
                  <a:pt x="4152596" y="200506"/>
                  <a:pt x="4152596" y="228175"/>
                </a:cubicBezTo>
                <a:cubicBezTo>
                  <a:pt x="4152596" y="255359"/>
                  <a:pt x="4152596" y="271864"/>
                  <a:pt x="4169082" y="287397"/>
                </a:cubicBezTo>
                <a:cubicBezTo>
                  <a:pt x="4186107" y="302445"/>
                  <a:pt x="4208890" y="304873"/>
                  <a:pt x="4221027" y="304873"/>
                </a:cubicBezTo>
                <a:cubicBezTo>
                  <a:pt x="4253585" y="304873"/>
                  <a:pt x="4260379" y="270893"/>
                  <a:pt x="4260379" y="259243"/>
                </a:cubicBezTo>
                <a:close/>
                <a:moveTo>
                  <a:pt x="4167633" y="87887"/>
                </a:moveTo>
                <a:cubicBezTo>
                  <a:pt x="4167633" y="116527"/>
                  <a:pt x="4157940" y="150022"/>
                  <a:pt x="4096770" y="150022"/>
                </a:cubicBezTo>
                <a:lnTo>
                  <a:pt x="4050658" y="150022"/>
                </a:lnTo>
                <a:lnTo>
                  <a:pt x="4050658" y="43228"/>
                </a:lnTo>
                <a:cubicBezTo>
                  <a:pt x="4050658" y="33519"/>
                  <a:pt x="4050658" y="28665"/>
                  <a:pt x="4059879" y="27209"/>
                </a:cubicBezTo>
                <a:cubicBezTo>
                  <a:pt x="4064249" y="26723"/>
                  <a:pt x="4075897" y="26723"/>
                  <a:pt x="4084153" y="26723"/>
                </a:cubicBezTo>
                <a:cubicBezTo>
                  <a:pt x="4121529" y="26723"/>
                  <a:pt x="4167633" y="28180"/>
                  <a:pt x="4167633" y="87887"/>
                </a:cubicBezTo>
                <a:close/>
                <a:moveTo>
                  <a:pt x="4433527" y="246621"/>
                </a:moveTo>
                <a:cubicBezTo>
                  <a:pt x="4433527" y="242253"/>
                  <a:pt x="4430130" y="241767"/>
                  <a:pt x="4428184" y="241767"/>
                </a:cubicBezTo>
                <a:cubicBezTo>
                  <a:pt x="4424331" y="241767"/>
                  <a:pt x="4423337" y="244194"/>
                  <a:pt x="4422840" y="247592"/>
                </a:cubicBezTo>
                <a:cubicBezTo>
                  <a:pt x="4408300" y="289824"/>
                  <a:pt x="4370937" y="289824"/>
                  <a:pt x="4367043" y="289824"/>
                </a:cubicBezTo>
                <a:cubicBezTo>
                  <a:pt x="4346166" y="289824"/>
                  <a:pt x="4329638" y="277689"/>
                  <a:pt x="4320442" y="262155"/>
                </a:cubicBezTo>
                <a:cubicBezTo>
                  <a:pt x="4307808" y="242253"/>
                  <a:pt x="4307808" y="215069"/>
                  <a:pt x="4307808" y="200506"/>
                </a:cubicBezTo>
                <a:lnTo>
                  <a:pt x="4423337" y="200506"/>
                </a:lnTo>
                <a:cubicBezTo>
                  <a:pt x="4432078" y="200506"/>
                  <a:pt x="4433527" y="200506"/>
                  <a:pt x="4433527" y="191768"/>
                </a:cubicBezTo>
                <a:cubicBezTo>
                  <a:pt x="4433527" y="150992"/>
                  <a:pt x="4411200" y="110702"/>
                  <a:pt x="4359753" y="110702"/>
                </a:cubicBezTo>
                <a:cubicBezTo>
                  <a:pt x="4311702" y="110702"/>
                  <a:pt x="4273842" y="153420"/>
                  <a:pt x="4273842" y="204875"/>
                </a:cubicBezTo>
                <a:cubicBezTo>
                  <a:pt x="4273842" y="260213"/>
                  <a:pt x="4317046" y="300018"/>
                  <a:pt x="4364599" y="300018"/>
                </a:cubicBezTo>
                <a:cubicBezTo>
                  <a:pt x="4415094" y="300018"/>
                  <a:pt x="4433527" y="254388"/>
                  <a:pt x="4433527" y="246621"/>
                </a:cubicBezTo>
                <a:close/>
                <a:moveTo>
                  <a:pt x="4406354" y="191768"/>
                </a:moveTo>
                <a:lnTo>
                  <a:pt x="4308305" y="191768"/>
                </a:lnTo>
                <a:cubicBezTo>
                  <a:pt x="4310708" y="130119"/>
                  <a:pt x="4345669" y="119925"/>
                  <a:pt x="4359753" y="119925"/>
                </a:cubicBezTo>
                <a:cubicBezTo>
                  <a:pt x="4402004" y="119925"/>
                  <a:pt x="4406354" y="175749"/>
                  <a:pt x="4406354" y="191768"/>
                </a:cubicBezTo>
                <a:close/>
                <a:moveTo>
                  <a:pt x="4645323" y="129148"/>
                </a:moveTo>
                <a:cubicBezTo>
                  <a:pt x="4645323" y="121867"/>
                  <a:pt x="4640435" y="108760"/>
                  <a:pt x="4624446" y="108760"/>
                </a:cubicBezTo>
                <a:cubicBezTo>
                  <a:pt x="4616161" y="108760"/>
                  <a:pt x="4598225" y="111187"/>
                  <a:pt x="4580745" y="128177"/>
                </a:cubicBezTo>
                <a:cubicBezTo>
                  <a:pt x="4563264" y="114585"/>
                  <a:pt x="4545783" y="113129"/>
                  <a:pt x="4537043" y="113129"/>
                </a:cubicBezTo>
                <a:cubicBezTo>
                  <a:pt x="4498685" y="113129"/>
                  <a:pt x="4470062" y="141770"/>
                  <a:pt x="4470062" y="173322"/>
                </a:cubicBezTo>
                <a:cubicBezTo>
                  <a:pt x="4470062" y="191768"/>
                  <a:pt x="4479300" y="207302"/>
                  <a:pt x="4489490" y="216039"/>
                </a:cubicBezTo>
                <a:cubicBezTo>
                  <a:pt x="4484146" y="222350"/>
                  <a:pt x="4476856" y="235942"/>
                  <a:pt x="4476856" y="250020"/>
                </a:cubicBezTo>
                <a:cubicBezTo>
                  <a:pt x="4476856" y="263126"/>
                  <a:pt x="4482199" y="278660"/>
                  <a:pt x="4494833" y="286912"/>
                </a:cubicBezTo>
                <a:cubicBezTo>
                  <a:pt x="4470062" y="294193"/>
                  <a:pt x="4456973" y="311669"/>
                  <a:pt x="4456973" y="328173"/>
                </a:cubicBezTo>
                <a:cubicBezTo>
                  <a:pt x="4456973" y="357784"/>
                  <a:pt x="4497733" y="380599"/>
                  <a:pt x="4548227" y="380599"/>
                </a:cubicBezTo>
                <a:cubicBezTo>
                  <a:pt x="4596775" y="380599"/>
                  <a:pt x="4639482" y="359726"/>
                  <a:pt x="4639482" y="327202"/>
                </a:cubicBezTo>
                <a:cubicBezTo>
                  <a:pt x="4639482" y="313125"/>
                  <a:pt x="4633642" y="291766"/>
                  <a:pt x="4612765" y="280601"/>
                </a:cubicBezTo>
                <a:cubicBezTo>
                  <a:pt x="4590935" y="268951"/>
                  <a:pt x="4567158" y="268951"/>
                  <a:pt x="4541890" y="268951"/>
                </a:cubicBezTo>
                <a:cubicBezTo>
                  <a:pt x="4531700" y="268951"/>
                  <a:pt x="4513764" y="268951"/>
                  <a:pt x="4510822" y="268466"/>
                </a:cubicBezTo>
                <a:cubicBezTo>
                  <a:pt x="4497733" y="266524"/>
                  <a:pt x="4488992" y="253903"/>
                  <a:pt x="4488992" y="240796"/>
                </a:cubicBezTo>
                <a:cubicBezTo>
                  <a:pt x="4488992" y="239340"/>
                  <a:pt x="4488992" y="229632"/>
                  <a:pt x="4496283" y="221379"/>
                </a:cubicBezTo>
                <a:cubicBezTo>
                  <a:pt x="4512314" y="233030"/>
                  <a:pt x="4529297" y="234000"/>
                  <a:pt x="4537043" y="234000"/>
                </a:cubicBezTo>
                <a:cubicBezTo>
                  <a:pt x="4575401" y="234000"/>
                  <a:pt x="4603569" y="205846"/>
                  <a:pt x="4603569" y="173807"/>
                </a:cubicBezTo>
                <a:cubicBezTo>
                  <a:pt x="4603569" y="158759"/>
                  <a:pt x="4597231" y="143226"/>
                  <a:pt x="4587041" y="134002"/>
                </a:cubicBezTo>
                <a:cubicBezTo>
                  <a:pt x="4601622" y="119925"/>
                  <a:pt x="4616658" y="117984"/>
                  <a:pt x="4623949" y="117984"/>
                </a:cubicBezTo>
                <a:cubicBezTo>
                  <a:pt x="4623949" y="117984"/>
                  <a:pt x="4626848" y="117984"/>
                  <a:pt x="4628298" y="117984"/>
                </a:cubicBezTo>
                <a:cubicBezTo>
                  <a:pt x="4623452" y="119925"/>
                  <a:pt x="4621505" y="124294"/>
                  <a:pt x="4621505" y="129148"/>
                </a:cubicBezTo>
                <a:cubicBezTo>
                  <a:pt x="4621505" y="136430"/>
                  <a:pt x="4626848" y="141284"/>
                  <a:pt x="4633642" y="141284"/>
                </a:cubicBezTo>
                <a:cubicBezTo>
                  <a:pt x="4637536" y="141284"/>
                  <a:pt x="4645323" y="138371"/>
                  <a:pt x="4645323" y="129148"/>
                </a:cubicBezTo>
                <a:close/>
                <a:moveTo>
                  <a:pt x="4572957" y="173322"/>
                </a:moveTo>
                <a:cubicBezTo>
                  <a:pt x="4572957" y="184487"/>
                  <a:pt x="4572502" y="198079"/>
                  <a:pt x="4566164" y="208273"/>
                </a:cubicBezTo>
                <a:cubicBezTo>
                  <a:pt x="4562767" y="213127"/>
                  <a:pt x="4553571" y="224777"/>
                  <a:pt x="4537043" y="224777"/>
                </a:cubicBezTo>
                <a:cubicBezTo>
                  <a:pt x="4501130" y="224777"/>
                  <a:pt x="4501130" y="183516"/>
                  <a:pt x="4501130" y="173807"/>
                </a:cubicBezTo>
                <a:cubicBezTo>
                  <a:pt x="4501130" y="162643"/>
                  <a:pt x="4501626" y="149536"/>
                  <a:pt x="4507426" y="139342"/>
                </a:cubicBezTo>
                <a:cubicBezTo>
                  <a:pt x="4510822" y="134488"/>
                  <a:pt x="4520557" y="122838"/>
                  <a:pt x="4537043" y="122838"/>
                </a:cubicBezTo>
                <a:cubicBezTo>
                  <a:pt x="4572957" y="122838"/>
                  <a:pt x="4572957" y="164099"/>
                  <a:pt x="4572957" y="173322"/>
                </a:cubicBezTo>
                <a:close/>
                <a:moveTo>
                  <a:pt x="4618108" y="328173"/>
                </a:moveTo>
                <a:cubicBezTo>
                  <a:pt x="4618108" y="350503"/>
                  <a:pt x="4588988" y="371376"/>
                  <a:pt x="4548724" y="371376"/>
                </a:cubicBezTo>
                <a:cubicBezTo>
                  <a:pt x="4506970" y="371376"/>
                  <a:pt x="4478305" y="350017"/>
                  <a:pt x="4478305" y="328173"/>
                </a:cubicBezTo>
                <a:cubicBezTo>
                  <a:pt x="4478305" y="309241"/>
                  <a:pt x="4493839" y="294193"/>
                  <a:pt x="4512314" y="292737"/>
                </a:cubicBezTo>
                <a:lnTo>
                  <a:pt x="4536588" y="292737"/>
                </a:lnTo>
                <a:cubicBezTo>
                  <a:pt x="4572004" y="292737"/>
                  <a:pt x="4618108" y="292737"/>
                  <a:pt x="4618108" y="328173"/>
                </a:cubicBezTo>
                <a:close/>
                <a:moveTo>
                  <a:pt x="4801736" y="138371"/>
                </a:moveTo>
                <a:cubicBezTo>
                  <a:pt x="4801736" y="125265"/>
                  <a:pt x="4789102" y="113129"/>
                  <a:pt x="4771622" y="113129"/>
                </a:cubicBezTo>
                <a:cubicBezTo>
                  <a:pt x="4741052" y="113129"/>
                  <a:pt x="4726471" y="140799"/>
                  <a:pt x="4720671" y="158759"/>
                </a:cubicBezTo>
                <a:lnTo>
                  <a:pt x="4720671" y="113129"/>
                </a:lnTo>
                <a:lnTo>
                  <a:pt x="4663384" y="117984"/>
                </a:lnTo>
                <a:lnTo>
                  <a:pt x="4663384" y="130604"/>
                </a:lnTo>
                <a:cubicBezTo>
                  <a:pt x="4692007" y="130604"/>
                  <a:pt x="4695403" y="133517"/>
                  <a:pt x="4695403" y="153905"/>
                </a:cubicBezTo>
                <a:lnTo>
                  <a:pt x="4695403" y="264097"/>
                </a:lnTo>
                <a:cubicBezTo>
                  <a:pt x="4695403" y="283028"/>
                  <a:pt x="4691054" y="283028"/>
                  <a:pt x="4663384" y="283028"/>
                </a:cubicBezTo>
                <a:lnTo>
                  <a:pt x="4663384" y="295649"/>
                </a:lnTo>
                <a:lnTo>
                  <a:pt x="4710481" y="294193"/>
                </a:lnTo>
                <a:cubicBezTo>
                  <a:pt x="4726968" y="294193"/>
                  <a:pt x="4746395" y="294193"/>
                  <a:pt x="4762882" y="295649"/>
                </a:cubicBezTo>
                <a:lnTo>
                  <a:pt x="4762882" y="283028"/>
                </a:lnTo>
                <a:lnTo>
                  <a:pt x="4754141" y="283028"/>
                </a:lnTo>
                <a:cubicBezTo>
                  <a:pt x="4723571" y="283028"/>
                  <a:pt x="4722619" y="278174"/>
                  <a:pt x="4722619" y="263611"/>
                </a:cubicBezTo>
                <a:lnTo>
                  <a:pt x="4722619" y="200021"/>
                </a:lnTo>
                <a:cubicBezTo>
                  <a:pt x="4722619" y="159245"/>
                  <a:pt x="4740099" y="122352"/>
                  <a:pt x="4771622" y="122352"/>
                </a:cubicBezTo>
                <a:cubicBezTo>
                  <a:pt x="4774066" y="122352"/>
                  <a:pt x="4775019" y="122352"/>
                  <a:pt x="4776013" y="122838"/>
                </a:cubicBezTo>
                <a:cubicBezTo>
                  <a:pt x="4774563" y="123323"/>
                  <a:pt x="4766278" y="128177"/>
                  <a:pt x="4766278" y="138857"/>
                </a:cubicBezTo>
                <a:cubicBezTo>
                  <a:pt x="4766278" y="150507"/>
                  <a:pt x="4775019" y="156818"/>
                  <a:pt x="4784256" y="156818"/>
                </a:cubicBezTo>
                <a:cubicBezTo>
                  <a:pt x="4791546" y="156818"/>
                  <a:pt x="4801736" y="151478"/>
                  <a:pt x="4801736" y="138371"/>
                </a:cubicBezTo>
                <a:close/>
                <a:moveTo>
                  <a:pt x="4984867" y="246621"/>
                </a:moveTo>
                <a:cubicBezTo>
                  <a:pt x="4984867" y="242253"/>
                  <a:pt x="4981471" y="241767"/>
                  <a:pt x="4979524" y="241767"/>
                </a:cubicBezTo>
                <a:cubicBezTo>
                  <a:pt x="4975630" y="241767"/>
                  <a:pt x="4974678" y="244194"/>
                  <a:pt x="4974180" y="247592"/>
                </a:cubicBezTo>
                <a:cubicBezTo>
                  <a:pt x="4959599" y="289824"/>
                  <a:pt x="4922236" y="289824"/>
                  <a:pt x="4918342" y="289824"/>
                </a:cubicBezTo>
                <a:cubicBezTo>
                  <a:pt x="4897465" y="289824"/>
                  <a:pt x="4880979" y="277689"/>
                  <a:pt x="4871741" y="262155"/>
                </a:cubicBezTo>
                <a:cubicBezTo>
                  <a:pt x="4859149" y="242253"/>
                  <a:pt x="4859149" y="215069"/>
                  <a:pt x="4859149" y="200506"/>
                </a:cubicBezTo>
                <a:lnTo>
                  <a:pt x="4974678" y="200506"/>
                </a:lnTo>
                <a:cubicBezTo>
                  <a:pt x="4983418" y="200506"/>
                  <a:pt x="4984867" y="200506"/>
                  <a:pt x="4984867" y="191768"/>
                </a:cubicBezTo>
                <a:cubicBezTo>
                  <a:pt x="4984867" y="150992"/>
                  <a:pt x="4962541" y="110702"/>
                  <a:pt x="4911093" y="110702"/>
                </a:cubicBezTo>
                <a:cubicBezTo>
                  <a:pt x="4863001" y="110702"/>
                  <a:pt x="4825140" y="153420"/>
                  <a:pt x="4825140" y="204875"/>
                </a:cubicBezTo>
                <a:cubicBezTo>
                  <a:pt x="4825140" y="260213"/>
                  <a:pt x="4868345" y="300018"/>
                  <a:pt x="4915940" y="300018"/>
                </a:cubicBezTo>
                <a:cubicBezTo>
                  <a:pt x="4966393" y="300018"/>
                  <a:pt x="4984867" y="254388"/>
                  <a:pt x="4984867" y="246621"/>
                </a:cubicBezTo>
                <a:close/>
                <a:moveTo>
                  <a:pt x="4957694" y="191768"/>
                </a:moveTo>
                <a:lnTo>
                  <a:pt x="4859604" y="191768"/>
                </a:lnTo>
                <a:cubicBezTo>
                  <a:pt x="4862048" y="130119"/>
                  <a:pt x="4897009" y="119925"/>
                  <a:pt x="4911093" y="119925"/>
                </a:cubicBezTo>
                <a:cubicBezTo>
                  <a:pt x="4953303" y="119925"/>
                  <a:pt x="4957694" y="175749"/>
                  <a:pt x="4957694" y="191768"/>
                </a:cubicBezTo>
                <a:close/>
                <a:moveTo>
                  <a:pt x="5145299" y="242738"/>
                </a:moveTo>
                <a:cubicBezTo>
                  <a:pt x="5145299" y="220894"/>
                  <a:pt x="5133162" y="208758"/>
                  <a:pt x="5127818" y="203419"/>
                </a:cubicBezTo>
                <a:cubicBezTo>
                  <a:pt x="5114232" y="190312"/>
                  <a:pt x="5098201" y="186914"/>
                  <a:pt x="5080720" y="184002"/>
                </a:cubicBezTo>
                <a:cubicBezTo>
                  <a:pt x="5057896" y="179147"/>
                  <a:pt x="5030267" y="173807"/>
                  <a:pt x="5030267" y="150022"/>
                </a:cubicBezTo>
                <a:cubicBezTo>
                  <a:pt x="5030267" y="135459"/>
                  <a:pt x="5040913" y="118469"/>
                  <a:pt x="5076371" y="118469"/>
                </a:cubicBezTo>
                <a:cubicBezTo>
                  <a:pt x="5121978" y="118469"/>
                  <a:pt x="5123925" y="155847"/>
                  <a:pt x="5124919" y="168468"/>
                </a:cubicBezTo>
                <a:cubicBezTo>
                  <a:pt x="5124919" y="172351"/>
                  <a:pt x="5129765" y="172351"/>
                  <a:pt x="5129765" y="172351"/>
                </a:cubicBezTo>
                <a:cubicBezTo>
                  <a:pt x="5135109" y="172351"/>
                  <a:pt x="5135109" y="170410"/>
                  <a:pt x="5135109" y="162157"/>
                </a:cubicBezTo>
                <a:lnTo>
                  <a:pt x="5135109" y="120896"/>
                </a:lnTo>
                <a:cubicBezTo>
                  <a:pt x="5135109" y="113615"/>
                  <a:pt x="5135109" y="110702"/>
                  <a:pt x="5130262" y="110702"/>
                </a:cubicBezTo>
                <a:cubicBezTo>
                  <a:pt x="5128316" y="110702"/>
                  <a:pt x="5127321" y="110702"/>
                  <a:pt x="5121978" y="115556"/>
                </a:cubicBezTo>
                <a:cubicBezTo>
                  <a:pt x="5121025" y="117498"/>
                  <a:pt x="5116634" y="120896"/>
                  <a:pt x="5115184" y="122352"/>
                </a:cubicBezTo>
                <a:cubicBezTo>
                  <a:pt x="5099651" y="110702"/>
                  <a:pt x="5082667" y="110702"/>
                  <a:pt x="5076371" y="110702"/>
                </a:cubicBezTo>
                <a:cubicBezTo>
                  <a:pt x="5025876" y="110702"/>
                  <a:pt x="5010343" y="138371"/>
                  <a:pt x="5010343" y="161672"/>
                </a:cubicBezTo>
                <a:cubicBezTo>
                  <a:pt x="5010343" y="175749"/>
                  <a:pt x="5017136" y="187400"/>
                  <a:pt x="5028320" y="196622"/>
                </a:cubicBezTo>
                <a:cubicBezTo>
                  <a:pt x="5041410" y="207302"/>
                  <a:pt x="5053050" y="209729"/>
                  <a:pt x="5082667" y="215554"/>
                </a:cubicBezTo>
                <a:cubicBezTo>
                  <a:pt x="5091904" y="217010"/>
                  <a:pt x="5125375" y="223806"/>
                  <a:pt x="5125375" y="253418"/>
                </a:cubicBezTo>
                <a:cubicBezTo>
                  <a:pt x="5125375" y="274776"/>
                  <a:pt x="5110835" y="291281"/>
                  <a:pt x="5078774" y="291281"/>
                </a:cubicBezTo>
                <a:cubicBezTo>
                  <a:pt x="5044310" y="291281"/>
                  <a:pt x="5029273" y="267495"/>
                  <a:pt x="5021527" y="232544"/>
                </a:cubicBezTo>
                <a:cubicBezTo>
                  <a:pt x="5020036" y="227204"/>
                  <a:pt x="5020036" y="225263"/>
                  <a:pt x="5015686" y="225263"/>
                </a:cubicBezTo>
                <a:cubicBezTo>
                  <a:pt x="5010343" y="225263"/>
                  <a:pt x="5010343" y="228175"/>
                  <a:pt x="5010343" y="235942"/>
                </a:cubicBezTo>
                <a:lnTo>
                  <a:pt x="5010343" y="290310"/>
                </a:lnTo>
                <a:cubicBezTo>
                  <a:pt x="5010343" y="297106"/>
                  <a:pt x="5010343" y="300018"/>
                  <a:pt x="5014733" y="300018"/>
                </a:cubicBezTo>
                <a:cubicBezTo>
                  <a:pt x="5017136" y="300018"/>
                  <a:pt x="5017633" y="300018"/>
                  <a:pt x="5025379" y="291766"/>
                </a:cubicBezTo>
                <a:cubicBezTo>
                  <a:pt x="5025876" y="291281"/>
                  <a:pt x="5025876" y="290310"/>
                  <a:pt x="5033664" y="282543"/>
                </a:cubicBezTo>
                <a:cubicBezTo>
                  <a:pt x="5051600" y="300018"/>
                  <a:pt x="5070033" y="300018"/>
                  <a:pt x="5078774" y="300018"/>
                </a:cubicBezTo>
                <a:cubicBezTo>
                  <a:pt x="5126368" y="300018"/>
                  <a:pt x="5145299" y="272349"/>
                  <a:pt x="5145299" y="242738"/>
                </a:cubicBezTo>
                <a:close/>
                <a:moveTo>
                  <a:pt x="5307801" y="242738"/>
                </a:moveTo>
                <a:cubicBezTo>
                  <a:pt x="5307801" y="220894"/>
                  <a:pt x="5295665" y="208758"/>
                  <a:pt x="5290321" y="203419"/>
                </a:cubicBezTo>
                <a:cubicBezTo>
                  <a:pt x="5276734" y="190312"/>
                  <a:pt x="5260703" y="186914"/>
                  <a:pt x="5243223" y="184002"/>
                </a:cubicBezTo>
                <a:cubicBezTo>
                  <a:pt x="5220399" y="179147"/>
                  <a:pt x="5192728" y="173807"/>
                  <a:pt x="5192728" y="150022"/>
                </a:cubicBezTo>
                <a:cubicBezTo>
                  <a:pt x="5192728" y="135459"/>
                  <a:pt x="5203415" y="118469"/>
                  <a:pt x="5238874" y="118469"/>
                </a:cubicBezTo>
                <a:cubicBezTo>
                  <a:pt x="5284480" y="118469"/>
                  <a:pt x="5286427" y="155847"/>
                  <a:pt x="5287421" y="168468"/>
                </a:cubicBezTo>
                <a:cubicBezTo>
                  <a:pt x="5287421" y="172351"/>
                  <a:pt x="5292268" y="172351"/>
                  <a:pt x="5292268" y="172351"/>
                </a:cubicBezTo>
                <a:cubicBezTo>
                  <a:pt x="5297611" y="172351"/>
                  <a:pt x="5297611" y="170410"/>
                  <a:pt x="5297611" y="162157"/>
                </a:cubicBezTo>
                <a:lnTo>
                  <a:pt x="5297611" y="120896"/>
                </a:lnTo>
                <a:cubicBezTo>
                  <a:pt x="5297611" y="113615"/>
                  <a:pt x="5297611" y="110702"/>
                  <a:pt x="5292724" y="110702"/>
                </a:cubicBezTo>
                <a:cubicBezTo>
                  <a:pt x="5290818" y="110702"/>
                  <a:pt x="5289824" y="110702"/>
                  <a:pt x="5284480" y="115556"/>
                </a:cubicBezTo>
                <a:cubicBezTo>
                  <a:pt x="5283528" y="117498"/>
                  <a:pt x="5279137" y="120896"/>
                  <a:pt x="5277687" y="122352"/>
                </a:cubicBezTo>
                <a:cubicBezTo>
                  <a:pt x="5262153" y="110702"/>
                  <a:pt x="5245170" y="110702"/>
                  <a:pt x="5238874" y="110702"/>
                </a:cubicBezTo>
                <a:cubicBezTo>
                  <a:pt x="5188379" y="110702"/>
                  <a:pt x="5172845" y="138371"/>
                  <a:pt x="5172845" y="161672"/>
                </a:cubicBezTo>
                <a:cubicBezTo>
                  <a:pt x="5172845" y="175749"/>
                  <a:pt x="5179639" y="187400"/>
                  <a:pt x="5190781" y="196622"/>
                </a:cubicBezTo>
                <a:cubicBezTo>
                  <a:pt x="5203912" y="207302"/>
                  <a:pt x="5215552" y="209729"/>
                  <a:pt x="5245170" y="215554"/>
                </a:cubicBezTo>
                <a:cubicBezTo>
                  <a:pt x="5254407" y="217010"/>
                  <a:pt x="5287877" y="223806"/>
                  <a:pt x="5287877" y="253418"/>
                </a:cubicBezTo>
                <a:cubicBezTo>
                  <a:pt x="5287877" y="274776"/>
                  <a:pt x="5273337" y="291281"/>
                  <a:pt x="5241276" y="291281"/>
                </a:cubicBezTo>
                <a:cubicBezTo>
                  <a:pt x="5206812" y="291281"/>
                  <a:pt x="5191775" y="267495"/>
                  <a:pt x="5183988" y="232544"/>
                </a:cubicBezTo>
                <a:cubicBezTo>
                  <a:pt x="5182538" y="227204"/>
                  <a:pt x="5182538" y="225263"/>
                  <a:pt x="5178189" y="225263"/>
                </a:cubicBezTo>
                <a:cubicBezTo>
                  <a:pt x="5172845" y="225263"/>
                  <a:pt x="5172845" y="228175"/>
                  <a:pt x="5172845" y="235942"/>
                </a:cubicBezTo>
                <a:lnTo>
                  <a:pt x="5172845" y="290310"/>
                </a:lnTo>
                <a:cubicBezTo>
                  <a:pt x="5172845" y="297106"/>
                  <a:pt x="5172845" y="300018"/>
                  <a:pt x="5177195" y="300018"/>
                </a:cubicBezTo>
                <a:cubicBezTo>
                  <a:pt x="5179639" y="300018"/>
                  <a:pt x="5180136" y="300018"/>
                  <a:pt x="5187882" y="291766"/>
                </a:cubicBezTo>
                <a:cubicBezTo>
                  <a:pt x="5188379" y="291281"/>
                  <a:pt x="5188379" y="290310"/>
                  <a:pt x="5196125" y="282543"/>
                </a:cubicBezTo>
                <a:cubicBezTo>
                  <a:pt x="5214103" y="300018"/>
                  <a:pt x="5232536" y="300018"/>
                  <a:pt x="5241276" y="300018"/>
                </a:cubicBezTo>
                <a:cubicBezTo>
                  <a:pt x="5288871" y="300018"/>
                  <a:pt x="5307801" y="272349"/>
                  <a:pt x="5307801" y="242738"/>
                </a:cubicBezTo>
                <a:close/>
                <a:moveTo>
                  <a:pt x="5423786" y="295649"/>
                </a:moveTo>
                <a:lnTo>
                  <a:pt x="5423786" y="283028"/>
                </a:lnTo>
                <a:cubicBezTo>
                  <a:pt x="5396612" y="283028"/>
                  <a:pt x="5394666" y="280601"/>
                  <a:pt x="5394666" y="264582"/>
                </a:cubicBezTo>
                <a:lnTo>
                  <a:pt x="5394666" y="113129"/>
                </a:lnTo>
                <a:lnTo>
                  <a:pt x="5336922" y="117984"/>
                </a:lnTo>
                <a:lnTo>
                  <a:pt x="5336922" y="130604"/>
                </a:lnTo>
                <a:cubicBezTo>
                  <a:pt x="5364095" y="130604"/>
                  <a:pt x="5367492" y="133032"/>
                  <a:pt x="5367492" y="153420"/>
                </a:cubicBezTo>
                <a:lnTo>
                  <a:pt x="5367492" y="264097"/>
                </a:lnTo>
                <a:cubicBezTo>
                  <a:pt x="5367492" y="283028"/>
                  <a:pt x="5363143" y="283028"/>
                  <a:pt x="5335472" y="283028"/>
                </a:cubicBezTo>
                <a:lnTo>
                  <a:pt x="5335472" y="295649"/>
                </a:lnTo>
                <a:lnTo>
                  <a:pt x="5381079" y="294193"/>
                </a:lnTo>
                <a:cubicBezTo>
                  <a:pt x="5395162" y="294193"/>
                  <a:pt x="5409743" y="295164"/>
                  <a:pt x="5423786" y="295649"/>
                </a:cubicBezTo>
                <a:close/>
                <a:moveTo>
                  <a:pt x="5401003" y="46626"/>
                </a:moveTo>
                <a:cubicBezTo>
                  <a:pt x="5401003" y="35461"/>
                  <a:pt x="5391766" y="24782"/>
                  <a:pt x="5379132" y="24782"/>
                </a:cubicBezTo>
                <a:cubicBezTo>
                  <a:pt x="5365089" y="24782"/>
                  <a:pt x="5356805" y="35947"/>
                  <a:pt x="5356805" y="46626"/>
                </a:cubicBezTo>
                <a:cubicBezTo>
                  <a:pt x="5356805" y="57791"/>
                  <a:pt x="5366539" y="68470"/>
                  <a:pt x="5378676" y="68470"/>
                </a:cubicBezTo>
                <a:cubicBezTo>
                  <a:pt x="5392719" y="68470"/>
                  <a:pt x="5401003" y="56820"/>
                  <a:pt x="5401003" y="46626"/>
                </a:cubicBezTo>
                <a:close/>
                <a:moveTo>
                  <a:pt x="5630859" y="207302"/>
                </a:moveTo>
                <a:cubicBezTo>
                  <a:pt x="5630859" y="154390"/>
                  <a:pt x="5589561" y="110702"/>
                  <a:pt x="5540060" y="110702"/>
                </a:cubicBezTo>
                <a:cubicBezTo>
                  <a:pt x="5488116" y="110702"/>
                  <a:pt x="5448308" y="155847"/>
                  <a:pt x="5448308" y="207302"/>
                </a:cubicBezTo>
                <a:cubicBezTo>
                  <a:pt x="5448308" y="260699"/>
                  <a:pt x="5491057" y="300018"/>
                  <a:pt x="5539563" y="300018"/>
                </a:cubicBezTo>
                <a:cubicBezTo>
                  <a:pt x="5589561" y="300018"/>
                  <a:pt x="5630859" y="259728"/>
                  <a:pt x="5630859" y="207302"/>
                </a:cubicBezTo>
                <a:close/>
                <a:moveTo>
                  <a:pt x="5596851" y="203904"/>
                </a:moveTo>
                <a:cubicBezTo>
                  <a:pt x="5596851" y="218952"/>
                  <a:pt x="5596851" y="241282"/>
                  <a:pt x="5587655" y="259243"/>
                </a:cubicBezTo>
                <a:cubicBezTo>
                  <a:pt x="5578418" y="277689"/>
                  <a:pt x="5560440" y="289824"/>
                  <a:pt x="5540060" y="289824"/>
                </a:cubicBezTo>
                <a:cubicBezTo>
                  <a:pt x="5522124" y="289824"/>
                  <a:pt x="5504146" y="281087"/>
                  <a:pt x="5492962" y="262155"/>
                </a:cubicBezTo>
                <a:cubicBezTo>
                  <a:pt x="5482317" y="244194"/>
                  <a:pt x="5482317" y="218952"/>
                  <a:pt x="5482317" y="203904"/>
                </a:cubicBezTo>
                <a:cubicBezTo>
                  <a:pt x="5482317" y="187885"/>
                  <a:pt x="5482317" y="165555"/>
                  <a:pt x="5492507" y="147595"/>
                </a:cubicBezTo>
                <a:cubicBezTo>
                  <a:pt x="5503649" y="128663"/>
                  <a:pt x="5523077" y="119925"/>
                  <a:pt x="5539563" y="119925"/>
                </a:cubicBezTo>
                <a:cubicBezTo>
                  <a:pt x="5557540" y="119925"/>
                  <a:pt x="5575518" y="129148"/>
                  <a:pt x="5586164" y="146624"/>
                </a:cubicBezTo>
                <a:cubicBezTo>
                  <a:pt x="5596851" y="164585"/>
                  <a:pt x="5596851" y="188371"/>
                  <a:pt x="5596851" y="203904"/>
                </a:cubicBezTo>
                <a:close/>
                <a:moveTo>
                  <a:pt x="5863864" y="295649"/>
                </a:moveTo>
                <a:lnTo>
                  <a:pt x="5863864" y="283028"/>
                </a:lnTo>
                <a:cubicBezTo>
                  <a:pt x="5842490" y="283028"/>
                  <a:pt x="5831802" y="283028"/>
                  <a:pt x="5831306" y="270407"/>
                </a:cubicBezTo>
                <a:lnTo>
                  <a:pt x="5831306" y="191768"/>
                </a:lnTo>
                <a:cubicBezTo>
                  <a:pt x="5831306" y="156332"/>
                  <a:pt x="5831306" y="143226"/>
                  <a:pt x="5818713" y="128663"/>
                </a:cubicBezTo>
                <a:cubicBezTo>
                  <a:pt x="5812872" y="121382"/>
                  <a:pt x="5799285" y="113129"/>
                  <a:pt x="5775509" y="113129"/>
                </a:cubicBezTo>
                <a:cubicBezTo>
                  <a:pt x="5745394" y="113129"/>
                  <a:pt x="5725967" y="131090"/>
                  <a:pt x="5714327" y="156818"/>
                </a:cubicBezTo>
                <a:lnTo>
                  <a:pt x="5714327" y="113129"/>
                </a:lnTo>
                <a:lnTo>
                  <a:pt x="5656086" y="117984"/>
                </a:lnTo>
                <a:lnTo>
                  <a:pt x="5656086" y="130604"/>
                </a:lnTo>
                <a:cubicBezTo>
                  <a:pt x="5685206" y="130604"/>
                  <a:pt x="5688603" y="133517"/>
                  <a:pt x="5688603" y="153905"/>
                </a:cubicBezTo>
                <a:lnTo>
                  <a:pt x="5688603" y="264097"/>
                </a:lnTo>
                <a:cubicBezTo>
                  <a:pt x="5688603" y="283028"/>
                  <a:pt x="5683757" y="283028"/>
                  <a:pt x="5656086" y="283028"/>
                </a:cubicBezTo>
                <a:lnTo>
                  <a:pt x="5656086" y="295649"/>
                </a:lnTo>
                <a:lnTo>
                  <a:pt x="5702687" y="294193"/>
                </a:lnTo>
                <a:lnTo>
                  <a:pt x="5748791" y="295649"/>
                </a:lnTo>
                <a:lnTo>
                  <a:pt x="5748791" y="283028"/>
                </a:lnTo>
                <a:cubicBezTo>
                  <a:pt x="5721617" y="283028"/>
                  <a:pt x="5716771" y="283028"/>
                  <a:pt x="5716771" y="264097"/>
                </a:cubicBezTo>
                <a:lnTo>
                  <a:pt x="5716771" y="188371"/>
                </a:lnTo>
                <a:cubicBezTo>
                  <a:pt x="5716771" y="145653"/>
                  <a:pt x="5746388" y="122352"/>
                  <a:pt x="5772568" y="122352"/>
                </a:cubicBezTo>
                <a:cubicBezTo>
                  <a:pt x="5798292" y="122352"/>
                  <a:pt x="5803179" y="144682"/>
                  <a:pt x="5803179" y="167983"/>
                </a:cubicBezTo>
                <a:lnTo>
                  <a:pt x="5803179" y="264097"/>
                </a:lnTo>
                <a:cubicBezTo>
                  <a:pt x="5803179" y="283028"/>
                  <a:pt x="5798292" y="283028"/>
                  <a:pt x="5771118" y="283028"/>
                </a:cubicBezTo>
                <a:lnTo>
                  <a:pt x="5771118" y="295649"/>
                </a:lnTo>
                <a:lnTo>
                  <a:pt x="5817719" y="294193"/>
                </a:lnTo>
                <a:close/>
                <a:moveTo>
                  <a:pt x="6288242" y="259243"/>
                </a:moveTo>
                <a:cubicBezTo>
                  <a:pt x="6288242" y="256815"/>
                  <a:pt x="6288242" y="252447"/>
                  <a:pt x="6282899" y="252447"/>
                </a:cubicBezTo>
                <a:cubicBezTo>
                  <a:pt x="6278508" y="252447"/>
                  <a:pt x="6278508" y="255845"/>
                  <a:pt x="6278053" y="258757"/>
                </a:cubicBezTo>
                <a:cubicBezTo>
                  <a:pt x="6275609" y="288368"/>
                  <a:pt x="6261028" y="295649"/>
                  <a:pt x="6250838" y="295649"/>
                </a:cubicBezTo>
                <a:cubicBezTo>
                  <a:pt x="6230458" y="295649"/>
                  <a:pt x="6227061" y="274776"/>
                  <a:pt x="6221718" y="236427"/>
                </a:cubicBezTo>
                <a:lnTo>
                  <a:pt x="6215918" y="203419"/>
                </a:lnTo>
                <a:cubicBezTo>
                  <a:pt x="6208628" y="176720"/>
                  <a:pt x="6188703" y="163128"/>
                  <a:pt x="6165921" y="155361"/>
                </a:cubicBezTo>
                <a:cubicBezTo>
                  <a:pt x="6205687" y="145653"/>
                  <a:pt x="6238245" y="120411"/>
                  <a:pt x="6238245" y="87887"/>
                </a:cubicBezTo>
                <a:cubicBezTo>
                  <a:pt x="6238245" y="48567"/>
                  <a:pt x="6191147" y="13617"/>
                  <a:pt x="6130463" y="13617"/>
                </a:cubicBezTo>
                <a:lnTo>
                  <a:pt x="6000850" y="13617"/>
                </a:lnTo>
                <a:lnTo>
                  <a:pt x="6000850" y="26723"/>
                </a:lnTo>
                <a:lnTo>
                  <a:pt x="6010585" y="26723"/>
                </a:lnTo>
                <a:cubicBezTo>
                  <a:pt x="6042604" y="26723"/>
                  <a:pt x="6043101" y="31092"/>
                  <a:pt x="6043101" y="46140"/>
                </a:cubicBezTo>
                <a:lnTo>
                  <a:pt x="6043101" y="263611"/>
                </a:lnTo>
                <a:cubicBezTo>
                  <a:pt x="6043101" y="278174"/>
                  <a:pt x="6042604" y="283028"/>
                  <a:pt x="6010585" y="283028"/>
                </a:cubicBezTo>
                <a:lnTo>
                  <a:pt x="6000850" y="283028"/>
                </a:lnTo>
                <a:lnTo>
                  <a:pt x="6000850" y="295649"/>
                </a:lnTo>
                <a:cubicBezTo>
                  <a:pt x="6015431" y="294193"/>
                  <a:pt x="6045048" y="294193"/>
                  <a:pt x="6061037" y="294193"/>
                </a:cubicBezTo>
                <a:cubicBezTo>
                  <a:pt x="6077068" y="294193"/>
                  <a:pt x="6106189" y="294193"/>
                  <a:pt x="6121225" y="295649"/>
                </a:cubicBezTo>
                <a:lnTo>
                  <a:pt x="6121225" y="283028"/>
                </a:lnTo>
                <a:lnTo>
                  <a:pt x="6111532" y="283028"/>
                </a:lnTo>
                <a:cubicBezTo>
                  <a:pt x="6079512" y="283028"/>
                  <a:pt x="6078518" y="278174"/>
                  <a:pt x="6078518" y="263611"/>
                </a:cubicBezTo>
                <a:lnTo>
                  <a:pt x="6078518" y="159245"/>
                </a:lnTo>
                <a:lnTo>
                  <a:pt x="6126113" y="159245"/>
                </a:lnTo>
                <a:cubicBezTo>
                  <a:pt x="6132906" y="159245"/>
                  <a:pt x="6149890" y="159245"/>
                  <a:pt x="6164429" y="173322"/>
                </a:cubicBezTo>
                <a:cubicBezTo>
                  <a:pt x="6180460" y="187885"/>
                  <a:pt x="6180460" y="200506"/>
                  <a:pt x="6180460" y="228175"/>
                </a:cubicBezTo>
                <a:cubicBezTo>
                  <a:pt x="6180460" y="255359"/>
                  <a:pt x="6180460" y="271864"/>
                  <a:pt x="6196988" y="287397"/>
                </a:cubicBezTo>
                <a:cubicBezTo>
                  <a:pt x="6213971" y="302445"/>
                  <a:pt x="6236754" y="304873"/>
                  <a:pt x="6248891" y="304873"/>
                </a:cubicBezTo>
                <a:cubicBezTo>
                  <a:pt x="6281450" y="304873"/>
                  <a:pt x="6288242" y="270893"/>
                  <a:pt x="6288242" y="259243"/>
                </a:cubicBezTo>
                <a:close/>
                <a:moveTo>
                  <a:pt x="6195496" y="87887"/>
                </a:moveTo>
                <a:cubicBezTo>
                  <a:pt x="6195496" y="116527"/>
                  <a:pt x="6185804" y="150022"/>
                  <a:pt x="6124622" y="150022"/>
                </a:cubicBezTo>
                <a:lnTo>
                  <a:pt x="6078518" y="150022"/>
                </a:lnTo>
                <a:lnTo>
                  <a:pt x="6078518" y="43228"/>
                </a:lnTo>
                <a:cubicBezTo>
                  <a:pt x="6078518" y="33519"/>
                  <a:pt x="6078518" y="28665"/>
                  <a:pt x="6087755" y="27209"/>
                </a:cubicBezTo>
                <a:cubicBezTo>
                  <a:pt x="6092104" y="26723"/>
                  <a:pt x="6103786" y="26723"/>
                  <a:pt x="6112029" y="26723"/>
                </a:cubicBezTo>
                <a:cubicBezTo>
                  <a:pt x="6149393" y="26723"/>
                  <a:pt x="6195496" y="28180"/>
                  <a:pt x="6195496" y="87887"/>
                </a:cubicBezTo>
                <a:close/>
                <a:moveTo>
                  <a:pt x="6461764" y="246622"/>
                </a:moveTo>
                <a:cubicBezTo>
                  <a:pt x="6461764" y="242253"/>
                  <a:pt x="6458367" y="241767"/>
                  <a:pt x="6456420" y="241767"/>
                </a:cubicBezTo>
                <a:cubicBezTo>
                  <a:pt x="6452526" y="241767"/>
                  <a:pt x="6451574" y="244194"/>
                  <a:pt x="6451076" y="247592"/>
                </a:cubicBezTo>
                <a:cubicBezTo>
                  <a:pt x="6436537" y="289824"/>
                  <a:pt x="6399132" y="289824"/>
                  <a:pt x="6395280" y="289824"/>
                </a:cubicBezTo>
                <a:cubicBezTo>
                  <a:pt x="6374402" y="289824"/>
                  <a:pt x="6357875" y="277689"/>
                  <a:pt x="6348679" y="262155"/>
                </a:cubicBezTo>
                <a:cubicBezTo>
                  <a:pt x="6336045" y="242253"/>
                  <a:pt x="6336045" y="215069"/>
                  <a:pt x="6336045" y="200506"/>
                </a:cubicBezTo>
                <a:lnTo>
                  <a:pt x="6451574" y="200506"/>
                </a:lnTo>
                <a:cubicBezTo>
                  <a:pt x="6460314" y="200506"/>
                  <a:pt x="6461764" y="200506"/>
                  <a:pt x="6461764" y="191768"/>
                </a:cubicBezTo>
                <a:cubicBezTo>
                  <a:pt x="6461764" y="150992"/>
                  <a:pt x="6439437" y="110702"/>
                  <a:pt x="6387989" y="110702"/>
                </a:cubicBezTo>
                <a:cubicBezTo>
                  <a:pt x="6339938" y="110702"/>
                  <a:pt x="6302078" y="153420"/>
                  <a:pt x="6302078" y="204875"/>
                </a:cubicBezTo>
                <a:cubicBezTo>
                  <a:pt x="6302078" y="260213"/>
                  <a:pt x="6345283" y="300018"/>
                  <a:pt x="6392836" y="300018"/>
                </a:cubicBezTo>
                <a:cubicBezTo>
                  <a:pt x="6443330" y="300018"/>
                  <a:pt x="6461764" y="254388"/>
                  <a:pt x="6461764" y="246622"/>
                </a:cubicBezTo>
                <a:close/>
                <a:moveTo>
                  <a:pt x="6434590" y="191768"/>
                </a:moveTo>
                <a:lnTo>
                  <a:pt x="6336542" y="191768"/>
                </a:lnTo>
                <a:cubicBezTo>
                  <a:pt x="6338945" y="130119"/>
                  <a:pt x="6373906" y="119925"/>
                  <a:pt x="6387989" y="119925"/>
                </a:cubicBezTo>
                <a:cubicBezTo>
                  <a:pt x="6430199" y="119925"/>
                  <a:pt x="6434590" y="175749"/>
                  <a:pt x="6434590" y="191768"/>
                </a:cubicBezTo>
                <a:close/>
                <a:moveTo>
                  <a:pt x="6622195" y="242738"/>
                </a:moveTo>
                <a:cubicBezTo>
                  <a:pt x="6622195" y="220894"/>
                  <a:pt x="6610058" y="208758"/>
                  <a:pt x="6604714" y="203419"/>
                </a:cubicBezTo>
                <a:cubicBezTo>
                  <a:pt x="6591128" y="190312"/>
                  <a:pt x="6575097" y="186914"/>
                  <a:pt x="6557658" y="184002"/>
                </a:cubicBezTo>
                <a:cubicBezTo>
                  <a:pt x="6534834" y="179147"/>
                  <a:pt x="6507163" y="173807"/>
                  <a:pt x="6507163" y="150022"/>
                </a:cubicBezTo>
                <a:cubicBezTo>
                  <a:pt x="6507163" y="135459"/>
                  <a:pt x="6517850" y="118469"/>
                  <a:pt x="6553267" y="118469"/>
                </a:cubicBezTo>
                <a:cubicBezTo>
                  <a:pt x="6598915" y="118469"/>
                  <a:pt x="6600863" y="155847"/>
                  <a:pt x="6601815" y="168468"/>
                </a:cubicBezTo>
                <a:cubicBezTo>
                  <a:pt x="6601815" y="172351"/>
                  <a:pt x="6606662" y="172351"/>
                  <a:pt x="6606662" y="172351"/>
                </a:cubicBezTo>
                <a:cubicBezTo>
                  <a:pt x="6612005" y="172351"/>
                  <a:pt x="6612005" y="170410"/>
                  <a:pt x="6612005" y="162157"/>
                </a:cubicBezTo>
                <a:lnTo>
                  <a:pt x="6612005" y="120896"/>
                </a:lnTo>
                <a:cubicBezTo>
                  <a:pt x="6612005" y="113615"/>
                  <a:pt x="6612005" y="110702"/>
                  <a:pt x="6607159" y="110702"/>
                </a:cubicBezTo>
                <a:cubicBezTo>
                  <a:pt x="6605212" y="110702"/>
                  <a:pt x="6604259" y="110702"/>
                  <a:pt x="6598915" y="115556"/>
                </a:cubicBezTo>
                <a:cubicBezTo>
                  <a:pt x="6597922" y="117498"/>
                  <a:pt x="6593572" y="120896"/>
                  <a:pt x="6592122" y="122353"/>
                </a:cubicBezTo>
                <a:cubicBezTo>
                  <a:pt x="6576589" y="110702"/>
                  <a:pt x="6559563" y="110702"/>
                  <a:pt x="6553267" y="110702"/>
                </a:cubicBezTo>
                <a:cubicBezTo>
                  <a:pt x="6502772" y="110702"/>
                  <a:pt x="6487239" y="138371"/>
                  <a:pt x="6487239" y="161672"/>
                </a:cubicBezTo>
                <a:cubicBezTo>
                  <a:pt x="6487239" y="175749"/>
                  <a:pt x="6494032" y="187400"/>
                  <a:pt x="6505217" y="196622"/>
                </a:cubicBezTo>
                <a:cubicBezTo>
                  <a:pt x="6518306" y="207302"/>
                  <a:pt x="6529988" y="209729"/>
                  <a:pt x="6559563" y="215554"/>
                </a:cubicBezTo>
                <a:cubicBezTo>
                  <a:pt x="6568801" y="217010"/>
                  <a:pt x="6602312" y="223806"/>
                  <a:pt x="6602312" y="253418"/>
                </a:cubicBezTo>
                <a:cubicBezTo>
                  <a:pt x="6602312" y="274776"/>
                  <a:pt x="6587731" y="291281"/>
                  <a:pt x="6555711" y="291281"/>
                </a:cubicBezTo>
                <a:cubicBezTo>
                  <a:pt x="6521247" y="291281"/>
                  <a:pt x="6506169" y="267495"/>
                  <a:pt x="6498423" y="232544"/>
                </a:cubicBezTo>
                <a:cubicBezTo>
                  <a:pt x="6496973" y="227205"/>
                  <a:pt x="6496973" y="225263"/>
                  <a:pt x="6492583" y="225263"/>
                </a:cubicBezTo>
                <a:cubicBezTo>
                  <a:pt x="6487239" y="225263"/>
                  <a:pt x="6487239" y="228175"/>
                  <a:pt x="6487239" y="235942"/>
                </a:cubicBezTo>
                <a:lnTo>
                  <a:pt x="6487239" y="290310"/>
                </a:lnTo>
                <a:cubicBezTo>
                  <a:pt x="6487239" y="297106"/>
                  <a:pt x="6487239" y="300018"/>
                  <a:pt x="6491630" y="300018"/>
                </a:cubicBezTo>
                <a:cubicBezTo>
                  <a:pt x="6494032" y="300018"/>
                  <a:pt x="6494530" y="300018"/>
                  <a:pt x="6502317" y="291766"/>
                </a:cubicBezTo>
                <a:cubicBezTo>
                  <a:pt x="6502772" y="291281"/>
                  <a:pt x="6502772" y="290310"/>
                  <a:pt x="6510560" y="282543"/>
                </a:cubicBezTo>
                <a:cubicBezTo>
                  <a:pt x="6528496" y="300018"/>
                  <a:pt x="6546971" y="300018"/>
                  <a:pt x="6555711" y="300018"/>
                </a:cubicBezTo>
                <a:cubicBezTo>
                  <a:pt x="6603265" y="300018"/>
                  <a:pt x="6622195" y="272349"/>
                  <a:pt x="6622195" y="242738"/>
                </a:cubicBezTo>
                <a:close/>
                <a:moveTo>
                  <a:pt x="6857147" y="295649"/>
                </a:moveTo>
                <a:lnTo>
                  <a:pt x="6857147" y="283028"/>
                </a:lnTo>
                <a:cubicBezTo>
                  <a:pt x="6828026" y="283028"/>
                  <a:pt x="6824629" y="280116"/>
                  <a:pt x="6824629" y="259728"/>
                </a:cubicBezTo>
                <a:lnTo>
                  <a:pt x="6824629" y="113129"/>
                </a:lnTo>
                <a:lnTo>
                  <a:pt x="6764442" y="117984"/>
                </a:lnTo>
                <a:lnTo>
                  <a:pt x="6764442" y="130604"/>
                </a:lnTo>
                <a:cubicBezTo>
                  <a:pt x="6793065" y="130604"/>
                  <a:pt x="6796462" y="133517"/>
                  <a:pt x="6796462" y="153905"/>
                </a:cubicBezTo>
                <a:lnTo>
                  <a:pt x="6796462" y="227204"/>
                </a:lnTo>
                <a:cubicBezTo>
                  <a:pt x="6796462" y="263126"/>
                  <a:pt x="6776579" y="291281"/>
                  <a:pt x="6746464" y="291281"/>
                </a:cubicBezTo>
                <a:cubicBezTo>
                  <a:pt x="6712000" y="291281"/>
                  <a:pt x="6710054" y="271864"/>
                  <a:pt x="6710054" y="250020"/>
                </a:cubicBezTo>
                <a:lnTo>
                  <a:pt x="6710054" y="113129"/>
                </a:lnTo>
                <a:lnTo>
                  <a:pt x="6649368" y="117984"/>
                </a:lnTo>
                <a:lnTo>
                  <a:pt x="6649368" y="130604"/>
                </a:lnTo>
                <a:cubicBezTo>
                  <a:pt x="6681927" y="130604"/>
                  <a:pt x="6681927" y="132061"/>
                  <a:pt x="6681927" y="168468"/>
                </a:cubicBezTo>
                <a:lnTo>
                  <a:pt x="6681927" y="230603"/>
                </a:lnTo>
                <a:cubicBezTo>
                  <a:pt x="6681927" y="262641"/>
                  <a:pt x="6681927" y="300018"/>
                  <a:pt x="6744517" y="300018"/>
                </a:cubicBezTo>
                <a:cubicBezTo>
                  <a:pt x="6767342" y="300018"/>
                  <a:pt x="6785774" y="288854"/>
                  <a:pt x="6797456" y="263126"/>
                </a:cubicBezTo>
                <a:lnTo>
                  <a:pt x="6797456" y="300018"/>
                </a:lnTo>
                <a:close/>
                <a:moveTo>
                  <a:pt x="6971101" y="295649"/>
                </a:moveTo>
                <a:lnTo>
                  <a:pt x="6971101" y="283028"/>
                </a:lnTo>
                <a:cubicBezTo>
                  <a:pt x="6943430" y="283028"/>
                  <a:pt x="6938584" y="283028"/>
                  <a:pt x="6938584" y="264097"/>
                </a:cubicBezTo>
                <a:lnTo>
                  <a:pt x="6938584" y="9248"/>
                </a:lnTo>
                <a:lnTo>
                  <a:pt x="6879349" y="13617"/>
                </a:lnTo>
                <a:lnTo>
                  <a:pt x="6879349" y="26723"/>
                </a:lnTo>
                <a:cubicBezTo>
                  <a:pt x="6908470" y="26723"/>
                  <a:pt x="6911411" y="29636"/>
                  <a:pt x="6911411" y="49538"/>
                </a:cubicBezTo>
                <a:lnTo>
                  <a:pt x="6911411" y="264097"/>
                </a:lnTo>
                <a:cubicBezTo>
                  <a:pt x="6911411" y="283028"/>
                  <a:pt x="6907020" y="283028"/>
                  <a:pt x="6879349" y="283028"/>
                </a:cubicBezTo>
                <a:lnTo>
                  <a:pt x="6879349" y="295649"/>
                </a:lnTo>
                <a:lnTo>
                  <a:pt x="6924997" y="294193"/>
                </a:lnTo>
                <a:close/>
                <a:moveTo>
                  <a:pt x="7117324" y="244680"/>
                </a:moveTo>
                <a:lnTo>
                  <a:pt x="7117324" y="220894"/>
                </a:lnTo>
                <a:lnTo>
                  <a:pt x="7107135" y="220894"/>
                </a:lnTo>
                <a:lnTo>
                  <a:pt x="7107135" y="243709"/>
                </a:lnTo>
                <a:cubicBezTo>
                  <a:pt x="7107135" y="274291"/>
                  <a:pt x="7094500" y="289824"/>
                  <a:pt x="7079464" y="289824"/>
                </a:cubicBezTo>
                <a:cubicBezTo>
                  <a:pt x="7051794" y="289824"/>
                  <a:pt x="7051794" y="252447"/>
                  <a:pt x="7051794" y="245165"/>
                </a:cubicBezTo>
                <a:lnTo>
                  <a:pt x="7051794" y="130604"/>
                </a:lnTo>
                <a:lnTo>
                  <a:pt x="7111028" y="130604"/>
                </a:lnTo>
                <a:lnTo>
                  <a:pt x="7111028" y="117984"/>
                </a:lnTo>
                <a:lnTo>
                  <a:pt x="7051794" y="117984"/>
                </a:lnTo>
                <a:lnTo>
                  <a:pt x="7051794" y="41772"/>
                </a:lnTo>
                <a:lnTo>
                  <a:pt x="7041603" y="41772"/>
                </a:lnTo>
                <a:cubicBezTo>
                  <a:pt x="7041106" y="75751"/>
                  <a:pt x="7028513" y="119925"/>
                  <a:pt x="6988209" y="121382"/>
                </a:cubicBezTo>
                <a:lnTo>
                  <a:pt x="6988209" y="130604"/>
                </a:lnTo>
                <a:lnTo>
                  <a:pt x="7023170" y="130604"/>
                </a:lnTo>
                <a:lnTo>
                  <a:pt x="7023170" y="244680"/>
                </a:lnTo>
                <a:cubicBezTo>
                  <a:pt x="7023170" y="295164"/>
                  <a:pt x="7061527" y="300018"/>
                  <a:pt x="7076564" y="300018"/>
                </a:cubicBezTo>
                <a:cubicBezTo>
                  <a:pt x="7105685" y="300018"/>
                  <a:pt x="7117324" y="270893"/>
                  <a:pt x="7117324" y="244680"/>
                </a:cubicBezTo>
                <a:close/>
                <a:moveTo>
                  <a:pt x="7289520" y="242738"/>
                </a:moveTo>
                <a:cubicBezTo>
                  <a:pt x="7289520" y="220894"/>
                  <a:pt x="7277424" y="208758"/>
                  <a:pt x="7272081" y="203419"/>
                </a:cubicBezTo>
                <a:cubicBezTo>
                  <a:pt x="7258453" y="190312"/>
                  <a:pt x="7242464" y="186914"/>
                  <a:pt x="7224983" y="184002"/>
                </a:cubicBezTo>
                <a:cubicBezTo>
                  <a:pt x="7202159" y="179147"/>
                  <a:pt x="7174488" y="173807"/>
                  <a:pt x="7174488" y="150022"/>
                </a:cubicBezTo>
                <a:cubicBezTo>
                  <a:pt x="7174488" y="135459"/>
                  <a:pt x="7185175" y="118469"/>
                  <a:pt x="7220592" y="118469"/>
                </a:cubicBezTo>
                <a:cubicBezTo>
                  <a:pt x="7266240" y="118469"/>
                  <a:pt x="7268187" y="155847"/>
                  <a:pt x="7269140" y="168468"/>
                </a:cubicBezTo>
                <a:cubicBezTo>
                  <a:pt x="7269140" y="172351"/>
                  <a:pt x="7273987" y="172351"/>
                  <a:pt x="7273987" y="172351"/>
                </a:cubicBezTo>
                <a:cubicBezTo>
                  <a:pt x="7279330" y="172351"/>
                  <a:pt x="7279330" y="170410"/>
                  <a:pt x="7279330" y="162157"/>
                </a:cubicBezTo>
                <a:lnTo>
                  <a:pt x="7279330" y="120896"/>
                </a:lnTo>
                <a:cubicBezTo>
                  <a:pt x="7279330" y="113615"/>
                  <a:pt x="7279330" y="110702"/>
                  <a:pt x="7274483" y="110702"/>
                </a:cubicBezTo>
                <a:cubicBezTo>
                  <a:pt x="7272537" y="110702"/>
                  <a:pt x="7271584" y="110702"/>
                  <a:pt x="7266240" y="115556"/>
                </a:cubicBezTo>
                <a:cubicBezTo>
                  <a:pt x="7265287" y="117498"/>
                  <a:pt x="7260896" y="120896"/>
                  <a:pt x="7259447" y="122352"/>
                </a:cubicBezTo>
                <a:cubicBezTo>
                  <a:pt x="7243913" y="110702"/>
                  <a:pt x="7226930" y="110702"/>
                  <a:pt x="7220592" y="110702"/>
                </a:cubicBezTo>
                <a:cubicBezTo>
                  <a:pt x="7170139" y="110702"/>
                  <a:pt x="7154605" y="138371"/>
                  <a:pt x="7154605" y="161672"/>
                </a:cubicBezTo>
                <a:cubicBezTo>
                  <a:pt x="7154605" y="175749"/>
                  <a:pt x="7161399" y="187400"/>
                  <a:pt x="7172541" y="196622"/>
                </a:cubicBezTo>
                <a:cubicBezTo>
                  <a:pt x="7185673" y="207302"/>
                  <a:pt x="7197312" y="209729"/>
                  <a:pt x="7226930" y="215554"/>
                </a:cubicBezTo>
                <a:cubicBezTo>
                  <a:pt x="7236126" y="217010"/>
                  <a:pt x="7269637" y="223806"/>
                  <a:pt x="7269637" y="253418"/>
                </a:cubicBezTo>
                <a:cubicBezTo>
                  <a:pt x="7269637" y="274776"/>
                  <a:pt x="7255056" y="291281"/>
                  <a:pt x="7223036" y="291281"/>
                </a:cubicBezTo>
                <a:cubicBezTo>
                  <a:pt x="7188572" y="291281"/>
                  <a:pt x="7173536" y="267495"/>
                  <a:pt x="7165748" y="232544"/>
                </a:cubicBezTo>
                <a:cubicBezTo>
                  <a:pt x="7164298" y="227204"/>
                  <a:pt x="7164298" y="225263"/>
                  <a:pt x="7159949" y="225263"/>
                </a:cubicBezTo>
                <a:cubicBezTo>
                  <a:pt x="7154605" y="225263"/>
                  <a:pt x="7154605" y="228175"/>
                  <a:pt x="7154605" y="235942"/>
                </a:cubicBezTo>
                <a:lnTo>
                  <a:pt x="7154605" y="290310"/>
                </a:lnTo>
                <a:cubicBezTo>
                  <a:pt x="7154605" y="297106"/>
                  <a:pt x="7154605" y="300018"/>
                  <a:pt x="7158954" y="300018"/>
                </a:cubicBezTo>
                <a:cubicBezTo>
                  <a:pt x="7161399" y="300018"/>
                  <a:pt x="7161854" y="300018"/>
                  <a:pt x="7169641" y="291766"/>
                </a:cubicBezTo>
                <a:cubicBezTo>
                  <a:pt x="7170139" y="291281"/>
                  <a:pt x="7170139" y="290310"/>
                  <a:pt x="7177885" y="282543"/>
                </a:cubicBezTo>
                <a:cubicBezTo>
                  <a:pt x="7195863" y="300018"/>
                  <a:pt x="7214296" y="300018"/>
                  <a:pt x="7223036" y="300018"/>
                </a:cubicBezTo>
                <a:cubicBezTo>
                  <a:pt x="7270590" y="300018"/>
                  <a:pt x="7289520" y="272349"/>
                  <a:pt x="7289520" y="242738"/>
                </a:cubicBezTo>
                <a:close/>
                <a:moveTo>
                  <a:pt x="5092609" y="1014686"/>
                </a:moveTo>
                <a:cubicBezTo>
                  <a:pt x="5092609" y="978764"/>
                  <a:pt x="5059139" y="948181"/>
                  <a:pt x="5012994" y="943331"/>
                </a:cubicBezTo>
                <a:cubicBezTo>
                  <a:pt x="5053298" y="935075"/>
                  <a:pt x="5081466" y="908863"/>
                  <a:pt x="5081466" y="878280"/>
                </a:cubicBezTo>
                <a:cubicBezTo>
                  <a:pt x="5081466" y="842362"/>
                  <a:pt x="5043605" y="808379"/>
                  <a:pt x="4990211" y="808379"/>
                </a:cubicBezTo>
                <a:lnTo>
                  <a:pt x="4839224" y="808379"/>
                </a:lnTo>
                <a:lnTo>
                  <a:pt x="4839224" y="821489"/>
                </a:lnTo>
                <a:lnTo>
                  <a:pt x="4848959" y="821489"/>
                </a:lnTo>
                <a:cubicBezTo>
                  <a:pt x="4880482" y="821489"/>
                  <a:pt x="4881476" y="825855"/>
                  <a:pt x="4881476" y="840904"/>
                </a:cubicBezTo>
                <a:lnTo>
                  <a:pt x="4881476" y="1058375"/>
                </a:lnTo>
                <a:cubicBezTo>
                  <a:pt x="4881476" y="1072939"/>
                  <a:pt x="4880482" y="1077794"/>
                  <a:pt x="4848959" y="1077794"/>
                </a:cubicBezTo>
                <a:lnTo>
                  <a:pt x="4839224" y="1077794"/>
                </a:lnTo>
                <a:lnTo>
                  <a:pt x="4839224" y="1090412"/>
                </a:lnTo>
                <a:lnTo>
                  <a:pt x="5000898" y="1090412"/>
                </a:lnTo>
                <a:cubicBezTo>
                  <a:pt x="5055742" y="1090412"/>
                  <a:pt x="5092609" y="1053520"/>
                  <a:pt x="5092609" y="1014686"/>
                </a:cubicBezTo>
                <a:close/>
                <a:moveTo>
                  <a:pt x="5041658" y="878280"/>
                </a:moveTo>
                <a:cubicBezTo>
                  <a:pt x="5041658" y="904497"/>
                  <a:pt x="5021278" y="939445"/>
                  <a:pt x="4975630" y="939445"/>
                </a:cubicBezTo>
                <a:lnTo>
                  <a:pt x="4915940" y="939445"/>
                </a:lnTo>
                <a:lnTo>
                  <a:pt x="4915940" y="837992"/>
                </a:lnTo>
                <a:cubicBezTo>
                  <a:pt x="4915940" y="824401"/>
                  <a:pt x="4916395" y="821489"/>
                  <a:pt x="4935823" y="821489"/>
                </a:cubicBezTo>
                <a:lnTo>
                  <a:pt x="4987270" y="821489"/>
                </a:lnTo>
                <a:cubicBezTo>
                  <a:pt x="5027078" y="821489"/>
                  <a:pt x="5041658" y="856438"/>
                  <a:pt x="5041658" y="878280"/>
                </a:cubicBezTo>
                <a:close/>
                <a:moveTo>
                  <a:pt x="5051351" y="1014686"/>
                </a:moveTo>
                <a:cubicBezTo>
                  <a:pt x="5051351" y="1043811"/>
                  <a:pt x="5030019" y="1077794"/>
                  <a:pt x="4987767" y="1077794"/>
                </a:cubicBezTo>
                <a:lnTo>
                  <a:pt x="4935823" y="1077794"/>
                </a:lnTo>
                <a:cubicBezTo>
                  <a:pt x="4916395" y="1077794"/>
                  <a:pt x="4915940" y="1074878"/>
                  <a:pt x="4915940" y="1061287"/>
                </a:cubicBezTo>
                <a:lnTo>
                  <a:pt x="4915940" y="948670"/>
                </a:lnTo>
                <a:lnTo>
                  <a:pt x="4993608" y="948670"/>
                </a:lnTo>
                <a:cubicBezTo>
                  <a:pt x="5034368" y="948670"/>
                  <a:pt x="5051351" y="987015"/>
                  <a:pt x="5051351" y="1014686"/>
                </a:cubicBezTo>
                <a:close/>
                <a:moveTo>
                  <a:pt x="5287752" y="1041383"/>
                </a:moveTo>
                <a:cubicBezTo>
                  <a:pt x="5287752" y="1037017"/>
                  <a:pt x="5284356" y="1036533"/>
                  <a:pt x="5282409" y="1036533"/>
                </a:cubicBezTo>
                <a:cubicBezTo>
                  <a:pt x="5278557" y="1036533"/>
                  <a:pt x="5277563" y="1038960"/>
                  <a:pt x="5277065" y="1042357"/>
                </a:cubicBezTo>
                <a:cubicBezTo>
                  <a:pt x="5262526" y="1084587"/>
                  <a:pt x="5225162" y="1084587"/>
                  <a:pt x="5221269" y="1084587"/>
                </a:cubicBezTo>
                <a:cubicBezTo>
                  <a:pt x="5200391" y="1084587"/>
                  <a:pt x="5183864" y="1072450"/>
                  <a:pt x="5174668" y="1056917"/>
                </a:cubicBezTo>
                <a:cubicBezTo>
                  <a:pt x="5162034" y="1037017"/>
                  <a:pt x="5162034" y="1009831"/>
                  <a:pt x="5162034" y="995271"/>
                </a:cubicBezTo>
                <a:lnTo>
                  <a:pt x="5277563" y="995271"/>
                </a:lnTo>
                <a:cubicBezTo>
                  <a:pt x="5286303" y="995271"/>
                  <a:pt x="5287752" y="995271"/>
                  <a:pt x="5287752" y="986531"/>
                </a:cubicBezTo>
                <a:cubicBezTo>
                  <a:pt x="5287752" y="945758"/>
                  <a:pt x="5265426" y="905466"/>
                  <a:pt x="5213978" y="905466"/>
                </a:cubicBezTo>
                <a:cubicBezTo>
                  <a:pt x="5165928" y="905466"/>
                  <a:pt x="5128067" y="948181"/>
                  <a:pt x="5128067" y="999637"/>
                </a:cubicBezTo>
                <a:cubicBezTo>
                  <a:pt x="5128067" y="1054978"/>
                  <a:pt x="5171271" y="1094782"/>
                  <a:pt x="5218825" y="1094782"/>
                </a:cubicBezTo>
                <a:cubicBezTo>
                  <a:pt x="5269319" y="1094782"/>
                  <a:pt x="5287752" y="1049150"/>
                  <a:pt x="5287752" y="1041383"/>
                </a:cubicBezTo>
                <a:close/>
                <a:moveTo>
                  <a:pt x="5260579" y="986531"/>
                </a:moveTo>
                <a:lnTo>
                  <a:pt x="5162531" y="986531"/>
                </a:lnTo>
                <a:cubicBezTo>
                  <a:pt x="5164933" y="924881"/>
                  <a:pt x="5199894" y="914691"/>
                  <a:pt x="5213978" y="914691"/>
                </a:cubicBezTo>
                <a:cubicBezTo>
                  <a:pt x="5256230" y="914691"/>
                  <a:pt x="5260579" y="970513"/>
                  <a:pt x="5260579" y="986531"/>
                </a:cubicBezTo>
                <a:close/>
                <a:moveTo>
                  <a:pt x="5446734" y="828283"/>
                </a:moveTo>
                <a:cubicBezTo>
                  <a:pt x="5446734" y="813234"/>
                  <a:pt x="5431698" y="799643"/>
                  <a:pt x="5409868" y="799643"/>
                </a:cubicBezTo>
                <a:cubicBezTo>
                  <a:pt x="5380706" y="799643"/>
                  <a:pt x="5345786" y="821489"/>
                  <a:pt x="5345786" y="865174"/>
                </a:cubicBezTo>
                <a:lnTo>
                  <a:pt x="5345786" y="912748"/>
                </a:lnTo>
                <a:lnTo>
                  <a:pt x="5313269" y="912748"/>
                </a:lnTo>
                <a:lnTo>
                  <a:pt x="5313269" y="925370"/>
                </a:lnTo>
                <a:lnTo>
                  <a:pt x="5345786" y="925370"/>
                </a:lnTo>
                <a:lnTo>
                  <a:pt x="5345786" y="1058860"/>
                </a:lnTo>
                <a:cubicBezTo>
                  <a:pt x="5345786" y="1077794"/>
                  <a:pt x="5341396" y="1077794"/>
                  <a:pt x="5313725" y="1077794"/>
                </a:cubicBezTo>
                <a:lnTo>
                  <a:pt x="5313725" y="1090412"/>
                </a:lnTo>
                <a:lnTo>
                  <a:pt x="5360823" y="1088958"/>
                </a:lnTo>
                <a:cubicBezTo>
                  <a:pt x="5377309" y="1088958"/>
                  <a:pt x="5396737" y="1088958"/>
                  <a:pt x="5413265" y="1090412"/>
                </a:cubicBezTo>
                <a:lnTo>
                  <a:pt x="5413265" y="1077794"/>
                </a:lnTo>
                <a:lnTo>
                  <a:pt x="5404524" y="1077794"/>
                </a:lnTo>
                <a:cubicBezTo>
                  <a:pt x="5373912" y="1077794"/>
                  <a:pt x="5372960" y="1072939"/>
                  <a:pt x="5372960" y="1058375"/>
                </a:cubicBezTo>
                <a:lnTo>
                  <a:pt x="5372960" y="925370"/>
                </a:lnTo>
                <a:lnTo>
                  <a:pt x="5420057" y="925370"/>
                </a:lnTo>
                <a:lnTo>
                  <a:pt x="5420057" y="912748"/>
                </a:lnTo>
                <a:lnTo>
                  <a:pt x="5372007" y="912748"/>
                </a:lnTo>
                <a:lnTo>
                  <a:pt x="5372007" y="864689"/>
                </a:lnTo>
                <a:cubicBezTo>
                  <a:pt x="5372007" y="828283"/>
                  <a:pt x="5391890" y="808379"/>
                  <a:pt x="5409868" y="808379"/>
                </a:cubicBezTo>
                <a:cubicBezTo>
                  <a:pt x="5411317" y="808379"/>
                  <a:pt x="5417116" y="808379"/>
                  <a:pt x="5423454" y="811295"/>
                </a:cubicBezTo>
                <a:cubicBezTo>
                  <a:pt x="5418608" y="813234"/>
                  <a:pt x="5411317" y="818573"/>
                  <a:pt x="5411317" y="828767"/>
                </a:cubicBezTo>
                <a:cubicBezTo>
                  <a:pt x="5411317" y="838477"/>
                  <a:pt x="5417614" y="846728"/>
                  <a:pt x="5428798" y="846728"/>
                </a:cubicBezTo>
                <a:cubicBezTo>
                  <a:pt x="5440935" y="846728"/>
                  <a:pt x="5446734" y="838477"/>
                  <a:pt x="5446734" y="828283"/>
                </a:cubicBezTo>
                <a:close/>
                <a:moveTo>
                  <a:pt x="5620048" y="1002064"/>
                </a:moveTo>
                <a:cubicBezTo>
                  <a:pt x="5620048" y="949155"/>
                  <a:pt x="5578791" y="905466"/>
                  <a:pt x="5529249" y="905466"/>
                </a:cubicBezTo>
                <a:cubicBezTo>
                  <a:pt x="5477304" y="905466"/>
                  <a:pt x="5437539" y="950609"/>
                  <a:pt x="5437539" y="1002064"/>
                </a:cubicBezTo>
                <a:cubicBezTo>
                  <a:pt x="5437539" y="1055463"/>
                  <a:pt x="5480245" y="1094782"/>
                  <a:pt x="5528793" y="1094782"/>
                </a:cubicBezTo>
                <a:cubicBezTo>
                  <a:pt x="5578791" y="1094782"/>
                  <a:pt x="5620048" y="1054494"/>
                  <a:pt x="5620048" y="1002064"/>
                </a:cubicBezTo>
                <a:close/>
                <a:moveTo>
                  <a:pt x="5586040" y="998668"/>
                </a:moveTo>
                <a:cubicBezTo>
                  <a:pt x="5586040" y="1013717"/>
                  <a:pt x="5586040" y="1036044"/>
                  <a:pt x="5576844" y="1054005"/>
                </a:cubicBezTo>
                <a:cubicBezTo>
                  <a:pt x="5567607" y="1072455"/>
                  <a:pt x="5549671" y="1084587"/>
                  <a:pt x="5529249" y="1084587"/>
                </a:cubicBezTo>
                <a:cubicBezTo>
                  <a:pt x="5511313" y="1084587"/>
                  <a:pt x="5493335" y="1075851"/>
                  <a:pt x="5482192" y="1056921"/>
                </a:cubicBezTo>
                <a:cubicBezTo>
                  <a:pt x="5471505" y="1038960"/>
                  <a:pt x="5471505" y="1013717"/>
                  <a:pt x="5471505" y="998668"/>
                </a:cubicBezTo>
                <a:cubicBezTo>
                  <a:pt x="5471505" y="982649"/>
                  <a:pt x="5471505" y="960318"/>
                  <a:pt x="5481695" y="942357"/>
                </a:cubicBezTo>
                <a:cubicBezTo>
                  <a:pt x="5492838" y="923427"/>
                  <a:pt x="5512266" y="914691"/>
                  <a:pt x="5528793" y="914691"/>
                </a:cubicBezTo>
                <a:cubicBezTo>
                  <a:pt x="5546730" y="914691"/>
                  <a:pt x="5564707" y="923912"/>
                  <a:pt x="5575394" y="941388"/>
                </a:cubicBezTo>
                <a:cubicBezTo>
                  <a:pt x="5586040" y="959349"/>
                  <a:pt x="5586040" y="983134"/>
                  <a:pt x="5586040" y="998668"/>
                </a:cubicBezTo>
                <a:close/>
                <a:moveTo>
                  <a:pt x="5782302" y="933137"/>
                </a:moveTo>
                <a:cubicBezTo>
                  <a:pt x="5782302" y="920030"/>
                  <a:pt x="5769668" y="907893"/>
                  <a:pt x="5752187" y="907893"/>
                </a:cubicBezTo>
                <a:cubicBezTo>
                  <a:pt x="5721617" y="907893"/>
                  <a:pt x="5707037" y="935564"/>
                  <a:pt x="5701237" y="953525"/>
                </a:cubicBezTo>
                <a:lnTo>
                  <a:pt x="5701237" y="907893"/>
                </a:lnTo>
                <a:lnTo>
                  <a:pt x="5643949" y="912748"/>
                </a:lnTo>
                <a:lnTo>
                  <a:pt x="5643949" y="925370"/>
                </a:lnTo>
                <a:cubicBezTo>
                  <a:pt x="5672573" y="925370"/>
                  <a:pt x="5675969" y="928282"/>
                  <a:pt x="5675969" y="948670"/>
                </a:cubicBezTo>
                <a:lnTo>
                  <a:pt x="5675969" y="1058860"/>
                </a:lnTo>
                <a:cubicBezTo>
                  <a:pt x="5675969" y="1077794"/>
                  <a:pt x="5671620" y="1077794"/>
                  <a:pt x="5643949" y="1077794"/>
                </a:cubicBezTo>
                <a:lnTo>
                  <a:pt x="5643949" y="1090412"/>
                </a:lnTo>
                <a:lnTo>
                  <a:pt x="5691047" y="1088958"/>
                </a:lnTo>
                <a:cubicBezTo>
                  <a:pt x="5707533" y="1088958"/>
                  <a:pt x="5726961" y="1088958"/>
                  <a:pt x="5743447" y="1090412"/>
                </a:cubicBezTo>
                <a:lnTo>
                  <a:pt x="5743447" y="1077794"/>
                </a:lnTo>
                <a:lnTo>
                  <a:pt x="5734707" y="1077794"/>
                </a:lnTo>
                <a:cubicBezTo>
                  <a:pt x="5704137" y="1077794"/>
                  <a:pt x="5703184" y="1072939"/>
                  <a:pt x="5703184" y="1058375"/>
                </a:cubicBezTo>
                <a:lnTo>
                  <a:pt x="5703184" y="994786"/>
                </a:lnTo>
                <a:cubicBezTo>
                  <a:pt x="5703184" y="954010"/>
                  <a:pt x="5720623" y="917114"/>
                  <a:pt x="5752187" y="917114"/>
                </a:cubicBezTo>
                <a:cubicBezTo>
                  <a:pt x="5754632" y="917114"/>
                  <a:pt x="5755584" y="917114"/>
                  <a:pt x="5756578" y="917603"/>
                </a:cubicBezTo>
                <a:cubicBezTo>
                  <a:pt x="5755087" y="918088"/>
                  <a:pt x="5746844" y="922942"/>
                  <a:pt x="5746844" y="933621"/>
                </a:cubicBezTo>
                <a:cubicBezTo>
                  <a:pt x="5746844" y="945269"/>
                  <a:pt x="5755584" y="951582"/>
                  <a:pt x="5764822" y="951582"/>
                </a:cubicBezTo>
                <a:cubicBezTo>
                  <a:pt x="5772112" y="951582"/>
                  <a:pt x="5782302" y="946243"/>
                  <a:pt x="5782302" y="933137"/>
                </a:cubicBezTo>
                <a:close/>
                <a:moveTo>
                  <a:pt x="5965433" y="1041387"/>
                </a:moveTo>
                <a:cubicBezTo>
                  <a:pt x="5965433" y="1037017"/>
                  <a:pt x="5962036" y="1036533"/>
                  <a:pt x="5960089" y="1036533"/>
                </a:cubicBezTo>
                <a:cubicBezTo>
                  <a:pt x="5956196" y="1036533"/>
                  <a:pt x="5955243" y="1038960"/>
                  <a:pt x="5954746" y="1042357"/>
                </a:cubicBezTo>
                <a:cubicBezTo>
                  <a:pt x="5940165" y="1084587"/>
                  <a:pt x="5902802" y="1084587"/>
                  <a:pt x="5898908" y="1084587"/>
                </a:cubicBezTo>
                <a:cubicBezTo>
                  <a:pt x="5878030" y="1084587"/>
                  <a:pt x="5861544" y="1072455"/>
                  <a:pt x="5852307" y="1056921"/>
                </a:cubicBezTo>
                <a:cubicBezTo>
                  <a:pt x="5839715" y="1037017"/>
                  <a:pt x="5839715" y="1009831"/>
                  <a:pt x="5839715" y="995271"/>
                </a:cubicBezTo>
                <a:lnTo>
                  <a:pt x="5955243" y="995271"/>
                </a:lnTo>
                <a:cubicBezTo>
                  <a:pt x="5963984" y="995271"/>
                  <a:pt x="5965433" y="995271"/>
                  <a:pt x="5965433" y="986531"/>
                </a:cubicBezTo>
                <a:cubicBezTo>
                  <a:pt x="5965433" y="945758"/>
                  <a:pt x="5943106" y="905466"/>
                  <a:pt x="5891617" y="905466"/>
                </a:cubicBezTo>
                <a:cubicBezTo>
                  <a:pt x="5843566" y="905466"/>
                  <a:pt x="5805706" y="948181"/>
                  <a:pt x="5805706" y="999637"/>
                </a:cubicBezTo>
                <a:cubicBezTo>
                  <a:pt x="5805706" y="1054978"/>
                  <a:pt x="5848910" y="1094782"/>
                  <a:pt x="5896505" y="1094782"/>
                </a:cubicBezTo>
                <a:cubicBezTo>
                  <a:pt x="5946958" y="1094782"/>
                  <a:pt x="5965433" y="1049154"/>
                  <a:pt x="5965433" y="1041387"/>
                </a:cubicBezTo>
                <a:close/>
                <a:moveTo>
                  <a:pt x="5938218" y="986531"/>
                </a:moveTo>
                <a:lnTo>
                  <a:pt x="5840170" y="986531"/>
                </a:lnTo>
                <a:cubicBezTo>
                  <a:pt x="5842614" y="924881"/>
                  <a:pt x="5877575" y="914691"/>
                  <a:pt x="5891617" y="914691"/>
                </a:cubicBezTo>
                <a:cubicBezTo>
                  <a:pt x="5933869" y="914691"/>
                  <a:pt x="5938218" y="970513"/>
                  <a:pt x="5938218" y="986531"/>
                </a:cubicBezTo>
                <a:close/>
                <a:moveTo>
                  <a:pt x="6091400" y="1013232"/>
                </a:moveTo>
                <a:lnTo>
                  <a:pt x="6091400" y="989443"/>
                </a:lnTo>
                <a:lnTo>
                  <a:pt x="5981671" y="989443"/>
                </a:lnTo>
                <a:lnTo>
                  <a:pt x="5981671" y="1013232"/>
                </a:lnTo>
                <a:close/>
                <a:moveTo>
                  <a:pt x="6410316" y="1090412"/>
                </a:moveTo>
                <a:lnTo>
                  <a:pt x="6410316" y="1077794"/>
                </a:lnTo>
                <a:lnTo>
                  <a:pt x="6403026" y="1077794"/>
                </a:lnTo>
                <a:cubicBezTo>
                  <a:pt x="6378255" y="1077794"/>
                  <a:pt x="6372456" y="1074878"/>
                  <a:pt x="6368065" y="1061287"/>
                </a:cubicBezTo>
                <a:lnTo>
                  <a:pt x="6278757" y="803039"/>
                </a:lnTo>
                <a:cubicBezTo>
                  <a:pt x="6276810" y="797700"/>
                  <a:pt x="6275857" y="794788"/>
                  <a:pt x="6269519" y="794788"/>
                </a:cubicBezTo>
                <a:cubicBezTo>
                  <a:pt x="6262726" y="794788"/>
                  <a:pt x="6261774" y="797215"/>
                  <a:pt x="6259329" y="803039"/>
                </a:cubicBezTo>
                <a:lnTo>
                  <a:pt x="6173915" y="1050123"/>
                </a:lnTo>
                <a:cubicBezTo>
                  <a:pt x="6166625" y="1070997"/>
                  <a:pt x="6150138" y="1077305"/>
                  <a:pt x="6127812" y="1077794"/>
                </a:cubicBezTo>
                <a:lnTo>
                  <a:pt x="6127812" y="1090412"/>
                </a:lnTo>
                <a:lnTo>
                  <a:pt x="6170022" y="1088958"/>
                </a:lnTo>
                <a:lnTo>
                  <a:pt x="6217617" y="1090412"/>
                </a:lnTo>
                <a:lnTo>
                  <a:pt x="6217617" y="1077794"/>
                </a:lnTo>
                <a:cubicBezTo>
                  <a:pt x="6196739" y="1077794"/>
                  <a:pt x="6186550" y="1067111"/>
                  <a:pt x="6186550" y="1056432"/>
                </a:cubicBezTo>
                <a:cubicBezTo>
                  <a:pt x="6186550" y="1055463"/>
                  <a:pt x="6187005" y="1051093"/>
                  <a:pt x="6187502" y="1050608"/>
                </a:cubicBezTo>
                <a:lnTo>
                  <a:pt x="6206432" y="996240"/>
                </a:lnTo>
                <a:lnTo>
                  <a:pt x="6308374" y="996240"/>
                </a:lnTo>
                <a:lnTo>
                  <a:pt x="6330204" y="1059344"/>
                </a:lnTo>
                <a:cubicBezTo>
                  <a:pt x="6330701" y="1061287"/>
                  <a:pt x="6331198" y="1063714"/>
                  <a:pt x="6331198" y="1065172"/>
                </a:cubicBezTo>
                <a:cubicBezTo>
                  <a:pt x="6331198" y="1077794"/>
                  <a:pt x="6308374" y="1077794"/>
                  <a:pt x="6297190" y="1077794"/>
                </a:cubicBezTo>
                <a:lnTo>
                  <a:pt x="6297190" y="1090412"/>
                </a:lnTo>
                <a:cubicBezTo>
                  <a:pt x="6311771" y="1088958"/>
                  <a:pt x="6340892" y="1088958"/>
                  <a:pt x="6356425" y="1088958"/>
                </a:cubicBezTo>
                <a:close/>
                <a:moveTo>
                  <a:pt x="6303528" y="983619"/>
                </a:moveTo>
                <a:lnTo>
                  <a:pt x="6210823" y="983619"/>
                </a:lnTo>
                <a:lnTo>
                  <a:pt x="6256927" y="849640"/>
                </a:lnTo>
                <a:close/>
                <a:moveTo>
                  <a:pt x="6571245" y="828283"/>
                </a:moveTo>
                <a:cubicBezTo>
                  <a:pt x="6571245" y="813234"/>
                  <a:pt x="6556167" y="799643"/>
                  <a:pt x="6534337" y="799643"/>
                </a:cubicBezTo>
                <a:cubicBezTo>
                  <a:pt x="6505217" y="799643"/>
                  <a:pt x="6470256" y="821489"/>
                  <a:pt x="6470256" y="865174"/>
                </a:cubicBezTo>
                <a:lnTo>
                  <a:pt x="6470256" y="912748"/>
                </a:lnTo>
                <a:lnTo>
                  <a:pt x="6437739" y="912748"/>
                </a:lnTo>
                <a:lnTo>
                  <a:pt x="6437739" y="925370"/>
                </a:lnTo>
                <a:lnTo>
                  <a:pt x="6470256" y="925370"/>
                </a:lnTo>
                <a:lnTo>
                  <a:pt x="6470256" y="1058860"/>
                </a:lnTo>
                <a:cubicBezTo>
                  <a:pt x="6470256" y="1077794"/>
                  <a:pt x="6465906" y="1077794"/>
                  <a:pt x="6438235" y="1077794"/>
                </a:cubicBezTo>
                <a:lnTo>
                  <a:pt x="6438235" y="1090412"/>
                </a:lnTo>
                <a:lnTo>
                  <a:pt x="6485292" y="1088958"/>
                </a:lnTo>
                <a:cubicBezTo>
                  <a:pt x="6501820" y="1088958"/>
                  <a:pt x="6521247" y="1088958"/>
                  <a:pt x="6537734" y="1090412"/>
                </a:cubicBezTo>
                <a:lnTo>
                  <a:pt x="6537734" y="1077794"/>
                </a:lnTo>
                <a:lnTo>
                  <a:pt x="6528994" y="1077794"/>
                </a:lnTo>
                <a:cubicBezTo>
                  <a:pt x="6498423" y="1077794"/>
                  <a:pt x="6497429" y="1072939"/>
                  <a:pt x="6497429" y="1058375"/>
                </a:cubicBezTo>
                <a:lnTo>
                  <a:pt x="6497429" y="925370"/>
                </a:lnTo>
                <a:lnTo>
                  <a:pt x="6544527" y="925370"/>
                </a:lnTo>
                <a:lnTo>
                  <a:pt x="6544527" y="912748"/>
                </a:lnTo>
                <a:lnTo>
                  <a:pt x="6496476" y="912748"/>
                </a:lnTo>
                <a:lnTo>
                  <a:pt x="6496476" y="864689"/>
                </a:lnTo>
                <a:cubicBezTo>
                  <a:pt x="6496476" y="828283"/>
                  <a:pt x="6516359" y="808379"/>
                  <a:pt x="6534337" y="808379"/>
                </a:cubicBezTo>
                <a:cubicBezTo>
                  <a:pt x="6535787" y="808379"/>
                  <a:pt x="6541627" y="808379"/>
                  <a:pt x="6547924" y="811295"/>
                </a:cubicBezTo>
                <a:cubicBezTo>
                  <a:pt x="6543077" y="813234"/>
                  <a:pt x="6535787" y="818573"/>
                  <a:pt x="6535787" y="828767"/>
                </a:cubicBezTo>
                <a:cubicBezTo>
                  <a:pt x="6535787" y="838477"/>
                  <a:pt x="6542125" y="846728"/>
                  <a:pt x="6553267" y="846728"/>
                </a:cubicBezTo>
                <a:cubicBezTo>
                  <a:pt x="6565404" y="846728"/>
                  <a:pt x="6571245" y="838477"/>
                  <a:pt x="6571245" y="828283"/>
                </a:cubicBezTo>
                <a:close/>
                <a:moveTo>
                  <a:pt x="6687354" y="1039445"/>
                </a:moveTo>
                <a:lnTo>
                  <a:pt x="6687354" y="1015660"/>
                </a:lnTo>
                <a:lnTo>
                  <a:pt x="6677164" y="1015660"/>
                </a:lnTo>
                <a:lnTo>
                  <a:pt x="6677164" y="1038471"/>
                </a:lnTo>
                <a:cubicBezTo>
                  <a:pt x="6677164" y="1069054"/>
                  <a:pt x="6664571" y="1084587"/>
                  <a:pt x="6649493" y="1084587"/>
                </a:cubicBezTo>
                <a:cubicBezTo>
                  <a:pt x="6621822" y="1084587"/>
                  <a:pt x="6621822" y="1047211"/>
                  <a:pt x="6621822" y="1039929"/>
                </a:cubicBezTo>
                <a:lnTo>
                  <a:pt x="6621822" y="925370"/>
                </a:lnTo>
                <a:lnTo>
                  <a:pt x="6681057" y="925370"/>
                </a:lnTo>
                <a:lnTo>
                  <a:pt x="6681057" y="912748"/>
                </a:lnTo>
                <a:lnTo>
                  <a:pt x="6621822" y="912748"/>
                </a:lnTo>
                <a:lnTo>
                  <a:pt x="6621822" y="836534"/>
                </a:lnTo>
                <a:lnTo>
                  <a:pt x="6611632" y="836534"/>
                </a:lnTo>
                <a:cubicBezTo>
                  <a:pt x="6611177" y="870513"/>
                  <a:pt x="6598543" y="914691"/>
                  <a:pt x="6558238" y="916145"/>
                </a:cubicBezTo>
                <a:lnTo>
                  <a:pt x="6558238" y="925370"/>
                </a:lnTo>
                <a:lnTo>
                  <a:pt x="6593199" y="925370"/>
                </a:lnTo>
                <a:lnTo>
                  <a:pt x="6593199" y="1039445"/>
                </a:lnTo>
                <a:cubicBezTo>
                  <a:pt x="6593199" y="1089927"/>
                  <a:pt x="6631557" y="1094782"/>
                  <a:pt x="6646593" y="1094782"/>
                </a:cubicBezTo>
                <a:cubicBezTo>
                  <a:pt x="6675714" y="1094782"/>
                  <a:pt x="6687354" y="1065657"/>
                  <a:pt x="6687354" y="1039445"/>
                </a:cubicBezTo>
                <a:close/>
                <a:moveTo>
                  <a:pt x="6882373" y="1041383"/>
                </a:moveTo>
                <a:cubicBezTo>
                  <a:pt x="6882373" y="1037017"/>
                  <a:pt x="6878976" y="1036533"/>
                  <a:pt x="6877029" y="1036533"/>
                </a:cubicBezTo>
                <a:cubicBezTo>
                  <a:pt x="6873177" y="1036533"/>
                  <a:pt x="6872183" y="1038956"/>
                  <a:pt x="6871728" y="1042357"/>
                </a:cubicBezTo>
                <a:cubicBezTo>
                  <a:pt x="6857147" y="1084587"/>
                  <a:pt x="6819783" y="1084587"/>
                  <a:pt x="6815889" y="1084587"/>
                </a:cubicBezTo>
                <a:cubicBezTo>
                  <a:pt x="6795012" y="1084587"/>
                  <a:pt x="6778526" y="1072450"/>
                  <a:pt x="6769288" y="1056917"/>
                </a:cubicBezTo>
                <a:cubicBezTo>
                  <a:pt x="6756655" y="1037017"/>
                  <a:pt x="6756655" y="1009831"/>
                  <a:pt x="6756655" y="995271"/>
                </a:cubicBezTo>
                <a:lnTo>
                  <a:pt x="6872183" y="995271"/>
                </a:lnTo>
                <a:cubicBezTo>
                  <a:pt x="6880924" y="995271"/>
                  <a:pt x="6882373" y="995271"/>
                  <a:pt x="6882373" y="986531"/>
                </a:cubicBezTo>
                <a:cubicBezTo>
                  <a:pt x="6882373" y="945758"/>
                  <a:pt x="6860046" y="905466"/>
                  <a:pt x="6808599" y="905466"/>
                </a:cubicBezTo>
                <a:cubicBezTo>
                  <a:pt x="6760548" y="905466"/>
                  <a:pt x="6722687" y="948181"/>
                  <a:pt x="6722687" y="999637"/>
                </a:cubicBezTo>
                <a:cubicBezTo>
                  <a:pt x="6722687" y="1054978"/>
                  <a:pt x="6765892" y="1094782"/>
                  <a:pt x="6813445" y="1094782"/>
                </a:cubicBezTo>
                <a:cubicBezTo>
                  <a:pt x="6863940" y="1094782"/>
                  <a:pt x="6882373" y="1049150"/>
                  <a:pt x="6882373" y="1041383"/>
                </a:cubicBezTo>
                <a:close/>
                <a:moveTo>
                  <a:pt x="6855200" y="986531"/>
                </a:moveTo>
                <a:lnTo>
                  <a:pt x="6757151" y="986531"/>
                </a:lnTo>
                <a:cubicBezTo>
                  <a:pt x="6759596" y="924881"/>
                  <a:pt x="6794515" y="914691"/>
                  <a:pt x="6808599" y="914691"/>
                </a:cubicBezTo>
                <a:cubicBezTo>
                  <a:pt x="6850850" y="914691"/>
                  <a:pt x="6855200" y="970513"/>
                  <a:pt x="6855200" y="986531"/>
                </a:cubicBezTo>
                <a:close/>
                <a:moveTo>
                  <a:pt x="7044296" y="933137"/>
                </a:moveTo>
                <a:cubicBezTo>
                  <a:pt x="7044296" y="920030"/>
                  <a:pt x="7031662" y="907893"/>
                  <a:pt x="7014181" y="907893"/>
                </a:cubicBezTo>
                <a:cubicBezTo>
                  <a:pt x="6983611" y="907893"/>
                  <a:pt x="6969030" y="935564"/>
                  <a:pt x="6963231" y="953525"/>
                </a:cubicBezTo>
                <a:lnTo>
                  <a:pt x="6963231" y="907893"/>
                </a:lnTo>
                <a:lnTo>
                  <a:pt x="6905943" y="912748"/>
                </a:lnTo>
                <a:lnTo>
                  <a:pt x="6905943" y="925370"/>
                </a:lnTo>
                <a:cubicBezTo>
                  <a:pt x="6934566" y="925370"/>
                  <a:pt x="6937963" y="928282"/>
                  <a:pt x="6937963" y="948670"/>
                </a:cubicBezTo>
                <a:lnTo>
                  <a:pt x="6937963" y="1058860"/>
                </a:lnTo>
                <a:cubicBezTo>
                  <a:pt x="6937963" y="1077794"/>
                  <a:pt x="6933613" y="1077794"/>
                  <a:pt x="6905943" y="1077794"/>
                </a:cubicBezTo>
                <a:lnTo>
                  <a:pt x="6905943" y="1090412"/>
                </a:lnTo>
                <a:lnTo>
                  <a:pt x="6952999" y="1088958"/>
                </a:lnTo>
                <a:cubicBezTo>
                  <a:pt x="6969527" y="1088958"/>
                  <a:pt x="6988954" y="1088958"/>
                  <a:pt x="7005441" y="1090412"/>
                </a:cubicBezTo>
                <a:lnTo>
                  <a:pt x="7005441" y="1077794"/>
                </a:lnTo>
                <a:lnTo>
                  <a:pt x="6996701" y="1077794"/>
                </a:lnTo>
                <a:cubicBezTo>
                  <a:pt x="6966130" y="1077794"/>
                  <a:pt x="6965136" y="1072939"/>
                  <a:pt x="6965136" y="1058375"/>
                </a:cubicBezTo>
                <a:lnTo>
                  <a:pt x="6965136" y="994782"/>
                </a:lnTo>
                <a:cubicBezTo>
                  <a:pt x="6965136" y="954010"/>
                  <a:pt x="6982617" y="917114"/>
                  <a:pt x="7014181" y="917114"/>
                </a:cubicBezTo>
                <a:cubicBezTo>
                  <a:pt x="7016625" y="917114"/>
                  <a:pt x="7017578" y="917114"/>
                  <a:pt x="7018572" y="917603"/>
                </a:cubicBezTo>
                <a:cubicBezTo>
                  <a:pt x="7017081" y="918088"/>
                  <a:pt x="7008838" y="922942"/>
                  <a:pt x="7008838" y="933621"/>
                </a:cubicBezTo>
                <a:cubicBezTo>
                  <a:pt x="7008838" y="945269"/>
                  <a:pt x="7017578" y="951582"/>
                  <a:pt x="7026815" y="951582"/>
                </a:cubicBezTo>
                <a:cubicBezTo>
                  <a:pt x="7034106" y="951582"/>
                  <a:pt x="7044296" y="946243"/>
                  <a:pt x="7044296" y="933137"/>
                </a:cubicBezTo>
                <a:close/>
                <a:moveTo>
                  <a:pt x="501099" y="1695618"/>
                </a:moveTo>
                <a:cubicBezTo>
                  <a:pt x="501099" y="1659696"/>
                  <a:pt x="467604" y="1629114"/>
                  <a:pt x="421492" y="1624259"/>
                </a:cubicBezTo>
                <a:cubicBezTo>
                  <a:pt x="461780" y="1616008"/>
                  <a:pt x="489936" y="1589795"/>
                  <a:pt x="489936" y="1559212"/>
                </a:cubicBezTo>
                <a:cubicBezTo>
                  <a:pt x="489936" y="1523290"/>
                  <a:pt x="452071" y="1489311"/>
                  <a:pt x="398676" y="1489311"/>
                </a:cubicBezTo>
                <a:lnTo>
                  <a:pt x="247708" y="1489311"/>
                </a:lnTo>
                <a:lnTo>
                  <a:pt x="247708" y="1502417"/>
                </a:lnTo>
                <a:lnTo>
                  <a:pt x="257417" y="1502417"/>
                </a:lnTo>
                <a:cubicBezTo>
                  <a:pt x="288969" y="1502417"/>
                  <a:pt x="289940" y="1506787"/>
                  <a:pt x="289940" y="1521836"/>
                </a:cubicBezTo>
                <a:lnTo>
                  <a:pt x="289940" y="1739307"/>
                </a:lnTo>
                <a:cubicBezTo>
                  <a:pt x="289940" y="1753867"/>
                  <a:pt x="288969" y="1758722"/>
                  <a:pt x="257417" y="1758722"/>
                </a:cubicBezTo>
                <a:lnTo>
                  <a:pt x="247708" y="1758722"/>
                </a:lnTo>
                <a:lnTo>
                  <a:pt x="247708" y="1771344"/>
                </a:lnTo>
                <a:lnTo>
                  <a:pt x="409355" y="1771344"/>
                </a:lnTo>
                <a:cubicBezTo>
                  <a:pt x="464208" y="1771344"/>
                  <a:pt x="501099" y="1734453"/>
                  <a:pt x="501099" y="1695618"/>
                </a:cubicBezTo>
                <a:close/>
                <a:moveTo>
                  <a:pt x="450132" y="1559212"/>
                </a:moveTo>
                <a:cubicBezTo>
                  <a:pt x="450132" y="1585425"/>
                  <a:pt x="429744" y="1620378"/>
                  <a:pt x="384113" y="1620378"/>
                </a:cubicBezTo>
                <a:lnTo>
                  <a:pt x="324405" y="1620378"/>
                </a:lnTo>
                <a:lnTo>
                  <a:pt x="324405" y="1518924"/>
                </a:lnTo>
                <a:cubicBezTo>
                  <a:pt x="324405" y="1505329"/>
                  <a:pt x="324891" y="1502417"/>
                  <a:pt x="344308" y="1502417"/>
                </a:cubicBezTo>
                <a:lnTo>
                  <a:pt x="395763" y="1502417"/>
                </a:lnTo>
                <a:cubicBezTo>
                  <a:pt x="435568" y="1502417"/>
                  <a:pt x="450132" y="1537370"/>
                  <a:pt x="450132" y="1559212"/>
                </a:cubicBezTo>
                <a:close/>
                <a:moveTo>
                  <a:pt x="459838" y="1695618"/>
                </a:moveTo>
                <a:cubicBezTo>
                  <a:pt x="459838" y="1724743"/>
                  <a:pt x="438480" y="1758722"/>
                  <a:pt x="396248" y="1758722"/>
                </a:cubicBezTo>
                <a:lnTo>
                  <a:pt x="344308" y="1758722"/>
                </a:lnTo>
                <a:cubicBezTo>
                  <a:pt x="324891" y="1758722"/>
                  <a:pt x="324405" y="1755810"/>
                  <a:pt x="324405" y="1742219"/>
                </a:cubicBezTo>
                <a:lnTo>
                  <a:pt x="324405" y="1629598"/>
                </a:lnTo>
                <a:lnTo>
                  <a:pt x="402073" y="1629598"/>
                </a:lnTo>
                <a:cubicBezTo>
                  <a:pt x="442850" y="1629598"/>
                  <a:pt x="459838" y="1667948"/>
                  <a:pt x="459838" y="1695618"/>
                </a:cubicBezTo>
                <a:close/>
                <a:moveTo>
                  <a:pt x="696243" y="1722316"/>
                </a:moveTo>
                <a:cubicBezTo>
                  <a:pt x="696243" y="1717950"/>
                  <a:pt x="692842" y="1717461"/>
                  <a:pt x="690903" y="1717461"/>
                </a:cubicBezTo>
                <a:cubicBezTo>
                  <a:pt x="687018" y="1717461"/>
                  <a:pt x="686049" y="1719888"/>
                  <a:pt x="685564" y="1723289"/>
                </a:cubicBezTo>
                <a:cubicBezTo>
                  <a:pt x="671000" y="1765520"/>
                  <a:pt x="633624" y="1765520"/>
                  <a:pt x="629738" y="1765520"/>
                </a:cubicBezTo>
                <a:cubicBezTo>
                  <a:pt x="608865" y="1765520"/>
                  <a:pt x="592362" y="1753383"/>
                  <a:pt x="583137" y="1737849"/>
                </a:cubicBezTo>
                <a:cubicBezTo>
                  <a:pt x="570516" y="1717950"/>
                  <a:pt x="570516" y="1690764"/>
                  <a:pt x="570516" y="1676199"/>
                </a:cubicBezTo>
                <a:lnTo>
                  <a:pt x="686049" y="1676199"/>
                </a:lnTo>
                <a:cubicBezTo>
                  <a:pt x="694785" y="1676199"/>
                  <a:pt x="696243" y="1676199"/>
                  <a:pt x="696243" y="1667463"/>
                </a:cubicBezTo>
                <a:cubicBezTo>
                  <a:pt x="696243" y="1626686"/>
                  <a:pt x="673912" y="1586398"/>
                  <a:pt x="622456" y="1586398"/>
                </a:cubicBezTo>
                <a:cubicBezTo>
                  <a:pt x="574401" y="1586398"/>
                  <a:pt x="536536" y="1629114"/>
                  <a:pt x="536536" y="1680569"/>
                </a:cubicBezTo>
                <a:cubicBezTo>
                  <a:pt x="536536" y="1735906"/>
                  <a:pt x="579741" y="1775714"/>
                  <a:pt x="627311" y="1775714"/>
                </a:cubicBezTo>
                <a:cubicBezTo>
                  <a:pt x="677797" y="1775714"/>
                  <a:pt x="696243" y="1730082"/>
                  <a:pt x="696243" y="1722316"/>
                </a:cubicBezTo>
                <a:close/>
                <a:moveTo>
                  <a:pt x="669057" y="1667463"/>
                </a:moveTo>
                <a:lnTo>
                  <a:pt x="571000" y="1667463"/>
                </a:lnTo>
                <a:cubicBezTo>
                  <a:pt x="573428" y="1605813"/>
                  <a:pt x="608381" y="1595619"/>
                  <a:pt x="622456" y="1595619"/>
                </a:cubicBezTo>
                <a:cubicBezTo>
                  <a:pt x="664691" y="1595619"/>
                  <a:pt x="669057" y="1651445"/>
                  <a:pt x="669057" y="1667463"/>
                </a:cubicBezTo>
                <a:close/>
                <a:moveTo>
                  <a:pt x="855220" y="1509215"/>
                </a:moveTo>
                <a:cubicBezTo>
                  <a:pt x="855220" y="1494166"/>
                  <a:pt x="840171" y="1480575"/>
                  <a:pt x="818325" y="1480575"/>
                </a:cubicBezTo>
                <a:cubicBezTo>
                  <a:pt x="789200" y="1480575"/>
                  <a:pt x="754252" y="1502417"/>
                  <a:pt x="754252" y="1546106"/>
                </a:cubicBezTo>
                <a:lnTo>
                  <a:pt x="754252" y="1593681"/>
                </a:lnTo>
                <a:lnTo>
                  <a:pt x="721726" y="1593681"/>
                </a:lnTo>
                <a:lnTo>
                  <a:pt x="721726" y="1606298"/>
                </a:lnTo>
                <a:lnTo>
                  <a:pt x="754252" y="1606298"/>
                </a:lnTo>
                <a:lnTo>
                  <a:pt x="754252" y="1739792"/>
                </a:lnTo>
                <a:cubicBezTo>
                  <a:pt x="754252" y="1758722"/>
                  <a:pt x="749882" y="1758722"/>
                  <a:pt x="722211" y="1758722"/>
                </a:cubicBezTo>
                <a:lnTo>
                  <a:pt x="722211" y="1771344"/>
                </a:lnTo>
                <a:lnTo>
                  <a:pt x="769297" y="1769890"/>
                </a:lnTo>
                <a:cubicBezTo>
                  <a:pt x="785804" y="1769890"/>
                  <a:pt x="805219" y="1769890"/>
                  <a:pt x="821726" y="1771344"/>
                </a:cubicBezTo>
                <a:lnTo>
                  <a:pt x="821726" y="1758722"/>
                </a:lnTo>
                <a:lnTo>
                  <a:pt x="812985" y="1758722"/>
                </a:lnTo>
                <a:cubicBezTo>
                  <a:pt x="782403" y="1758722"/>
                  <a:pt x="781433" y="1753867"/>
                  <a:pt x="781433" y="1739307"/>
                </a:cubicBezTo>
                <a:lnTo>
                  <a:pt x="781433" y="1606298"/>
                </a:lnTo>
                <a:lnTo>
                  <a:pt x="828519" y="1606298"/>
                </a:lnTo>
                <a:lnTo>
                  <a:pt x="828519" y="1593681"/>
                </a:lnTo>
                <a:lnTo>
                  <a:pt x="780464" y="1593681"/>
                </a:lnTo>
                <a:lnTo>
                  <a:pt x="780464" y="1545622"/>
                </a:lnTo>
                <a:cubicBezTo>
                  <a:pt x="780464" y="1509215"/>
                  <a:pt x="800364" y="1489311"/>
                  <a:pt x="818325" y="1489311"/>
                </a:cubicBezTo>
                <a:cubicBezTo>
                  <a:pt x="819783" y="1489311"/>
                  <a:pt x="825607" y="1489311"/>
                  <a:pt x="831920" y="1492223"/>
                </a:cubicBezTo>
                <a:cubicBezTo>
                  <a:pt x="827065" y="1494166"/>
                  <a:pt x="819783" y="1499505"/>
                  <a:pt x="819783" y="1509699"/>
                </a:cubicBezTo>
                <a:cubicBezTo>
                  <a:pt x="819783" y="1519409"/>
                  <a:pt x="826092" y="1527661"/>
                  <a:pt x="837259" y="1527661"/>
                </a:cubicBezTo>
                <a:cubicBezTo>
                  <a:pt x="849392" y="1527661"/>
                  <a:pt x="855220" y="1519409"/>
                  <a:pt x="855220" y="1509215"/>
                </a:cubicBezTo>
                <a:close/>
                <a:moveTo>
                  <a:pt x="1028518" y="1682997"/>
                </a:moveTo>
                <a:cubicBezTo>
                  <a:pt x="1028518" y="1630087"/>
                  <a:pt x="987256" y="1586398"/>
                  <a:pt x="937739" y="1586398"/>
                </a:cubicBezTo>
                <a:cubicBezTo>
                  <a:pt x="885799" y="1586398"/>
                  <a:pt x="845995" y="1631541"/>
                  <a:pt x="845995" y="1682997"/>
                </a:cubicBezTo>
                <a:cubicBezTo>
                  <a:pt x="845995" y="1736395"/>
                  <a:pt x="888715" y="1775714"/>
                  <a:pt x="937254" y="1775714"/>
                </a:cubicBezTo>
                <a:cubicBezTo>
                  <a:pt x="987256" y="1775714"/>
                  <a:pt x="1028518" y="1735422"/>
                  <a:pt x="1028518" y="1682997"/>
                </a:cubicBezTo>
                <a:close/>
                <a:moveTo>
                  <a:pt x="994534" y="1679600"/>
                </a:moveTo>
                <a:cubicBezTo>
                  <a:pt x="994534" y="1694649"/>
                  <a:pt x="994534" y="1716976"/>
                  <a:pt x="985313" y="1734937"/>
                </a:cubicBezTo>
                <a:cubicBezTo>
                  <a:pt x="976089" y="1753383"/>
                  <a:pt x="958127" y="1765520"/>
                  <a:pt x="937739" y="1765520"/>
                </a:cubicBezTo>
                <a:cubicBezTo>
                  <a:pt x="919782" y="1765520"/>
                  <a:pt x="901821" y="1756784"/>
                  <a:pt x="890654" y="1737849"/>
                </a:cubicBezTo>
                <a:cubicBezTo>
                  <a:pt x="879975" y="1719888"/>
                  <a:pt x="879975" y="1694649"/>
                  <a:pt x="879975" y="1679600"/>
                </a:cubicBezTo>
                <a:cubicBezTo>
                  <a:pt x="879975" y="1663582"/>
                  <a:pt x="879975" y="1641251"/>
                  <a:pt x="890169" y="1623290"/>
                </a:cubicBezTo>
                <a:cubicBezTo>
                  <a:pt x="901332" y="1604359"/>
                  <a:pt x="920752" y="1595619"/>
                  <a:pt x="937254" y="1595619"/>
                </a:cubicBezTo>
                <a:cubicBezTo>
                  <a:pt x="955215" y="1595619"/>
                  <a:pt x="973176" y="1604844"/>
                  <a:pt x="983855" y="1622320"/>
                </a:cubicBezTo>
                <a:cubicBezTo>
                  <a:pt x="994534" y="1640281"/>
                  <a:pt x="994534" y="1664067"/>
                  <a:pt x="994534" y="1679600"/>
                </a:cubicBezTo>
                <a:close/>
                <a:moveTo>
                  <a:pt x="1190768" y="1614065"/>
                </a:moveTo>
                <a:cubicBezTo>
                  <a:pt x="1190768" y="1600959"/>
                  <a:pt x="1178150" y="1588826"/>
                  <a:pt x="1160674" y="1588826"/>
                </a:cubicBezTo>
                <a:cubicBezTo>
                  <a:pt x="1130091" y="1588826"/>
                  <a:pt x="1115527" y="1616492"/>
                  <a:pt x="1109703" y="1634453"/>
                </a:cubicBezTo>
                <a:lnTo>
                  <a:pt x="1109703" y="1588826"/>
                </a:lnTo>
                <a:lnTo>
                  <a:pt x="1052423" y="1593681"/>
                </a:lnTo>
                <a:lnTo>
                  <a:pt x="1052423" y="1606298"/>
                </a:lnTo>
                <a:cubicBezTo>
                  <a:pt x="1081063" y="1606298"/>
                  <a:pt x="1084459" y="1609214"/>
                  <a:pt x="1084459" y="1629598"/>
                </a:cubicBezTo>
                <a:lnTo>
                  <a:pt x="1084459" y="1739792"/>
                </a:lnTo>
                <a:cubicBezTo>
                  <a:pt x="1084459" y="1758722"/>
                  <a:pt x="1080093" y="1758722"/>
                  <a:pt x="1052423" y="1758722"/>
                </a:cubicBezTo>
                <a:lnTo>
                  <a:pt x="1052423" y="1771344"/>
                </a:lnTo>
                <a:lnTo>
                  <a:pt x="1099508" y="1769890"/>
                </a:lnTo>
                <a:cubicBezTo>
                  <a:pt x="1116015" y="1769890"/>
                  <a:pt x="1135430" y="1769890"/>
                  <a:pt x="1151933" y="1771344"/>
                </a:cubicBezTo>
                <a:lnTo>
                  <a:pt x="1151933" y="1758722"/>
                </a:lnTo>
                <a:lnTo>
                  <a:pt x="1143197" y="1758722"/>
                </a:lnTo>
                <a:cubicBezTo>
                  <a:pt x="1112615" y="1758722"/>
                  <a:pt x="1111645" y="1753867"/>
                  <a:pt x="1111645" y="1739307"/>
                </a:cubicBezTo>
                <a:lnTo>
                  <a:pt x="1111645" y="1675715"/>
                </a:lnTo>
                <a:cubicBezTo>
                  <a:pt x="1111645" y="1634938"/>
                  <a:pt x="1129122" y="1598047"/>
                  <a:pt x="1160674" y="1598047"/>
                </a:cubicBezTo>
                <a:cubicBezTo>
                  <a:pt x="1163101" y="1598047"/>
                  <a:pt x="1164070" y="1598047"/>
                  <a:pt x="1165044" y="1598531"/>
                </a:cubicBezTo>
                <a:cubicBezTo>
                  <a:pt x="1163586" y="1599020"/>
                  <a:pt x="1155334" y="1603875"/>
                  <a:pt x="1155334" y="1614554"/>
                </a:cubicBezTo>
                <a:cubicBezTo>
                  <a:pt x="1155334" y="1626202"/>
                  <a:pt x="1164070" y="1632515"/>
                  <a:pt x="1173295" y="1632515"/>
                </a:cubicBezTo>
                <a:cubicBezTo>
                  <a:pt x="1180577" y="1632515"/>
                  <a:pt x="1190768" y="1627175"/>
                  <a:pt x="1190768" y="1614065"/>
                </a:cubicBezTo>
                <a:close/>
                <a:moveTo>
                  <a:pt x="1373895" y="1722316"/>
                </a:moveTo>
                <a:cubicBezTo>
                  <a:pt x="1373895" y="1717950"/>
                  <a:pt x="1370498" y="1717461"/>
                  <a:pt x="1368555" y="1717461"/>
                </a:cubicBezTo>
                <a:cubicBezTo>
                  <a:pt x="1364674" y="1717461"/>
                  <a:pt x="1363704" y="1719888"/>
                  <a:pt x="1363216" y="1723289"/>
                </a:cubicBezTo>
                <a:cubicBezTo>
                  <a:pt x="1348655" y="1765520"/>
                  <a:pt x="1311275" y="1765520"/>
                  <a:pt x="1307394" y="1765520"/>
                </a:cubicBezTo>
                <a:cubicBezTo>
                  <a:pt x="1286521" y="1765520"/>
                  <a:pt x="1270014" y="1753383"/>
                  <a:pt x="1260793" y="1737849"/>
                </a:cubicBezTo>
                <a:cubicBezTo>
                  <a:pt x="1248172" y="1717950"/>
                  <a:pt x="1248172" y="1690764"/>
                  <a:pt x="1248172" y="1676199"/>
                </a:cubicBezTo>
                <a:lnTo>
                  <a:pt x="1363704" y="1676199"/>
                </a:lnTo>
                <a:cubicBezTo>
                  <a:pt x="1372441" y="1676199"/>
                  <a:pt x="1373895" y="1676199"/>
                  <a:pt x="1373895" y="1667463"/>
                </a:cubicBezTo>
                <a:cubicBezTo>
                  <a:pt x="1373895" y="1626686"/>
                  <a:pt x="1351568" y="1586398"/>
                  <a:pt x="1300112" y="1586398"/>
                </a:cubicBezTo>
                <a:cubicBezTo>
                  <a:pt x="1252053" y="1586398"/>
                  <a:pt x="1214192" y="1629114"/>
                  <a:pt x="1214192" y="1680569"/>
                </a:cubicBezTo>
                <a:cubicBezTo>
                  <a:pt x="1214192" y="1735911"/>
                  <a:pt x="1257392" y="1775714"/>
                  <a:pt x="1304967" y="1775714"/>
                </a:cubicBezTo>
                <a:cubicBezTo>
                  <a:pt x="1355449" y="1775714"/>
                  <a:pt x="1373895" y="1730082"/>
                  <a:pt x="1373895" y="1722316"/>
                </a:cubicBezTo>
                <a:close/>
                <a:moveTo>
                  <a:pt x="1346713" y="1667463"/>
                </a:moveTo>
                <a:lnTo>
                  <a:pt x="1248656" y="1667463"/>
                </a:lnTo>
                <a:cubicBezTo>
                  <a:pt x="1251084" y="1605813"/>
                  <a:pt x="1286036" y="1595619"/>
                  <a:pt x="1300112" y="1595619"/>
                </a:cubicBezTo>
                <a:cubicBezTo>
                  <a:pt x="1342343" y="1595619"/>
                  <a:pt x="1346713" y="1651445"/>
                  <a:pt x="1346713" y="1667463"/>
                </a:cubicBezTo>
                <a:close/>
                <a:moveTo>
                  <a:pt x="1732871" y="1606298"/>
                </a:moveTo>
                <a:lnTo>
                  <a:pt x="1732871" y="1593681"/>
                </a:lnTo>
                <a:cubicBezTo>
                  <a:pt x="1723161" y="1594165"/>
                  <a:pt x="1711509" y="1594650"/>
                  <a:pt x="1701803" y="1594650"/>
                </a:cubicBezTo>
                <a:lnTo>
                  <a:pt x="1665881" y="1593681"/>
                </a:lnTo>
                <a:lnTo>
                  <a:pt x="1665881" y="1606298"/>
                </a:lnTo>
                <a:cubicBezTo>
                  <a:pt x="1681415" y="1606787"/>
                  <a:pt x="1685781" y="1616008"/>
                  <a:pt x="1685781" y="1624259"/>
                </a:cubicBezTo>
                <a:cubicBezTo>
                  <a:pt x="1685781" y="1627660"/>
                  <a:pt x="1684811" y="1629598"/>
                  <a:pt x="1683358" y="1633969"/>
                </a:cubicBezTo>
                <a:lnTo>
                  <a:pt x="1641123" y="1739307"/>
                </a:lnTo>
                <a:lnTo>
                  <a:pt x="1595006" y="1624259"/>
                </a:lnTo>
                <a:cubicBezTo>
                  <a:pt x="1592583" y="1618435"/>
                  <a:pt x="1592583" y="1616981"/>
                  <a:pt x="1592583" y="1616981"/>
                </a:cubicBezTo>
                <a:cubicBezTo>
                  <a:pt x="1592583" y="1606298"/>
                  <a:pt x="1608602" y="1606298"/>
                  <a:pt x="1615884" y="1606298"/>
                </a:cubicBezTo>
                <a:lnTo>
                  <a:pt x="1615884" y="1593681"/>
                </a:lnTo>
                <a:lnTo>
                  <a:pt x="1571221" y="1594650"/>
                </a:lnTo>
                <a:cubicBezTo>
                  <a:pt x="1560058" y="1594650"/>
                  <a:pt x="1543555" y="1594165"/>
                  <a:pt x="1530933" y="1593681"/>
                </a:cubicBezTo>
                <a:lnTo>
                  <a:pt x="1530933" y="1606298"/>
                </a:lnTo>
                <a:cubicBezTo>
                  <a:pt x="1557146" y="1606298"/>
                  <a:pt x="1558600" y="1608725"/>
                  <a:pt x="1563939" y="1621347"/>
                </a:cubicBezTo>
                <a:lnTo>
                  <a:pt x="1623651" y="1767947"/>
                </a:lnTo>
                <a:cubicBezTo>
                  <a:pt x="1626074" y="1773771"/>
                  <a:pt x="1626562" y="1775714"/>
                  <a:pt x="1631902" y="1775714"/>
                </a:cubicBezTo>
                <a:cubicBezTo>
                  <a:pt x="1637241" y="1775714"/>
                  <a:pt x="1639184" y="1772317"/>
                  <a:pt x="1640638" y="1767947"/>
                </a:cubicBezTo>
                <a:lnTo>
                  <a:pt x="1695006" y="1633969"/>
                </a:lnTo>
                <a:cubicBezTo>
                  <a:pt x="1698402" y="1624259"/>
                  <a:pt x="1705685" y="1606787"/>
                  <a:pt x="1732871" y="1606298"/>
                </a:cubicBezTo>
                <a:close/>
                <a:moveTo>
                  <a:pt x="1889541" y="1718434"/>
                </a:moveTo>
                <a:cubicBezTo>
                  <a:pt x="1889541" y="1696588"/>
                  <a:pt x="1877404" y="1684455"/>
                  <a:pt x="1872064" y="1679116"/>
                </a:cubicBezTo>
                <a:cubicBezTo>
                  <a:pt x="1858473" y="1666009"/>
                  <a:pt x="1842455" y="1662609"/>
                  <a:pt x="1824979" y="1659696"/>
                </a:cubicBezTo>
                <a:cubicBezTo>
                  <a:pt x="1802163" y="1654842"/>
                  <a:pt x="1774492" y="1649502"/>
                  <a:pt x="1774492" y="1625717"/>
                </a:cubicBezTo>
                <a:cubicBezTo>
                  <a:pt x="1774492" y="1611153"/>
                  <a:pt x="1785175" y="1594165"/>
                  <a:pt x="1820609" y="1594165"/>
                </a:cubicBezTo>
                <a:cubicBezTo>
                  <a:pt x="1866240" y="1594165"/>
                  <a:pt x="1868183" y="1631541"/>
                  <a:pt x="1869152" y="1644163"/>
                </a:cubicBezTo>
                <a:cubicBezTo>
                  <a:pt x="1869152" y="1648048"/>
                  <a:pt x="1874007" y="1648048"/>
                  <a:pt x="1874007" y="1648048"/>
                </a:cubicBezTo>
                <a:cubicBezTo>
                  <a:pt x="1879346" y="1648048"/>
                  <a:pt x="1879346" y="1646105"/>
                  <a:pt x="1879346" y="1637854"/>
                </a:cubicBezTo>
                <a:lnTo>
                  <a:pt x="1879346" y="1596593"/>
                </a:lnTo>
                <a:cubicBezTo>
                  <a:pt x="1879346" y="1589310"/>
                  <a:pt x="1879346" y="1586398"/>
                  <a:pt x="1874492" y="1586398"/>
                </a:cubicBezTo>
                <a:cubicBezTo>
                  <a:pt x="1872549" y="1586398"/>
                  <a:pt x="1871580" y="1586398"/>
                  <a:pt x="1866240" y="1591253"/>
                </a:cubicBezTo>
                <a:cubicBezTo>
                  <a:pt x="1865267" y="1593192"/>
                  <a:pt x="1860901" y="1596593"/>
                  <a:pt x="1859443" y="1598047"/>
                </a:cubicBezTo>
                <a:cubicBezTo>
                  <a:pt x="1843909" y="1586398"/>
                  <a:pt x="1826922" y="1586398"/>
                  <a:pt x="1820609" y="1586398"/>
                </a:cubicBezTo>
                <a:cubicBezTo>
                  <a:pt x="1770126" y="1586398"/>
                  <a:pt x="1754593" y="1614065"/>
                  <a:pt x="1754593" y="1637365"/>
                </a:cubicBezTo>
                <a:cubicBezTo>
                  <a:pt x="1754593" y="1651445"/>
                  <a:pt x="1761386" y="1663093"/>
                  <a:pt x="1772554" y="1672318"/>
                </a:cubicBezTo>
                <a:cubicBezTo>
                  <a:pt x="1785660" y="1682997"/>
                  <a:pt x="1797308" y="1685424"/>
                  <a:pt x="1826922" y="1691248"/>
                </a:cubicBezTo>
                <a:cubicBezTo>
                  <a:pt x="1836142" y="1692706"/>
                  <a:pt x="1869637" y="1699500"/>
                  <a:pt x="1869637" y="1729113"/>
                </a:cubicBezTo>
                <a:cubicBezTo>
                  <a:pt x="1869637" y="1750471"/>
                  <a:pt x="1855077" y="1766978"/>
                  <a:pt x="1823036" y="1766978"/>
                </a:cubicBezTo>
                <a:cubicBezTo>
                  <a:pt x="1788572" y="1766978"/>
                  <a:pt x="1773523" y="1743189"/>
                  <a:pt x="1765756" y="1708240"/>
                </a:cubicBezTo>
                <a:cubicBezTo>
                  <a:pt x="1764298" y="1702901"/>
                  <a:pt x="1764298" y="1700958"/>
                  <a:pt x="1759932" y="1700958"/>
                </a:cubicBezTo>
                <a:cubicBezTo>
                  <a:pt x="1754593" y="1700958"/>
                  <a:pt x="1754593" y="1703870"/>
                  <a:pt x="1754593" y="1711637"/>
                </a:cubicBezTo>
                <a:lnTo>
                  <a:pt x="1754593" y="1766004"/>
                </a:lnTo>
                <a:cubicBezTo>
                  <a:pt x="1754593" y="1772802"/>
                  <a:pt x="1754593" y="1775714"/>
                  <a:pt x="1758959" y="1775714"/>
                </a:cubicBezTo>
                <a:cubicBezTo>
                  <a:pt x="1761386" y="1775714"/>
                  <a:pt x="1761875" y="1775714"/>
                  <a:pt x="1769642" y="1767463"/>
                </a:cubicBezTo>
                <a:cubicBezTo>
                  <a:pt x="1770126" y="1766974"/>
                  <a:pt x="1770126" y="1766004"/>
                  <a:pt x="1777893" y="1758238"/>
                </a:cubicBezTo>
                <a:cubicBezTo>
                  <a:pt x="1795854" y="1775714"/>
                  <a:pt x="1814300" y="1775714"/>
                  <a:pt x="1823036" y="1775714"/>
                </a:cubicBezTo>
                <a:cubicBezTo>
                  <a:pt x="1870610" y="1775714"/>
                  <a:pt x="1889541" y="1748043"/>
                  <a:pt x="1889541" y="1718434"/>
                </a:cubicBezTo>
                <a:close/>
                <a:moveTo>
                  <a:pt x="1982742" y="1749502"/>
                </a:moveTo>
                <a:cubicBezTo>
                  <a:pt x="1982742" y="1737365"/>
                  <a:pt x="1973033" y="1727655"/>
                  <a:pt x="1960896" y="1727655"/>
                </a:cubicBezTo>
                <a:cubicBezTo>
                  <a:pt x="1949248" y="1727655"/>
                  <a:pt x="1939054" y="1737365"/>
                  <a:pt x="1939054" y="1749502"/>
                </a:cubicBezTo>
                <a:cubicBezTo>
                  <a:pt x="1939054" y="1761634"/>
                  <a:pt x="1949248" y="1771344"/>
                  <a:pt x="1960896" y="1771344"/>
                </a:cubicBezTo>
                <a:cubicBezTo>
                  <a:pt x="1973033" y="1771344"/>
                  <a:pt x="1982742" y="1761634"/>
                  <a:pt x="1982742" y="1749502"/>
                </a:cubicBezTo>
                <a:close/>
                <a:moveTo>
                  <a:pt x="2497171" y="1771344"/>
                </a:moveTo>
                <a:lnTo>
                  <a:pt x="2497171" y="1758722"/>
                </a:lnTo>
                <a:lnTo>
                  <a:pt x="2489893" y="1758722"/>
                </a:lnTo>
                <a:cubicBezTo>
                  <a:pt x="2465134" y="1758722"/>
                  <a:pt x="2459310" y="1755810"/>
                  <a:pt x="2454940" y="1742219"/>
                </a:cubicBezTo>
                <a:lnTo>
                  <a:pt x="2365624" y="1483972"/>
                </a:lnTo>
                <a:cubicBezTo>
                  <a:pt x="2363681" y="1478632"/>
                  <a:pt x="2362708" y="1475720"/>
                  <a:pt x="2356399" y="1475720"/>
                </a:cubicBezTo>
                <a:cubicBezTo>
                  <a:pt x="2349601" y="1475720"/>
                  <a:pt x="2348632" y="1478148"/>
                  <a:pt x="2346205" y="1483972"/>
                </a:cubicBezTo>
                <a:lnTo>
                  <a:pt x="2260770" y="1731056"/>
                </a:lnTo>
                <a:cubicBezTo>
                  <a:pt x="2253487" y="1751929"/>
                  <a:pt x="2236985" y="1758238"/>
                  <a:pt x="2214653" y="1758722"/>
                </a:cubicBezTo>
                <a:lnTo>
                  <a:pt x="2214653" y="1771344"/>
                </a:lnTo>
                <a:lnTo>
                  <a:pt x="2256888" y="1769890"/>
                </a:lnTo>
                <a:lnTo>
                  <a:pt x="2304458" y="1771344"/>
                </a:lnTo>
                <a:lnTo>
                  <a:pt x="2304458" y="1758722"/>
                </a:lnTo>
                <a:cubicBezTo>
                  <a:pt x="2283585" y="1758722"/>
                  <a:pt x="2273391" y="1748043"/>
                  <a:pt x="2273391" y="1737365"/>
                </a:cubicBezTo>
                <a:cubicBezTo>
                  <a:pt x="2273391" y="1736395"/>
                  <a:pt x="2273876" y="1732025"/>
                  <a:pt x="2274361" y="1731540"/>
                </a:cubicBezTo>
                <a:lnTo>
                  <a:pt x="2293295" y="1677173"/>
                </a:lnTo>
                <a:lnTo>
                  <a:pt x="2395233" y="1677173"/>
                </a:lnTo>
                <a:lnTo>
                  <a:pt x="2417075" y="1740277"/>
                </a:lnTo>
                <a:cubicBezTo>
                  <a:pt x="2417564" y="1742219"/>
                  <a:pt x="2418049" y="1744647"/>
                  <a:pt x="2418049" y="1746101"/>
                </a:cubicBezTo>
                <a:cubicBezTo>
                  <a:pt x="2418049" y="1758722"/>
                  <a:pt x="2395233" y="1758722"/>
                  <a:pt x="2384069" y="1758722"/>
                </a:cubicBezTo>
                <a:lnTo>
                  <a:pt x="2384069" y="1771344"/>
                </a:lnTo>
                <a:cubicBezTo>
                  <a:pt x="2398630" y="1769890"/>
                  <a:pt x="2427758" y="1769890"/>
                  <a:pt x="2443292" y="1769890"/>
                </a:cubicBezTo>
                <a:close/>
                <a:moveTo>
                  <a:pt x="2390378" y="1664551"/>
                </a:moveTo>
                <a:lnTo>
                  <a:pt x="2297661" y="1664551"/>
                </a:lnTo>
                <a:lnTo>
                  <a:pt x="2343777" y="1530573"/>
                </a:lnTo>
                <a:close/>
                <a:moveTo>
                  <a:pt x="2658211" y="1509215"/>
                </a:moveTo>
                <a:cubicBezTo>
                  <a:pt x="2658211" y="1494166"/>
                  <a:pt x="2643162" y="1480575"/>
                  <a:pt x="2621320" y="1480575"/>
                </a:cubicBezTo>
                <a:cubicBezTo>
                  <a:pt x="2592195" y="1480575"/>
                  <a:pt x="2557242" y="1502417"/>
                  <a:pt x="2557242" y="1546106"/>
                </a:cubicBezTo>
                <a:lnTo>
                  <a:pt x="2557242" y="1593681"/>
                </a:lnTo>
                <a:lnTo>
                  <a:pt x="2524721" y="1593681"/>
                </a:lnTo>
                <a:lnTo>
                  <a:pt x="2524721" y="1606298"/>
                </a:lnTo>
                <a:lnTo>
                  <a:pt x="2557242" y="1606298"/>
                </a:lnTo>
                <a:lnTo>
                  <a:pt x="2557242" y="1739792"/>
                </a:lnTo>
                <a:cubicBezTo>
                  <a:pt x="2557242" y="1758722"/>
                  <a:pt x="2552876" y="1758722"/>
                  <a:pt x="2525206" y="1758722"/>
                </a:cubicBezTo>
                <a:lnTo>
                  <a:pt x="2525206" y="1771344"/>
                </a:lnTo>
                <a:lnTo>
                  <a:pt x="2572291" y="1769890"/>
                </a:lnTo>
                <a:cubicBezTo>
                  <a:pt x="2588794" y="1769890"/>
                  <a:pt x="2608213" y="1769890"/>
                  <a:pt x="2624717" y="1771344"/>
                </a:cubicBezTo>
                <a:lnTo>
                  <a:pt x="2624717" y="1758722"/>
                </a:lnTo>
                <a:lnTo>
                  <a:pt x="2615980" y="1758722"/>
                </a:lnTo>
                <a:cubicBezTo>
                  <a:pt x="2585398" y="1758722"/>
                  <a:pt x="2584428" y="1753867"/>
                  <a:pt x="2584428" y="1739307"/>
                </a:cubicBezTo>
                <a:lnTo>
                  <a:pt x="2584428" y="1606298"/>
                </a:lnTo>
                <a:lnTo>
                  <a:pt x="2631514" y="1606298"/>
                </a:lnTo>
                <a:lnTo>
                  <a:pt x="2631514" y="1593681"/>
                </a:lnTo>
                <a:lnTo>
                  <a:pt x="2583455" y="1593681"/>
                </a:lnTo>
                <a:lnTo>
                  <a:pt x="2583455" y="1545622"/>
                </a:lnTo>
                <a:cubicBezTo>
                  <a:pt x="2583455" y="1509215"/>
                  <a:pt x="2603359" y="1489311"/>
                  <a:pt x="2621320" y="1489311"/>
                </a:cubicBezTo>
                <a:cubicBezTo>
                  <a:pt x="2622778" y="1489311"/>
                  <a:pt x="2628602" y="1489311"/>
                  <a:pt x="2634911" y="1492223"/>
                </a:cubicBezTo>
                <a:cubicBezTo>
                  <a:pt x="2630056" y="1494166"/>
                  <a:pt x="2622778" y="1499505"/>
                  <a:pt x="2622778" y="1509699"/>
                </a:cubicBezTo>
                <a:cubicBezTo>
                  <a:pt x="2622778" y="1519409"/>
                  <a:pt x="2629087" y="1527661"/>
                  <a:pt x="2640250" y="1527661"/>
                </a:cubicBezTo>
                <a:cubicBezTo>
                  <a:pt x="2652387" y="1527661"/>
                  <a:pt x="2658211" y="1519409"/>
                  <a:pt x="2658211" y="1509215"/>
                </a:cubicBezTo>
                <a:close/>
                <a:moveTo>
                  <a:pt x="2774229" y="1720377"/>
                </a:moveTo>
                <a:lnTo>
                  <a:pt x="2774229" y="1696588"/>
                </a:lnTo>
                <a:lnTo>
                  <a:pt x="2764035" y="1696588"/>
                </a:lnTo>
                <a:lnTo>
                  <a:pt x="2764035" y="1719404"/>
                </a:lnTo>
                <a:cubicBezTo>
                  <a:pt x="2764035" y="1749986"/>
                  <a:pt x="2751413" y="1765520"/>
                  <a:pt x="2736364" y="1765520"/>
                </a:cubicBezTo>
                <a:cubicBezTo>
                  <a:pt x="2708698" y="1765520"/>
                  <a:pt x="2708698" y="1728144"/>
                  <a:pt x="2708698" y="1720862"/>
                </a:cubicBezTo>
                <a:lnTo>
                  <a:pt x="2708698" y="1606298"/>
                </a:lnTo>
                <a:lnTo>
                  <a:pt x="2767920" y="1606298"/>
                </a:lnTo>
                <a:lnTo>
                  <a:pt x="2767920" y="1593681"/>
                </a:lnTo>
                <a:lnTo>
                  <a:pt x="2708698" y="1593681"/>
                </a:lnTo>
                <a:lnTo>
                  <a:pt x="2708698" y="1517466"/>
                </a:lnTo>
                <a:lnTo>
                  <a:pt x="2698503" y="1517466"/>
                </a:lnTo>
                <a:cubicBezTo>
                  <a:pt x="2698019" y="1551446"/>
                  <a:pt x="2685397" y="1595619"/>
                  <a:pt x="2645105" y="1597077"/>
                </a:cubicBezTo>
                <a:lnTo>
                  <a:pt x="2645105" y="1606298"/>
                </a:lnTo>
                <a:lnTo>
                  <a:pt x="2680057" y="1606298"/>
                </a:lnTo>
                <a:lnTo>
                  <a:pt x="2680057" y="1720377"/>
                </a:lnTo>
                <a:cubicBezTo>
                  <a:pt x="2680057" y="1770859"/>
                  <a:pt x="2718407" y="1775714"/>
                  <a:pt x="2733452" y="1775714"/>
                </a:cubicBezTo>
                <a:cubicBezTo>
                  <a:pt x="2762580" y="1775714"/>
                  <a:pt x="2774229" y="1746589"/>
                  <a:pt x="2774229" y="1720377"/>
                </a:cubicBezTo>
                <a:close/>
                <a:moveTo>
                  <a:pt x="2969248" y="1722316"/>
                </a:moveTo>
                <a:cubicBezTo>
                  <a:pt x="2969248" y="1717950"/>
                  <a:pt x="2965852" y="1717461"/>
                  <a:pt x="2963909" y="1717461"/>
                </a:cubicBezTo>
                <a:cubicBezTo>
                  <a:pt x="2960028" y="1717461"/>
                  <a:pt x="2959054" y="1719888"/>
                  <a:pt x="2958569" y="1723289"/>
                </a:cubicBezTo>
                <a:cubicBezTo>
                  <a:pt x="2944005" y="1765520"/>
                  <a:pt x="2906629" y="1765520"/>
                  <a:pt x="2902748" y="1765520"/>
                </a:cubicBezTo>
                <a:cubicBezTo>
                  <a:pt x="2881870" y="1765520"/>
                  <a:pt x="2865368" y="1753383"/>
                  <a:pt x="2856147" y="1737849"/>
                </a:cubicBezTo>
                <a:cubicBezTo>
                  <a:pt x="2843525" y="1717950"/>
                  <a:pt x="2843525" y="1690764"/>
                  <a:pt x="2843525" y="1676199"/>
                </a:cubicBezTo>
                <a:lnTo>
                  <a:pt x="2959054" y="1676199"/>
                </a:lnTo>
                <a:cubicBezTo>
                  <a:pt x="2967794" y="1676199"/>
                  <a:pt x="2969248" y="1676199"/>
                  <a:pt x="2969248" y="1667463"/>
                </a:cubicBezTo>
                <a:cubicBezTo>
                  <a:pt x="2969248" y="1626686"/>
                  <a:pt x="2946921" y="1586398"/>
                  <a:pt x="2895466" y="1586398"/>
                </a:cubicBezTo>
                <a:cubicBezTo>
                  <a:pt x="2847406" y="1586398"/>
                  <a:pt x="2809546" y="1629114"/>
                  <a:pt x="2809546" y="1680569"/>
                </a:cubicBezTo>
                <a:cubicBezTo>
                  <a:pt x="2809546" y="1735906"/>
                  <a:pt x="2852746" y="1775714"/>
                  <a:pt x="2900320" y="1775714"/>
                </a:cubicBezTo>
                <a:cubicBezTo>
                  <a:pt x="2950803" y="1775714"/>
                  <a:pt x="2969248" y="1730082"/>
                  <a:pt x="2969248" y="1722316"/>
                </a:cubicBezTo>
                <a:close/>
                <a:moveTo>
                  <a:pt x="2942066" y="1667463"/>
                </a:moveTo>
                <a:lnTo>
                  <a:pt x="2844010" y="1667463"/>
                </a:lnTo>
                <a:cubicBezTo>
                  <a:pt x="2846437" y="1605813"/>
                  <a:pt x="2881386" y="1595619"/>
                  <a:pt x="2895466" y="1595619"/>
                </a:cubicBezTo>
                <a:cubicBezTo>
                  <a:pt x="2937696" y="1595619"/>
                  <a:pt x="2942066" y="1651445"/>
                  <a:pt x="2942066" y="1667463"/>
                </a:cubicBezTo>
                <a:close/>
                <a:moveTo>
                  <a:pt x="3131138" y="1614065"/>
                </a:moveTo>
                <a:cubicBezTo>
                  <a:pt x="3131138" y="1600959"/>
                  <a:pt x="3118516" y="1588826"/>
                  <a:pt x="3101044" y="1588826"/>
                </a:cubicBezTo>
                <a:cubicBezTo>
                  <a:pt x="3070461" y="1588826"/>
                  <a:pt x="3055897" y="1616492"/>
                  <a:pt x="3050073" y="1634453"/>
                </a:cubicBezTo>
                <a:lnTo>
                  <a:pt x="3050073" y="1588826"/>
                </a:lnTo>
                <a:lnTo>
                  <a:pt x="2992793" y="1593681"/>
                </a:lnTo>
                <a:lnTo>
                  <a:pt x="2992793" y="1606298"/>
                </a:lnTo>
                <a:cubicBezTo>
                  <a:pt x="3021433" y="1606298"/>
                  <a:pt x="3024830" y="1609214"/>
                  <a:pt x="3024830" y="1629598"/>
                </a:cubicBezTo>
                <a:lnTo>
                  <a:pt x="3024830" y="1739792"/>
                </a:lnTo>
                <a:cubicBezTo>
                  <a:pt x="3024830" y="1758722"/>
                  <a:pt x="3020460" y="1758722"/>
                  <a:pt x="2992793" y="1758722"/>
                </a:cubicBezTo>
                <a:lnTo>
                  <a:pt x="2992793" y="1771344"/>
                </a:lnTo>
                <a:lnTo>
                  <a:pt x="3039879" y="1769890"/>
                </a:lnTo>
                <a:cubicBezTo>
                  <a:pt x="3056381" y="1769890"/>
                  <a:pt x="3075801" y="1769890"/>
                  <a:pt x="3092304" y="1771344"/>
                </a:cubicBezTo>
                <a:lnTo>
                  <a:pt x="3092304" y="1758722"/>
                </a:lnTo>
                <a:lnTo>
                  <a:pt x="3083567" y="1758722"/>
                </a:lnTo>
                <a:cubicBezTo>
                  <a:pt x="3052985" y="1758722"/>
                  <a:pt x="3052015" y="1753867"/>
                  <a:pt x="3052015" y="1739307"/>
                </a:cubicBezTo>
                <a:lnTo>
                  <a:pt x="3052015" y="1675715"/>
                </a:lnTo>
                <a:cubicBezTo>
                  <a:pt x="3052015" y="1634938"/>
                  <a:pt x="3069488" y="1598047"/>
                  <a:pt x="3101044" y="1598047"/>
                </a:cubicBezTo>
                <a:cubicBezTo>
                  <a:pt x="3103467" y="1598047"/>
                  <a:pt x="3104440" y="1598047"/>
                  <a:pt x="3105410" y="1598531"/>
                </a:cubicBezTo>
                <a:cubicBezTo>
                  <a:pt x="3103956" y="1599020"/>
                  <a:pt x="3095704" y="1603875"/>
                  <a:pt x="3095704" y="1614554"/>
                </a:cubicBezTo>
                <a:cubicBezTo>
                  <a:pt x="3095704" y="1626202"/>
                  <a:pt x="3104440" y="1632515"/>
                  <a:pt x="3113661" y="1632515"/>
                </a:cubicBezTo>
                <a:cubicBezTo>
                  <a:pt x="3120943" y="1632515"/>
                  <a:pt x="3131138" y="1627175"/>
                  <a:pt x="3131138" y="1614065"/>
                </a:cubicBezTo>
                <a:close/>
                <a:moveTo>
                  <a:pt x="3549212" y="1665036"/>
                </a:moveTo>
                <a:lnTo>
                  <a:pt x="3539018" y="1665036"/>
                </a:lnTo>
                <a:cubicBezTo>
                  <a:pt x="3528824" y="1728629"/>
                  <a:pt x="3519114" y="1758722"/>
                  <a:pt x="3448243" y="1758722"/>
                </a:cubicBezTo>
                <a:lnTo>
                  <a:pt x="3393391" y="1758722"/>
                </a:lnTo>
                <a:cubicBezTo>
                  <a:pt x="3373972" y="1758722"/>
                  <a:pt x="3373002" y="1755810"/>
                  <a:pt x="3373002" y="1742219"/>
                </a:cubicBezTo>
                <a:lnTo>
                  <a:pt x="3373002" y="1632026"/>
                </a:lnTo>
                <a:lnTo>
                  <a:pt x="3410379" y="1632026"/>
                </a:lnTo>
                <a:cubicBezTo>
                  <a:pt x="3450186" y="1632026"/>
                  <a:pt x="3455041" y="1645132"/>
                  <a:pt x="3455041" y="1680085"/>
                </a:cubicBezTo>
                <a:lnTo>
                  <a:pt x="3465235" y="1680085"/>
                </a:lnTo>
                <a:lnTo>
                  <a:pt x="3465235" y="1570865"/>
                </a:lnTo>
                <a:lnTo>
                  <a:pt x="3455041" y="1570865"/>
                </a:lnTo>
                <a:cubicBezTo>
                  <a:pt x="3455041" y="1606298"/>
                  <a:pt x="3450186" y="1618920"/>
                  <a:pt x="3410379" y="1618920"/>
                </a:cubicBezTo>
                <a:lnTo>
                  <a:pt x="3373002" y="1618920"/>
                </a:lnTo>
                <a:lnTo>
                  <a:pt x="3373002" y="1519894"/>
                </a:lnTo>
                <a:cubicBezTo>
                  <a:pt x="3373002" y="1506303"/>
                  <a:pt x="3373972" y="1503391"/>
                  <a:pt x="3393391" y="1503391"/>
                </a:cubicBezTo>
                <a:lnTo>
                  <a:pt x="3446785" y="1503391"/>
                </a:lnTo>
                <a:cubicBezTo>
                  <a:pt x="3509893" y="1503391"/>
                  <a:pt x="3521057" y="1526202"/>
                  <a:pt x="3527369" y="1583486"/>
                </a:cubicBezTo>
                <a:lnTo>
                  <a:pt x="3537560" y="1583486"/>
                </a:lnTo>
                <a:lnTo>
                  <a:pt x="3526396" y="1490769"/>
                </a:lnTo>
                <a:lnTo>
                  <a:pt x="3293876" y="1490769"/>
                </a:lnTo>
                <a:lnTo>
                  <a:pt x="3293876" y="1503391"/>
                </a:lnTo>
                <a:lnTo>
                  <a:pt x="3303586" y="1503391"/>
                </a:lnTo>
                <a:cubicBezTo>
                  <a:pt x="3335622" y="1503391"/>
                  <a:pt x="3336596" y="1508246"/>
                  <a:pt x="3336596" y="1522806"/>
                </a:cubicBezTo>
                <a:lnTo>
                  <a:pt x="3336596" y="1739307"/>
                </a:lnTo>
                <a:cubicBezTo>
                  <a:pt x="3336596" y="1753867"/>
                  <a:pt x="3335622" y="1758722"/>
                  <a:pt x="3303586" y="1758722"/>
                </a:cubicBezTo>
                <a:lnTo>
                  <a:pt x="3293876" y="1758722"/>
                </a:lnTo>
                <a:lnTo>
                  <a:pt x="3293876" y="1771344"/>
                </a:lnTo>
                <a:lnTo>
                  <a:pt x="3532220" y="1771344"/>
                </a:lnTo>
                <a:close/>
                <a:moveTo>
                  <a:pt x="3820566" y="1509215"/>
                </a:moveTo>
                <a:cubicBezTo>
                  <a:pt x="3820566" y="1494650"/>
                  <a:pt x="3806001" y="1480575"/>
                  <a:pt x="3782701" y="1480575"/>
                </a:cubicBezTo>
                <a:cubicBezTo>
                  <a:pt x="3758431" y="1480575"/>
                  <a:pt x="3740470" y="1496109"/>
                  <a:pt x="3738528" y="1497563"/>
                </a:cubicBezTo>
                <a:cubicBezTo>
                  <a:pt x="3726391" y="1482518"/>
                  <a:pt x="3703090" y="1480575"/>
                  <a:pt x="3691927" y="1480575"/>
                </a:cubicBezTo>
                <a:cubicBezTo>
                  <a:pt x="3653093" y="1480575"/>
                  <a:pt x="3605038" y="1501933"/>
                  <a:pt x="3605038" y="1546591"/>
                </a:cubicBezTo>
                <a:lnTo>
                  <a:pt x="3605038" y="1593681"/>
                </a:lnTo>
                <a:lnTo>
                  <a:pt x="3572512" y="1593681"/>
                </a:lnTo>
                <a:lnTo>
                  <a:pt x="3572512" y="1606298"/>
                </a:lnTo>
                <a:lnTo>
                  <a:pt x="3605038" y="1606298"/>
                </a:lnTo>
                <a:lnTo>
                  <a:pt x="3605038" y="1739792"/>
                </a:lnTo>
                <a:cubicBezTo>
                  <a:pt x="3605038" y="1758722"/>
                  <a:pt x="3600668" y="1758722"/>
                  <a:pt x="3572997" y="1758722"/>
                </a:cubicBezTo>
                <a:lnTo>
                  <a:pt x="3572997" y="1771344"/>
                </a:lnTo>
                <a:lnTo>
                  <a:pt x="3618629" y="1769890"/>
                </a:lnTo>
                <a:lnTo>
                  <a:pt x="3664745" y="1771344"/>
                </a:lnTo>
                <a:lnTo>
                  <a:pt x="3664745" y="1758722"/>
                </a:lnTo>
                <a:cubicBezTo>
                  <a:pt x="3637074" y="1758722"/>
                  <a:pt x="3632220" y="1758722"/>
                  <a:pt x="3632220" y="1739792"/>
                </a:cubicBezTo>
                <a:lnTo>
                  <a:pt x="3632220" y="1606298"/>
                </a:lnTo>
                <a:lnTo>
                  <a:pt x="3719113" y="1606298"/>
                </a:lnTo>
                <a:lnTo>
                  <a:pt x="3719113" y="1739792"/>
                </a:lnTo>
                <a:cubicBezTo>
                  <a:pt x="3719113" y="1758722"/>
                  <a:pt x="3714258" y="1758722"/>
                  <a:pt x="3686587" y="1758722"/>
                </a:cubicBezTo>
                <a:lnTo>
                  <a:pt x="3686587" y="1771344"/>
                </a:lnTo>
                <a:lnTo>
                  <a:pt x="3733673" y="1769890"/>
                </a:lnTo>
                <a:cubicBezTo>
                  <a:pt x="3750180" y="1769890"/>
                  <a:pt x="3769595" y="1769890"/>
                  <a:pt x="3786098" y="1771344"/>
                </a:cubicBezTo>
                <a:lnTo>
                  <a:pt x="3786098" y="1758722"/>
                </a:lnTo>
                <a:lnTo>
                  <a:pt x="3777362" y="1758722"/>
                </a:lnTo>
                <a:cubicBezTo>
                  <a:pt x="3747264" y="1758722"/>
                  <a:pt x="3746294" y="1753867"/>
                  <a:pt x="3746294" y="1739307"/>
                </a:cubicBezTo>
                <a:lnTo>
                  <a:pt x="3746294" y="1606298"/>
                </a:lnTo>
                <a:lnTo>
                  <a:pt x="3793865" y="1606298"/>
                </a:lnTo>
                <a:lnTo>
                  <a:pt x="3793865" y="1593681"/>
                </a:lnTo>
                <a:lnTo>
                  <a:pt x="3744840" y="1593681"/>
                </a:lnTo>
                <a:lnTo>
                  <a:pt x="3744840" y="1545622"/>
                </a:lnTo>
                <a:cubicBezTo>
                  <a:pt x="3744840" y="1508730"/>
                  <a:pt x="3764740" y="1489311"/>
                  <a:pt x="3783186" y="1489311"/>
                </a:cubicBezTo>
                <a:cubicBezTo>
                  <a:pt x="3784644" y="1489311"/>
                  <a:pt x="3790953" y="1489311"/>
                  <a:pt x="3796781" y="1492223"/>
                </a:cubicBezTo>
                <a:cubicBezTo>
                  <a:pt x="3791926" y="1494166"/>
                  <a:pt x="3784644" y="1499505"/>
                  <a:pt x="3784644" y="1509699"/>
                </a:cubicBezTo>
                <a:cubicBezTo>
                  <a:pt x="3784644" y="1519409"/>
                  <a:pt x="3790953" y="1527661"/>
                  <a:pt x="3802120" y="1527661"/>
                </a:cubicBezTo>
                <a:cubicBezTo>
                  <a:pt x="3814253" y="1527661"/>
                  <a:pt x="3820566" y="1519409"/>
                  <a:pt x="3820566" y="1509215"/>
                </a:cubicBezTo>
                <a:close/>
                <a:moveTo>
                  <a:pt x="3723478" y="1497563"/>
                </a:moveTo>
                <a:cubicBezTo>
                  <a:pt x="3716685" y="1498536"/>
                  <a:pt x="3708430" y="1503875"/>
                  <a:pt x="3708430" y="1515524"/>
                </a:cubicBezTo>
                <a:cubicBezTo>
                  <a:pt x="3708430" y="1517951"/>
                  <a:pt x="3708918" y="1528145"/>
                  <a:pt x="3720082" y="1532031"/>
                </a:cubicBezTo>
                <a:cubicBezTo>
                  <a:pt x="3719113" y="1537370"/>
                  <a:pt x="3719113" y="1541251"/>
                  <a:pt x="3719113" y="1546106"/>
                </a:cubicBezTo>
                <a:lnTo>
                  <a:pt x="3719113" y="1593681"/>
                </a:lnTo>
                <a:lnTo>
                  <a:pt x="3631250" y="1593681"/>
                </a:lnTo>
                <a:lnTo>
                  <a:pt x="3631250" y="1547080"/>
                </a:lnTo>
                <a:cubicBezTo>
                  <a:pt x="3631250" y="1506787"/>
                  <a:pt x="3664745" y="1489311"/>
                  <a:pt x="3691927" y="1489311"/>
                </a:cubicBezTo>
                <a:cubicBezTo>
                  <a:pt x="3711830" y="1489311"/>
                  <a:pt x="3723478" y="1497563"/>
                  <a:pt x="3723478" y="1497563"/>
                </a:cubicBezTo>
                <a:close/>
                <a:moveTo>
                  <a:pt x="3973355" y="1722316"/>
                </a:moveTo>
                <a:cubicBezTo>
                  <a:pt x="3973355" y="1717950"/>
                  <a:pt x="3969954" y="1717461"/>
                  <a:pt x="3968011" y="1717461"/>
                </a:cubicBezTo>
                <a:cubicBezTo>
                  <a:pt x="3964130" y="1717461"/>
                  <a:pt x="3963160" y="1719888"/>
                  <a:pt x="3962672" y="1723289"/>
                </a:cubicBezTo>
                <a:cubicBezTo>
                  <a:pt x="3948111" y="1765520"/>
                  <a:pt x="3910731" y="1765520"/>
                  <a:pt x="3906850" y="1765520"/>
                </a:cubicBezTo>
                <a:cubicBezTo>
                  <a:pt x="3885977" y="1765520"/>
                  <a:pt x="3869470" y="1753383"/>
                  <a:pt x="3860249" y="1737849"/>
                </a:cubicBezTo>
                <a:cubicBezTo>
                  <a:pt x="3847627" y="1717950"/>
                  <a:pt x="3847627" y="1690764"/>
                  <a:pt x="3847627" y="1676199"/>
                </a:cubicBezTo>
                <a:lnTo>
                  <a:pt x="3963160" y="1676199"/>
                </a:lnTo>
                <a:cubicBezTo>
                  <a:pt x="3971896" y="1676199"/>
                  <a:pt x="3973355" y="1676199"/>
                  <a:pt x="3973355" y="1667463"/>
                </a:cubicBezTo>
                <a:cubicBezTo>
                  <a:pt x="3973355" y="1626686"/>
                  <a:pt x="3951023" y="1586398"/>
                  <a:pt x="3899568" y="1586398"/>
                </a:cubicBezTo>
                <a:cubicBezTo>
                  <a:pt x="3851509" y="1586398"/>
                  <a:pt x="3813648" y="1629114"/>
                  <a:pt x="3813648" y="1680569"/>
                </a:cubicBezTo>
                <a:cubicBezTo>
                  <a:pt x="3813648" y="1735906"/>
                  <a:pt x="3856852" y="1775714"/>
                  <a:pt x="3904422" y="1775714"/>
                </a:cubicBezTo>
                <a:cubicBezTo>
                  <a:pt x="3954905" y="1775714"/>
                  <a:pt x="3973355" y="1730082"/>
                  <a:pt x="3973355" y="1722316"/>
                </a:cubicBezTo>
                <a:close/>
                <a:moveTo>
                  <a:pt x="3946169" y="1667463"/>
                </a:moveTo>
                <a:lnTo>
                  <a:pt x="3848112" y="1667463"/>
                </a:lnTo>
                <a:cubicBezTo>
                  <a:pt x="3850540" y="1605813"/>
                  <a:pt x="3885492" y="1595619"/>
                  <a:pt x="3899568" y="1595619"/>
                </a:cubicBezTo>
                <a:cubicBezTo>
                  <a:pt x="3941798" y="1595619"/>
                  <a:pt x="3946169" y="1651445"/>
                  <a:pt x="3946169" y="1667463"/>
                </a:cubicBezTo>
                <a:close/>
                <a:moveTo>
                  <a:pt x="4156614" y="1722316"/>
                </a:moveTo>
                <a:cubicBezTo>
                  <a:pt x="4156614" y="1717950"/>
                  <a:pt x="4152223" y="1717950"/>
                  <a:pt x="4151270" y="1717950"/>
                </a:cubicBezTo>
                <a:cubicBezTo>
                  <a:pt x="4147377" y="1717950"/>
                  <a:pt x="4146424" y="1719888"/>
                  <a:pt x="4145927" y="1722316"/>
                </a:cubicBezTo>
                <a:cubicBezTo>
                  <a:pt x="4133790" y="1760665"/>
                  <a:pt x="4107089" y="1765520"/>
                  <a:pt x="4091555" y="1765520"/>
                </a:cubicBezTo>
                <a:cubicBezTo>
                  <a:pt x="4069709" y="1765520"/>
                  <a:pt x="4033302" y="1748043"/>
                  <a:pt x="4033302" y="1681539"/>
                </a:cubicBezTo>
                <a:cubicBezTo>
                  <a:pt x="4033302" y="1614065"/>
                  <a:pt x="4067281" y="1596593"/>
                  <a:pt x="4089128" y="1596593"/>
                </a:cubicBezTo>
                <a:cubicBezTo>
                  <a:pt x="4093009" y="1596593"/>
                  <a:pt x="4118737" y="1597077"/>
                  <a:pt x="4133293" y="1612126"/>
                </a:cubicBezTo>
                <a:cubicBezTo>
                  <a:pt x="4116310" y="1613096"/>
                  <a:pt x="4113882" y="1625717"/>
                  <a:pt x="4113882" y="1631056"/>
                </a:cubicBezTo>
                <a:cubicBezTo>
                  <a:pt x="4113882" y="1641735"/>
                  <a:pt x="4121649" y="1649987"/>
                  <a:pt x="4132796" y="1649987"/>
                </a:cubicBezTo>
                <a:cubicBezTo>
                  <a:pt x="4143483" y="1649987"/>
                  <a:pt x="4151726" y="1643194"/>
                  <a:pt x="4151726" y="1630572"/>
                </a:cubicBezTo>
                <a:cubicBezTo>
                  <a:pt x="4151726" y="1602417"/>
                  <a:pt x="4120680" y="1586398"/>
                  <a:pt x="4088643" y="1586398"/>
                </a:cubicBezTo>
                <a:cubicBezTo>
                  <a:pt x="4037187" y="1586398"/>
                  <a:pt x="3999323" y="1631056"/>
                  <a:pt x="3999323" y="1682028"/>
                </a:cubicBezTo>
                <a:cubicBezTo>
                  <a:pt x="3999323" y="1734937"/>
                  <a:pt x="4040099" y="1775714"/>
                  <a:pt x="4088154" y="1775714"/>
                </a:cubicBezTo>
                <a:cubicBezTo>
                  <a:pt x="4143483" y="1775714"/>
                  <a:pt x="4156614" y="1726201"/>
                  <a:pt x="4156614" y="1722316"/>
                </a:cubicBezTo>
                <a:close/>
                <a:moveTo>
                  <a:pt x="4305281" y="1720377"/>
                </a:moveTo>
                <a:lnTo>
                  <a:pt x="4305281" y="1696588"/>
                </a:lnTo>
                <a:lnTo>
                  <a:pt x="4295050" y="1696588"/>
                </a:lnTo>
                <a:lnTo>
                  <a:pt x="4295050" y="1719404"/>
                </a:lnTo>
                <a:cubicBezTo>
                  <a:pt x="4295050" y="1749986"/>
                  <a:pt x="4282457" y="1765520"/>
                  <a:pt x="4267379" y="1765520"/>
                </a:cubicBezTo>
                <a:cubicBezTo>
                  <a:pt x="4239750" y="1765520"/>
                  <a:pt x="4239750" y="1728144"/>
                  <a:pt x="4239750" y="1720862"/>
                </a:cubicBezTo>
                <a:lnTo>
                  <a:pt x="4239750" y="1606298"/>
                </a:lnTo>
                <a:lnTo>
                  <a:pt x="4298944" y="1606298"/>
                </a:lnTo>
                <a:lnTo>
                  <a:pt x="4298944" y="1593681"/>
                </a:lnTo>
                <a:lnTo>
                  <a:pt x="4239750" y="1593681"/>
                </a:lnTo>
                <a:lnTo>
                  <a:pt x="4239750" y="1517466"/>
                </a:lnTo>
                <a:lnTo>
                  <a:pt x="4229519" y="1517466"/>
                </a:lnTo>
                <a:cubicBezTo>
                  <a:pt x="4229063" y="1551446"/>
                  <a:pt x="4216429" y="1595619"/>
                  <a:pt x="4176125" y="1597077"/>
                </a:cubicBezTo>
                <a:lnTo>
                  <a:pt x="4176125" y="1606298"/>
                </a:lnTo>
                <a:lnTo>
                  <a:pt x="4211085" y="1606298"/>
                </a:lnTo>
                <a:lnTo>
                  <a:pt x="4211085" y="1720377"/>
                </a:lnTo>
                <a:cubicBezTo>
                  <a:pt x="4211085" y="1770859"/>
                  <a:pt x="4249443" y="1775714"/>
                  <a:pt x="4264480" y="1775714"/>
                </a:cubicBezTo>
                <a:cubicBezTo>
                  <a:pt x="4293600" y="1775714"/>
                  <a:pt x="4305281" y="1746589"/>
                  <a:pt x="4305281" y="1720377"/>
                </a:cubicBezTo>
                <a:close/>
                <a:moveTo>
                  <a:pt x="4999283" y="1694160"/>
                </a:moveTo>
                <a:lnTo>
                  <a:pt x="4999283" y="1670375"/>
                </a:lnTo>
                <a:lnTo>
                  <a:pt x="4889595" y="1670375"/>
                </a:lnTo>
                <a:lnTo>
                  <a:pt x="4889595" y="1694160"/>
                </a:lnTo>
                <a:close/>
                <a:moveTo>
                  <a:pt x="5211079" y="1687367"/>
                </a:moveTo>
                <a:cubicBezTo>
                  <a:pt x="5211079" y="1634942"/>
                  <a:pt x="5174668" y="1595134"/>
                  <a:pt x="5128564" y="1595134"/>
                </a:cubicBezTo>
                <a:cubicBezTo>
                  <a:pt x="5100893" y="1595134"/>
                  <a:pt x="5085360" y="1616008"/>
                  <a:pt x="5077075" y="1635911"/>
                </a:cubicBezTo>
                <a:lnTo>
                  <a:pt x="5077075" y="1626202"/>
                </a:lnTo>
                <a:cubicBezTo>
                  <a:pt x="5077075" y="1521836"/>
                  <a:pt x="5128564" y="1506787"/>
                  <a:pt x="5149400" y="1506787"/>
                </a:cubicBezTo>
                <a:cubicBezTo>
                  <a:pt x="5159134" y="1506787"/>
                  <a:pt x="5176615" y="1509215"/>
                  <a:pt x="5185811" y="1523290"/>
                </a:cubicBezTo>
                <a:cubicBezTo>
                  <a:pt x="5179514" y="1523290"/>
                  <a:pt x="5163028" y="1523290"/>
                  <a:pt x="5163028" y="1541740"/>
                </a:cubicBezTo>
                <a:cubicBezTo>
                  <a:pt x="5163028" y="1554846"/>
                  <a:pt x="5172721" y="1560671"/>
                  <a:pt x="5181958" y="1560671"/>
                </a:cubicBezTo>
                <a:cubicBezTo>
                  <a:pt x="5188752" y="1560671"/>
                  <a:pt x="5200889" y="1557274"/>
                  <a:pt x="5200889" y="1541251"/>
                </a:cubicBezTo>
                <a:cubicBezTo>
                  <a:pt x="5200889" y="1516497"/>
                  <a:pt x="5182911" y="1496593"/>
                  <a:pt x="5148447" y="1496593"/>
                </a:cubicBezTo>
                <a:cubicBezTo>
                  <a:pt x="5095550" y="1496593"/>
                  <a:pt x="5040209" y="1549992"/>
                  <a:pt x="5040209" y="1640766"/>
                </a:cubicBezTo>
                <a:cubicBezTo>
                  <a:pt x="5040209" y="1750955"/>
                  <a:pt x="5087762" y="1780569"/>
                  <a:pt x="5126120" y="1780569"/>
                </a:cubicBezTo>
                <a:cubicBezTo>
                  <a:pt x="5172224" y="1780569"/>
                  <a:pt x="5211079" y="1741735"/>
                  <a:pt x="5211079" y="1687367"/>
                </a:cubicBezTo>
                <a:close/>
                <a:moveTo>
                  <a:pt x="5174171" y="1686882"/>
                </a:moveTo>
                <a:cubicBezTo>
                  <a:pt x="5174171" y="1706782"/>
                  <a:pt x="5174171" y="1727170"/>
                  <a:pt x="5167377" y="1742219"/>
                </a:cubicBezTo>
                <a:cubicBezTo>
                  <a:pt x="5154743" y="1766974"/>
                  <a:pt x="5135813" y="1768916"/>
                  <a:pt x="5126120" y="1768916"/>
                </a:cubicBezTo>
                <a:cubicBezTo>
                  <a:pt x="5100396" y="1768916"/>
                  <a:pt x="5087762" y="1744162"/>
                  <a:pt x="5085360" y="1737849"/>
                </a:cubicBezTo>
                <a:cubicBezTo>
                  <a:pt x="5078069" y="1718434"/>
                  <a:pt x="5078069" y="1685424"/>
                  <a:pt x="5078069" y="1678142"/>
                </a:cubicBezTo>
                <a:cubicBezTo>
                  <a:pt x="5078069" y="1646105"/>
                  <a:pt x="5091159" y="1604844"/>
                  <a:pt x="5128564" y="1604844"/>
                </a:cubicBezTo>
                <a:cubicBezTo>
                  <a:pt x="5134860" y="1604844"/>
                  <a:pt x="5153791" y="1604844"/>
                  <a:pt x="5166880" y="1630087"/>
                </a:cubicBezTo>
                <a:cubicBezTo>
                  <a:pt x="5174171" y="1645621"/>
                  <a:pt x="5174171" y="1666494"/>
                  <a:pt x="5174171" y="1686882"/>
                </a:cubicBezTo>
                <a:close/>
                <a:moveTo>
                  <a:pt x="5417366" y="1687367"/>
                </a:moveTo>
                <a:cubicBezTo>
                  <a:pt x="5417366" y="1634942"/>
                  <a:pt x="5380954" y="1595134"/>
                  <a:pt x="5334851" y="1595134"/>
                </a:cubicBezTo>
                <a:cubicBezTo>
                  <a:pt x="5307180" y="1595134"/>
                  <a:pt x="5291647" y="1616008"/>
                  <a:pt x="5283403" y="1635911"/>
                </a:cubicBezTo>
                <a:lnTo>
                  <a:pt x="5283403" y="1626202"/>
                </a:lnTo>
                <a:cubicBezTo>
                  <a:pt x="5283403" y="1521836"/>
                  <a:pt x="5334851" y="1506787"/>
                  <a:pt x="5355728" y="1506787"/>
                </a:cubicBezTo>
                <a:cubicBezTo>
                  <a:pt x="5365421" y="1506787"/>
                  <a:pt x="5382902" y="1509215"/>
                  <a:pt x="5392139" y="1523290"/>
                </a:cubicBezTo>
                <a:cubicBezTo>
                  <a:pt x="5385801" y="1523290"/>
                  <a:pt x="5369315" y="1523290"/>
                  <a:pt x="5369315" y="1541740"/>
                </a:cubicBezTo>
                <a:cubicBezTo>
                  <a:pt x="5369315" y="1554846"/>
                  <a:pt x="5379007" y="1560671"/>
                  <a:pt x="5388245" y="1560671"/>
                </a:cubicBezTo>
                <a:cubicBezTo>
                  <a:pt x="5395038" y="1560671"/>
                  <a:pt x="5407175" y="1557274"/>
                  <a:pt x="5407175" y="1541251"/>
                </a:cubicBezTo>
                <a:cubicBezTo>
                  <a:pt x="5407175" y="1516497"/>
                  <a:pt x="5389239" y="1496593"/>
                  <a:pt x="5354734" y="1496593"/>
                </a:cubicBezTo>
                <a:cubicBezTo>
                  <a:pt x="5301837" y="1496593"/>
                  <a:pt x="5246495" y="1549992"/>
                  <a:pt x="5246495" y="1640766"/>
                </a:cubicBezTo>
                <a:cubicBezTo>
                  <a:pt x="5246495" y="1750955"/>
                  <a:pt x="5294090" y="1780569"/>
                  <a:pt x="5332406" y="1780569"/>
                </a:cubicBezTo>
                <a:cubicBezTo>
                  <a:pt x="5378552" y="1780569"/>
                  <a:pt x="5417366" y="1741735"/>
                  <a:pt x="5417366" y="1687367"/>
                </a:cubicBezTo>
                <a:close/>
                <a:moveTo>
                  <a:pt x="5380499" y="1686882"/>
                </a:moveTo>
                <a:cubicBezTo>
                  <a:pt x="5380499" y="1706782"/>
                  <a:pt x="5380499" y="1727170"/>
                  <a:pt x="5373706" y="1742219"/>
                </a:cubicBezTo>
                <a:cubicBezTo>
                  <a:pt x="5361071" y="1766974"/>
                  <a:pt x="5342141" y="1768916"/>
                  <a:pt x="5332406" y="1768916"/>
                </a:cubicBezTo>
                <a:cubicBezTo>
                  <a:pt x="5306683" y="1768916"/>
                  <a:pt x="5294090" y="1744162"/>
                  <a:pt x="5291647" y="1737849"/>
                </a:cubicBezTo>
                <a:cubicBezTo>
                  <a:pt x="5284356" y="1718434"/>
                  <a:pt x="5284356" y="1685424"/>
                  <a:pt x="5284356" y="1678142"/>
                </a:cubicBezTo>
                <a:cubicBezTo>
                  <a:pt x="5284356" y="1646105"/>
                  <a:pt x="5297487" y="1604844"/>
                  <a:pt x="5334851" y="1604844"/>
                </a:cubicBezTo>
                <a:cubicBezTo>
                  <a:pt x="5341147" y="1604844"/>
                  <a:pt x="5360077" y="1604844"/>
                  <a:pt x="5373208" y="1630087"/>
                </a:cubicBezTo>
                <a:cubicBezTo>
                  <a:pt x="5380499" y="1645621"/>
                  <a:pt x="5380499" y="1666494"/>
                  <a:pt x="5380499" y="1686882"/>
                </a:cubicBezTo>
                <a:close/>
                <a:moveTo>
                  <a:pt x="5629492" y="1703385"/>
                </a:moveTo>
                <a:lnTo>
                  <a:pt x="5629492" y="1690279"/>
                </a:lnTo>
                <a:lnTo>
                  <a:pt x="5588235" y="1690279"/>
                </a:lnTo>
                <a:lnTo>
                  <a:pt x="5588235" y="1502906"/>
                </a:lnTo>
                <a:cubicBezTo>
                  <a:pt x="5588235" y="1494650"/>
                  <a:pt x="5588235" y="1492223"/>
                  <a:pt x="5581939" y="1492223"/>
                </a:cubicBezTo>
                <a:cubicBezTo>
                  <a:pt x="5578045" y="1492223"/>
                  <a:pt x="5577092" y="1492223"/>
                  <a:pt x="5573695" y="1497078"/>
                </a:cubicBezTo>
                <a:lnTo>
                  <a:pt x="5446983" y="1690279"/>
                </a:lnTo>
                <a:lnTo>
                  <a:pt x="5446983" y="1703385"/>
                </a:lnTo>
                <a:lnTo>
                  <a:pt x="5556671" y="1703385"/>
                </a:lnTo>
                <a:lnTo>
                  <a:pt x="5556671" y="1739307"/>
                </a:lnTo>
                <a:cubicBezTo>
                  <a:pt x="5556671" y="1753867"/>
                  <a:pt x="5555718" y="1758722"/>
                  <a:pt x="5525148" y="1758722"/>
                </a:cubicBezTo>
                <a:lnTo>
                  <a:pt x="5516408" y="1758722"/>
                </a:lnTo>
                <a:lnTo>
                  <a:pt x="5516408" y="1771344"/>
                </a:lnTo>
                <a:cubicBezTo>
                  <a:pt x="5533391" y="1769890"/>
                  <a:pt x="5555221" y="1769890"/>
                  <a:pt x="5572204" y="1769890"/>
                </a:cubicBezTo>
                <a:cubicBezTo>
                  <a:pt x="5589685" y="1769890"/>
                  <a:pt x="5611556" y="1769890"/>
                  <a:pt x="5628540" y="1771344"/>
                </a:cubicBezTo>
                <a:lnTo>
                  <a:pt x="5628540" y="1758722"/>
                </a:lnTo>
                <a:lnTo>
                  <a:pt x="5619800" y="1758722"/>
                </a:lnTo>
                <a:cubicBezTo>
                  <a:pt x="5589229" y="1758722"/>
                  <a:pt x="5588235" y="1753867"/>
                  <a:pt x="5588235" y="1739307"/>
                </a:cubicBezTo>
                <a:lnTo>
                  <a:pt x="5588235" y="1703385"/>
                </a:lnTo>
                <a:close/>
                <a:moveTo>
                  <a:pt x="5559115" y="1690279"/>
                </a:moveTo>
                <a:lnTo>
                  <a:pt x="5458622" y="1690279"/>
                </a:lnTo>
                <a:lnTo>
                  <a:pt x="5559115" y="1536397"/>
                </a:lnTo>
                <a:close/>
                <a:moveTo>
                  <a:pt x="5720872" y="1749502"/>
                </a:moveTo>
                <a:cubicBezTo>
                  <a:pt x="5720872" y="1737365"/>
                  <a:pt x="5711178" y="1727655"/>
                  <a:pt x="5699042" y="1727655"/>
                </a:cubicBezTo>
                <a:cubicBezTo>
                  <a:pt x="5687402" y="1727655"/>
                  <a:pt x="5677212" y="1737365"/>
                  <a:pt x="5677212" y="1749502"/>
                </a:cubicBezTo>
                <a:cubicBezTo>
                  <a:pt x="5677212" y="1761634"/>
                  <a:pt x="5687402" y="1771344"/>
                  <a:pt x="5699042" y="1771344"/>
                </a:cubicBezTo>
                <a:cubicBezTo>
                  <a:pt x="5711178" y="1771344"/>
                  <a:pt x="5720872" y="1761634"/>
                  <a:pt x="5720872" y="1749502"/>
                </a:cubicBezTo>
                <a:close/>
                <a:moveTo>
                  <a:pt x="5944804" y="1635427"/>
                </a:moveTo>
                <a:cubicBezTo>
                  <a:pt x="5944804" y="1524748"/>
                  <a:pt x="5897707" y="1496593"/>
                  <a:pt x="5860798" y="1496593"/>
                </a:cubicBezTo>
                <a:cubicBezTo>
                  <a:pt x="5838016" y="1496593"/>
                  <a:pt x="5818092" y="1503875"/>
                  <a:pt x="5800114" y="1522321"/>
                </a:cubicBezTo>
                <a:cubicBezTo>
                  <a:pt x="5783130" y="1541251"/>
                  <a:pt x="5773934" y="1558243"/>
                  <a:pt x="5773934" y="1589310"/>
                </a:cubicBezTo>
                <a:cubicBezTo>
                  <a:pt x="5773934" y="1640766"/>
                  <a:pt x="5810346" y="1681539"/>
                  <a:pt x="5856449" y="1681539"/>
                </a:cubicBezTo>
                <a:cubicBezTo>
                  <a:pt x="5881676" y="1681539"/>
                  <a:pt x="5898203" y="1664067"/>
                  <a:pt x="5907897" y="1640281"/>
                </a:cubicBezTo>
                <a:lnTo>
                  <a:pt x="5907897" y="1653388"/>
                </a:lnTo>
                <a:cubicBezTo>
                  <a:pt x="5907897" y="1749986"/>
                  <a:pt x="5865189" y="1768916"/>
                  <a:pt x="5840915" y="1768916"/>
                </a:cubicBezTo>
                <a:cubicBezTo>
                  <a:pt x="5834122" y="1768916"/>
                  <a:pt x="5811795" y="1767947"/>
                  <a:pt x="5800611" y="1753867"/>
                </a:cubicBezTo>
                <a:cubicBezTo>
                  <a:pt x="5818588" y="1753867"/>
                  <a:pt x="5821985" y="1742219"/>
                  <a:pt x="5821985" y="1734937"/>
                </a:cubicBezTo>
                <a:cubicBezTo>
                  <a:pt x="5821985" y="1722316"/>
                  <a:pt x="5812251" y="1716007"/>
                  <a:pt x="5803055" y="1716007"/>
                </a:cubicBezTo>
                <a:cubicBezTo>
                  <a:pt x="5796261" y="1716007"/>
                  <a:pt x="5784124" y="1719888"/>
                  <a:pt x="5784124" y="1735906"/>
                </a:cubicBezTo>
                <a:cubicBezTo>
                  <a:pt x="5784124" y="1763577"/>
                  <a:pt x="5806452" y="1780569"/>
                  <a:pt x="5841413" y="1780569"/>
                </a:cubicBezTo>
                <a:cubicBezTo>
                  <a:pt x="5894807" y="1780569"/>
                  <a:pt x="5944804" y="1724258"/>
                  <a:pt x="5944804" y="1635427"/>
                </a:cubicBezTo>
                <a:close/>
                <a:moveTo>
                  <a:pt x="5906944" y="1597562"/>
                </a:moveTo>
                <a:cubicBezTo>
                  <a:pt x="5906944" y="1632026"/>
                  <a:pt x="5892860" y="1671833"/>
                  <a:pt x="5856947" y="1671833"/>
                </a:cubicBezTo>
                <a:cubicBezTo>
                  <a:pt x="5850111" y="1671833"/>
                  <a:pt x="5831181" y="1671833"/>
                  <a:pt x="5818588" y="1646105"/>
                </a:cubicBezTo>
                <a:cubicBezTo>
                  <a:pt x="5810801" y="1630572"/>
                  <a:pt x="5810801" y="1610183"/>
                  <a:pt x="5810801" y="1589795"/>
                </a:cubicBezTo>
                <a:cubicBezTo>
                  <a:pt x="5810801" y="1567464"/>
                  <a:pt x="5810801" y="1548049"/>
                  <a:pt x="5819542" y="1533000"/>
                </a:cubicBezTo>
                <a:cubicBezTo>
                  <a:pt x="5830725" y="1512127"/>
                  <a:pt x="5846259" y="1506787"/>
                  <a:pt x="5860798" y="1506787"/>
                </a:cubicBezTo>
                <a:cubicBezTo>
                  <a:pt x="5879729" y="1506787"/>
                  <a:pt x="5893316" y="1520863"/>
                  <a:pt x="5900606" y="1539313"/>
                </a:cubicBezTo>
                <a:cubicBezTo>
                  <a:pt x="5905452" y="1552419"/>
                  <a:pt x="5906944" y="1578632"/>
                  <a:pt x="5906944" y="1597562"/>
                </a:cubicBezTo>
                <a:close/>
                <a:moveTo>
                  <a:pt x="6148191" y="1688336"/>
                </a:moveTo>
                <a:cubicBezTo>
                  <a:pt x="6148191" y="1639308"/>
                  <a:pt x="6114183" y="1598047"/>
                  <a:pt x="6069529" y="1598047"/>
                </a:cubicBezTo>
                <a:cubicBezTo>
                  <a:pt x="6049646" y="1598047"/>
                  <a:pt x="6032166" y="1604844"/>
                  <a:pt x="6017129" y="1618920"/>
                </a:cubicBezTo>
                <a:lnTo>
                  <a:pt x="6017129" y="1538824"/>
                </a:lnTo>
                <a:cubicBezTo>
                  <a:pt x="6025372" y="1541251"/>
                  <a:pt x="6038959" y="1544163"/>
                  <a:pt x="6052049" y="1544163"/>
                </a:cubicBezTo>
                <a:cubicBezTo>
                  <a:pt x="6103040" y="1544163"/>
                  <a:pt x="6132161" y="1506303"/>
                  <a:pt x="6132161" y="1500963"/>
                </a:cubicBezTo>
                <a:cubicBezTo>
                  <a:pt x="6132161" y="1498536"/>
                  <a:pt x="6130711" y="1496593"/>
                  <a:pt x="6127812" y="1496593"/>
                </a:cubicBezTo>
                <a:cubicBezTo>
                  <a:pt x="6127812" y="1496593"/>
                  <a:pt x="6126320" y="1496593"/>
                  <a:pt x="6124415" y="1497563"/>
                </a:cubicBezTo>
                <a:cubicBezTo>
                  <a:pt x="6116130" y="1501448"/>
                  <a:pt x="6096247" y="1509699"/>
                  <a:pt x="6068576" y="1509699"/>
                </a:cubicBezTo>
                <a:cubicBezTo>
                  <a:pt x="6052090" y="1509699"/>
                  <a:pt x="6033118" y="1506787"/>
                  <a:pt x="6013732" y="1498051"/>
                </a:cubicBezTo>
                <a:cubicBezTo>
                  <a:pt x="6010335" y="1497078"/>
                  <a:pt x="6008389" y="1497078"/>
                  <a:pt x="6008389" y="1497078"/>
                </a:cubicBezTo>
                <a:cubicBezTo>
                  <a:pt x="6004495" y="1497078"/>
                  <a:pt x="6004495" y="1500479"/>
                  <a:pt x="6004495" y="1506787"/>
                </a:cubicBezTo>
                <a:lnTo>
                  <a:pt x="6004495" y="1629114"/>
                </a:lnTo>
                <a:cubicBezTo>
                  <a:pt x="6004495" y="1636396"/>
                  <a:pt x="6004495" y="1639793"/>
                  <a:pt x="6010335" y="1639793"/>
                </a:cubicBezTo>
                <a:cubicBezTo>
                  <a:pt x="6013235" y="1639793"/>
                  <a:pt x="6013732" y="1638339"/>
                  <a:pt x="6015680" y="1635911"/>
                </a:cubicBezTo>
                <a:cubicBezTo>
                  <a:pt x="6020029" y="1629598"/>
                  <a:pt x="6035562" y="1607271"/>
                  <a:pt x="6068576" y="1607271"/>
                </a:cubicBezTo>
                <a:cubicBezTo>
                  <a:pt x="6090407" y="1607271"/>
                  <a:pt x="6100596" y="1626202"/>
                  <a:pt x="6103993" y="1633484"/>
                </a:cubicBezTo>
                <a:cubicBezTo>
                  <a:pt x="6110331" y="1649018"/>
                  <a:pt x="6111284" y="1665036"/>
                  <a:pt x="6111284" y="1685424"/>
                </a:cubicBezTo>
                <a:cubicBezTo>
                  <a:pt x="6111284" y="1699989"/>
                  <a:pt x="6111284" y="1724743"/>
                  <a:pt x="6101591" y="1742219"/>
                </a:cubicBezTo>
                <a:cubicBezTo>
                  <a:pt x="6091400" y="1758238"/>
                  <a:pt x="6076322" y="1768916"/>
                  <a:pt x="6057392" y="1768916"/>
                </a:cubicBezTo>
                <a:cubicBezTo>
                  <a:pt x="6027319" y="1768916"/>
                  <a:pt x="6003543" y="1747074"/>
                  <a:pt x="5996749" y="1722800"/>
                </a:cubicBezTo>
                <a:cubicBezTo>
                  <a:pt x="5997702" y="1723289"/>
                  <a:pt x="5999152" y="1723289"/>
                  <a:pt x="6003543" y="1723289"/>
                </a:cubicBezTo>
                <a:cubicBezTo>
                  <a:pt x="6017129" y="1723289"/>
                  <a:pt x="6024420" y="1713095"/>
                  <a:pt x="6024420" y="1703385"/>
                </a:cubicBezTo>
                <a:cubicBezTo>
                  <a:pt x="6024420" y="1693191"/>
                  <a:pt x="6017129" y="1682997"/>
                  <a:pt x="6003543" y="1682997"/>
                </a:cubicBezTo>
                <a:cubicBezTo>
                  <a:pt x="5997702" y="1682997"/>
                  <a:pt x="5983618" y="1685909"/>
                  <a:pt x="5983618" y="1704843"/>
                </a:cubicBezTo>
                <a:cubicBezTo>
                  <a:pt x="5983618" y="1740277"/>
                  <a:pt x="6011785" y="1780569"/>
                  <a:pt x="6057890" y="1780569"/>
                </a:cubicBezTo>
                <a:cubicBezTo>
                  <a:pt x="6105940" y="1780569"/>
                  <a:pt x="6148191" y="1740761"/>
                  <a:pt x="6148191" y="1688336"/>
                </a:cubicBezTo>
                <a:close/>
                <a:moveTo>
                  <a:pt x="6354478" y="1699500"/>
                </a:moveTo>
                <a:lnTo>
                  <a:pt x="6343791" y="1699500"/>
                </a:lnTo>
                <a:cubicBezTo>
                  <a:pt x="6341886" y="1712121"/>
                  <a:pt x="6338945" y="1730082"/>
                  <a:pt x="6335092" y="1736395"/>
                </a:cubicBezTo>
                <a:cubicBezTo>
                  <a:pt x="6332151" y="1739792"/>
                  <a:pt x="6304978" y="1739792"/>
                  <a:pt x="6295740" y="1739792"/>
                </a:cubicBezTo>
                <a:lnTo>
                  <a:pt x="6221469" y="1739792"/>
                </a:lnTo>
                <a:lnTo>
                  <a:pt x="6265170" y="1697072"/>
                </a:lnTo>
                <a:cubicBezTo>
                  <a:pt x="6329749" y="1640281"/>
                  <a:pt x="6354478" y="1617950"/>
                  <a:pt x="6354478" y="1576689"/>
                </a:cubicBezTo>
                <a:cubicBezTo>
                  <a:pt x="6354478" y="1529603"/>
                  <a:pt x="6317115" y="1496593"/>
                  <a:pt x="6266620" y="1496593"/>
                </a:cubicBezTo>
                <a:cubicBezTo>
                  <a:pt x="6220019" y="1496593"/>
                  <a:pt x="6189946" y="1534458"/>
                  <a:pt x="6189946" y="1571349"/>
                </a:cubicBezTo>
                <a:cubicBezTo>
                  <a:pt x="6189946" y="1594165"/>
                  <a:pt x="6210326" y="1594165"/>
                  <a:pt x="6211776" y="1594165"/>
                </a:cubicBezTo>
                <a:cubicBezTo>
                  <a:pt x="6218569" y="1594165"/>
                  <a:pt x="6233150" y="1589310"/>
                  <a:pt x="6233150" y="1572319"/>
                </a:cubicBezTo>
                <a:cubicBezTo>
                  <a:pt x="6233150" y="1561640"/>
                  <a:pt x="6225363" y="1550961"/>
                  <a:pt x="6211279" y="1550961"/>
                </a:cubicBezTo>
                <a:cubicBezTo>
                  <a:pt x="6207882" y="1550961"/>
                  <a:pt x="6206929" y="1550961"/>
                  <a:pt x="6205935" y="1551446"/>
                </a:cubicBezTo>
                <a:cubicBezTo>
                  <a:pt x="6215173" y="1524748"/>
                  <a:pt x="6237500" y="1509215"/>
                  <a:pt x="6261277" y="1509215"/>
                </a:cubicBezTo>
                <a:cubicBezTo>
                  <a:pt x="6299137" y="1509215"/>
                  <a:pt x="6316618" y="1542709"/>
                  <a:pt x="6316618" y="1576689"/>
                </a:cubicBezTo>
                <a:cubicBezTo>
                  <a:pt x="6316618" y="1609699"/>
                  <a:pt x="6296237" y="1642220"/>
                  <a:pt x="6273414" y="1667948"/>
                </a:cubicBezTo>
                <a:lnTo>
                  <a:pt x="6194295" y="1756295"/>
                </a:lnTo>
                <a:cubicBezTo>
                  <a:pt x="6189946" y="1760665"/>
                  <a:pt x="6189946" y="1761634"/>
                  <a:pt x="6189946" y="1771344"/>
                </a:cubicBezTo>
                <a:lnTo>
                  <a:pt x="6342838" y="1771344"/>
                </a:lnTo>
                <a:close/>
                <a:moveTo>
                  <a:pt x="6554593" y="1589310"/>
                </a:moveTo>
                <a:cubicBezTo>
                  <a:pt x="6554593" y="1584940"/>
                  <a:pt x="6553143" y="1581544"/>
                  <a:pt x="6545853" y="1578147"/>
                </a:cubicBezTo>
                <a:lnTo>
                  <a:pt x="6487612" y="1550961"/>
                </a:lnTo>
                <a:lnTo>
                  <a:pt x="6544899" y="1523779"/>
                </a:lnTo>
                <a:cubicBezTo>
                  <a:pt x="6553143" y="1519894"/>
                  <a:pt x="6554593" y="1516982"/>
                  <a:pt x="6554593" y="1512127"/>
                </a:cubicBezTo>
                <a:cubicBezTo>
                  <a:pt x="6554593" y="1506787"/>
                  <a:pt x="6550244" y="1500479"/>
                  <a:pt x="6543450" y="1500479"/>
                </a:cubicBezTo>
                <a:cubicBezTo>
                  <a:pt x="6540509" y="1500479"/>
                  <a:pt x="6539556" y="1500479"/>
                  <a:pt x="6528869" y="1508730"/>
                </a:cubicBezTo>
                <a:lnTo>
                  <a:pt x="6483262" y="1542225"/>
                </a:lnTo>
                <a:lnTo>
                  <a:pt x="6489558" y="1472323"/>
                </a:lnTo>
                <a:cubicBezTo>
                  <a:pt x="6489558" y="1466011"/>
                  <a:pt x="6484215" y="1461645"/>
                  <a:pt x="6478871" y="1461645"/>
                </a:cubicBezTo>
                <a:cubicBezTo>
                  <a:pt x="6472078" y="1461645"/>
                  <a:pt x="6467729" y="1466984"/>
                  <a:pt x="6467729" y="1472323"/>
                </a:cubicBezTo>
                <a:lnTo>
                  <a:pt x="6473528" y="1542225"/>
                </a:lnTo>
                <a:lnTo>
                  <a:pt x="6422578" y="1505329"/>
                </a:lnTo>
                <a:cubicBezTo>
                  <a:pt x="6416737" y="1500479"/>
                  <a:pt x="6415784" y="1500479"/>
                  <a:pt x="6413340" y="1500479"/>
                </a:cubicBezTo>
                <a:cubicBezTo>
                  <a:pt x="6407044" y="1500479"/>
                  <a:pt x="6402198" y="1506787"/>
                  <a:pt x="6402198" y="1512127"/>
                </a:cubicBezTo>
                <a:cubicBezTo>
                  <a:pt x="6402198" y="1516982"/>
                  <a:pt x="6404144" y="1519894"/>
                  <a:pt x="6410938" y="1523290"/>
                </a:cubicBezTo>
                <a:lnTo>
                  <a:pt x="6469179" y="1550476"/>
                </a:lnTo>
                <a:lnTo>
                  <a:pt x="6411890" y="1577658"/>
                </a:lnTo>
                <a:cubicBezTo>
                  <a:pt x="6404103" y="1581544"/>
                  <a:pt x="6402198" y="1584456"/>
                  <a:pt x="6402198" y="1589310"/>
                </a:cubicBezTo>
                <a:cubicBezTo>
                  <a:pt x="6402198" y="1589310"/>
                  <a:pt x="6402198" y="1600959"/>
                  <a:pt x="6415784" y="1600959"/>
                </a:cubicBezTo>
                <a:lnTo>
                  <a:pt x="6473528" y="1559212"/>
                </a:lnTo>
                <a:lnTo>
                  <a:pt x="6467729" y="1629598"/>
                </a:lnTo>
                <a:cubicBezTo>
                  <a:pt x="6467729" y="1635427"/>
                  <a:pt x="6473072" y="1639793"/>
                  <a:pt x="6478375" y="1639793"/>
                </a:cubicBezTo>
                <a:cubicBezTo>
                  <a:pt x="6484712" y="1639793"/>
                  <a:pt x="6489558" y="1634938"/>
                  <a:pt x="6489558" y="1629598"/>
                </a:cubicBezTo>
                <a:lnTo>
                  <a:pt x="6483262" y="1559212"/>
                </a:lnTo>
                <a:lnTo>
                  <a:pt x="6536657" y="1598531"/>
                </a:lnTo>
                <a:cubicBezTo>
                  <a:pt x="6539059" y="1599505"/>
                  <a:pt x="6540053" y="1600959"/>
                  <a:pt x="6543450" y="1600959"/>
                </a:cubicBezTo>
                <a:cubicBezTo>
                  <a:pt x="6550244" y="1600959"/>
                  <a:pt x="6554593" y="1594650"/>
                  <a:pt x="6554593" y="1589310"/>
                </a:cubicBezTo>
                <a:close/>
                <a:moveTo>
                  <a:pt x="6760921" y="1589310"/>
                </a:moveTo>
                <a:cubicBezTo>
                  <a:pt x="6760921" y="1584940"/>
                  <a:pt x="6759471" y="1581544"/>
                  <a:pt x="6752181" y="1578147"/>
                </a:cubicBezTo>
                <a:lnTo>
                  <a:pt x="6693940" y="1550961"/>
                </a:lnTo>
                <a:lnTo>
                  <a:pt x="6751187" y="1523779"/>
                </a:lnTo>
                <a:cubicBezTo>
                  <a:pt x="6759471" y="1519894"/>
                  <a:pt x="6760921" y="1516982"/>
                  <a:pt x="6760921" y="1512127"/>
                </a:cubicBezTo>
                <a:cubicBezTo>
                  <a:pt x="6760921" y="1506787"/>
                  <a:pt x="6756530" y="1500479"/>
                  <a:pt x="6749737" y="1500479"/>
                </a:cubicBezTo>
                <a:cubicBezTo>
                  <a:pt x="6746837" y="1500479"/>
                  <a:pt x="6745884" y="1500479"/>
                  <a:pt x="6735197" y="1508730"/>
                </a:cubicBezTo>
                <a:lnTo>
                  <a:pt x="6689549" y="1542225"/>
                </a:lnTo>
                <a:lnTo>
                  <a:pt x="6695845" y="1472323"/>
                </a:lnTo>
                <a:cubicBezTo>
                  <a:pt x="6695845" y="1466011"/>
                  <a:pt x="6690543" y="1461645"/>
                  <a:pt x="6685200" y="1461645"/>
                </a:cubicBezTo>
                <a:cubicBezTo>
                  <a:pt x="6678406" y="1461645"/>
                  <a:pt x="6674015" y="1466984"/>
                  <a:pt x="6674015" y="1472323"/>
                </a:cubicBezTo>
                <a:lnTo>
                  <a:pt x="6679856" y="1542225"/>
                </a:lnTo>
                <a:lnTo>
                  <a:pt x="6628864" y="1505329"/>
                </a:lnTo>
                <a:cubicBezTo>
                  <a:pt x="6623065" y="1500479"/>
                  <a:pt x="6622071" y="1500479"/>
                  <a:pt x="6619668" y="1500479"/>
                </a:cubicBezTo>
                <a:cubicBezTo>
                  <a:pt x="6613331" y="1500479"/>
                  <a:pt x="6608484" y="1506787"/>
                  <a:pt x="6608484" y="1512127"/>
                </a:cubicBezTo>
                <a:cubicBezTo>
                  <a:pt x="6608484" y="1516982"/>
                  <a:pt x="6610431" y="1519894"/>
                  <a:pt x="6617224" y="1523290"/>
                </a:cubicBezTo>
                <a:lnTo>
                  <a:pt x="6675465" y="1550476"/>
                </a:lnTo>
                <a:lnTo>
                  <a:pt x="6618177" y="1577658"/>
                </a:lnTo>
                <a:cubicBezTo>
                  <a:pt x="6610431" y="1581544"/>
                  <a:pt x="6608484" y="1584456"/>
                  <a:pt x="6608484" y="1589310"/>
                </a:cubicBezTo>
                <a:cubicBezTo>
                  <a:pt x="6608484" y="1589310"/>
                  <a:pt x="6608484" y="1600959"/>
                  <a:pt x="6622071" y="1600959"/>
                </a:cubicBezTo>
                <a:lnTo>
                  <a:pt x="6679856" y="1559212"/>
                </a:lnTo>
                <a:lnTo>
                  <a:pt x="6674015" y="1629598"/>
                </a:lnTo>
                <a:cubicBezTo>
                  <a:pt x="6674015" y="1635427"/>
                  <a:pt x="6679359" y="1639793"/>
                  <a:pt x="6684702" y="1639793"/>
                </a:cubicBezTo>
                <a:cubicBezTo>
                  <a:pt x="6690999" y="1639793"/>
                  <a:pt x="6695845" y="1634938"/>
                  <a:pt x="6695845" y="1629598"/>
                </a:cubicBezTo>
                <a:lnTo>
                  <a:pt x="6689549" y="1559212"/>
                </a:lnTo>
                <a:lnTo>
                  <a:pt x="6742943" y="1598531"/>
                </a:lnTo>
                <a:cubicBezTo>
                  <a:pt x="6745387" y="1599505"/>
                  <a:pt x="6746340" y="1600959"/>
                  <a:pt x="6749737" y="1600959"/>
                </a:cubicBezTo>
                <a:cubicBezTo>
                  <a:pt x="6756530" y="1600959"/>
                  <a:pt x="6760921" y="1594650"/>
                  <a:pt x="6760921" y="1589310"/>
                </a:cubicBezTo>
                <a:close/>
                <a:moveTo>
                  <a:pt x="6967207" y="1589310"/>
                </a:moveTo>
                <a:cubicBezTo>
                  <a:pt x="6967207" y="1584940"/>
                  <a:pt x="6965757" y="1581544"/>
                  <a:pt x="6958467" y="1578147"/>
                </a:cubicBezTo>
                <a:lnTo>
                  <a:pt x="6900226" y="1550961"/>
                </a:lnTo>
                <a:lnTo>
                  <a:pt x="6957515" y="1523779"/>
                </a:lnTo>
                <a:cubicBezTo>
                  <a:pt x="6965757" y="1519894"/>
                  <a:pt x="6967207" y="1516982"/>
                  <a:pt x="6967207" y="1512127"/>
                </a:cubicBezTo>
                <a:cubicBezTo>
                  <a:pt x="6967207" y="1506787"/>
                  <a:pt x="6962858" y="1500479"/>
                  <a:pt x="6956065" y="1500479"/>
                </a:cubicBezTo>
                <a:cubicBezTo>
                  <a:pt x="6953124" y="1500479"/>
                  <a:pt x="6952171" y="1500479"/>
                  <a:pt x="6941484" y="1508730"/>
                </a:cubicBezTo>
                <a:lnTo>
                  <a:pt x="6895877" y="1542225"/>
                </a:lnTo>
                <a:lnTo>
                  <a:pt x="6902173" y="1472323"/>
                </a:lnTo>
                <a:cubicBezTo>
                  <a:pt x="6902173" y="1466011"/>
                  <a:pt x="6896830" y="1461645"/>
                  <a:pt x="6891486" y="1461645"/>
                </a:cubicBezTo>
                <a:cubicBezTo>
                  <a:pt x="6884693" y="1461645"/>
                  <a:pt x="6880343" y="1466984"/>
                  <a:pt x="6880343" y="1472323"/>
                </a:cubicBezTo>
                <a:lnTo>
                  <a:pt x="6886143" y="1542225"/>
                </a:lnTo>
                <a:lnTo>
                  <a:pt x="6835192" y="1505329"/>
                </a:lnTo>
                <a:cubicBezTo>
                  <a:pt x="6829352" y="1500479"/>
                  <a:pt x="6828399" y="1500479"/>
                  <a:pt x="6825955" y="1500479"/>
                </a:cubicBezTo>
                <a:cubicBezTo>
                  <a:pt x="6819659" y="1500479"/>
                  <a:pt x="6814812" y="1506787"/>
                  <a:pt x="6814812" y="1512127"/>
                </a:cubicBezTo>
                <a:cubicBezTo>
                  <a:pt x="6814812" y="1516982"/>
                  <a:pt x="6816718" y="1519894"/>
                  <a:pt x="6823511" y="1523290"/>
                </a:cubicBezTo>
                <a:lnTo>
                  <a:pt x="6881793" y="1550476"/>
                </a:lnTo>
                <a:lnTo>
                  <a:pt x="6824505" y="1577658"/>
                </a:lnTo>
                <a:cubicBezTo>
                  <a:pt x="6816718" y="1581544"/>
                  <a:pt x="6814812" y="1584456"/>
                  <a:pt x="6814812" y="1589310"/>
                </a:cubicBezTo>
                <a:cubicBezTo>
                  <a:pt x="6814812" y="1589310"/>
                  <a:pt x="6814812" y="1600959"/>
                  <a:pt x="6828399" y="1600959"/>
                </a:cubicBezTo>
                <a:lnTo>
                  <a:pt x="6886143" y="1559212"/>
                </a:lnTo>
                <a:lnTo>
                  <a:pt x="6880343" y="1629598"/>
                </a:lnTo>
                <a:cubicBezTo>
                  <a:pt x="6880343" y="1635427"/>
                  <a:pt x="6885646" y="1639793"/>
                  <a:pt x="6890989" y="1639793"/>
                </a:cubicBezTo>
                <a:cubicBezTo>
                  <a:pt x="6897327" y="1639793"/>
                  <a:pt x="6902173" y="1634938"/>
                  <a:pt x="6902173" y="1629598"/>
                </a:cubicBezTo>
                <a:lnTo>
                  <a:pt x="6895877" y="1559212"/>
                </a:lnTo>
                <a:lnTo>
                  <a:pt x="6949271" y="1598531"/>
                </a:lnTo>
                <a:cubicBezTo>
                  <a:pt x="6951674" y="1599505"/>
                  <a:pt x="6952668" y="1600959"/>
                  <a:pt x="6956065" y="1600959"/>
                </a:cubicBezTo>
                <a:cubicBezTo>
                  <a:pt x="6962858" y="1600959"/>
                  <a:pt x="6967207" y="1594650"/>
                  <a:pt x="6967207" y="1589310"/>
                </a:cubicBezTo>
                <a:close/>
                <a:moveTo>
                  <a:pt x="5342721" y="2530673"/>
                </a:moveTo>
                <a:cubicBezTo>
                  <a:pt x="5342721" y="2529215"/>
                  <a:pt x="5342721" y="2528731"/>
                  <a:pt x="5335928" y="2521449"/>
                </a:cubicBezTo>
                <a:cubicBezTo>
                  <a:pt x="5284480" y="2469508"/>
                  <a:pt x="5270894" y="2391840"/>
                  <a:pt x="5270894" y="2328252"/>
                </a:cubicBezTo>
                <a:cubicBezTo>
                  <a:pt x="5270894" y="2256892"/>
                  <a:pt x="5286924" y="2185048"/>
                  <a:pt x="5337419" y="2133108"/>
                </a:cubicBezTo>
                <a:cubicBezTo>
                  <a:pt x="5342721" y="2128253"/>
                  <a:pt x="5342721" y="2127768"/>
                  <a:pt x="5342721" y="2126314"/>
                </a:cubicBezTo>
                <a:cubicBezTo>
                  <a:pt x="5342721" y="2123398"/>
                  <a:pt x="5341271" y="2121944"/>
                  <a:pt x="5338869" y="2121944"/>
                </a:cubicBezTo>
                <a:cubicBezTo>
                  <a:pt x="5334478" y="2121944"/>
                  <a:pt x="5297611" y="2150099"/>
                  <a:pt x="5273337" y="2202524"/>
                </a:cubicBezTo>
                <a:cubicBezTo>
                  <a:pt x="5251963" y="2248156"/>
                  <a:pt x="5247117" y="2293783"/>
                  <a:pt x="5247117" y="2328252"/>
                </a:cubicBezTo>
                <a:cubicBezTo>
                  <a:pt x="5247117" y="2360773"/>
                  <a:pt x="5251963" y="2410770"/>
                  <a:pt x="5274290" y="2457371"/>
                </a:cubicBezTo>
                <a:cubicBezTo>
                  <a:pt x="5299061" y="2507858"/>
                  <a:pt x="5334478" y="2535039"/>
                  <a:pt x="5338869" y="2535039"/>
                </a:cubicBezTo>
                <a:cubicBezTo>
                  <a:pt x="5341271" y="2535039"/>
                  <a:pt x="5342721" y="2533585"/>
                  <a:pt x="5342721" y="2530673"/>
                </a:cubicBezTo>
                <a:close/>
                <a:moveTo>
                  <a:pt x="5552322" y="2359803"/>
                </a:moveTo>
                <a:lnTo>
                  <a:pt x="5541635" y="2359803"/>
                </a:lnTo>
                <a:cubicBezTo>
                  <a:pt x="5539687" y="2372425"/>
                  <a:pt x="5536788" y="2390386"/>
                  <a:pt x="5532894" y="2396695"/>
                </a:cubicBezTo>
                <a:cubicBezTo>
                  <a:pt x="5529994" y="2400092"/>
                  <a:pt x="5502821" y="2400092"/>
                  <a:pt x="5493584" y="2400092"/>
                </a:cubicBezTo>
                <a:lnTo>
                  <a:pt x="5419312" y="2400092"/>
                </a:lnTo>
                <a:lnTo>
                  <a:pt x="5463013" y="2357376"/>
                </a:lnTo>
                <a:cubicBezTo>
                  <a:pt x="5527550" y="2300581"/>
                  <a:pt x="5552322" y="2278250"/>
                  <a:pt x="5552322" y="2236988"/>
                </a:cubicBezTo>
                <a:cubicBezTo>
                  <a:pt x="5552322" y="2189903"/>
                  <a:pt x="5514958" y="2156893"/>
                  <a:pt x="5464463" y="2156893"/>
                </a:cubicBezTo>
                <a:cubicBezTo>
                  <a:pt x="5417862" y="2156893"/>
                  <a:pt x="5387748" y="2194758"/>
                  <a:pt x="5387748" y="2231649"/>
                </a:cubicBezTo>
                <a:cubicBezTo>
                  <a:pt x="5387748" y="2254465"/>
                  <a:pt x="5408170" y="2254465"/>
                  <a:pt x="5409619" y="2254465"/>
                </a:cubicBezTo>
                <a:cubicBezTo>
                  <a:pt x="5416412" y="2254465"/>
                  <a:pt x="5430952" y="2249610"/>
                  <a:pt x="5430952" y="2232622"/>
                </a:cubicBezTo>
                <a:cubicBezTo>
                  <a:pt x="5430952" y="2221939"/>
                  <a:pt x="5423206" y="2211261"/>
                  <a:pt x="5409122" y="2211261"/>
                </a:cubicBezTo>
                <a:cubicBezTo>
                  <a:pt x="5405725" y="2211261"/>
                  <a:pt x="5404773" y="2211261"/>
                  <a:pt x="5403779" y="2211749"/>
                </a:cubicBezTo>
                <a:cubicBezTo>
                  <a:pt x="5413016" y="2185048"/>
                  <a:pt x="5435343" y="2169514"/>
                  <a:pt x="5459120" y="2169514"/>
                </a:cubicBezTo>
                <a:cubicBezTo>
                  <a:pt x="5496980" y="2169514"/>
                  <a:pt x="5514461" y="2203009"/>
                  <a:pt x="5514461" y="2236988"/>
                </a:cubicBezTo>
                <a:cubicBezTo>
                  <a:pt x="5514461" y="2269998"/>
                  <a:pt x="5494081" y="2302524"/>
                  <a:pt x="5471257" y="2328252"/>
                </a:cubicBezTo>
                <a:lnTo>
                  <a:pt x="5392139" y="2416599"/>
                </a:lnTo>
                <a:cubicBezTo>
                  <a:pt x="5387748" y="2420965"/>
                  <a:pt x="5387748" y="2421938"/>
                  <a:pt x="5387748" y="2431643"/>
                </a:cubicBezTo>
                <a:lnTo>
                  <a:pt x="5540681" y="2431643"/>
                </a:lnTo>
                <a:close/>
                <a:moveTo>
                  <a:pt x="5761549" y="2361258"/>
                </a:moveTo>
                <a:cubicBezTo>
                  <a:pt x="5761549" y="2327278"/>
                  <a:pt x="5735825" y="2295242"/>
                  <a:pt x="5693077" y="2286501"/>
                </a:cubicBezTo>
                <a:cubicBezTo>
                  <a:pt x="5726588" y="2275338"/>
                  <a:pt x="5750862" y="2246213"/>
                  <a:pt x="5750862" y="2213688"/>
                </a:cubicBezTo>
                <a:cubicBezTo>
                  <a:pt x="5750862" y="2179709"/>
                  <a:pt x="5714451" y="2156893"/>
                  <a:pt x="5674644" y="2156893"/>
                </a:cubicBezTo>
                <a:cubicBezTo>
                  <a:pt x="5632889" y="2156893"/>
                  <a:pt x="5601822" y="2181651"/>
                  <a:pt x="5601822" y="2212719"/>
                </a:cubicBezTo>
                <a:cubicBezTo>
                  <a:pt x="5601822" y="2226794"/>
                  <a:pt x="5610562" y="2234561"/>
                  <a:pt x="5622699" y="2234561"/>
                </a:cubicBezTo>
                <a:cubicBezTo>
                  <a:pt x="5635333" y="2234561"/>
                  <a:pt x="5643577" y="2225340"/>
                  <a:pt x="5643577" y="2213203"/>
                </a:cubicBezTo>
                <a:cubicBezTo>
                  <a:pt x="5643577" y="2192815"/>
                  <a:pt x="5624149" y="2192815"/>
                  <a:pt x="5618350" y="2192815"/>
                </a:cubicBezTo>
                <a:cubicBezTo>
                  <a:pt x="5630942" y="2172426"/>
                  <a:pt x="5658157" y="2167087"/>
                  <a:pt x="5673194" y="2167087"/>
                </a:cubicBezTo>
                <a:cubicBezTo>
                  <a:pt x="5690177" y="2167087"/>
                  <a:pt x="5712505" y="2176312"/>
                  <a:pt x="5712505" y="2213203"/>
                </a:cubicBezTo>
                <a:cubicBezTo>
                  <a:pt x="5712505" y="2218543"/>
                  <a:pt x="5712049" y="2242328"/>
                  <a:pt x="5701361" y="2260289"/>
                </a:cubicBezTo>
                <a:cubicBezTo>
                  <a:pt x="5688727" y="2280193"/>
                  <a:pt x="5674644" y="2281651"/>
                  <a:pt x="5664454" y="2281651"/>
                </a:cubicBezTo>
                <a:cubicBezTo>
                  <a:pt x="5661057" y="2282135"/>
                  <a:pt x="5651364" y="2283105"/>
                  <a:pt x="5648423" y="2283105"/>
                </a:cubicBezTo>
                <a:cubicBezTo>
                  <a:pt x="5645026" y="2283589"/>
                  <a:pt x="5642127" y="2284078"/>
                  <a:pt x="5642127" y="2287959"/>
                </a:cubicBezTo>
                <a:cubicBezTo>
                  <a:pt x="5642127" y="2292814"/>
                  <a:pt x="5645026" y="2292814"/>
                  <a:pt x="5651819" y="2292814"/>
                </a:cubicBezTo>
                <a:lnTo>
                  <a:pt x="5670294" y="2292814"/>
                </a:lnTo>
                <a:cubicBezTo>
                  <a:pt x="5703764" y="2292814"/>
                  <a:pt x="5719297" y="2320485"/>
                  <a:pt x="5719297" y="2361258"/>
                </a:cubicBezTo>
                <a:cubicBezTo>
                  <a:pt x="5719297" y="2417083"/>
                  <a:pt x="5690674" y="2429220"/>
                  <a:pt x="5672696" y="2429220"/>
                </a:cubicBezTo>
                <a:cubicBezTo>
                  <a:pt x="5654760" y="2429220"/>
                  <a:pt x="5624149" y="2421938"/>
                  <a:pt x="5609609" y="2397664"/>
                </a:cubicBezTo>
                <a:cubicBezTo>
                  <a:pt x="5624149" y="2400092"/>
                  <a:pt x="5636783" y="2390871"/>
                  <a:pt x="5636783" y="2375337"/>
                </a:cubicBezTo>
                <a:cubicBezTo>
                  <a:pt x="5636783" y="2360288"/>
                  <a:pt x="5625640" y="2352037"/>
                  <a:pt x="5613504" y="2352037"/>
                </a:cubicBezTo>
                <a:cubicBezTo>
                  <a:pt x="5603769" y="2352037"/>
                  <a:pt x="5590679" y="2357861"/>
                  <a:pt x="5590679" y="2375822"/>
                </a:cubicBezTo>
                <a:cubicBezTo>
                  <a:pt x="5590679" y="2413687"/>
                  <a:pt x="5629037" y="2440868"/>
                  <a:pt x="5673691" y="2440868"/>
                </a:cubicBezTo>
                <a:cubicBezTo>
                  <a:pt x="5724144" y="2440868"/>
                  <a:pt x="5761549" y="2403004"/>
                  <a:pt x="5761549" y="2361258"/>
                </a:cubicBezTo>
                <a:close/>
                <a:moveTo>
                  <a:pt x="5858728" y="2409801"/>
                </a:moveTo>
                <a:cubicBezTo>
                  <a:pt x="5858728" y="2397664"/>
                  <a:pt x="5849034" y="2387959"/>
                  <a:pt x="5836897" y="2387959"/>
                </a:cubicBezTo>
                <a:cubicBezTo>
                  <a:pt x="5825258" y="2387959"/>
                  <a:pt x="5815068" y="2397664"/>
                  <a:pt x="5815068" y="2409801"/>
                </a:cubicBezTo>
                <a:cubicBezTo>
                  <a:pt x="5815068" y="2421938"/>
                  <a:pt x="5825258" y="2431648"/>
                  <a:pt x="5836897" y="2431648"/>
                </a:cubicBezTo>
                <a:cubicBezTo>
                  <a:pt x="5849034" y="2431648"/>
                  <a:pt x="5858728" y="2421938"/>
                  <a:pt x="5858728" y="2409801"/>
                </a:cubicBezTo>
                <a:close/>
                <a:moveTo>
                  <a:pt x="6084110" y="2299612"/>
                </a:moveTo>
                <a:cubicBezTo>
                  <a:pt x="6084110" y="2266602"/>
                  <a:pt x="6082163" y="2233592"/>
                  <a:pt x="6067582" y="2203009"/>
                </a:cubicBezTo>
                <a:cubicBezTo>
                  <a:pt x="6048652" y="2163206"/>
                  <a:pt x="6014685" y="2156893"/>
                  <a:pt x="5997702" y="2156893"/>
                </a:cubicBezTo>
                <a:cubicBezTo>
                  <a:pt x="5972931" y="2156893"/>
                  <a:pt x="5942361" y="2167576"/>
                  <a:pt x="5925875" y="2205921"/>
                </a:cubicBezTo>
                <a:cubicBezTo>
                  <a:pt x="5912246" y="2234561"/>
                  <a:pt x="5910341" y="2266602"/>
                  <a:pt x="5910341" y="2299612"/>
                </a:cubicBezTo>
                <a:cubicBezTo>
                  <a:pt x="5910341" y="2330679"/>
                  <a:pt x="5912246" y="2367570"/>
                  <a:pt x="5928774" y="2399122"/>
                </a:cubicBezTo>
                <a:cubicBezTo>
                  <a:pt x="5946752" y="2432617"/>
                  <a:pt x="5976825" y="2440868"/>
                  <a:pt x="5997205" y="2440868"/>
                </a:cubicBezTo>
                <a:cubicBezTo>
                  <a:pt x="6019531" y="2440868"/>
                  <a:pt x="6050599" y="2432132"/>
                  <a:pt x="6069073" y="2392814"/>
                </a:cubicBezTo>
                <a:cubicBezTo>
                  <a:pt x="6082163" y="2364169"/>
                  <a:pt x="6084110" y="2332133"/>
                  <a:pt x="6084110" y="2299612"/>
                </a:cubicBezTo>
                <a:close/>
                <a:moveTo>
                  <a:pt x="6049646" y="2294757"/>
                </a:moveTo>
                <a:cubicBezTo>
                  <a:pt x="6049646" y="2325824"/>
                  <a:pt x="6049646" y="2353491"/>
                  <a:pt x="6045255" y="2380192"/>
                </a:cubicBezTo>
                <a:cubicBezTo>
                  <a:pt x="6038959" y="2419026"/>
                  <a:pt x="6015680" y="2431648"/>
                  <a:pt x="5997205" y="2431648"/>
                </a:cubicBezTo>
                <a:cubicBezTo>
                  <a:pt x="5981216" y="2431648"/>
                  <a:pt x="5956444" y="2421453"/>
                  <a:pt x="5949154" y="2381646"/>
                </a:cubicBezTo>
                <a:cubicBezTo>
                  <a:pt x="5944804" y="2356892"/>
                  <a:pt x="5944804" y="2319027"/>
                  <a:pt x="5944804" y="2294757"/>
                </a:cubicBezTo>
                <a:cubicBezTo>
                  <a:pt x="5944804" y="2268056"/>
                  <a:pt x="5944804" y="2240874"/>
                  <a:pt x="5948201" y="2218543"/>
                </a:cubicBezTo>
                <a:cubicBezTo>
                  <a:pt x="5955948" y="2169514"/>
                  <a:pt x="5986517" y="2166118"/>
                  <a:pt x="5997205" y="2166118"/>
                </a:cubicBezTo>
                <a:cubicBezTo>
                  <a:pt x="6010791" y="2166118"/>
                  <a:pt x="6038006" y="2173400"/>
                  <a:pt x="6045753" y="2214177"/>
                </a:cubicBezTo>
                <a:cubicBezTo>
                  <a:pt x="6049646" y="2237477"/>
                  <a:pt x="6049646" y="2268544"/>
                  <a:pt x="6049646" y="2294757"/>
                </a:cubicBezTo>
                <a:close/>
                <a:moveTo>
                  <a:pt x="6290397" y="2299612"/>
                </a:moveTo>
                <a:cubicBezTo>
                  <a:pt x="6290397" y="2266602"/>
                  <a:pt x="6288450" y="2233592"/>
                  <a:pt x="6273910" y="2203009"/>
                </a:cubicBezTo>
                <a:cubicBezTo>
                  <a:pt x="6254980" y="2163206"/>
                  <a:pt x="6221014" y="2156893"/>
                  <a:pt x="6203988" y="2156893"/>
                </a:cubicBezTo>
                <a:cubicBezTo>
                  <a:pt x="6179259" y="2156893"/>
                  <a:pt x="6148689" y="2167576"/>
                  <a:pt x="6132161" y="2205921"/>
                </a:cubicBezTo>
                <a:cubicBezTo>
                  <a:pt x="6118574" y="2234561"/>
                  <a:pt x="6116627" y="2266602"/>
                  <a:pt x="6116627" y="2299612"/>
                </a:cubicBezTo>
                <a:cubicBezTo>
                  <a:pt x="6116627" y="2330679"/>
                  <a:pt x="6118574" y="2367570"/>
                  <a:pt x="6135060" y="2399122"/>
                </a:cubicBezTo>
                <a:cubicBezTo>
                  <a:pt x="6153038" y="2432617"/>
                  <a:pt x="6183153" y="2440868"/>
                  <a:pt x="6203532" y="2440868"/>
                </a:cubicBezTo>
                <a:cubicBezTo>
                  <a:pt x="6225860" y="2440868"/>
                  <a:pt x="6256927" y="2432132"/>
                  <a:pt x="6275360" y="2392814"/>
                </a:cubicBezTo>
                <a:cubicBezTo>
                  <a:pt x="6288492" y="2364169"/>
                  <a:pt x="6290397" y="2332133"/>
                  <a:pt x="6290397" y="2299612"/>
                </a:cubicBezTo>
                <a:close/>
                <a:moveTo>
                  <a:pt x="6255933" y="2294757"/>
                </a:moveTo>
                <a:cubicBezTo>
                  <a:pt x="6255933" y="2325824"/>
                  <a:pt x="6255933" y="2353491"/>
                  <a:pt x="6251583" y="2380192"/>
                </a:cubicBezTo>
                <a:cubicBezTo>
                  <a:pt x="6245287" y="2419026"/>
                  <a:pt x="6221966" y="2431648"/>
                  <a:pt x="6203532" y="2431648"/>
                </a:cubicBezTo>
                <a:cubicBezTo>
                  <a:pt x="6187502" y="2431648"/>
                  <a:pt x="6162731" y="2421453"/>
                  <a:pt x="6155482" y="2381646"/>
                </a:cubicBezTo>
                <a:cubicBezTo>
                  <a:pt x="6151091" y="2356892"/>
                  <a:pt x="6151091" y="2319027"/>
                  <a:pt x="6151091" y="2294757"/>
                </a:cubicBezTo>
                <a:cubicBezTo>
                  <a:pt x="6151091" y="2268056"/>
                  <a:pt x="6151091" y="2240874"/>
                  <a:pt x="6154488" y="2218543"/>
                </a:cubicBezTo>
                <a:cubicBezTo>
                  <a:pt x="6162275" y="2169514"/>
                  <a:pt x="6192846" y="2166118"/>
                  <a:pt x="6203532" y="2166118"/>
                </a:cubicBezTo>
                <a:cubicBezTo>
                  <a:pt x="6217119" y="2166118"/>
                  <a:pt x="6244293" y="2173400"/>
                  <a:pt x="6252081" y="2214177"/>
                </a:cubicBezTo>
                <a:cubicBezTo>
                  <a:pt x="6255933" y="2237477"/>
                  <a:pt x="6255933" y="2268544"/>
                  <a:pt x="6255933" y="2294757"/>
                </a:cubicBezTo>
                <a:close/>
                <a:moveTo>
                  <a:pt x="6492334" y="2359803"/>
                </a:moveTo>
                <a:lnTo>
                  <a:pt x="6481689" y="2359803"/>
                </a:lnTo>
                <a:cubicBezTo>
                  <a:pt x="6479741" y="2372425"/>
                  <a:pt x="6476800" y="2390386"/>
                  <a:pt x="6472948" y="2396695"/>
                </a:cubicBezTo>
                <a:cubicBezTo>
                  <a:pt x="6470007" y="2400092"/>
                  <a:pt x="6442834" y="2400092"/>
                  <a:pt x="6433596" y="2400092"/>
                </a:cubicBezTo>
                <a:lnTo>
                  <a:pt x="6359325" y="2400092"/>
                </a:lnTo>
                <a:lnTo>
                  <a:pt x="6403026" y="2357376"/>
                </a:lnTo>
                <a:cubicBezTo>
                  <a:pt x="6467604" y="2300581"/>
                  <a:pt x="6492334" y="2278250"/>
                  <a:pt x="6492334" y="2236988"/>
                </a:cubicBezTo>
                <a:cubicBezTo>
                  <a:pt x="6492334" y="2189903"/>
                  <a:pt x="6454971" y="2156893"/>
                  <a:pt x="6404475" y="2156893"/>
                </a:cubicBezTo>
                <a:cubicBezTo>
                  <a:pt x="6357875" y="2156893"/>
                  <a:pt x="6327802" y="2194758"/>
                  <a:pt x="6327802" y="2231649"/>
                </a:cubicBezTo>
                <a:cubicBezTo>
                  <a:pt x="6327802" y="2254465"/>
                  <a:pt x="6348182" y="2254465"/>
                  <a:pt x="6349632" y="2254465"/>
                </a:cubicBezTo>
                <a:cubicBezTo>
                  <a:pt x="6356425" y="2254465"/>
                  <a:pt x="6371006" y="2249610"/>
                  <a:pt x="6371006" y="2232622"/>
                </a:cubicBezTo>
                <a:cubicBezTo>
                  <a:pt x="6371006" y="2221944"/>
                  <a:pt x="6363219" y="2211261"/>
                  <a:pt x="6349134" y="2211261"/>
                </a:cubicBezTo>
                <a:cubicBezTo>
                  <a:pt x="6345738" y="2211261"/>
                  <a:pt x="6344785" y="2211261"/>
                  <a:pt x="6343791" y="2211749"/>
                </a:cubicBezTo>
                <a:cubicBezTo>
                  <a:pt x="6353029" y="2185048"/>
                  <a:pt x="6375356" y="2169514"/>
                  <a:pt x="6399132" y="2169514"/>
                </a:cubicBezTo>
                <a:cubicBezTo>
                  <a:pt x="6436993" y="2169514"/>
                  <a:pt x="6454473" y="2203009"/>
                  <a:pt x="6454473" y="2236988"/>
                </a:cubicBezTo>
                <a:cubicBezTo>
                  <a:pt x="6454473" y="2269998"/>
                  <a:pt x="6434093" y="2302524"/>
                  <a:pt x="6411269" y="2328252"/>
                </a:cubicBezTo>
                <a:lnTo>
                  <a:pt x="6332151" y="2416599"/>
                </a:lnTo>
                <a:cubicBezTo>
                  <a:pt x="6327802" y="2420965"/>
                  <a:pt x="6327802" y="2421938"/>
                  <a:pt x="6327802" y="2431648"/>
                </a:cubicBezTo>
                <a:lnTo>
                  <a:pt x="6480694" y="2431648"/>
                </a:lnTo>
                <a:close/>
                <a:moveTo>
                  <a:pt x="6632758" y="2328252"/>
                </a:moveTo>
                <a:cubicBezTo>
                  <a:pt x="6632758" y="2296211"/>
                  <a:pt x="6627912" y="2246213"/>
                  <a:pt x="6605585" y="2199612"/>
                </a:cubicBezTo>
                <a:cubicBezTo>
                  <a:pt x="6580813" y="2149126"/>
                  <a:pt x="6544899" y="2121944"/>
                  <a:pt x="6541006" y="2121944"/>
                </a:cubicBezTo>
                <a:cubicBezTo>
                  <a:pt x="6538603" y="2121944"/>
                  <a:pt x="6536657" y="2123887"/>
                  <a:pt x="6536657" y="2126314"/>
                </a:cubicBezTo>
                <a:cubicBezTo>
                  <a:pt x="6536657" y="2127768"/>
                  <a:pt x="6536657" y="2128253"/>
                  <a:pt x="6544899" y="2136020"/>
                </a:cubicBezTo>
                <a:cubicBezTo>
                  <a:pt x="6585204" y="2176797"/>
                  <a:pt x="6608484" y="2242328"/>
                  <a:pt x="6608484" y="2328252"/>
                </a:cubicBezTo>
                <a:cubicBezTo>
                  <a:pt x="6608484" y="2399122"/>
                  <a:pt x="6593448" y="2471451"/>
                  <a:pt x="6542456" y="2523876"/>
                </a:cubicBezTo>
                <a:cubicBezTo>
                  <a:pt x="6536657" y="2528731"/>
                  <a:pt x="6536657" y="2529215"/>
                  <a:pt x="6536657" y="2530673"/>
                </a:cubicBezTo>
                <a:cubicBezTo>
                  <a:pt x="6536657" y="2533101"/>
                  <a:pt x="6538603" y="2535039"/>
                  <a:pt x="6541006" y="2535039"/>
                </a:cubicBezTo>
                <a:cubicBezTo>
                  <a:pt x="6544899" y="2535039"/>
                  <a:pt x="6582263" y="2506888"/>
                  <a:pt x="6606537" y="2454459"/>
                </a:cubicBezTo>
                <a:cubicBezTo>
                  <a:pt x="6627414" y="2408832"/>
                  <a:pt x="6632758" y="2363200"/>
                  <a:pt x="6632758" y="2328252"/>
                </a:cubicBezTo>
                <a:close/>
                <a:moveTo>
                  <a:pt x="369064" y="3190973"/>
                </a:moveTo>
                <a:cubicBezTo>
                  <a:pt x="369064" y="3189515"/>
                  <a:pt x="369064" y="3189030"/>
                  <a:pt x="362269" y="3181748"/>
                </a:cubicBezTo>
                <a:cubicBezTo>
                  <a:pt x="310813" y="3129808"/>
                  <a:pt x="297222" y="3052140"/>
                  <a:pt x="297222" y="2988551"/>
                </a:cubicBezTo>
                <a:cubicBezTo>
                  <a:pt x="297222" y="2917192"/>
                  <a:pt x="313241" y="2845352"/>
                  <a:pt x="363725" y="2793407"/>
                </a:cubicBezTo>
                <a:cubicBezTo>
                  <a:pt x="369064" y="2788557"/>
                  <a:pt x="369064" y="2788068"/>
                  <a:pt x="369064" y="2786614"/>
                </a:cubicBezTo>
                <a:cubicBezTo>
                  <a:pt x="369064" y="2783702"/>
                  <a:pt x="367608" y="2782244"/>
                  <a:pt x="365181" y="2782244"/>
                </a:cubicBezTo>
                <a:cubicBezTo>
                  <a:pt x="360812" y="2782244"/>
                  <a:pt x="323920" y="2810399"/>
                  <a:pt x="299649" y="2862824"/>
                </a:cubicBezTo>
                <a:cubicBezTo>
                  <a:pt x="278290" y="2908456"/>
                  <a:pt x="273436" y="2954087"/>
                  <a:pt x="273436" y="2988551"/>
                </a:cubicBezTo>
                <a:cubicBezTo>
                  <a:pt x="273436" y="3021072"/>
                  <a:pt x="278290" y="3071074"/>
                  <a:pt x="300620" y="3117675"/>
                </a:cubicBezTo>
                <a:cubicBezTo>
                  <a:pt x="325376" y="3168157"/>
                  <a:pt x="360812" y="3195343"/>
                  <a:pt x="365181" y="3195343"/>
                </a:cubicBezTo>
                <a:cubicBezTo>
                  <a:pt x="367608" y="3195343"/>
                  <a:pt x="369064" y="3193885"/>
                  <a:pt x="369064" y="3190973"/>
                </a:cubicBezTo>
                <a:close/>
                <a:moveTo>
                  <a:pt x="530588" y="3091947"/>
                </a:moveTo>
                <a:lnTo>
                  <a:pt x="530588" y="3079325"/>
                </a:lnTo>
                <a:lnTo>
                  <a:pt x="519909" y="3079325"/>
                </a:lnTo>
                <a:cubicBezTo>
                  <a:pt x="487388" y="3079325"/>
                  <a:pt x="485930" y="3074471"/>
                  <a:pt x="485930" y="3059906"/>
                </a:cubicBezTo>
                <a:lnTo>
                  <a:pt x="485930" y="2842436"/>
                </a:lnTo>
                <a:cubicBezTo>
                  <a:pt x="485930" y="2827391"/>
                  <a:pt x="487388" y="2823021"/>
                  <a:pt x="519909" y="2823021"/>
                </a:cubicBezTo>
                <a:lnTo>
                  <a:pt x="530588" y="2823021"/>
                </a:lnTo>
                <a:lnTo>
                  <a:pt x="530588" y="2809914"/>
                </a:lnTo>
                <a:cubicBezTo>
                  <a:pt x="516028" y="2811368"/>
                  <a:pt x="483503" y="2811368"/>
                  <a:pt x="467969" y="2811368"/>
                </a:cubicBezTo>
                <a:cubicBezTo>
                  <a:pt x="451951" y="2811368"/>
                  <a:pt x="419429" y="2811368"/>
                  <a:pt x="404865" y="2809914"/>
                </a:cubicBezTo>
                <a:lnTo>
                  <a:pt x="404865" y="2823021"/>
                </a:lnTo>
                <a:lnTo>
                  <a:pt x="415544" y="2823021"/>
                </a:lnTo>
                <a:cubicBezTo>
                  <a:pt x="448069" y="2823021"/>
                  <a:pt x="449523" y="2827391"/>
                  <a:pt x="449523" y="2842436"/>
                </a:cubicBezTo>
                <a:lnTo>
                  <a:pt x="449523" y="3059906"/>
                </a:lnTo>
                <a:cubicBezTo>
                  <a:pt x="449523" y="3074471"/>
                  <a:pt x="448069" y="3079325"/>
                  <a:pt x="415544" y="3079325"/>
                </a:cubicBezTo>
                <a:lnTo>
                  <a:pt x="404865" y="3079325"/>
                </a:lnTo>
                <a:lnTo>
                  <a:pt x="404865" y="3091947"/>
                </a:lnTo>
                <a:cubicBezTo>
                  <a:pt x="419429" y="3090489"/>
                  <a:pt x="451951" y="3090489"/>
                  <a:pt x="467484" y="3090489"/>
                </a:cubicBezTo>
                <a:cubicBezTo>
                  <a:pt x="483503" y="3090489"/>
                  <a:pt x="516028" y="3090489"/>
                  <a:pt x="530588" y="3091947"/>
                </a:cubicBezTo>
                <a:close/>
                <a:moveTo>
                  <a:pt x="763108" y="3091947"/>
                </a:moveTo>
                <a:lnTo>
                  <a:pt x="763108" y="3079325"/>
                </a:lnTo>
                <a:cubicBezTo>
                  <a:pt x="741750" y="3079325"/>
                  <a:pt x="731071" y="3079325"/>
                  <a:pt x="730587" y="3066704"/>
                </a:cubicBezTo>
                <a:lnTo>
                  <a:pt x="730587" y="2988067"/>
                </a:lnTo>
                <a:cubicBezTo>
                  <a:pt x="730587" y="2952629"/>
                  <a:pt x="730587" y="2939523"/>
                  <a:pt x="717965" y="2924958"/>
                </a:cubicBezTo>
                <a:cubicBezTo>
                  <a:pt x="712141" y="2917676"/>
                  <a:pt x="698546" y="2909425"/>
                  <a:pt x="674761" y="2909425"/>
                </a:cubicBezTo>
                <a:cubicBezTo>
                  <a:pt x="644667" y="2909425"/>
                  <a:pt x="625248" y="2927386"/>
                  <a:pt x="613600" y="2953114"/>
                </a:cubicBezTo>
                <a:lnTo>
                  <a:pt x="613600" y="2909425"/>
                </a:lnTo>
                <a:lnTo>
                  <a:pt x="555347" y="2914280"/>
                </a:lnTo>
                <a:lnTo>
                  <a:pt x="555347" y="2926901"/>
                </a:lnTo>
                <a:cubicBezTo>
                  <a:pt x="584471" y="2926901"/>
                  <a:pt x="587872" y="2929813"/>
                  <a:pt x="587872" y="2950202"/>
                </a:cubicBezTo>
                <a:lnTo>
                  <a:pt x="587872" y="3060395"/>
                </a:lnTo>
                <a:cubicBezTo>
                  <a:pt x="587872" y="3079325"/>
                  <a:pt x="583017" y="3079325"/>
                  <a:pt x="555347" y="3079325"/>
                </a:cubicBezTo>
                <a:lnTo>
                  <a:pt x="555347" y="3091947"/>
                </a:lnTo>
                <a:lnTo>
                  <a:pt x="601948" y="3090489"/>
                </a:lnTo>
                <a:lnTo>
                  <a:pt x="648064" y="3091947"/>
                </a:lnTo>
                <a:lnTo>
                  <a:pt x="648064" y="3079325"/>
                </a:lnTo>
                <a:cubicBezTo>
                  <a:pt x="620878" y="3079325"/>
                  <a:pt x="616023" y="3079325"/>
                  <a:pt x="616023" y="3060395"/>
                </a:cubicBezTo>
                <a:lnTo>
                  <a:pt x="616023" y="2984666"/>
                </a:lnTo>
                <a:cubicBezTo>
                  <a:pt x="616023" y="2941950"/>
                  <a:pt x="645636" y="2918650"/>
                  <a:pt x="671849" y="2918650"/>
                </a:cubicBezTo>
                <a:cubicBezTo>
                  <a:pt x="697577" y="2918650"/>
                  <a:pt x="702431" y="2940977"/>
                  <a:pt x="702431" y="2964277"/>
                </a:cubicBezTo>
                <a:lnTo>
                  <a:pt x="702431" y="3060395"/>
                </a:lnTo>
                <a:cubicBezTo>
                  <a:pt x="702431" y="3079325"/>
                  <a:pt x="697577" y="3079325"/>
                  <a:pt x="670391" y="3079325"/>
                </a:cubicBezTo>
                <a:lnTo>
                  <a:pt x="670391" y="3091947"/>
                </a:lnTo>
                <a:lnTo>
                  <a:pt x="716992" y="3090489"/>
                </a:lnTo>
                <a:close/>
                <a:moveTo>
                  <a:pt x="897451" y="3040976"/>
                </a:moveTo>
                <a:lnTo>
                  <a:pt x="897451" y="3017191"/>
                </a:lnTo>
                <a:lnTo>
                  <a:pt x="887257" y="3017191"/>
                </a:lnTo>
                <a:lnTo>
                  <a:pt x="887257" y="3040007"/>
                </a:lnTo>
                <a:cubicBezTo>
                  <a:pt x="887257" y="3070589"/>
                  <a:pt x="874635" y="3086123"/>
                  <a:pt x="859586" y="3086123"/>
                </a:cubicBezTo>
                <a:cubicBezTo>
                  <a:pt x="831920" y="3086123"/>
                  <a:pt x="831920" y="3048743"/>
                  <a:pt x="831920" y="3041461"/>
                </a:cubicBezTo>
                <a:lnTo>
                  <a:pt x="831920" y="2926901"/>
                </a:lnTo>
                <a:lnTo>
                  <a:pt x="891138" y="2926901"/>
                </a:lnTo>
                <a:lnTo>
                  <a:pt x="891138" y="2914280"/>
                </a:lnTo>
                <a:lnTo>
                  <a:pt x="831920" y="2914280"/>
                </a:lnTo>
                <a:lnTo>
                  <a:pt x="831920" y="2838070"/>
                </a:lnTo>
                <a:lnTo>
                  <a:pt x="821726" y="2838070"/>
                </a:lnTo>
                <a:cubicBezTo>
                  <a:pt x="821237" y="2872049"/>
                  <a:pt x="808619" y="2916222"/>
                  <a:pt x="768327" y="2917676"/>
                </a:cubicBezTo>
                <a:lnTo>
                  <a:pt x="768327" y="2926901"/>
                </a:lnTo>
                <a:lnTo>
                  <a:pt x="803280" y="2926901"/>
                </a:lnTo>
                <a:lnTo>
                  <a:pt x="803280" y="3040976"/>
                </a:lnTo>
                <a:cubicBezTo>
                  <a:pt x="803280" y="3091463"/>
                  <a:pt x="841625" y="3096313"/>
                  <a:pt x="856674" y="3096313"/>
                </a:cubicBezTo>
                <a:cubicBezTo>
                  <a:pt x="885799" y="3096313"/>
                  <a:pt x="897451" y="3067188"/>
                  <a:pt x="897451" y="3040976"/>
                </a:cubicBezTo>
                <a:close/>
                <a:moveTo>
                  <a:pt x="1092351" y="3042919"/>
                </a:moveTo>
                <a:cubicBezTo>
                  <a:pt x="1092351" y="3038549"/>
                  <a:pt x="1088950" y="3038064"/>
                  <a:pt x="1087011" y="3038064"/>
                </a:cubicBezTo>
                <a:cubicBezTo>
                  <a:pt x="1083126" y="3038064"/>
                  <a:pt x="1082156" y="3040491"/>
                  <a:pt x="1081672" y="3043888"/>
                </a:cubicBezTo>
                <a:cubicBezTo>
                  <a:pt x="1067107" y="3086123"/>
                  <a:pt x="1029731" y="3086123"/>
                  <a:pt x="1025846" y="3086123"/>
                </a:cubicBezTo>
                <a:cubicBezTo>
                  <a:pt x="1004973" y="3086123"/>
                  <a:pt x="988470" y="3073986"/>
                  <a:pt x="979245" y="3058452"/>
                </a:cubicBezTo>
                <a:cubicBezTo>
                  <a:pt x="966623" y="3038549"/>
                  <a:pt x="966623" y="3011367"/>
                  <a:pt x="966623" y="2996803"/>
                </a:cubicBezTo>
                <a:lnTo>
                  <a:pt x="1082156" y="2996803"/>
                </a:lnTo>
                <a:cubicBezTo>
                  <a:pt x="1090892" y="2996803"/>
                  <a:pt x="1092351" y="2996803"/>
                  <a:pt x="1092351" y="2988067"/>
                </a:cubicBezTo>
                <a:cubicBezTo>
                  <a:pt x="1092351" y="2947289"/>
                  <a:pt x="1070019" y="2906997"/>
                  <a:pt x="1018564" y="2906997"/>
                </a:cubicBezTo>
                <a:cubicBezTo>
                  <a:pt x="970509" y="2906997"/>
                  <a:pt x="932644" y="2949717"/>
                  <a:pt x="932644" y="3001173"/>
                </a:cubicBezTo>
                <a:cubicBezTo>
                  <a:pt x="932644" y="3056510"/>
                  <a:pt x="975848" y="3096313"/>
                  <a:pt x="1023418" y="3096313"/>
                </a:cubicBezTo>
                <a:cubicBezTo>
                  <a:pt x="1073905" y="3096313"/>
                  <a:pt x="1092351" y="3050686"/>
                  <a:pt x="1092351" y="3042919"/>
                </a:cubicBezTo>
                <a:close/>
                <a:moveTo>
                  <a:pt x="1065165" y="2988067"/>
                </a:moveTo>
                <a:lnTo>
                  <a:pt x="967108" y="2988067"/>
                </a:lnTo>
                <a:cubicBezTo>
                  <a:pt x="969535" y="2926417"/>
                  <a:pt x="1004488" y="2916222"/>
                  <a:pt x="1018564" y="2916222"/>
                </a:cubicBezTo>
                <a:cubicBezTo>
                  <a:pt x="1060799" y="2916222"/>
                  <a:pt x="1065165" y="2972044"/>
                  <a:pt x="1065165" y="2988067"/>
                </a:cubicBezTo>
                <a:close/>
                <a:moveTo>
                  <a:pt x="1254240" y="2934668"/>
                </a:moveTo>
                <a:cubicBezTo>
                  <a:pt x="1254240" y="2921562"/>
                  <a:pt x="1241618" y="2909425"/>
                  <a:pt x="1224142" y="2909425"/>
                </a:cubicBezTo>
                <a:cubicBezTo>
                  <a:pt x="1193559" y="2909425"/>
                  <a:pt x="1178999" y="2937095"/>
                  <a:pt x="1173171" y="2955056"/>
                </a:cubicBezTo>
                <a:lnTo>
                  <a:pt x="1173171" y="2909425"/>
                </a:lnTo>
                <a:lnTo>
                  <a:pt x="1115891" y="2914280"/>
                </a:lnTo>
                <a:lnTo>
                  <a:pt x="1115891" y="2926901"/>
                </a:lnTo>
                <a:cubicBezTo>
                  <a:pt x="1144531" y="2926901"/>
                  <a:pt x="1147932" y="2929813"/>
                  <a:pt x="1147932" y="2950202"/>
                </a:cubicBezTo>
                <a:lnTo>
                  <a:pt x="1147932" y="3060395"/>
                </a:lnTo>
                <a:cubicBezTo>
                  <a:pt x="1147932" y="3079325"/>
                  <a:pt x="1143562" y="3079325"/>
                  <a:pt x="1115891" y="3079325"/>
                </a:cubicBezTo>
                <a:lnTo>
                  <a:pt x="1115891" y="3091947"/>
                </a:lnTo>
                <a:lnTo>
                  <a:pt x="1162977" y="3090489"/>
                </a:lnTo>
                <a:cubicBezTo>
                  <a:pt x="1179484" y="3090489"/>
                  <a:pt x="1198899" y="3090489"/>
                  <a:pt x="1215406" y="3091947"/>
                </a:cubicBezTo>
                <a:lnTo>
                  <a:pt x="1215406" y="3079325"/>
                </a:lnTo>
                <a:lnTo>
                  <a:pt x="1206666" y="3079325"/>
                </a:lnTo>
                <a:cubicBezTo>
                  <a:pt x="1176087" y="3079325"/>
                  <a:pt x="1175114" y="3074471"/>
                  <a:pt x="1175114" y="3059906"/>
                </a:cubicBezTo>
                <a:lnTo>
                  <a:pt x="1175114" y="2996318"/>
                </a:lnTo>
                <a:cubicBezTo>
                  <a:pt x="1175114" y="2955541"/>
                  <a:pt x="1192590" y="2918650"/>
                  <a:pt x="1224142" y="2918650"/>
                </a:cubicBezTo>
                <a:cubicBezTo>
                  <a:pt x="1226569" y="2918650"/>
                  <a:pt x="1227539" y="2918650"/>
                  <a:pt x="1228512" y="2919134"/>
                </a:cubicBezTo>
                <a:cubicBezTo>
                  <a:pt x="1227054" y="2919619"/>
                  <a:pt x="1218803" y="2924474"/>
                  <a:pt x="1218803" y="2935153"/>
                </a:cubicBezTo>
                <a:cubicBezTo>
                  <a:pt x="1218803" y="2946805"/>
                  <a:pt x="1227539" y="2953114"/>
                  <a:pt x="1236764" y="2953114"/>
                </a:cubicBezTo>
                <a:cubicBezTo>
                  <a:pt x="1244046" y="2953114"/>
                  <a:pt x="1254240" y="2947774"/>
                  <a:pt x="1254240" y="2934668"/>
                </a:cubicBezTo>
                <a:close/>
                <a:moveTo>
                  <a:pt x="1437367" y="3042919"/>
                </a:moveTo>
                <a:cubicBezTo>
                  <a:pt x="1437367" y="3038549"/>
                  <a:pt x="1432997" y="3038549"/>
                  <a:pt x="1432028" y="3038549"/>
                </a:cubicBezTo>
                <a:cubicBezTo>
                  <a:pt x="1428142" y="3038549"/>
                  <a:pt x="1427173" y="3040491"/>
                  <a:pt x="1426688" y="3042919"/>
                </a:cubicBezTo>
                <a:cubicBezTo>
                  <a:pt x="1414551" y="3081268"/>
                  <a:pt x="1387854" y="3086123"/>
                  <a:pt x="1372320" y="3086123"/>
                </a:cubicBezTo>
                <a:cubicBezTo>
                  <a:pt x="1350474" y="3086123"/>
                  <a:pt x="1314067" y="3068647"/>
                  <a:pt x="1314067" y="3002142"/>
                </a:cubicBezTo>
                <a:cubicBezTo>
                  <a:pt x="1314067" y="2934668"/>
                  <a:pt x="1348047" y="2917192"/>
                  <a:pt x="1369893" y="2917192"/>
                </a:cubicBezTo>
                <a:cubicBezTo>
                  <a:pt x="1373774" y="2917192"/>
                  <a:pt x="1399502" y="2917676"/>
                  <a:pt x="1414067" y="2932725"/>
                </a:cubicBezTo>
                <a:cubicBezTo>
                  <a:pt x="1397075" y="2933699"/>
                  <a:pt x="1394647" y="2946316"/>
                  <a:pt x="1394647" y="2951660"/>
                </a:cubicBezTo>
                <a:cubicBezTo>
                  <a:pt x="1394647" y="2962339"/>
                  <a:pt x="1402414" y="2970590"/>
                  <a:pt x="1413582" y="2970590"/>
                </a:cubicBezTo>
                <a:cubicBezTo>
                  <a:pt x="1424261" y="2970590"/>
                  <a:pt x="1432512" y="2963793"/>
                  <a:pt x="1432512" y="2951171"/>
                </a:cubicBezTo>
                <a:cubicBezTo>
                  <a:pt x="1432512" y="2923016"/>
                  <a:pt x="1401445" y="2906997"/>
                  <a:pt x="1369404" y="2906997"/>
                </a:cubicBezTo>
                <a:cubicBezTo>
                  <a:pt x="1317953" y="2906997"/>
                  <a:pt x="1280088" y="2951660"/>
                  <a:pt x="1280088" y="3002627"/>
                </a:cubicBezTo>
                <a:cubicBezTo>
                  <a:pt x="1280088" y="3055540"/>
                  <a:pt x="1320865" y="3096313"/>
                  <a:pt x="1368920" y="3096313"/>
                </a:cubicBezTo>
                <a:cubicBezTo>
                  <a:pt x="1424261" y="3096313"/>
                  <a:pt x="1437367" y="3046800"/>
                  <a:pt x="1437367" y="3042919"/>
                </a:cubicBezTo>
                <a:close/>
                <a:moveTo>
                  <a:pt x="1620614" y="3042919"/>
                </a:moveTo>
                <a:cubicBezTo>
                  <a:pt x="1620614" y="3038549"/>
                  <a:pt x="1617218" y="3038064"/>
                  <a:pt x="1615275" y="3038064"/>
                </a:cubicBezTo>
                <a:cubicBezTo>
                  <a:pt x="1611389" y="3038064"/>
                  <a:pt x="1610420" y="3040491"/>
                  <a:pt x="1609935" y="3043888"/>
                </a:cubicBezTo>
                <a:cubicBezTo>
                  <a:pt x="1595371" y="3086123"/>
                  <a:pt x="1557995" y="3086123"/>
                  <a:pt x="1554109" y="3086123"/>
                </a:cubicBezTo>
                <a:cubicBezTo>
                  <a:pt x="1533236" y="3086123"/>
                  <a:pt x="1516734" y="3073986"/>
                  <a:pt x="1507509" y="3058452"/>
                </a:cubicBezTo>
                <a:cubicBezTo>
                  <a:pt x="1494887" y="3038549"/>
                  <a:pt x="1494887" y="3011367"/>
                  <a:pt x="1494887" y="2996803"/>
                </a:cubicBezTo>
                <a:lnTo>
                  <a:pt x="1610420" y="2996803"/>
                </a:lnTo>
                <a:cubicBezTo>
                  <a:pt x="1619156" y="2996803"/>
                  <a:pt x="1620614" y="2996803"/>
                  <a:pt x="1620614" y="2988067"/>
                </a:cubicBezTo>
                <a:cubicBezTo>
                  <a:pt x="1620614" y="2947289"/>
                  <a:pt x="1598283" y="2906997"/>
                  <a:pt x="1546832" y="2906997"/>
                </a:cubicBezTo>
                <a:cubicBezTo>
                  <a:pt x="1498772" y="2906997"/>
                  <a:pt x="1460908" y="2949717"/>
                  <a:pt x="1460908" y="3001173"/>
                </a:cubicBezTo>
                <a:cubicBezTo>
                  <a:pt x="1460908" y="3056510"/>
                  <a:pt x="1504112" y="3096313"/>
                  <a:pt x="1551682" y="3096313"/>
                </a:cubicBezTo>
                <a:cubicBezTo>
                  <a:pt x="1602169" y="3096313"/>
                  <a:pt x="1620614" y="3050686"/>
                  <a:pt x="1620614" y="3042919"/>
                </a:cubicBezTo>
                <a:close/>
                <a:moveTo>
                  <a:pt x="1593432" y="2988067"/>
                </a:moveTo>
                <a:lnTo>
                  <a:pt x="1495376" y="2988067"/>
                </a:lnTo>
                <a:cubicBezTo>
                  <a:pt x="1497803" y="2926417"/>
                  <a:pt x="1532752" y="2916222"/>
                  <a:pt x="1546832" y="2916222"/>
                </a:cubicBezTo>
                <a:cubicBezTo>
                  <a:pt x="1589062" y="2916222"/>
                  <a:pt x="1593432" y="2972044"/>
                  <a:pt x="1593432" y="2988067"/>
                </a:cubicBezTo>
                <a:close/>
                <a:moveTo>
                  <a:pt x="1847550" y="3002627"/>
                </a:moveTo>
                <a:cubicBezTo>
                  <a:pt x="1847550" y="2950202"/>
                  <a:pt x="1807262" y="2909425"/>
                  <a:pt x="1761146" y="2909425"/>
                </a:cubicBezTo>
                <a:cubicBezTo>
                  <a:pt x="1729105" y="2909425"/>
                  <a:pt x="1711633" y="2927871"/>
                  <a:pt x="1703377" y="2936611"/>
                </a:cubicBezTo>
                <a:lnTo>
                  <a:pt x="1703377" y="2909425"/>
                </a:lnTo>
                <a:lnTo>
                  <a:pt x="1644159" y="2914280"/>
                </a:lnTo>
                <a:lnTo>
                  <a:pt x="1644159" y="2926901"/>
                </a:lnTo>
                <a:cubicBezTo>
                  <a:pt x="1673284" y="2926901"/>
                  <a:pt x="1676195" y="2929329"/>
                  <a:pt x="1676195" y="2947289"/>
                </a:cubicBezTo>
                <a:lnTo>
                  <a:pt x="1676195" y="3140491"/>
                </a:lnTo>
                <a:cubicBezTo>
                  <a:pt x="1676195" y="3159421"/>
                  <a:pt x="1671825" y="3159421"/>
                  <a:pt x="1644159" y="3159421"/>
                </a:cubicBezTo>
                <a:lnTo>
                  <a:pt x="1644159" y="3172043"/>
                </a:lnTo>
                <a:lnTo>
                  <a:pt x="1690271" y="3170585"/>
                </a:lnTo>
                <a:lnTo>
                  <a:pt x="1736872" y="3172043"/>
                </a:lnTo>
                <a:lnTo>
                  <a:pt x="1736872" y="3159421"/>
                </a:lnTo>
                <a:cubicBezTo>
                  <a:pt x="1709206" y="3159421"/>
                  <a:pt x="1704835" y="3159421"/>
                  <a:pt x="1704835" y="3140491"/>
                </a:cubicBezTo>
                <a:lnTo>
                  <a:pt x="1704835" y="3067673"/>
                </a:lnTo>
                <a:cubicBezTo>
                  <a:pt x="1706778" y="3073986"/>
                  <a:pt x="1724255" y="3096313"/>
                  <a:pt x="1755322" y="3096313"/>
                </a:cubicBezTo>
                <a:cubicBezTo>
                  <a:pt x="1804346" y="3096313"/>
                  <a:pt x="1847550" y="3056025"/>
                  <a:pt x="1847550" y="3002627"/>
                </a:cubicBezTo>
                <a:close/>
                <a:moveTo>
                  <a:pt x="1813086" y="3002627"/>
                </a:moveTo>
                <a:cubicBezTo>
                  <a:pt x="1813086" y="3052629"/>
                  <a:pt x="1784446" y="3087577"/>
                  <a:pt x="1753864" y="3087577"/>
                </a:cubicBezTo>
                <a:cubicBezTo>
                  <a:pt x="1737361" y="3087577"/>
                  <a:pt x="1721827" y="3079325"/>
                  <a:pt x="1710659" y="3062334"/>
                </a:cubicBezTo>
                <a:cubicBezTo>
                  <a:pt x="1704835" y="3053598"/>
                  <a:pt x="1704835" y="3053113"/>
                  <a:pt x="1704835" y="3044862"/>
                </a:cubicBezTo>
                <a:lnTo>
                  <a:pt x="1704835" y="2953114"/>
                </a:lnTo>
                <a:cubicBezTo>
                  <a:pt x="1716488" y="2931756"/>
                  <a:pt x="1736872" y="2920104"/>
                  <a:pt x="1757745" y="2920104"/>
                </a:cubicBezTo>
                <a:cubicBezTo>
                  <a:pt x="1787843" y="2920104"/>
                  <a:pt x="1813086" y="2956026"/>
                  <a:pt x="1813086" y="3002627"/>
                </a:cubicBezTo>
                <a:close/>
                <a:moveTo>
                  <a:pt x="1998881" y="3040976"/>
                </a:moveTo>
                <a:lnTo>
                  <a:pt x="1998881" y="3017191"/>
                </a:lnTo>
                <a:lnTo>
                  <a:pt x="1988687" y="3017191"/>
                </a:lnTo>
                <a:lnTo>
                  <a:pt x="1988687" y="3040007"/>
                </a:lnTo>
                <a:cubicBezTo>
                  <a:pt x="1988687" y="3070589"/>
                  <a:pt x="1976069" y="3086123"/>
                  <a:pt x="1961020" y="3086123"/>
                </a:cubicBezTo>
                <a:cubicBezTo>
                  <a:pt x="1933350" y="3086123"/>
                  <a:pt x="1933350" y="3048743"/>
                  <a:pt x="1933350" y="3041461"/>
                </a:cubicBezTo>
                <a:lnTo>
                  <a:pt x="1933350" y="2926901"/>
                </a:lnTo>
                <a:lnTo>
                  <a:pt x="1992572" y="2926901"/>
                </a:lnTo>
                <a:lnTo>
                  <a:pt x="1992572" y="2914280"/>
                </a:lnTo>
                <a:lnTo>
                  <a:pt x="1933350" y="2914280"/>
                </a:lnTo>
                <a:lnTo>
                  <a:pt x="1933350" y="2838070"/>
                </a:lnTo>
                <a:lnTo>
                  <a:pt x="1923155" y="2838070"/>
                </a:lnTo>
                <a:cubicBezTo>
                  <a:pt x="1922671" y="2872049"/>
                  <a:pt x="1910049" y="2916222"/>
                  <a:pt x="1869757" y="2917676"/>
                </a:cubicBezTo>
                <a:lnTo>
                  <a:pt x="1869757" y="2926901"/>
                </a:lnTo>
                <a:lnTo>
                  <a:pt x="1904710" y="2926901"/>
                </a:lnTo>
                <a:lnTo>
                  <a:pt x="1904710" y="3040976"/>
                </a:lnTo>
                <a:cubicBezTo>
                  <a:pt x="1904710" y="3091463"/>
                  <a:pt x="1943059" y="3096313"/>
                  <a:pt x="1958108" y="3096313"/>
                </a:cubicBezTo>
                <a:cubicBezTo>
                  <a:pt x="1987233" y="3096313"/>
                  <a:pt x="1998881" y="3067188"/>
                  <a:pt x="1998881" y="3040976"/>
                </a:cubicBezTo>
                <a:close/>
                <a:moveTo>
                  <a:pt x="2141960" y="2988551"/>
                </a:moveTo>
                <a:cubicBezTo>
                  <a:pt x="2141960" y="2956510"/>
                  <a:pt x="2137110" y="2906513"/>
                  <a:pt x="2114778" y="2859912"/>
                </a:cubicBezTo>
                <a:cubicBezTo>
                  <a:pt x="2090020" y="2809430"/>
                  <a:pt x="2054098" y="2782244"/>
                  <a:pt x="2050216" y="2782244"/>
                </a:cubicBezTo>
                <a:cubicBezTo>
                  <a:pt x="2047789" y="2782244"/>
                  <a:pt x="2045846" y="2784187"/>
                  <a:pt x="2045846" y="2786614"/>
                </a:cubicBezTo>
                <a:cubicBezTo>
                  <a:pt x="2045846" y="2788068"/>
                  <a:pt x="2045846" y="2788557"/>
                  <a:pt x="2054098" y="2796323"/>
                </a:cubicBezTo>
                <a:cubicBezTo>
                  <a:pt x="2094390" y="2837096"/>
                  <a:pt x="2117690" y="2902631"/>
                  <a:pt x="2117690" y="2988551"/>
                </a:cubicBezTo>
                <a:cubicBezTo>
                  <a:pt x="2117690" y="3059422"/>
                  <a:pt x="2102641" y="3131750"/>
                  <a:pt x="2051675" y="3184175"/>
                </a:cubicBezTo>
                <a:cubicBezTo>
                  <a:pt x="2045846" y="3189030"/>
                  <a:pt x="2045846" y="3189515"/>
                  <a:pt x="2045846" y="3190973"/>
                </a:cubicBezTo>
                <a:cubicBezTo>
                  <a:pt x="2045846" y="3193400"/>
                  <a:pt x="2047789" y="3195343"/>
                  <a:pt x="2050216" y="3195343"/>
                </a:cubicBezTo>
                <a:cubicBezTo>
                  <a:pt x="2054098" y="3195343"/>
                  <a:pt x="2091478" y="3167188"/>
                  <a:pt x="2115748" y="3114763"/>
                </a:cubicBezTo>
                <a:cubicBezTo>
                  <a:pt x="2136621" y="3069131"/>
                  <a:pt x="2141960" y="3023500"/>
                  <a:pt x="2141960" y="2988551"/>
                </a:cubicBezTo>
                <a:close/>
                <a:moveTo>
                  <a:pt x="5023805" y="3091947"/>
                </a:moveTo>
                <a:lnTo>
                  <a:pt x="5023805" y="3079325"/>
                </a:lnTo>
                <a:lnTo>
                  <a:pt x="5010715" y="3079325"/>
                </a:lnTo>
                <a:cubicBezTo>
                  <a:pt x="4973310" y="3079325"/>
                  <a:pt x="4972358" y="3074471"/>
                  <a:pt x="4972358" y="3059422"/>
                </a:cubicBezTo>
                <a:lnTo>
                  <a:pt x="4972358" y="2827875"/>
                </a:lnTo>
                <a:cubicBezTo>
                  <a:pt x="4972358" y="2818166"/>
                  <a:pt x="4972358" y="2817196"/>
                  <a:pt x="4962665" y="2817196"/>
                </a:cubicBezTo>
                <a:cubicBezTo>
                  <a:pt x="4937397" y="2843409"/>
                  <a:pt x="4900986" y="2843409"/>
                  <a:pt x="4887896" y="2843409"/>
                </a:cubicBezTo>
                <a:lnTo>
                  <a:pt x="4887896" y="2856515"/>
                </a:lnTo>
                <a:cubicBezTo>
                  <a:pt x="4896139" y="2856515"/>
                  <a:pt x="4920413" y="2856515"/>
                  <a:pt x="4941788" y="2845836"/>
                </a:cubicBezTo>
                <a:lnTo>
                  <a:pt x="4941788" y="3059422"/>
                </a:lnTo>
                <a:cubicBezTo>
                  <a:pt x="4941788" y="3073986"/>
                  <a:pt x="4940338" y="3079325"/>
                  <a:pt x="4903430" y="3079325"/>
                </a:cubicBezTo>
                <a:lnTo>
                  <a:pt x="4890340" y="3079325"/>
                </a:lnTo>
                <a:lnTo>
                  <a:pt x="4890340" y="3091947"/>
                </a:lnTo>
                <a:cubicBezTo>
                  <a:pt x="4904880" y="3090489"/>
                  <a:pt x="4940338" y="3090489"/>
                  <a:pt x="4956824" y="3090489"/>
                </a:cubicBezTo>
                <a:cubicBezTo>
                  <a:pt x="4973310" y="3090489"/>
                  <a:pt x="5009266" y="3090489"/>
                  <a:pt x="5023805" y="3091947"/>
                </a:cubicBezTo>
                <a:close/>
                <a:moveTo>
                  <a:pt x="5251590" y="3023988"/>
                </a:moveTo>
                <a:lnTo>
                  <a:pt x="5251590" y="3010878"/>
                </a:lnTo>
                <a:lnTo>
                  <a:pt x="5210333" y="3010878"/>
                </a:lnTo>
                <a:lnTo>
                  <a:pt x="5210333" y="2823505"/>
                </a:lnTo>
                <a:cubicBezTo>
                  <a:pt x="5210333" y="2815254"/>
                  <a:pt x="5210333" y="2812826"/>
                  <a:pt x="5204037" y="2812826"/>
                </a:cubicBezTo>
                <a:cubicBezTo>
                  <a:pt x="5200143" y="2812826"/>
                  <a:pt x="5199190" y="2812826"/>
                  <a:pt x="5195794" y="2817681"/>
                </a:cubicBezTo>
                <a:lnTo>
                  <a:pt x="5069081" y="3010878"/>
                </a:lnTo>
                <a:lnTo>
                  <a:pt x="5069081" y="3023988"/>
                </a:lnTo>
                <a:lnTo>
                  <a:pt x="5178769" y="3023988"/>
                </a:lnTo>
                <a:lnTo>
                  <a:pt x="5178769" y="3059906"/>
                </a:lnTo>
                <a:cubicBezTo>
                  <a:pt x="5178769" y="3074471"/>
                  <a:pt x="5177816" y="3079325"/>
                  <a:pt x="5147246" y="3079325"/>
                </a:cubicBezTo>
                <a:lnTo>
                  <a:pt x="5138505" y="3079325"/>
                </a:lnTo>
                <a:lnTo>
                  <a:pt x="5138505" y="3091947"/>
                </a:lnTo>
                <a:cubicBezTo>
                  <a:pt x="5155489" y="3090489"/>
                  <a:pt x="5177319" y="3090489"/>
                  <a:pt x="5194302" y="3090489"/>
                </a:cubicBezTo>
                <a:cubicBezTo>
                  <a:pt x="5211783" y="3090489"/>
                  <a:pt x="5233654" y="3090489"/>
                  <a:pt x="5250637" y="3091947"/>
                </a:cubicBezTo>
                <a:lnTo>
                  <a:pt x="5250637" y="3079325"/>
                </a:lnTo>
                <a:lnTo>
                  <a:pt x="5241897" y="3079325"/>
                </a:lnTo>
                <a:cubicBezTo>
                  <a:pt x="5211327" y="3079325"/>
                  <a:pt x="5210333" y="3074471"/>
                  <a:pt x="5210333" y="3059906"/>
                </a:cubicBezTo>
                <a:lnTo>
                  <a:pt x="5210333" y="3023988"/>
                </a:lnTo>
                <a:close/>
                <a:moveTo>
                  <a:pt x="5181213" y="3010878"/>
                </a:moveTo>
                <a:lnTo>
                  <a:pt x="5080720" y="3010878"/>
                </a:lnTo>
                <a:lnTo>
                  <a:pt x="5181213" y="2857000"/>
                </a:lnTo>
                <a:close/>
                <a:moveTo>
                  <a:pt x="5457918" y="3023988"/>
                </a:moveTo>
                <a:lnTo>
                  <a:pt x="5457918" y="3010878"/>
                </a:lnTo>
                <a:lnTo>
                  <a:pt x="5416661" y="3010878"/>
                </a:lnTo>
                <a:lnTo>
                  <a:pt x="5416661" y="2823505"/>
                </a:lnTo>
                <a:cubicBezTo>
                  <a:pt x="5416661" y="2815254"/>
                  <a:pt x="5416661" y="2812826"/>
                  <a:pt x="5410323" y="2812826"/>
                </a:cubicBezTo>
                <a:cubicBezTo>
                  <a:pt x="5406471" y="2812826"/>
                  <a:pt x="5405477" y="2812826"/>
                  <a:pt x="5402080" y="2817681"/>
                </a:cubicBezTo>
                <a:lnTo>
                  <a:pt x="5275367" y="3010878"/>
                </a:lnTo>
                <a:lnTo>
                  <a:pt x="5275367" y="3023988"/>
                </a:lnTo>
                <a:lnTo>
                  <a:pt x="5385097" y="3023988"/>
                </a:lnTo>
                <a:lnTo>
                  <a:pt x="5385097" y="3059906"/>
                </a:lnTo>
                <a:cubicBezTo>
                  <a:pt x="5385097" y="3074471"/>
                  <a:pt x="5384144" y="3079325"/>
                  <a:pt x="5353533" y="3079325"/>
                </a:cubicBezTo>
                <a:lnTo>
                  <a:pt x="5344792" y="3079325"/>
                </a:lnTo>
                <a:lnTo>
                  <a:pt x="5344792" y="3091947"/>
                </a:lnTo>
                <a:cubicBezTo>
                  <a:pt x="5361775" y="3090489"/>
                  <a:pt x="5383647" y="3090489"/>
                  <a:pt x="5400630" y="3090489"/>
                </a:cubicBezTo>
                <a:cubicBezTo>
                  <a:pt x="5418111" y="3090489"/>
                  <a:pt x="5439941" y="3090489"/>
                  <a:pt x="5456924" y="3091947"/>
                </a:cubicBezTo>
                <a:lnTo>
                  <a:pt x="5456924" y="3079325"/>
                </a:lnTo>
                <a:lnTo>
                  <a:pt x="5448184" y="3079325"/>
                </a:lnTo>
                <a:cubicBezTo>
                  <a:pt x="5417614" y="3079325"/>
                  <a:pt x="5416661" y="3074471"/>
                  <a:pt x="5416661" y="3059906"/>
                </a:cubicBezTo>
                <a:lnTo>
                  <a:pt x="5416661" y="3023988"/>
                </a:lnTo>
                <a:close/>
                <a:moveTo>
                  <a:pt x="5387541" y="3010878"/>
                </a:moveTo>
                <a:lnTo>
                  <a:pt x="5287049" y="3010878"/>
                </a:lnTo>
                <a:lnTo>
                  <a:pt x="5387541" y="2857000"/>
                </a:lnTo>
                <a:close/>
                <a:moveTo>
                  <a:pt x="5658406" y="3022531"/>
                </a:moveTo>
                <a:cubicBezTo>
                  <a:pt x="5658406" y="3007966"/>
                  <a:pt x="5654015" y="2989036"/>
                  <a:pt x="5638481" y="2972044"/>
                </a:cubicBezTo>
                <a:cubicBezTo>
                  <a:pt x="5630736" y="2963308"/>
                  <a:pt x="5623942" y="2958938"/>
                  <a:pt x="5597721" y="2942435"/>
                </a:cubicBezTo>
                <a:cubicBezTo>
                  <a:pt x="5627339" y="2927386"/>
                  <a:pt x="5647718" y="2906028"/>
                  <a:pt x="5647718" y="2878842"/>
                </a:cubicBezTo>
                <a:cubicBezTo>
                  <a:pt x="5647718" y="2840497"/>
                  <a:pt x="5610811" y="2817196"/>
                  <a:pt x="5573447" y="2817196"/>
                </a:cubicBezTo>
                <a:cubicBezTo>
                  <a:pt x="5532190" y="2817196"/>
                  <a:pt x="5498679" y="2847775"/>
                  <a:pt x="5498679" y="2886124"/>
                </a:cubicBezTo>
                <a:cubicBezTo>
                  <a:pt x="5498679" y="2893407"/>
                  <a:pt x="5499176" y="2911852"/>
                  <a:pt x="5516656" y="2931271"/>
                </a:cubicBezTo>
                <a:cubicBezTo>
                  <a:pt x="5521006" y="2936611"/>
                  <a:pt x="5536539" y="2946805"/>
                  <a:pt x="5546730" y="2953598"/>
                </a:cubicBezTo>
                <a:cubicBezTo>
                  <a:pt x="5522953" y="2965735"/>
                  <a:pt x="5487536" y="2988551"/>
                  <a:pt x="5487536" y="3029813"/>
                </a:cubicBezTo>
                <a:cubicBezTo>
                  <a:pt x="5487536" y="3073502"/>
                  <a:pt x="5529249" y="3101168"/>
                  <a:pt x="5572950" y="3101168"/>
                </a:cubicBezTo>
                <a:cubicBezTo>
                  <a:pt x="5619551" y="3101168"/>
                  <a:pt x="5658406" y="3066704"/>
                  <a:pt x="5658406" y="3022531"/>
                </a:cubicBezTo>
                <a:close/>
                <a:moveTo>
                  <a:pt x="5629244" y="2878842"/>
                </a:moveTo>
                <a:cubicBezTo>
                  <a:pt x="5629244" y="2902143"/>
                  <a:pt x="5613254" y="2922046"/>
                  <a:pt x="5588484" y="2936611"/>
                </a:cubicBezTo>
                <a:lnTo>
                  <a:pt x="5537534" y="2903601"/>
                </a:lnTo>
                <a:cubicBezTo>
                  <a:pt x="5518106" y="2890979"/>
                  <a:pt x="5516656" y="2876904"/>
                  <a:pt x="5516656" y="2870106"/>
                </a:cubicBezTo>
                <a:cubicBezTo>
                  <a:pt x="5516656" y="2844863"/>
                  <a:pt x="5543333" y="2827391"/>
                  <a:pt x="5572950" y="2827391"/>
                </a:cubicBezTo>
                <a:cubicBezTo>
                  <a:pt x="5603064" y="2827391"/>
                  <a:pt x="5629244" y="2848748"/>
                  <a:pt x="5629244" y="2878842"/>
                </a:cubicBezTo>
                <a:close/>
                <a:moveTo>
                  <a:pt x="5637984" y="3037579"/>
                </a:moveTo>
                <a:cubicBezTo>
                  <a:pt x="5637984" y="3068162"/>
                  <a:pt x="5606917" y="3089520"/>
                  <a:pt x="5573447" y="3089520"/>
                </a:cubicBezTo>
                <a:cubicBezTo>
                  <a:pt x="5537534" y="3089520"/>
                  <a:pt x="5507916" y="3063792"/>
                  <a:pt x="5507916" y="3029813"/>
                </a:cubicBezTo>
                <a:cubicBezTo>
                  <a:pt x="5507916" y="3005539"/>
                  <a:pt x="5521006" y="2979326"/>
                  <a:pt x="5556463" y="2959911"/>
                </a:cubicBezTo>
                <a:lnTo>
                  <a:pt x="5606917" y="2991948"/>
                </a:lnTo>
                <a:cubicBezTo>
                  <a:pt x="5618598" y="2999715"/>
                  <a:pt x="5637984" y="3012336"/>
                  <a:pt x="5637984" y="3037579"/>
                </a:cubicBezTo>
                <a:close/>
                <a:moveTo>
                  <a:pt x="5755460" y="3070101"/>
                </a:moveTo>
                <a:cubicBezTo>
                  <a:pt x="5755460" y="3057968"/>
                  <a:pt x="5745767" y="3048258"/>
                  <a:pt x="5733630" y="3048258"/>
                </a:cubicBezTo>
                <a:cubicBezTo>
                  <a:pt x="5721990" y="3048258"/>
                  <a:pt x="5711800" y="3057968"/>
                  <a:pt x="5711800" y="3070101"/>
                </a:cubicBezTo>
                <a:cubicBezTo>
                  <a:pt x="5711800" y="3082238"/>
                  <a:pt x="5721990" y="3091947"/>
                  <a:pt x="5733630" y="3091947"/>
                </a:cubicBezTo>
                <a:cubicBezTo>
                  <a:pt x="5745767" y="3091947"/>
                  <a:pt x="5755460" y="3082238"/>
                  <a:pt x="5755460" y="3070101"/>
                </a:cubicBezTo>
                <a:close/>
                <a:moveTo>
                  <a:pt x="5979517" y="2956026"/>
                </a:moveTo>
                <a:cubicBezTo>
                  <a:pt x="5979517" y="2845347"/>
                  <a:pt x="5932419" y="2817196"/>
                  <a:pt x="5895511" y="2817196"/>
                </a:cubicBezTo>
                <a:cubicBezTo>
                  <a:pt x="5872687" y="2817196"/>
                  <a:pt x="5852804" y="2824474"/>
                  <a:pt x="5834826" y="2842924"/>
                </a:cubicBezTo>
                <a:cubicBezTo>
                  <a:pt x="5817843" y="2861855"/>
                  <a:pt x="5808647" y="2878842"/>
                  <a:pt x="5808647" y="2909909"/>
                </a:cubicBezTo>
                <a:cubicBezTo>
                  <a:pt x="5808647" y="2961365"/>
                  <a:pt x="5845016" y="3002142"/>
                  <a:pt x="5891162" y="3002142"/>
                </a:cubicBezTo>
                <a:cubicBezTo>
                  <a:pt x="5916388" y="3002142"/>
                  <a:pt x="5932916" y="2984666"/>
                  <a:pt x="5942609" y="2960880"/>
                </a:cubicBezTo>
                <a:lnTo>
                  <a:pt x="5942609" y="2973987"/>
                </a:lnTo>
                <a:cubicBezTo>
                  <a:pt x="5942609" y="3070589"/>
                  <a:pt x="5899902" y="3089520"/>
                  <a:pt x="5875628" y="3089520"/>
                </a:cubicBezTo>
                <a:cubicBezTo>
                  <a:pt x="5868834" y="3089520"/>
                  <a:pt x="5846508" y="3088546"/>
                  <a:pt x="5835324" y="3074471"/>
                </a:cubicBezTo>
                <a:cubicBezTo>
                  <a:pt x="5853301" y="3074471"/>
                  <a:pt x="5856698" y="3062822"/>
                  <a:pt x="5856698" y="3055540"/>
                </a:cubicBezTo>
                <a:cubicBezTo>
                  <a:pt x="5856698" y="3042919"/>
                  <a:pt x="5846963" y="3036606"/>
                  <a:pt x="5837767" y="3036606"/>
                </a:cubicBezTo>
                <a:cubicBezTo>
                  <a:pt x="5830974" y="3036606"/>
                  <a:pt x="5818837" y="3040491"/>
                  <a:pt x="5818837" y="3056510"/>
                </a:cubicBezTo>
                <a:cubicBezTo>
                  <a:pt x="5818837" y="3084180"/>
                  <a:pt x="5841164" y="3101168"/>
                  <a:pt x="5876084" y="3101168"/>
                </a:cubicBezTo>
                <a:cubicBezTo>
                  <a:pt x="5929478" y="3101168"/>
                  <a:pt x="5979517" y="3044862"/>
                  <a:pt x="5979517" y="2956026"/>
                </a:cubicBezTo>
                <a:close/>
                <a:moveTo>
                  <a:pt x="5941615" y="2918165"/>
                </a:moveTo>
                <a:cubicBezTo>
                  <a:pt x="5941615" y="2952629"/>
                  <a:pt x="5927572" y="2992433"/>
                  <a:pt x="5891617" y="2992433"/>
                </a:cubicBezTo>
                <a:cubicBezTo>
                  <a:pt x="5884824" y="2992433"/>
                  <a:pt x="5865893" y="2992433"/>
                  <a:pt x="5853301" y="2966705"/>
                </a:cubicBezTo>
                <a:cubicBezTo>
                  <a:pt x="5845514" y="2951171"/>
                  <a:pt x="5845514" y="2930782"/>
                  <a:pt x="5845514" y="2910398"/>
                </a:cubicBezTo>
                <a:cubicBezTo>
                  <a:pt x="5845514" y="2888067"/>
                  <a:pt x="5845514" y="2868648"/>
                  <a:pt x="5854254" y="2853603"/>
                </a:cubicBezTo>
                <a:cubicBezTo>
                  <a:pt x="5865438" y="2832730"/>
                  <a:pt x="5880971" y="2827391"/>
                  <a:pt x="5895511" y="2827391"/>
                </a:cubicBezTo>
                <a:cubicBezTo>
                  <a:pt x="5914442" y="2827391"/>
                  <a:pt x="5928028" y="2841466"/>
                  <a:pt x="5935319" y="2859912"/>
                </a:cubicBezTo>
                <a:cubicBezTo>
                  <a:pt x="5940165" y="2873018"/>
                  <a:pt x="5941615" y="2899231"/>
                  <a:pt x="5941615" y="2918165"/>
                </a:cubicBezTo>
                <a:close/>
                <a:moveTo>
                  <a:pt x="6185804" y="3007966"/>
                </a:moveTo>
                <a:cubicBezTo>
                  <a:pt x="6185804" y="2955541"/>
                  <a:pt x="6149393" y="2915738"/>
                  <a:pt x="6103289" y="2915738"/>
                </a:cubicBezTo>
                <a:cubicBezTo>
                  <a:pt x="6075618" y="2915738"/>
                  <a:pt x="6060085" y="2936611"/>
                  <a:pt x="6051841" y="2956510"/>
                </a:cubicBezTo>
                <a:lnTo>
                  <a:pt x="6051841" y="2946805"/>
                </a:lnTo>
                <a:cubicBezTo>
                  <a:pt x="6051841" y="2842436"/>
                  <a:pt x="6103289" y="2827391"/>
                  <a:pt x="6124166" y="2827391"/>
                </a:cubicBezTo>
                <a:cubicBezTo>
                  <a:pt x="6133859" y="2827391"/>
                  <a:pt x="6151340" y="2829814"/>
                  <a:pt x="6160577" y="2843894"/>
                </a:cubicBezTo>
                <a:cubicBezTo>
                  <a:pt x="6154239" y="2843894"/>
                  <a:pt x="6137753" y="2843894"/>
                  <a:pt x="6137753" y="2862339"/>
                </a:cubicBezTo>
                <a:cubicBezTo>
                  <a:pt x="6137753" y="2875445"/>
                  <a:pt x="6147446" y="2881270"/>
                  <a:pt x="6156683" y="2881270"/>
                </a:cubicBezTo>
                <a:cubicBezTo>
                  <a:pt x="6163477" y="2881270"/>
                  <a:pt x="6175614" y="2877873"/>
                  <a:pt x="6175614" y="2861855"/>
                </a:cubicBezTo>
                <a:cubicBezTo>
                  <a:pt x="6175614" y="2837096"/>
                  <a:pt x="6157636" y="2817196"/>
                  <a:pt x="6123172" y="2817196"/>
                </a:cubicBezTo>
                <a:cubicBezTo>
                  <a:pt x="6070275" y="2817196"/>
                  <a:pt x="6014934" y="2870591"/>
                  <a:pt x="6014934" y="2961365"/>
                </a:cubicBezTo>
                <a:cubicBezTo>
                  <a:pt x="6014934" y="3071559"/>
                  <a:pt x="6062487" y="3101168"/>
                  <a:pt x="6100845" y="3101168"/>
                </a:cubicBezTo>
                <a:cubicBezTo>
                  <a:pt x="6146949" y="3101168"/>
                  <a:pt x="6185804" y="3062334"/>
                  <a:pt x="6185804" y="3007966"/>
                </a:cubicBezTo>
                <a:close/>
                <a:moveTo>
                  <a:pt x="6148896" y="3007481"/>
                </a:moveTo>
                <a:cubicBezTo>
                  <a:pt x="6148896" y="3027385"/>
                  <a:pt x="6148896" y="3047774"/>
                  <a:pt x="6142102" y="3062818"/>
                </a:cubicBezTo>
                <a:cubicBezTo>
                  <a:pt x="6129509" y="3087577"/>
                  <a:pt x="6110580" y="3089520"/>
                  <a:pt x="6100845" y="3089520"/>
                </a:cubicBezTo>
                <a:cubicBezTo>
                  <a:pt x="6075122" y="3089520"/>
                  <a:pt x="6062487" y="3064761"/>
                  <a:pt x="6060085" y="3058452"/>
                </a:cubicBezTo>
                <a:cubicBezTo>
                  <a:pt x="6052794" y="3039033"/>
                  <a:pt x="6052794" y="3006028"/>
                  <a:pt x="6052794" y="2998745"/>
                </a:cubicBezTo>
                <a:cubicBezTo>
                  <a:pt x="6052794" y="2966705"/>
                  <a:pt x="6065884" y="2925443"/>
                  <a:pt x="6103289" y="2925443"/>
                </a:cubicBezTo>
                <a:cubicBezTo>
                  <a:pt x="6109586" y="2925443"/>
                  <a:pt x="6128516" y="2925443"/>
                  <a:pt x="6141647" y="2950686"/>
                </a:cubicBezTo>
                <a:cubicBezTo>
                  <a:pt x="6148896" y="2966220"/>
                  <a:pt x="6148896" y="2987093"/>
                  <a:pt x="6148896" y="3007481"/>
                </a:cubicBezTo>
                <a:close/>
                <a:moveTo>
                  <a:pt x="6392090" y="2956026"/>
                </a:moveTo>
                <a:cubicBezTo>
                  <a:pt x="6392090" y="2845347"/>
                  <a:pt x="6345034" y="2817196"/>
                  <a:pt x="6308126" y="2817196"/>
                </a:cubicBezTo>
                <a:cubicBezTo>
                  <a:pt x="6285301" y="2817196"/>
                  <a:pt x="6265419" y="2824474"/>
                  <a:pt x="6247441" y="2842924"/>
                </a:cubicBezTo>
                <a:cubicBezTo>
                  <a:pt x="6230458" y="2861855"/>
                  <a:pt x="6221220" y="2878842"/>
                  <a:pt x="6221220" y="2909909"/>
                </a:cubicBezTo>
                <a:cubicBezTo>
                  <a:pt x="6221220" y="2961365"/>
                  <a:pt x="6257631" y="3002142"/>
                  <a:pt x="6303776" y="3002142"/>
                </a:cubicBezTo>
                <a:cubicBezTo>
                  <a:pt x="6329003" y="3002142"/>
                  <a:pt x="6345489" y="2984666"/>
                  <a:pt x="6355224" y="2960880"/>
                </a:cubicBezTo>
                <a:lnTo>
                  <a:pt x="6355224" y="2973987"/>
                </a:lnTo>
                <a:cubicBezTo>
                  <a:pt x="6355224" y="3070585"/>
                  <a:pt x="6312517" y="3089520"/>
                  <a:pt x="6288242" y="3089520"/>
                </a:cubicBezTo>
                <a:cubicBezTo>
                  <a:pt x="6281450" y="3089520"/>
                  <a:pt x="6259123" y="3088546"/>
                  <a:pt x="6247938" y="3074471"/>
                </a:cubicBezTo>
                <a:cubicBezTo>
                  <a:pt x="6265916" y="3074471"/>
                  <a:pt x="6269312" y="3062818"/>
                  <a:pt x="6269312" y="3055540"/>
                </a:cubicBezTo>
                <a:cubicBezTo>
                  <a:pt x="6269312" y="3042919"/>
                  <a:pt x="6259578" y="3036606"/>
                  <a:pt x="6250382" y="3036606"/>
                </a:cubicBezTo>
                <a:cubicBezTo>
                  <a:pt x="6243589" y="3036606"/>
                  <a:pt x="6231452" y="3040491"/>
                  <a:pt x="6231452" y="3056510"/>
                </a:cubicBezTo>
                <a:cubicBezTo>
                  <a:pt x="6231452" y="3084180"/>
                  <a:pt x="6253779" y="3101168"/>
                  <a:pt x="6288698" y="3101168"/>
                </a:cubicBezTo>
                <a:cubicBezTo>
                  <a:pt x="6342093" y="3101168"/>
                  <a:pt x="6392090" y="3044862"/>
                  <a:pt x="6392090" y="2956026"/>
                </a:cubicBezTo>
                <a:close/>
                <a:moveTo>
                  <a:pt x="6354229" y="2918165"/>
                </a:moveTo>
                <a:cubicBezTo>
                  <a:pt x="6354229" y="2952629"/>
                  <a:pt x="6340187" y="2992433"/>
                  <a:pt x="6304232" y="2992433"/>
                </a:cubicBezTo>
                <a:cubicBezTo>
                  <a:pt x="6297438" y="2992433"/>
                  <a:pt x="6278508" y="2992433"/>
                  <a:pt x="6265916" y="2966705"/>
                </a:cubicBezTo>
                <a:cubicBezTo>
                  <a:pt x="6258128" y="2951171"/>
                  <a:pt x="6258128" y="2930782"/>
                  <a:pt x="6258128" y="2910398"/>
                </a:cubicBezTo>
                <a:cubicBezTo>
                  <a:pt x="6258128" y="2888067"/>
                  <a:pt x="6258128" y="2868648"/>
                  <a:pt x="6266869" y="2853603"/>
                </a:cubicBezTo>
                <a:cubicBezTo>
                  <a:pt x="6278053" y="2832730"/>
                  <a:pt x="6293587" y="2827391"/>
                  <a:pt x="6308126" y="2827391"/>
                </a:cubicBezTo>
                <a:cubicBezTo>
                  <a:pt x="6327056" y="2827391"/>
                  <a:pt x="6340643" y="2841466"/>
                  <a:pt x="6347933" y="2859912"/>
                </a:cubicBezTo>
                <a:cubicBezTo>
                  <a:pt x="6352780" y="2873018"/>
                  <a:pt x="6354229" y="2899231"/>
                  <a:pt x="6354229" y="2918165"/>
                </a:cubicBezTo>
                <a:close/>
                <a:moveTo>
                  <a:pt x="6589305" y="2909909"/>
                </a:moveTo>
                <a:cubicBezTo>
                  <a:pt x="6589305" y="2905543"/>
                  <a:pt x="6587855" y="2902143"/>
                  <a:pt x="6580565" y="2898746"/>
                </a:cubicBezTo>
                <a:lnTo>
                  <a:pt x="6522324" y="2871564"/>
                </a:lnTo>
                <a:lnTo>
                  <a:pt x="6579612" y="2844378"/>
                </a:lnTo>
                <a:cubicBezTo>
                  <a:pt x="6587855" y="2840497"/>
                  <a:pt x="6589305" y="2837581"/>
                  <a:pt x="6589305" y="2832730"/>
                </a:cubicBezTo>
                <a:cubicBezTo>
                  <a:pt x="6589305" y="2827391"/>
                  <a:pt x="6584956" y="2821078"/>
                  <a:pt x="6578163" y="2821078"/>
                </a:cubicBezTo>
                <a:cubicBezTo>
                  <a:pt x="6575222" y="2821078"/>
                  <a:pt x="6574269" y="2821078"/>
                  <a:pt x="6563581" y="2829329"/>
                </a:cubicBezTo>
                <a:lnTo>
                  <a:pt x="6517975" y="2862824"/>
                </a:lnTo>
                <a:lnTo>
                  <a:pt x="6524271" y="2792923"/>
                </a:lnTo>
                <a:cubicBezTo>
                  <a:pt x="6524271" y="2786614"/>
                  <a:pt x="6518927" y="2782244"/>
                  <a:pt x="6513584" y="2782244"/>
                </a:cubicBezTo>
                <a:cubicBezTo>
                  <a:pt x="6506790" y="2782244"/>
                  <a:pt x="6502441" y="2787583"/>
                  <a:pt x="6502441" y="2792923"/>
                </a:cubicBezTo>
                <a:lnTo>
                  <a:pt x="6508240" y="2862824"/>
                </a:lnTo>
                <a:lnTo>
                  <a:pt x="6457290" y="2825933"/>
                </a:lnTo>
                <a:cubicBezTo>
                  <a:pt x="6451449" y="2821078"/>
                  <a:pt x="6450497" y="2821078"/>
                  <a:pt x="6448053" y="2821078"/>
                </a:cubicBezTo>
                <a:cubicBezTo>
                  <a:pt x="6441757" y="2821078"/>
                  <a:pt x="6436910" y="2827391"/>
                  <a:pt x="6436910" y="2832730"/>
                </a:cubicBezTo>
                <a:cubicBezTo>
                  <a:pt x="6436910" y="2837581"/>
                  <a:pt x="6438816" y="2840497"/>
                  <a:pt x="6445609" y="2843894"/>
                </a:cubicBezTo>
                <a:lnTo>
                  <a:pt x="6503891" y="2871075"/>
                </a:lnTo>
                <a:lnTo>
                  <a:pt x="6446603" y="2898261"/>
                </a:lnTo>
                <a:cubicBezTo>
                  <a:pt x="6438816" y="2902143"/>
                  <a:pt x="6436910" y="2905059"/>
                  <a:pt x="6436910" y="2909909"/>
                </a:cubicBezTo>
                <a:cubicBezTo>
                  <a:pt x="6436910" y="2909909"/>
                  <a:pt x="6436910" y="2921562"/>
                  <a:pt x="6450497" y="2921562"/>
                </a:cubicBezTo>
                <a:lnTo>
                  <a:pt x="6508240" y="2879816"/>
                </a:lnTo>
                <a:lnTo>
                  <a:pt x="6502441" y="2950202"/>
                </a:lnTo>
                <a:cubicBezTo>
                  <a:pt x="6502441" y="2956026"/>
                  <a:pt x="6507744" y="2960396"/>
                  <a:pt x="6513087" y="2960396"/>
                </a:cubicBezTo>
                <a:cubicBezTo>
                  <a:pt x="6519425" y="2960396"/>
                  <a:pt x="6524271" y="2955541"/>
                  <a:pt x="6524271" y="2950202"/>
                </a:cubicBezTo>
                <a:lnTo>
                  <a:pt x="6517975" y="2879816"/>
                </a:lnTo>
                <a:lnTo>
                  <a:pt x="6571369" y="2919134"/>
                </a:lnTo>
                <a:cubicBezTo>
                  <a:pt x="6573772" y="2920104"/>
                  <a:pt x="6574766" y="2921562"/>
                  <a:pt x="6578163" y="2921562"/>
                </a:cubicBezTo>
                <a:cubicBezTo>
                  <a:pt x="6584956" y="2921562"/>
                  <a:pt x="6589305" y="2915249"/>
                  <a:pt x="6589305" y="2909909"/>
                </a:cubicBezTo>
                <a:close/>
                <a:moveTo>
                  <a:pt x="6795633" y="2909909"/>
                </a:moveTo>
                <a:cubicBezTo>
                  <a:pt x="6795633" y="2905543"/>
                  <a:pt x="6794183" y="2902143"/>
                  <a:pt x="6786893" y="2898746"/>
                </a:cubicBezTo>
                <a:lnTo>
                  <a:pt x="6728611" y="2871564"/>
                </a:lnTo>
                <a:lnTo>
                  <a:pt x="6785899" y="2844378"/>
                </a:lnTo>
                <a:cubicBezTo>
                  <a:pt x="6794183" y="2840497"/>
                  <a:pt x="6795633" y="2837581"/>
                  <a:pt x="6795633" y="2832730"/>
                </a:cubicBezTo>
                <a:cubicBezTo>
                  <a:pt x="6795633" y="2827391"/>
                  <a:pt x="6791242" y="2821078"/>
                  <a:pt x="6784449" y="2821078"/>
                </a:cubicBezTo>
                <a:cubicBezTo>
                  <a:pt x="6781550" y="2821078"/>
                  <a:pt x="6780555" y="2821078"/>
                  <a:pt x="6769910" y="2829329"/>
                </a:cubicBezTo>
                <a:lnTo>
                  <a:pt x="6724261" y="2862824"/>
                </a:lnTo>
                <a:lnTo>
                  <a:pt x="6730558" y="2792923"/>
                </a:lnTo>
                <a:cubicBezTo>
                  <a:pt x="6730558" y="2786614"/>
                  <a:pt x="6725214" y="2782244"/>
                  <a:pt x="6719912" y="2782244"/>
                </a:cubicBezTo>
                <a:cubicBezTo>
                  <a:pt x="6713077" y="2782244"/>
                  <a:pt x="6708728" y="2787583"/>
                  <a:pt x="6708728" y="2792923"/>
                </a:cubicBezTo>
                <a:lnTo>
                  <a:pt x="6714568" y="2862824"/>
                </a:lnTo>
                <a:lnTo>
                  <a:pt x="6663577" y="2825933"/>
                </a:lnTo>
                <a:cubicBezTo>
                  <a:pt x="6657777" y="2821078"/>
                  <a:pt x="6656783" y="2821078"/>
                  <a:pt x="6654381" y="2821078"/>
                </a:cubicBezTo>
                <a:cubicBezTo>
                  <a:pt x="6648043" y="2821078"/>
                  <a:pt x="6643196" y="2827391"/>
                  <a:pt x="6643196" y="2832730"/>
                </a:cubicBezTo>
                <a:cubicBezTo>
                  <a:pt x="6643196" y="2837581"/>
                  <a:pt x="6645144" y="2840497"/>
                  <a:pt x="6651937" y="2843894"/>
                </a:cubicBezTo>
                <a:lnTo>
                  <a:pt x="6710178" y="2871075"/>
                </a:lnTo>
                <a:lnTo>
                  <a:pt x="6652890" y="2898261"/>
                </a:lnTo>
                <a:cubicBezTo>
                  <a:pt x="6645144" y="2902143"/>
                  <a:pt x="6643196" y="2905059"/>
                  <a:pt x="6643196" y="2909909"/>
                </a:cubicBezTo>
                <a:cubicBezTo>
                  <a:pt x="6643196" y="2909909"/>
                  <a:pt x="6643196" y="2921562"/>
                  <a:pt x="6656783" y="2921562"/>
                </a:cubicBezTo>
                <a:lnTo>
                  <a:pt x="6714568" y="2879816"/>
                </a:lnTo>
                <a:lnTo>
                  <a:pt x="6708728" y="2950202"/>
                </a:lnTo>
                <a:cubicBezTo>
                  <a:pt x="6708728" y="2956026"/>
                  <a:pt x="6714072" y="2960396"/>
                  <a:pt x="6719415" y="2960396"/>
                </a:cubicBezTo>
                <a:cubicBezTo>
                  <a:pt x="6725711" y="2960396"/>
                  <a:pt x="6730558" y="2955541"/>
                  <a:pt x="6730558" y="2950202"/>
                </a:cubicBezTo>
                <a:lnTo>
                  <a:pt x="6724261" y="2879816"/>
                </a:lnTo>
                <a:lnTo>
                  <a:pt x="6777656" y="2919134"/>
                </a:lnTo>
                <a:cubicBezTo>
                  <a:pt x="6780100" y="2920104"/>
                  <a:pt x="6781052" y="2921562"/>
                  <a:pt x="6784449" y="2921562"/>
                </a:cubicBezTo>
                <a:cubicBezTo>
                  <a:pt x="6791242" y="2921562"/>
                  <a:pt x="6795633" y="2915249"/>
                  <a:pt x="6795633" y="2909909"/>
                </a:cubicBezTo>
                <a:close/>
                <a:moveTo>
                  <a:pt x="7001920" y="2909909"/>
                </a:moveTo>
                <a:cubicBezTo>
                  <a:pt x="7001920" y="2905543"/>
                  <a:pt x="7000470" y="2902143"/>
                  <a:pt x="6993180" y="2898746"/>
                </a:cubicBezTo>
                <a:lnTo>
                  <a:pt x="6934939" y="2871564"/>
                </a:lnTo>
                <a:lnTo>
                  <a:pt x="6992227" y="2844378"/>
                </a:lnTo>
                <a:cubicBezTo>
                  <a:pt x="7000470" y="2840497"/>
                  <a:pt x="7001920" y="2837581"/>
                  <a:pt x="7001920" y="2832730"/>
                </a:cubicBezTo>
                <a:cubicBezTo>
                  <a:pt x="7001920" y="2827391"/>
                  <a:pt x="6997571" y="2821078"/>
                  <a:pt x="6990777" y="2821078"/>
                </a:cubicBezTo>
                <a:cubicBezTo>
                  <a:pt x="6987836" y="2821078"/>
                  <a:pt x="6986884" y="2821078"/>
                  <a:pt x="6976196" y="2829329"/>
                </a:cubicBezTo>
                <a:lnTo>
                  <a:pt x="6930548" y="2862824"/>
                </a:lnTo>
                <a:lnTo>
                  <a:pt x="6936886" y="2792923"/>
                </a:lnTo>
                <a:cubicBezTo>
                  <a:pt x="6936886" y="2786614"/>
                  <a:pt x="6931543" y="2782244"/>
                  <a:pt x="6926198" y="2782244"/>
                </a:cubicBezTo>
                <a:cubicBezTo>
                  <a:pt x="6919405" y="2782244"/>
                  <a:pt x="6915015" y="2787583"/>
                  <a:pt x="6915015" y="2792923"/>
                </a:cubicBezTo>
                <a:lnTo>
                  <a:pt x="6920855" y="2862824"/>
                </a:lnTo>
                <a:lnTo>
                  <a:pt x="6869905" y="2825933"/>
                </a:lnTo>
                <a:cubicBezTo>
                  <a:pt x="6864064" y="2821078"/>
                  <a:pt x="6863111" y="2821078"/>
                  <a:pt x="6860667" y="2821078"/>
                </a:cubicBezTo>
                <a:cubicBezTo>
                  <a:pt x="6854371" y="2821078"/>
                  <a:pt x="6849483" y="2827391"/>
                  <a:pt x="6849483" y="2832730"/>
                </a:cubicBezTo>
                <a:cubicBezTo>
                  <a:pt x="6849483" y="2837581"/>
                  <a:pt x="6851430" y="2840497"/>
                  <a:pt x="6858224" y="2843894"/>
                </a:cubicBezTo>
                <a:lnTo>
                  <a:pt x="6916506" y="2871075"/>
                </a:lnTo>
                <a:lnTo>
                  <a:pt x="6859218" y="2898261"/>
                </a:lnTo>
                <a:cubicBezTo>
                  <a:pt x="6851430" y="2902143"/>
                  <a:pt x="6849483" y="2905059"/>
                  <a:pt x="6849483" y="2909909"/>
                </a:cubicBezTo>
                <a:cubicBezTo>
                  <a:pt x="6849483" y="2909909"/>
                  <a:pt x="6849483" y="2921562"/>
                  <a:pt x="6863111" y="2921562"/>
                </a:cubicBezTo>
                <a:lnTo>
                  <a:pt x="6920855" y="2879816"/>
                </a:lnTo>
                <a:lnTo>
                  <a:pt x="6915015" y="2950202"/>
                </a:lnTo>
                <a:cubicBezTo>
                  <a:pt x="6915015" y="2956026"/>
                  <a:pt x="6920358" y="2960396"/>
                  <a:pt x="6925702" y="2960396"/>
                </a:cubicBezTo>
                <a:cubicBezTo>
                  <a:pt x="6932039" y="2960396"/>
                  <a:pt x="6936886" y="2955541"/>
                  <a:pt x="6936886" y="2950202"/>
                </a:cubicBezTo>
                <a:lnTo>
                  <a:pt x="6930548" y="2879816"/>
                </a:lnTo>
                <a:lnTo>
                  <a:pt x="6983984" y="2919134"/>
                </a:lnTo>
                <a:cubicBezTo>
                  <a:pt x="6986386" y="2920104"/>
                  <a:pt x="6987380" y="2921562"/>
                  <a:pt x="6990777" y="2921562"/>
                </a:cubicBezTo>
                <a:cubicBezTo>
                  <a:pt x="6997571" y="2921562"/>
                  <a:pt x="7001920" y="2915249"/>
                  <a:pt x="7001920" y="2909909"/>
                </a:cubicBezTo>
                <a:close/>
                <a:moveTo>
                  <a:pt x="5342721" y="3851273"/>
                </a:moveTo>
                <a:cubicBezTo>
                  <a:pt x="5342721" y="3849818"/>
                  <a:pt x="5342721" y="3849334"/>
                  <a:pt x="5335928" y="3842052"/>
                </a:cubicBezTo>
                <a:cubicBezTo>
                  <a:pt x="5284480" y="3790111"/>
                  <a:pt x="5270894" y="3712443"/>
                  <a:pt x="5270894" y="3648851"/>
                </a:cubicBezTo>
                <a:cubicBezTo>
                  <a:pt x="5270894" y="3577491"/>
                  <a:pt x="5286924" y="3505651"/>
                  <a:pt x="5337419" y="3453711"/>
                </a:cubicBezTo>
                <a:cubicBezTo>
                  <a:pt x="5342721" y="3448856"/>
                  <a:pt x="5342721" y="3448371"/>
                  <a:pt x="5342721" y="3446913"/>
                </a:cubicBezTo>
                <a:cubicBezTo>
                  <a:pt x="5342721" y="3444001"/>
                  <a:pt x="5341271" y="3442543"/>
                  <a:pt x="5338869" y="3442543"/>
                </a:cubicBezTo>
                <a:cubicBezTo>
                  <a:pt x="5334478" y="3442543"/>
                  <a:pt x="5297611" y="3470699"/>
                  <a:pt x="5273337" y="3523124"/>
                </a:cubicBezTo>
                <a:cubicBezTo>
                  <a:pt x="5251963" y="3568755"/>
                  <a:pt x="5247117" y="3614387"/>
                  <a:pt x="5247117" y="3648851"/>
                </a:cubicBezTo>
                <a:cubicBezTo>
                  <a:pt x="5247117" y="3681376"/>
                  <a:pt x="5251963" y="3731374"/>
                  <a:pt x="5274290" y="3777974"/>
                </a:cubicBezTo>
                <a:cubicBezTo>
                  <a:pt x="5299061" y="3828457"/>
                  <a:pt x="5334478" y="3855643"/>
                  <a:pt x="5338869" y="3855643"/>
                </a:cubicBezTo>
                <a:cubicBezTo>
                  <a:pt x="5341271" y="3855643"/>
                  <a:pt x="5342721" y="3854184"/>
                  <a:pt x="5342721" y="3851273"/>
                </a:cubicBezTo>
                <a:close/>
                <a:moveTo>
                  <a:pt x="5539687" y="3752247"/>
                </a:moveTo>
                <a:lnTo>
                  <a:pt x="5539687" y="3739625"/>
                </a:lnTo>
                <a:lnTo>
                  <a:pt x="5526598" y="3739625"/>
                </a:lnTo>
                <a:cubicBezTo>
                  <a:pt x="5489234" y="3739625"/>
                  <a:pt x="5488240" y="3734770"/>
                  <a:pt x="5488240" y="3719721"/>
                </a:cubicBezTo>
                <a:lnTo>
                  <a:pt x="5488240" y="3488175"/>
                </a:lnTo>
                <a:cubicBezTo>
                  <a:pt x="5488240" y="3478465"/>
                  <a:pt x="5488240" y="3477496"/>
                  <a:pt x="5478547" y="3477496"/>
                </a:cubicBezTo>
                <a:cubicBezTo>
                  <a:pt x="5453279" y="3503708"/>
                  <a:pt x="5416868" y="3503708"/>
                  <a:pt x="5403779" y="3503708"/>
                </a:cubicBezTo>
                <a:lnTo>
                  <a:pt x="5403779" y="3516815"/>
                </a:lnTo>
                <a:cubicBezTo>
                  <a:pt x="5412021" y="3516815"/>
                  <a:pt x="5436296" y="3516815"/>
                  <a:pt x="5457670" y="3506136"/>
                </a:cubicBezTo>
                <a:lnTo>
                  <a:pt x="5457670" y="3719721"/>
                </a:lnTo>
                <a:cubicBezTo>
                  <a:pt x="5457670" y="3734285"/>
                  <a:pt x="5456220" y="3739625"/>
                  <a:pt x="5419312" y="3739625"/>
                </a:cubicBezTo>
                <a:lnTo>
                  <a:pt x="5406222" y="3739625"/>
                </a:lnTo>
                <a:lnTo>
                  <a:pt x="5406222" y="3752247"/>
                </a:lnTo>
                <a:cubicBezTo>
                  <a:pt x="5420762" y="3750788"/>
                  <a:pt x="5456220" y="3750788"/>
                  <a:pt x="5472707" y="3750788"/>
                </a:cubicBezTo>
                <a:cubicBezTo>
                  <a:pt x="5489234" y="3750788"/>
                  <a:pt x="5525148" y="3750788"/>
                  <a:pt x="5539687" y="3752247"/>
                </a:cubicBezTo>
                <a:close/>
                <a:moveTo>
                  <a:pt x="5767348" y="3684288"/>
                </a:moveTo>
                <a:lnTo>
                  <a:pt x="5767348" y="3671182"/>
                </a:lnTo>
                <a:lnTo>
                  <a:pt x="5726091" y="3671182"/>
                </a:lnTo>
                <a:lnTo>
                  <a:pt x="5726091" y="3483805"/>
                </a:lnTo>
                <a:cubicBezTo>
                  <a:pt x="5726091" y="3475553"/>
                  <a:pt x="5726091" y="3473126"/>
                  <a:pt x="5719795" y="3473126"/>
                </a:cubicBezTo>
                <a:cubicBezTo>
                  <a:pt x="5715901" y="3473126"/>
                  <a:pt x="5714948" y="3473126"/>
                  <a:pt x="5711551" y="3477981"/>
                </a:cubicBezTo>
                <a:lnTo>
                  <a:pt x="5584839" y="3671182"/>
                </a:lnTo>
                <a:lnTo>
                  <a:pt x="5584839" y="3684288"/>
                </a:lnTo>
                <a:lnTo>
                  <a:pt x="5694568" y="3684288"/>
                </a:lnTo>
                <a:lnTo>
                  <a:pt x="5694568" y="3720210"/>
                </a:lnTo>
                <a:cubicBezTo>
                  <a:pt x="5694568" y="3734770"/>
                  <a:pt x="5693574" y="3739625"/>
                  <a:pt x="5663004" y="3739625"/>
                </a:cubicBezTo>
                <a:lnTo>
                  <a:pt x="5654264" y="3739625"/>
                </a:lnTo>
                <a:lnTo>
                  <a:pt x="5654264" y="3752247"/>
                </a:lnTo>
                <a:cubicBezTo>
                  <a:pt x="5671247" y="3750788"/>
                  <a:pt x="5693077" y="3750788"/>
                  <a:pt x="5710101" y="3750788"/>
                </a:cubicBezTo>
                <a:cubicBezTo>
                  <a:pt x="5727541" y="3750788"/>
                  <a:pt x="5749412" y="3750788"/>
                  <a:pt x="5766396" y="3752247"/>
                </a:cubicBezTo>
                <a:lnTo>
                  <a:pt x="5766396" y="3739625"/>
                </a:lnTo>
                <a:lnTo>
                  <a:pt x="5757655" y="3739625"/>
                </a:lnTo>
                <a:cubicBezTo>
                  <a:pt x="5727085" y="3739625"/>
                  <a:pt x="5726091" y="3734770"/>
                  <a:pt x="5726091" y="3720210"/>
                </a:cubicBezTo>
                <a:lnTo>
                  <a:pt x="5726091" y="3684288"/>
                </a:lnTo>
                <a:close/>
                <a:moveTo>
                  <a:pt x="5696971" y="3671182"/>
                </a:moveTo>
                <a:lnTo>
                  <a:pt x="5596478" y="3671182"/>
                </a:lnTo>
                <a:lnTo>
                  <a:pt x="5696971" y="3517299"/>
                </a:lnTo>
                <a:close/>
                <a:moveTo>
                  <a:pt x="5858728" y="3730404"/>
                </a:moveTo>
                <a:cubicBezTo>
                  <a:pt x="5858728" y="3718267"/>
                  <a:pt x="5849034" y="3708558"/>
                  <a:pt x="5836897" y="3708558"/>
                </a:cubicBezTo>
                <a:cubicBezTo>
                  <a:pt x="5825258" y="3708558"/>
                  <a:pt x="5815068" y="3718267"/>
                  <a:pt x="5815068" y="3730404"/>
                </a:cubicBezTo>
                <a:cubicBezTo>
                  <a:pt x="5815068" y="3742537"/>
                  <a:pt x="5825258" y="3752247"/>
                  <a:pt x="5836897" y="3752247"/>
                </a:cubicBezTo>
                <a:cubicBezTo>
                  <a:pt x="5849034" y="3752247"/>
                  <a:pt x="5858728" y="3742537"/>
                  <a:pt x="5858728" y="3730404"/>
                </a:cubicBezTo>
                <a:close/>
                <a:moveTo>
                  <a:pt x="6079719" y="3669239"/>
                </a:moveTo>
                <a:cubicBezTo>
                  <a:pt x="6079719" y="3620211"/>
                  <a:pt x="6045753" y="3578949"/>
                  <a:pt x="6001098" y="3578949"/>
                </a:cubicBezTo>
                <a:cubicBezTo>
                  <a:pt x="5981216" y="3578949"/>
                  <a:pt x="5963735" y="3585747"/>
                  <a:pt x="5948657" y="3599822"/>
                </a:cubicBezTo>
                <a:lnTo>
                  <a:pt x="5948657" y="3519727"/>
                </a:lnTo>
                <a:cubicBezTo>
                  <a:pt x="5956942" y="3522154"/>
                  <a:pt x="5970528" y="3525066"/>
                  <a:pt x="5983618" y="3525066"/>
                </a:cubicBezTo>
                <a:cubicBezTo>
                  <a:pt x="6034610" y="3525066"/>
                  <a:pt x="6063730" y="3487206"/>
                  <a:pt x="6063730" y="3481866"/>
                </a:cubicBezTo>
                <a:cubicBezTo>
                  <a:pt x="6063730" y="3479439"/>
                  <a:pt x="6062280" y="3477496"/>
                  <a:pt x="6059339" y="3477496"/>
                </a:cubicBezTo>
                <a:cubicBezTo>
                  <a:pt x="6059339" y="3477496"/>
                  <a:pt x="6057890" y="3477496"/>
                  <a:pt x="6055943" y="3478465"/>
                </a:cubicBezTo>
                <a:cubicBezTo>
                  <a:pt x="6047699" y="3482351"/>
                  <a:pt x="6027817" y="3490602"/>
                  <a:pt x="6000146" y="3490602"/>
                </a:cubicBezTo>
                <a:cubicBezTo>
                  <a:pt x="5983618" y="3490602"/>
                  <a:pt x="5964688" y="3487690"/>
                  <a:pt x="5945260" y="3478950"/>
                </a:cubicBezTo>
                <a:cubicBezTo>
                  <a:pt x="5941863" y="3477981"/>
                  <a:pt x="5939916" y="3477981"/>
                  <a:pt x="5939916" y="3477981"/>
                </a:cubicBezTo>
                <a:cubicBezTo>
                  <a:pt x="5936064" y="3477981"/>
                  <a:pt x="5936064" y="3481377"/>
                  <a:pt x="5936064" y="3487690"/>
                </a:cubicBezTo>
                <a:lnTo>
                  <a:pt x="5936064" y="3610016"/>
                </a:lnTo>
                <a:cubicBezTo>
                  <a:pt x="5936064" y="3617299"/>
                  <a:pt x="5936064" y="3620695"/>
                  <a:pt x="5941863" y="3620695"/>
                </a:cubicBezTo>
                <a:cubicBezTo>
                  <a:pt x="5944804" y="3620695"/>
                  <a:pt x="5945260" y="3619241"/>
                  <a:pt x="5947207" y="3616814"/>
                </a:cubicBezTo>
                <a:cubicBezTo>
                  <a:pt x="5951598" y="3610501"/>
                  <a:pt x="5967131" y="3588174"/>
                  <a:pt x="6000146" y="3588174"/>
                </a:cubicBezTo>
                <a:cubicBezTo>
                  <a:pt x="6021976" y="3588174"/>
                  <a:pt x="6032166" y="3607104"/>
                  <a:pt x="6035562" y="3614387"/>
                </a:cubicBezTo>
                <a:cubicBezTo>
                  <a:pt x="6041858" y="3629920"/>
                  <a:pt x="6042853" y="3645939"/>
                  <a:pt x="6042853" y="3666327"/>
                </a:cubicBezTo>
                <a:cubicBezTo>
                  <a:pt x="6042853" y="3680887"/>
                  <a:pt x="6042853" y="3705646"/>
                  <a:pt x="6033160" y="3723122"/>
                </a:cubicBezTo>
                <a:cubicBezTo>
                  <a:pt x="6022928" y="3739140"/>
                  <a:pt x="6007892" y="3749819"/>
                  <a:pt x="5988962" y="3749819"/>
                </a:cubicBezTo>
                <a:cubicBezTo>
                  <a:pt x="5958889" y="3749819"/>
                  <a:pt x="5935070" y="3727977"/>
                  <a:pt x="5928277" y="3703703"/>
                </a:cubicBezTo>
                <a:cubicBezTo>
                  <a:pt x="5929271" y="3704187"/>
                  <a:pt x="5930721" y="3704187"/>
                  <a:pt x="5935070" y="3704187"/>
                </a:cubicBezTo>
                <a:cubicBezTo>
                  <a:pt x="5948657" y="3704187"/>
                  <a:pt x="5955948" y="3693994"/>
                  <a:pt x="5955948" y="3684288"/>
                </a:cubicBezTo>
                <a:cubicBezTo>
                  <a:pt x="5955948" y="3674094"/>
                  <a:pt x="5948657" y="3663900"/>
                  <a:pt x="5935070" y="3663900"/>
                </a:cubicBezTo>
                <a:cubicBezTo>
                  <a:pt x="5929271" y="3663900"/>
                  <a:pt x="5915187" y="3666812"/>
                  <a:pt x="5915187" y="3685742"/>
                </a:cubicBezTo>
                <a:cubicBezTo>
                  <a:pt x="5915187" y="3721179"/>
                  <a:pt x="5943355" y="3761472"/>
                  <a:pt x="5989458" y="3761472"/>
                </a:cubicBezTo>
                <a:cubicBezTo>
                  <a:pt x="6037509" y="3761472"/>
                  <a:pt x="6079761" y="3721664"/>
                  <a:pt x="6079761" y="3669239"/>
                </a:cubicBezTo>
                <a:close/>
                <a:moveTo>
                  <a:pt x="6288947" y="3616325"/>
                </a:moveTo>
                <a:cubicBezTo>
                  <a:pt x="6288947" y="3505651"/>
                  <a:pt x="6241891" y="3477496"/>
                  <a:pt x="6204982" y="3477496"/>
                </a:cubicBezTo>
                <a:cubicBezTo>
                  <a:pt x="6182159" y="3477496"/>
                  <a:pt x="6162275" y="3484778"/>
                  <a:pt x="6144298" y="3503224"/>
                </a:cubicBezTo>
                <a:cubicBezTo>
                  <a:pt x="6127314" y="3522154"/>
                  <a:pt x="6118077" y="3539146"/>
                  <a:pt x="6118077" y="3570213"/>
                </a:cubicBezTo>
                <a:cubicBezTo>
                  <a:pt x="6118077" y="3621669"/>
                  <a:pt x="6154488" y="3662441"/>
                  <a:pt x="6200591" y="3662441"/>
                </a:cubicBezTo>
                <a:cubicBezTo>
                  <a:pt x="6225860" y="3662441"/>
                  <a:pt x="6242346" y="3644969"/>
                  <a:pt x="6252081" y="3621180"/>
                </a:cubicBezTo>
                <a:lnTo>
                  <a:pt x="6252081" y="3634286"/>
                </a:lnTo>
                <a:cubicBezTo>
                  <a:pt x="6252081" y="3730889"/>
                  <a:pt x="6209332" y="3749819"/>
                  <a:pt x="6185058" y="3749819"/>
                </a:cubicBezTo>
                <a:cubicBezTo>
                  <a:pt x="6178264" y="3749819"/>
                  <a:pt x="6155937" y="3748850"/>
                  <a:pt x="6144795" y="3734770"/>
                </a:cubicBezTo>
                <a:cubicBezTo>
                  <a:pt x="6162731" y="3734770"/>
                  <a:pt x="6166128" y="3723122"/>
                  <a:pt x="6166128" y="3715840"/>
                </a:cubicBezTo>
                <a:cubicBezTo>
                  <a:pt x="6166128" y="3703218"/>
                  <a:pt x="6156435" y="3696910"/>
                  <a:pt x="6147197" y="3696910"/>
                </a:cubicBezTo>
                <a:cubicBezTo>
                  <a:pt x="6140404" y="3696910"/>
                  <a:pt x="6128267" y="3700791"/>
                  <a:pt x="6128267" y="3716809"/>
                </a:cubicBezTo>
                <a:cubicBezTo>
                  <a:pt x="6128267" y="3744480"/>
                  <a:pt x="6150594" y="3761472"/>
                  <a:pt x="6185555" y="3761472"/>
                </a:cubicBezTo>
                <a:cubicBezTo>
                  <a:pt x="6238950" y="3761472"/>
                  <a:pt x="6288947" y="3705161"/>
                  <a:pt x="6288947" y="3616325"/>
                </a:cubicBezTo>
                <a:close/>
                <a:moveTo>
                  <a:pt x="6251087" y="3578465"/>
                </a:moveTo>
                <a:cubicBezTo>
                  <a:pt x="6251087" y="3612929"/>
                  <a:pt x="6237002" y="3652736"/>
                  <a:pt x="6201089" y="3652736"/>
                </a:cubicBezTo>
                <a:cubicBezTo>
                  <a:pt x="6194295" y="3652736"/>
                  <a:pt x="6175365" y="3652736"/>
                  <a:pt x="6162731" y="3627008"/>
                </a:cubicBezTo>
                <a:cubicBezTo>
                  <a:pt x="6154985" y="3611475"/>
                  <a:pt x="6154985" y="3591086"/>
                  <a:pt x="6154985" y="3570698"/>
                </a:cubicBezTo>
                <a:cubicBezTo>
                  <a:pt x="6154985" y="3548367"/>
                  <a:pt x="6154985" y="3528952"/>
                  <a:pt x="6163725" y="3513903"/>
                </a:cubicBezTo>
                <a:cubicBezTo>
                  <a:pt x="6174868" y="3493030"/>
                  <a:pt x="6190401" y="3487690"/>
                  <a:pt x="6204982" y="3487690"/>
                </a:cubicBezTo>
                <a:cubicBezTo>
                  <a:pt x="6223913" y="3487690"/>
                  <a:pt x="6237500" y="3501766"/>
                  <a:pt x="6244790" y="3520211"/>
                </a:cubicBezTo>
                <a:cubicBezTo>
                  <a:pt x="6249637" y="3533318"/>
                  <a:pt x="6251087" y="3559534"/>
                  <a:pt x="6251087" y="3578465"/>
                </a:cubicBezTo>
                <a:close/>
                <a:moveTo>
                  <a:pt x="6495275" y="3668270"/>
                </a:moveTo>
                <a:cubicBezTo>
                  <a:pt x="6495275" y="3615841"/>
                  <a:pt x="6458864" y="3576037"/>
                  <a:pt x="6412761" y="3576037"/>
                </a:cubicBezTo>
                <a:cubicBezTo>
                  <a:pt x="6385090" y="3576037"/>
                  <a:pt x="6369556" y="3596910"/>
                  <a:pt x="6361271" y="3616814"/>
                </a:cubicBezTo>
                <a:lnTo>
                  <a:pt x="6361271" y="3607104"/>
                </a:lnTo>
                <a:cubicBezTo>
                  <a:pt x="6361271" y="3502739"/>
                  <a:pt x="6412761" y="3487690"/>
                  <a:pt x="6433596" y="3487690"/>
                </a:cubicBezTo>
                <a:cubicBezTo>
                  <a:pt x="6443330" y="3487690"/>
                  <a:pt x="6460811" y="3490117"/>
                  <a:pt x="6470007" y="3504193"/>
                </a:cubicBezTo>
                <a:cubicBezTo>
                  <a:pt x="6463711" y="3504193"/>
                  <a:pt x="6447225" y="3504193"/>
                  <a:pt x="6447225" y="3522639"/>
                </a:cubicBezTo>
                <a:cubicBezTo>
                  <a:pt x="6447225" y="3535745"/>
                  <a:pt x="6456917" y="3541573"/>
                  <a:pt x="6466155" y="3541573"/>
                </a:cubicBezTo>
                <a:cubicBezTo>
                  <a:pt x="6472948" y="3541573"/>
                  <a:pt x="6485085" y="3538172"/>
                  <a:pt x="6485085" y="3522154"/>
                </a:cubicBezTo>
                <a:cubicBezTo>
                  <a:pt x="6485085" y="3497400"/>
                  <a:pt x="6467107" y="3477496"/>
                  <a:pt x="6432643" y="3477496"/>
                </a:cubicBezTo>
                <a:cubicBezTo>
                  <a:pt x="6379746" y="3477496"/>
                  <a:pt x="6324405" y="3530890"/>
                  <a:pt x="6324405" y="3621669"/>
                </a:cubicBezTo>
                <a:cubicBezTo>
                  <a:pt x="6324405" y="3731858"/>
                  <a:pt x="6371959" y="3761472"/>
                  <a:pt x="6410316" y="3761472"/>
                </a:cubicBezTo>
                <a:cubicBezTo>
                  <a:pt x="6456420" y="3761472"/>
                  <a:pt x="6495275" y="3722637"/>
                  <a:pt x="6495275" y="3668270"/>
                </a:cubicBezTo>
                <a:close/>
                <a:moveTo>
                  <a:pt x="6458367" y="3667781"/>
                </a:moveTo>
                <a:cubicBezTo>
                  <a:pt x="6458367" y="3687685"/>
                  <a:pt x="6458367" y="3708073"/>
                  <a:pt x="6451574" y="3723122"/>
                </a:cubicBezTo>
                <a:cubicBezTo>
                  <a:pt x="6438939" y="3747876"/>
                  <a:pt x="6420009" y="3749819"/>
                  <a:pt x="6410316" y="3749819"/>
                </a:cubicBezTo>
                <a:cubicBezTo>
                  <a:pt x="6384593" y="3749819"/>
                  <a:pt x="6371959" y="3725061"/>
                  <a:pt x="6369556" y="3718752"/>
                </a:cubicBezTo>
                <a:cubicBezTo>
                  <a:pt x="6362266" y="3699337"/>
                  <a:pt x="6362266" y="3666327"/>
                  <a:pt x="6362266" y="3659045"/>
                </a:cubicBezTo>
                <a:cubicBezTo>
                  <a:pt x="6362266" y="3627008"/>
                  <a:pt x="6375356" y="3585747"/>
                  <a:pt x="6412761" y="3585747"/>
                </a:cubicBezTo>
                <a:cubicBezTo>
                  <a:pt x="6419057" y="3585747"/>
                  <a:pt x="6437987" y="3585747"/>
                  <a:pt x="6451076" y="3610986"/>
                </a:cubicBezTo>
                <a:cubicBezTo>
                  <a:pt x="6458367" y="3626519"/>
                  <a:pt x="6458367" y="3647393"/>
                  <a:pt x="6458367" y="3667781"/>
                </a:cubicBezTo>
                <a:close/>
                <a:moveTo>
                  <a:pt x="6632758" y="3648851"/>
                </a:moveTo>
                <a:cubicBezTo>
                  <a:pt x="6632758" y="3616814"/>
                  <a:pt x="6627912" y="3566812"/>
                  <a:pt x="6605585" y="3520211"/>
                </a:cubicBezTo>
                <a:cubicBezTo>
                  <a:pt x="6580813" y="3469729"/>
                  <a:pt x="6544899" y="3442543"/>
                  <a:pt x="6541006" y="3442543"/>
                </a:cubicBezTo>
                <a:cubicBezTo>
                  <a:pt x="6538603" y="3442543"/>
                  <a:pt x="6536657" y="3444486"/>
                  <a:pt x="6536657" y="3446913"/>
                </a:cubicBezTo>
                <a:cubicBezTo>
                  <a:pt x="6536657" y="3448371"/>
                  <a:pt x="6536657" y="3448856"/>
                  <a:pt x="6544899" y="3456623"/>
                </a:cubicBezTo>
                <a:cubicBezTo>
                  <a:pt x="6585204" y="3497400"/>
                  <a:pt x="6608484" y="3562931"/>
                  <a:pt x="6608484" y="3648851"/>
                </a:cubicBezTo>
                <a:cubicBezTo>
                  <a:pt x="6608484" y="3719721"/>
                  <a:pt x="6593448" y="3792050"/>
                  <a:pt x="6542456" y="3844479"/>
                </a:cubicBezTo>
                <a:cubicBezTo>
                  <a:pt x="6536657" y="3849330"/>
                  <a:pt x="6536657" y="3849818"/>
                  <a:pt x="6536657" y="3851273"/>
                </a:cubicBezTo>
                <a:cubicBezTo>
                  <a:pt x="6536657" y="3853700"/>
                  <a:pt x="6538603" y="3855643"/>
                  <a:pt x="6541006" y="3855643"/>
                </a:cubicBezTo>
                <a:cubicBezTo>
                  <a:pt x="6544899" y="3855643"/>
                  <a:pt x="6582263" y="3827487"/>
                  <a:pt x="6606537" y="3775063"/>
                </a:cubicBezTo>
                <a:cubicBezTo>
                  <a:pt x="6627414" y="3729431"/>
                  <a:pt x="6632758" y="3683803"/>
                  <a:pt x="6632758" y="3648851"/>
                </a:cubicBezTo>
                <a:close/>
                <a:moveTo>
                  <a:pt x="528285" y="4164253"/>
                </a:moveTo>
                <a:lnTo>
                  <a:pt x="528285" y="4151146"/>
                </a:lnTo>
                <a:lnTo>
                  <a:pt x="479741" y="4152604"/>
                </a:lnTo>
                <a:lnTo>
                  <a:pt x="431687" y="4151146"/>
                </a:lnTo>
                <a:lnTo>
                  <a:pt x="431687" y="4164253"/>
                </a:lnTo>
                <a:cubicBezTo>
                  <a:pt x="473917" y="4164253"/>
                  <a:pt x="473917" y="4183667"/>
                  <a:pt x="473917" y="4194835"/>
                </a:cubicBezTo>
                <a:lnTo>
                  <a:pt x="473917" y="4371044"/>
                </a:lnTo>
                <a:lnTo>
                  <a:pt x="328289" y="4156486"/>
                </a:lnTo>
                <a:cubicBezTo>
                  <a:pt x="324891" y="4151631"/>
                  <a:pt x="324405" y="4151146"/>
                  <a:pt x="316639" y="4151146"/>
                </a:cubicBezTo>
                <a:lnTo>
                  <a:pt x="246252" y="4151146"/>
                </a:lnTo>
                <a:lnTo>
                  <a:pt x="246252" y="4164253"/>
                </a:lnTo>
                <a:lnTo>
                  <a:pt x="258388" y="4164253"/>
                </a:lnTo>
                <a:cubicBezTo>
                  <a:pt x="264212" y="4164253"/>
                  <a:pt x="272465" y="4164737"/>
                  <a:pt x="278776" y="4164737"/>
                </a:cubicBezTo>
                <a:cubicBezTo>
                  <a:pt x="288484" y="4166195"/>
                  <a:pt x="288969" y="4166680"/>
                  <a:pt x="288969" y="4174446"/>
                </a:cubicBezTo>
                <a:lnTo>
                  <a:pt x="288969" y="4389975"/>
                </a:lnTo>
                <a:cubicBezTo>
                  <a:pt x="288969" y="4401138"/>
                  <a:pt x="288969" y="4420558"/>
                  <a:pt x="246252" y="4420558"/>
                </a:cubicBezTo>
                <a:lnTo>
                  <a:pt x="246252" y="4433179"/>
                </a:lnTo>
                <a:lnTo>
                  <a:pt x="294794" y="4431721"/>
                </a:lnTo>
                <a:lnTo>
                  <a:pt x="342852" y="4433179"/>
                </a:lnTo>
                <a:lnTo>
                  <a:pt x="342852" y="4420558"/>
                </a:lnTo>
                <a:cubicBezTo>
                  <a:pt x="300134" y="4420558"/>
                  <a:pt x="300134" y="4401138"/>
                  <a:pt x="300134" y="4389975"/>
                </a:cubicBezTo>
                <a:lnTo>
                  <a:pt x="300134" y="4175416"/>
                </a:lnTo>
                <a:cubicBezTo>
                  <a:pt x="302561" y="4177359"/>
                  <a:pt x="303047" y="4177843"/>
                  <a:pt x="304503" y="4180271"/>
                </a:cubicBezTo>
                <a:lnTo>
                  <a:pt x="472944" y="4427840"/>
                </a:lnTo>
                <a:cubicBezTo>
                  <a:pt x="476345" y="4432695"/>
                  <a:pt x="476829" y="4433179"/>
                  <a:pt x="479741" y="4433179"/>
                </a:cubicBezTo>
                <a:cubicBezTo>
                  <a:pt x="485565" y="4433179"/>
                  <a:pt x="485565" y="4430267"/>
                  <a:pt x="485565" y="4422500"/>
                </a:cubicBezTo>
                <a:lnTo>
                  <a:pt x="485565" y="4194835"/>
                </a:lnTo>
                <a:cubicBezTo>
                  <a:pt x="485565" y="4183667"/>
                  <a:pt x="485565" y="4164253"/>
                  <a:pt x="528285" y="4164253"/>
                </a:cubicBezTo>
                <a:close/>
                <a:moveTo>
                  <a:pt x="763108" y="4433179"/>
                </a:moveTo>
                <a:lnTo>
                  <a:pt x="763108" y="4420558"/>
                </a:lnTo>
                <a:cubicBezTo>
                  <a:pt x="733983" y="4420558"/>
                  <a:pt x="730587" y="4417645"/>
                  <a:pt x="730587" y="4397257"/>
                </a:cubicBezTo>
                <a:lnTo>
                  <a:pt x="730587" y="4250657"/>
                </a:lnTo>
                <a:lnTo>
                  <a:pt x="670391" y="4255511"/>
                </a:lnTo>
                <a:lnTo>
                  <a:pt x="670391" y="4268133"/>
                </a:lnTo>
                <a:cubicBezTo>
                  <a:pt x="699035" y="4268133"/>
                  <a:pt x="702431" y="4271045"/>
                  <a:pt x="702431" y="4291434"/>
                </a:cubicBezTo>
                <a:lnTo>
                  <a:pt x="702431" y="4364732"/>
                </a:lnTo>
                <a:cubicBezTo>
                  <a:pt x="702431" y="4400654"/>
                  <a:pt x="682528" y="4428809"/>
                  <a:pt x="652434" y="4428809"/>
                </a:cubicBezTo>
                <a:cubicBezTo>
                  <a:pt x="617966" y="4428809"/>
                  <a:pt x="616023" y="4409394"/>
                  <a:pt x="616023" y="4387547"/>
                </a:cubicBezTo>
                <a:lnTo>
                  <a:pt x="616023" y="4250657"/>
                </a:lnTo>
                <a:lnTo>
                  <a:pt x="555347" y="4255511"/>
                </a:lnTo>
                <a:lnTo>
                  <a:pt x="555347" y="4268133"/>
                </a:lnTo>
                <a:cubicBezTo>
                  <a:pt x="587872" y="4268133"/>
                  <a:pt x="587872" y="4269591"/>
                  <a:pt x="587872" y="4305998"/>
                </a:cubicBezTo>
                <a:lnTo>
                  <a:pt x="587872" y="4368133"/>
                </a:lnTo>
                <a:cubicBezTo>
                  <a:pt x="587872" y="4400169"/>
                  <a:pt x="587872" y="4437549"/>
                  <a:pt x="650491" y="4437549"/>
                </a:cubicBezTo>
                <a:cubicBezTo>
                  <a:pt x="673307" y="4437549"/>
                  <a:pt x="691753" y="4426381"/>
                  <a:pt x="703401" y="4400654"/>
                </a:cubicBezTo>
                <a:lnTo>
                  <a:pt x="703401" y="4437549"/>
                </a:lnTo>
                <a:close/>
                <a:moveTo>
                  <a:pt x="1107035" y="4433179"/>
                </a:moveTo>
                <a:lnTo>
                  <a:pt x="1107035" y="4420558"/>
                </a:lnTo>
                <a:cubicBezTo>
                  <a:pt x="1085673" y="4420558"/>
                  <a:pt x="1075479" y="4420558"/>
                  <a:pt x="1074994" y="4407936"/>
                </a:cubicBezTo>
                <a:lnTo>
                  <a:pt x="1074994" y="4329298"/>
                </a:lnTo>
                <a:cubicBezTo>
                  <a:pt x="1074994" y="4293861"/>
                  <a:pt x="1074994" y="4280755"/>
                  <a:pt x="1061888" y="4266191"/>
                </a:cubicBezTo>
                <a:cubicBezTo>
                  <a:pt x="1056549" y="4258912"/>
                  <a:pt x="1042473" y="4250657"/>
                  <a:pt x="1018684" y="4250657"/>
                </a:cubicBezTo>
                <a:cubicBezTo>
                  <a:pt x="984220" y="4250657"/>
                  <a:pt x="965774" y="4275415"/>
                  <a:pt x="958977" y="4291434"/>
                </a:cubicBezTo>
                <a:cubicBezTo>
                  <a:pt x="953153" y="4255511"/>
                  <a:pt x="922570" y="4250657"/>
                  <a:pt x="904124" y="4250657"/>
                </a:cubicBezTo>
                <a:cubicBezTo>
                  <a:pt x="874031" y="4250657"/>
                  <a:pt x="854611" y="4268618"/>
                  <a:pt x="842963" y="4294346"/>
                </a:cubicBezTo>
                <a:lnTo>
                  <a:pt x="842963" y="4250657"/>
                </a:lnTo>
                <a:lnTo>
                  <a:pt x="784710" y="4255511"/>
                </a:lnTo>
                <a:lnTo>
                  <a:pt x="784710" y="4268133"/>
                </a:lnTo>
                <a:cubicBezTo>
                  <a:pt x="813835" y="4268133"/>
                  <a:pt x="817235" y="4271045"/>
                  <a:pt x="817235" y="4291434"/>
                </a:cubicBezTo>
                <a:lnTo>
                  <a:pt x="817235" y="4401627"/>
                </a:lnTo>
                <a:cubicBezTo>
                  <a:pt x="817235" y="4420558"/>
                  <a:pt x="812381" y="4420558"/>
                  <a:pt x="784710" y="4420558"/>
                </a:cubicBezTo>
                <a:lnTo>
                  <a:pt x="784710" y="4433179"/>
                </a:lnTo>
                <a:lnTo>
                  <a:pt x="831311" y="4431721"/>
                </a:lnTo>
                <a:lnTo>
                  <a:pt x="877427" y="4433179"/>
                </a:lnTo>
                <a:lnTo>
                  <a:pt x="877427" y="4420558"/>
                </a:lnTo>
                <a:cubicBezTo>
                  <a:pt x="850241" y="4420558"/>
                  <a:pt x="845391" y="4420558"/>
                  <a:pt x="845391" y="4401627"/>
                </a:cubicBezTo>
                <a:lnTo>
                  <a:pt x="845391" y="4325898"/>
                </a:lnTo>
                <a:cubicBezTo>
                  <a:pt x="845391" y="4283182"/>
                  <a:pt x="875000" y="4259882"/>
                  <a:pt x="901212" y="4259882"/>
                </a:cubicBezTo>
                <a:cubicBezTo>
                  <a:pt x="926940" y="4259882"/>
                  <a:pt x="931795" y="4282213"/>
                  <a:pt x="931795" y="4305513"/>
                </a:cubicBezTo>
                <a:lnTo>
                  <a:pt x="931795" y="4401627"/>
                </a:lnTo>
                <a:cubicBezTo>
                  <a:pt x="931795" y="4420558"/>
                  <a:pt x="926940" y="4420558"/>
                  <a:pt x="899758" y="4420558"/>
                </a:cubicBezTo>
                <a:lnTo>
                  <a:pt x="899758" y="4433179"/>
                </a:lnTo>
                <a:lnTo>
                  <a:pt x="946359" y="4431721"/>
                </a:lnTo>
                <a:lnTo>
                  <a:pt x="992471" y="4433179"/>
                </a:lnTo>
                <a:lnTo>
                  <a:pt x="992471" y="4420558"/>
                </a:lnTo>
                <a:cubicBezTo>
                  <a:pt x="964805" y="4420558"/>
                  <a:pt x="959950" y="4420558"/>
                  <a:pt x="959950" y="4401627"/>
                </a:cubicBezTo>
                <a:lnTo>
                  <a:pt x="959950" y="4325898"/>
                </a:lnTo>
                <a:cubicBezTo>
                  <a:pt x="959950" y="4283182"/>
                  <a:pt x="989559" y="4259882"/>
                  <a:pt x="1015772" y="4259882"/>
                </a:cubicBezTo>
                <a:cubicBezTo>
                  <a:pt x="1041984" y="4259882"/>
                  <a:pt x="1046354" y="4282213"/>
                  <a:pt x="1046354" y="4305513"/>
                </a:cubicBezTo>
                <a:lnTo>
                  <a:pt x="1046354" y="4401627"/>
                </a:lnTo>
                <a:cubicBezTo>
                  <a:pt x="1046354" y="4420558"/>
                  <a:pt x="1041984" y="4420558"/>
                  <a:pt x="1014318" y="4420558"/>
                </a:cubicBezTo>
                <a:lnTo>
                  <a:pt x="1014318" y="4433179"/>
                </a:lnTo>
                <a:lnTo>
                  <a:pt x="1060919" y="4431721"/>
                </a:lnTo>
                <a:close/>
                <a:moveTo>
                  <a:pt x="1194533" y="4411333"/>
                </a:moveTo>
                <a:cubicBezTo>
                  <a:pt x="1194533" y="4399200"/>
                  <a:pt x="1184823" y="4389490"/>
                  <a:pt x="1172686" y="4389490"/>
                </a:cubicBezTo>
                <a:cubicBezTo>
                  <a:pt x="1161038" y="4389490"/>
                  <a:pt x="1150844" y="4399200"/>
                  <a:pt x="1150844" y="4411333"/>
                </a:cubicBezTo>
                <a:cubicBezTo>
                  <a:pt x="1150844" y="4423470"/>
                  <a:pt x="1161038" y="4433179"/>
                  <a:pt x="1172686" y="4433179"/>
                </a:cubicBezTo>
                <a:cubicBezTo>
                  <a:pt x="1184823" y="4433179"/>
                  <a:pt x="1194533" y="4423470"/>
                  <a:pt x="1194533" y="4411333"/>
                </a:cubicBezTo>
                <a:close/>
                <a:moveTo>
                  <a:pt x="1527657" y="4293376"/>
                </a:moveTo>
                <a:cubicBezTo>
                  <a:pt x="1527657" y="4208911"/>
                  <a:pt x="1465522" y="4142410"/>
                  <a:pt x="1390281" y="4142410"/>
                </a:cubicBezTo>
                <a:cubicBezTo>
                  <a:pt x="1316495" y="4142410"/>
                  <a:pt x="1253391" y="4208426"/>
                  <a:pt x="1253391" y="4293376"/>
                </a:cubicBezTo>
                <a:cubicBezTo>
                  <a:pt x="1253391" y="4377838"/>
                  <a:pt x="1316979" y="4442396"/>
                  <a:pt x="1390281" y="4442396"/>
                </a:cubicBezTo>
                <a:cubicBezTo>
                  <a:pt x="1465522" y="4442396"/>
                  <a:pt x="1527657" y="4376869"/>
                  <a:pt x="1527657" y="4293376"/>
                </a:cubicBezTo>
                <a:close/>
                <a:moveTo>
                  <a:pt x="1484937" y="4287552"/>
                </a:moveTo>
                <a:cubicBezTo>
                  <a:pt x="1484937" y="4396772"/>
                  <a:pt x="1428627" y="4431721"/>
                  <a:pt x="1390766" y="4431721"/>
                </a:cubicBezTo>
                <a:cubicBezTo>
                  <a:pt x="1350959" y="4431721"/>
                  <a:pt x="1295622" y="4395314"/>
                  <a:pt x="1295622" y="4287552"/>
                </a:cubicBezTo>
                <a:cubicBezTo>
                  <a:pt x="1295622" y="4180755"/>
                  <a:pt x="1355813" y="4152600"/>
                  <a:pt x="1390281" y="4152600"/>
                </a:cubicBezTo>
                <a:cubicBezTo>
                  <a:pt x="1426199" y="4152600"/>
                  <a:pt x="1484937" y="4181729"/>
                  <a:pt x="1484937" y="4287552"/>
                </a:cubicBezTo>
                <a:close/>
                <a:moveTo>
                  <a:pt x="1766241" y="4343859"/>
                </a:moveTo>
                <a:cubicBezTo>
                  <a:pt x="1766241" y="4291434"/>
                  <a:pt x="1725953" y="4250657"/>
                  <a:pt x="1678867" y="4250657"/>
                </a:cubicBezTo>
                <a:cubicBezTo>
                  <a:pt x="1646342" y="4250657"/>
                  <a:pt x="1628866" y="4270076"/>
                  <a:pt x="1622072" y="4277843"/>
                </a:cubicBezTo>
                <a:lnTo>
                  <a:pt x="1622072" y="4146776"/>
                </a:lnTo>
                <a:lnTo>
                  <a:pt x="1562850" y="4151146"/>
                </a:lnTo>
                <a:lnTo>
                  <a:pt x="1562850" y="4164253"/>
                </a:lnTo>
                <a:cubicBezTo>
                  <a:pt x="1591490" y="4164253"/>
                  <a:pt x="1594886" y="4167164"/>
                  <a:pt x="1594886" y="4187068"/>
                </a:cubicBezTo>
                <a:lnTo>
                  <a:pt x="1594886" y="4433179"/>
                </a:lnTo>
                <a:lnTo>
                  <a:pt x="1605081" y="4433179"/>
                </a:lnTo>
                <a:lnTo>
                  <a:pt x="1620129" y="4407451"/>
                </a:lnTo>
                <a:cubicBezTo>
                  <a:pt x="1626438" y="4417161"/>
                  <a:pt x="1643430" y="4437549"/>
                  <a:pt x="1674013" y="4437549"/>
                </a:cubicBezTo>
                <a:cubicBezTo>
                  <a:pt x="1723041" y="4437549"/>
                  <a:pt x="1766241" y="4397257"/>
                  <a:pt x="1766241" y="4343859"/>
                </a:cubicBezTo>
                <a:close/>
                <a:moveTo>
                  <a:pt x="1731777" y="4343859"/>
                </a:moveTo>
                <a:cubicBezTo>
                  <a:pt x="1731777" y="4358908"/>
                  <a:pt x="1731292" y="4383666"/>
                  <a:pt x="1719155" y="4402112"/>
                </a:cubicBezTo>
                <a:cubicBezTo>
                  <a:pt x="1710419" y="4415218"/>
                  <a:pt x="1694886" y="4428809"/>
                  <a:pt x="1672554" y="4428809"/>
                </a:cubicBezTo>
                <a:cubicBezTo>
                  <a:pt x="1654109" y="4428809"/>
                  <a:pt x="1639060" y="4418615"/>
                  <a:pt x="1629350" y="4403566"/>
                </a:cubicBezTo>
                <a:cubicBezTo>
                  <a:pt x="1623526" y="4394830"/>
                  <a:pt x="1623526" y="4393372"/>
                  <a:pt x="1623526" y="4386094"/>
                </a:cubicBezTo>
                <a:lnTo>
                  <a:pt x="1623526" y="4301143"/>
                </a:lnTo>
                <a:cubicBezTo>
                  <a:pt x="1623526" y="4293376"/>
                  <a:pt x="1623526" y="4292892"/>
                  <a:pt x="1627896" y="4286094"/>
                </a:cubicBezTo>
                <a:cubicBezTo>
                  <a:pt x="1643915" y="4263278"/>
                  <a:pt x="1666730" y="4259882"/>
                  <a:pt x="1676440" y="4259882"/>
                </a:cubicBezTo>
                <a:cubicBezTo>
                  <a:pt x="1695370" y="4259882"/>
                  <a:pt x="1709935" y="4270561"/>
                  <a:pt x="1720125" y="4286094"/>
                </a:cubicBezTo>
                <a:cubicBezTo>
                  <a:pt x="1730808" y="4303086"/>
                  <a:pt x="1731777" y="4326871"/>
                  <a:pt x="1731777" y="4343859"/>
                </a:cubicBezTo>
                <a:close/>
                <a:moveTo>
                  <a:pt x="1929224" y="4380265"/>
                </a:moveTo>
                <a:cubicBezTo>
                  <a:pt x="1929224" y="4358423"/>
                  <a:pt x="1917087" y="4346286"/>
                  <a:pt x="1911748" y="4340946"/>
                </a:cubicBezTo>
                <a:cubicBezTo>
                  <a:pt x="1898157" y="4327840"/>
                  <a:pt x="1882138" y="4324444"/>
                  <a:pt x="1864662" y="4321532"/>
                </a:cubicBezTo>
                <a:cubicBezTo>
                  <a:pt x="1841846" y="4316677"/>
                  <a:pt x="1814180" y="4311337"/>
                  <a:pt x="1814180" y="4287552"/>
                </a:cubicBezTo>
                <a:cubicBezTo>
                  <a:pt x="1814180" y="4272988"/>
                  <a:pt x="1824859" y="4255996"/>
                  <a:pt x="1860292" y="4255996"/>
                </a:cubicBezTo>
                <a:cubicBezTo>
                  <a:pt x="1905924" y="4255996"/>
                  <a:pt x="1907866" y="4293376"/>
                  <a:pt x="1908836" y="4305998"/>
                </a:cubicBezTo>
                <a:cubicBezTo>
                  <a:pt x="1908836" y="4309879"/>
                  <a:pt x="1913690" y="4309879"/>
                  <a:pt x="1913690" y="4309879"/>
                </a:cubicBezTo>
                <a:cubicBezTo>
                  <a:pt x="1919030" y="4309879"/>
                  <a:pt x="1919030" y="4307941"/>
                  <a:pt x="1919030" y="4299685"/>
                </a:cubicBezTo>
                <a:lnTo>
                  <a:pt x="1919030" y="4258424"/>
                </a:lnTo>
                <a:cubicBezTo>
                  <a:pt x="1919030" y="4251145"/>
                  <a:pt x="1919030" y="4248229"/>
                  <a:pt x="1914175" y="4248229"/>
                </a:cubicBezTo>
                <a:cubicBezTo>
                  <a:pt x="1912232" y="4248229"/>
                  <a:pt x="1911263" y="4248229"/>
                  <a:pt x="1905924" y="4253084"/>
                </a:cubicBezTo>
                <a:cubicBezTo>
                  <a:pt x="1904954" y="4255027"/>
                  <a:pt x="1900584" y="4258424"/>
                  <a:pt x="1899126" y="4259882"/>
                </a:cubicBezTo>
                <a:cubicBezTo>
                  <a:pt x="1883592" y="4248229"/>
                  <a:pt x="1866605" y="4248229"/>
                  <a:pt x="1860292" y="4248229"/>
                </a:cubicBezTo>
                <a:cubicBezTo>
                  <a:pt x="1809810" y="4248229"/>
                  <a:pt x="1794276" y="4275900"/>
                  <a:pt x="1794276" y="4299200"/>
                </a:cubicBezTo>
                <a:cubicBezTo>
                  <a:pt x="1794276" y="4313280"/>
                  <a:pt x="1801069" y="4324928"/>
                  <a:pt x="1812237" y="4334153"/>
                </a:cubicBezTo>
                <a:cubicBezTo>
                  <a:pt x="1825343" y="4344832"/>
                  <a:pt x="1836991" y="4347260"/>
                  <a:pt x="1866605" y="4353083"/>
                </a:cubicBezTo>
                <a:cubicBezTo>
                  <a:pt x="1875826" y="4354542"/>
                  <a:pt x="1909320" y="4361335"/>
                  <a:pt x="1909320" y="4390948"/>
                </a:cubicBezTo>
                <a:cubicBezTo>
                  <a:pt x="1909320" y="4412306"/>
                  <a:pt x="1894760" y="4428809"/>
                  <a:pt x="1862719" y="4428809"/>
                </a:cubicBezTo>
                <a:cubicBezTo>
                  <a:pt x="1828255" y="4428809"/>
                  <a:pt x="1813206" y="4405024"/>
                  <a:pt x="1805440" y="4370071"/>
                </a:cubicBezTo>
                <a:cubicBezTo>
                  <a:pt x="1803986" y="4364732"/>
                  <a:pt x="1803986" y="4362793"/>
                  <a:pt x="1799615" y="4362793"/>
                </a:cubicBezTo>
                <a:cubicBezTo>
                  <a:pt x="1794276" y="4362793"/>
                  <a:pt x="1794276" y="4365705"/>
                  <a:pt x="1794276" y="4373472"/>
                </a:cubicBezTo>
                <a:lnTo>
                  <a:pt x="1794276" y="4427840"/>
                </a:lnTo>
                <a:cubicBezTo>
                  <a:pt x="1794276" y="4434633"/>
                  <a:pt x="1794276" y="4437549"/>
                  <a:pt x="1798646" y="4437549"/>
                </a:cubicBezTo>
                <a:cubicBezTo>
                  <a:pt x="1801069" y="4437549"/>
                  <a:pt x="1801558" y="4437549"/>
                  <a:pt x="1809325" y="4429294"/>
                </a:cubicBezTo>
                <a:cubicBezTo>
                  <a:pt x="1809810" y="4428809"/>
                  <a:pt x="1809810" y="4427840"/>
                  <a:pt x="1817576" y="4420073"/>
                </a:cubicBezTo>
                <a:cubicBezTo>
                  <a:pt x="1835538" y="4437549"/>
                  <a:pt x="1853983" y="4437549"/>
                  <a:pt x="1862719" y="4437549"/>
                </a:cubicBezTo>
                <a:cubicBezTo>
                  <a:pt x="1910294" y="4437549"/>
                  <a:pt x="1929224" y="4409879"/>
                  <a:pt x="1929224" y="4380265"/>
                </a:cubicBezTo>
                <a:close/>
                <a:moveTo>
                  <a:pt x="2022426" y="4411333"/>
                </a:moveTo>
                <a:cubicBezTo>
                  <a:pt x="2022426" y="4399200"/>
                  <a:pt x="2012716" y="4389490"/>
                  <a:pt x="2000583" y="4389490"/>
                </a:cubicBezTo>
                <a:cubicBezTo>
                  <a:pt x="1988931" y="4389490"/>
                  <a:pt x="1978737" y="4399200"/>
                  <a:pt x="1978737" y="4411333"/>
                </a:cubicBezTo>
                <a:cubicBezTo>
                  <a:pt x="1978737" y="4423470"/>
                  <a:pt x="1988931" y="4433179"/>
                  <a:pt x="2000583" y="4433179"/>
                </a:cubicBezTo>
                <a:cubicBezTo>
                  <a:pt x="2012716" y="4433179"/>
                  <a:pt x="2022426" y="4423470"/>
                  <a:pt x="2022426" y="4411333"/>
                </a:cubicBezTo>
                <a:close/>
                <a:moveTo>
                  <a:pt x="5712877" y="4350171"/>
                </a:moveTo>
                <a:cubicBezTo>
                  <a:pt x="5712877" y="4301143"/>
                  <a:pt x="5678910" y="4259882"/>
                  <a:pt x="5634256" y="4259882"/>
                </a:cubicBezTo>
                <a:cubicBezTo>
                  <a:pt x="5614332" y="4259882"/>
                  <a:pt x="5596851" y="4266679"/>
                  <a:pt x="5581814" y="4280755"/>
                </a:cubicBezTo>
                <a:lnTo>
                  <a:pt x="5581814" y="4200659"/>
                </a:lnTo>
                <a:cubicBezTo>
                  <a:pt x="5590058" y="4203087"/>
                  <a:pt x="5603645" y="4205999"/>
                  <a:pt x="5616776" y="4205999"/>
                </a:cubicBezTo>
                <a:cubicBezTo>
                  <a:pt x="5667726" y="4205999"/>
                  <a:pt x="5696846" y="4168134"/>
                  <a:pt x="5696846" y="4162794"/>
                </a:cubicBezTo>
                <a:cubicBezTo>
                  <a:pt x="5696846" y="4160371"/>
                  <a:pt x="5695396" y="4158428"/>
                  <a:pt x="5692497" y="4158428"/>
                </a:cubicBezTo>
                <a:cubicBezTo>
                  <a:pt x="5692497" y="4158428"/>
                  <a:pt x="5691047" y="4158428"/>
                  <a:pt x="5689100" y="4159398"/>
                </a:cubicBezTo>
                <a:cubicBezTo>
                  <a:pt x="5680857" y="4163283"/>
                  <a:pt x="5660932" y="4171535"/>
                  <a:pt x="5633262" y="4171535"/>
                </a:cubicBezTo>
                <a:cubicBezTo>
                  <a:pt x="5616776" y="4171535"/>
                  <a:pt x="5597845" y="4168623"/>
                  <a:pt x="5578418" y="4159882"/>
                </a:cubicBezTo>
                <a:cubicBezTo>
                  <a:pt x="5575022" y="4158913"/>
                  <a:pt x="5573074" y="4158913"/>
                  <a:pt x="5573074" y="4158913"/>
                </a:cubicBezTo>
                <a:cubicBezTo>
                  <a:pt x="5569181" y="4158913"/>
                  <a:pt x="5569181" y="4162310"/>
                  <a:pt x="5569181" y="4168623"/>
                </a:cubicBezTo>
                <a:lnTo>
                  <a:pt x="5569181" y="4290949"/>
                </a:lnTo>
                <a:cubicBezTo>
                  <a:pt x="5569181" y="4298231"/>
                  <a:pt x="5569181" y="4301628"/>
                  <a:pt x="5575022" y="4301628"/>
                </a:cubicBezTo>
                <a:cubicBezTo>
                  <a:pt x="5577921" y="4301628"/>
                  <a:pt x="5578418" y="4300170"/>
                  <a:pt x="5580365" y="4297746"/>
                </a:cubicBezTo>
                <a:cubicBezTo>
                  <a:pt x="5584714" y="4291434"/>
                  <a:pt x="5600248" y="4269102"/>
                  <a:pt x="5633262" y="4269102"/>
                </a:cubicBezTo>
                <a:cubicBezTo>
                  <a:pt x="5655133" y="4269102"/>
                  <a:pt x="5665323" y="4288037"/>
                  <a:pt x="5668720" y="4295319"/>
                </a:cubicBezTo>
                <a:cubicBezTo>
                  <a:pt x="5675016" y="4310853"/>
                  <a:pt x="5675969" y="4326871"/>
                  <a:pt x="5675969" y="4347260"/>
                </a:cubicBezTo>
                <a:cubicBezTo>
                  <a:pt x="5675969" y="4361820"/>
                  <a:pt x="5675969" y="4386578"/>
                  <a:pt x="5666276" y="4404055"/>
                </a:cubicBezTo>
                <a:cubicBezTo>
                  <a:pt x="5656086" y="4420073"/>
                  <a:pt x="5641050" y="4430752"/>
                  <a:pt x="5622119" y="4430752"/>
                </a:cubicBezTo>
                <a:cubicBezTo>
                  <a:pt x="5592004" y="4430752"/>
                  <a:pt x="5568228" y="4408905"/>
                  <a:pt x="5561435" y="4384635"/>
                </a:cubicBezTo>
                <a:cubicBezTo>
                  <a:pt x="5562387" y="4385120"/>
                  <a:pt x="5563837" y="4385120"/>
                  <a:pt x="5568228" y="4385120"/>
                </a:cubicBezTo>
                <a:cubicBezTo>
                  <a:pt x="5581814" y="4385120"/>
                  <a:pt x="5589105" y="4374926"/>
                  <a:pt x="5589105" y="4365221"/>
                </a:cubicBezTo>
                <a:cubicBezTo>
                  <a:pt x="5589105" y="4355026"/>
                  <a:pt x="5581814" y="4344832"/>
                  <a:pt x="5568228" y="4344832"/>
                </a:cubicBezTo>
                <a:cubicBezTo>
                  <a:pt x="5562387" y="4344832"/>
                  <a:pt x="5548303" y="4347744"/>
                  <a:pt x="5548303" y="4366674"/>
                </a:cubicBezTo>
                <a:cubicBezTo>
                  <a:pt x="5548303" y="4402112"/>
                  <a:pt x="5576471" y="4442396"/>
                  <a:pt x="5622575" y="4442396"/>
                </a:cubicBezTo>
                <a:cubicBezTo>
                  <a:pt x="5670667" y="4442396"/>
                  <a:pt x="5712877" y="4402597"/>
                  <a:pt x="5712877" y="4350171"/>
                </a:cubicBezTo>
                <a:close/>
                <a:moveTo>
                  <a:pt x="5922105" y="4297258"/>
                </a:moveTo>
                <a:cubicBezTo>
                  <a:pt x="5922105" y="4186584"/>
                  <a:pt x="5875007" y="4158428"/>
                  <a:pt x="5838099" y="4158428"/>
                </a:cubicBezTo>
                <a:cubicBezTo>
                  <a:pt x="5815316" y="4158428"/>
                  <a:pt x="5795392" y="4165710"/>
                  <a:pt x="5777456" y="4184156"/>
                </a:cubicBezTo>
                <a:cubicBezTo>
                  <a:pt x="5760431" y="4203087"/>
                  <a:pt x="5751235" y="4220078"/>
                  <a:pt x="5751235" y="4251145"/>
                </a:cubicBezTo>
                <a:cubicBezTo>
                  <a:pt x="5751235" y="4302597"/>
                  <a:pt x="5787646" y="4343374"/>
                  <a:pt x="5833749" y="4343374"/>
                </a:cubicBezTo>
                <a:cubicBezTo>
                  <a:pt x="5858976" y="4343374"/>
                  <a:pt x="5875504" y="4325898"/>
                  <a:pt x="5885197" y="4302112"/>
                </a:cubicBezTo>
                <a:lnTo>
                  <a:pt x="5885197" y="4315219"/>
                </a:lnTo>
                <a:cubicBezTo>
                  <a:pt x="5885197" y="4411822"/>
                  <a:pt x="5842490" y="4430752"/>
                  <a:pt x="5818216" y="4430752"/>
                </a:cubicBezTo>
                <a:cubicBezTo>
                  <a:pt x="5811423" y="4430752"/>
                  <a:pt x="5789096" y="4429782"/>
                  <a:pt x="5777911" y="4415703"/>
                </a:cubicBezTo>
                <a:cubicBezTo>
                  <a:pt x="5795889" y="4415703"/>
                  <a:pt x="5799285" y="4404055"/>
                  <a:pt x="5799285" y="4396772"/>
                </a:cubicBezTo>
                <a:cubicBezTo>
                  <a:pt x="5799285" y="4384151"/>
                  <a:pt x="5789592" y="4377838"/>
                  <a:pt x="5780355" y="4377838"/>
                </a:cubicBezTo>
                <a:cubicBezTo>
                  <a:pt x="5773562" y="4377838"/>
                  <a:pt x="5761425" y="4381724"/>
                  <a:pt x="5761425" y="4397742"/>
                </a:cubicBezTo>
                <a:cubicBezTo>
                  <a:pt x="5761425" y="4425412"/>
                  <a:pt x="5783752" y="4442396"/>
                  <a:pt x="5818713" y="4442396"/>
                </a:cubicBezTo>
                <a:cubicBezTo>
                  <a:pt x="5872107" y="4442396"/>
                  <a:pt x="5922105" y="4386094"/>
                  <a:pt x="5922105" y="4297258"/>
                </a:cubicBezTo>
                <a:close/>
                <a:moveTo>
                  <a:pt x="5884244" y="4259397"/>
                </a:moveTo>
                <a:cubicBezTo>
                  <a:pt x="5884244" y="4293861"/>
                  <a:pt x="5870161" y="4333664"/>
                  <a:pt x="5834247" y="4333664"/>
                </a:cubicBezTo>
                <a:cubicBezTo>
                  <a:pt x="5827453" y="4333664"/>
                  <a:pt x="5808523" y="4333664"/>
                  <a:pt x="5795889" y="4307937"/>
                </a:cubicBezTo>
                <a:cubicBezTo>
                  <a:pt x="5788101" y="4292403"/>
                  <a:pt x="5788101" y="4272019"/>
                  <a:pt x="5788101" y="4251630"/>
                </a:cubicBezTo>
                <a:cubicBezTo>
                  <a:pt x="5788101" y="4229299"/>
                  <a:pt x="5788101" y="4209884"/>
                  <a:pt x="5796842" y="4194835"/>
                </a:cubicBezTo>
                <a:cubicBezTo>
                  <a:pt x="5808026" y="4173962"/>
                  <a:pt x="5823560" y="4168623"/>
                  <a:pt x="5838099" y="4168623"/>
                </a:cubicBezTo>
                <a:cubicBezTo>
                  <a:pt x="5857029" y="4168623"/>
                  <a:pt x="5870657" y="4182698"/>
                  <a:pt x="5877906" y="4201144"/>
                </a:cubicBezTo>
                <a:cubicBezTo>
                  <a:pt x="5882794" y="4214250"/>
                  <a:pt x="5884244" y="4240463"/>
                  <a:pt x="5884244" y="4259397"/>
                </a:cubicBezTo>
                <a:close/>
                <a:moveTo>
                  <a:pt x="6125491" y="4361335"/>
                </a:moveTo>
                <a:lnTo>
                  <a:pt x="6114804" y="4361335"/>
                </a:lnTo>
                <a:cubicBezTo>
                  <a:pt x="6112858" y="4373957"/>
                  <a:pt x="6109958" y="4391917"/>
                  <a:pt x="6106064" y="4398226"/>
                </a:cubicBezTo>
                <a:cubicBezTo>
                  <a:pt x="6103165" y="4401627"/>
                  <a:pt x="6075991" y="4401627"/>
                  <a:pt x="6066754" y="4401627"/>
                </a:cubicBezTo>
                <a:lnTo>
                  <a:pt x="5992482" y="4401627"/>
                </a:lnTo>
                <a:lnTo>
                  <a:pt x="6036184" y="4358908"/>
                </a:lnTo>
                <a:cubicBezTo>
                  <a:pt x="6100721" y="4302112"/>
                  <a:pt x="6125491" y="4279786"/>
                  <a:pt x="6125491" y="4238524"/>
                </a:cubicBezTo>
                <a:cubicBezTo>
                  <a:pt x="6125491" y="4191434"/>
                  <a:pt x="6088128" y="4158428"/>
                  <a:pt x="6037634" y="4158428"/>
                </a:cubicBezTo>
                <a:cubicBezTo>
                  <a:pt x="5991033" y="4158428"/>
                  <a:pt x="5960918" y="4196289"/>
                  <a:pt x="5960918" y="4233185"/>
                </a:cubicBezTo>
                <a:cubicBezTo>
                  <a:pt x="5960918" y="4255996"/>
                  <a:pt x="5981298" y="4255996"/>
                  <a:pt x="5982789" y="4255996"/>
                </a:cubicBezTo>
                <a:cubicBezTo>
                  <a:pt x="5989583" y="4255996"/>
                  <a:pt x="6004122" y="4251145"/>
                  <a:pt x="6004122" y="4234154"/>
                </a:cubicBezTo>
                <a:cubicBezTo>
                  <a:pt x="6004122" y="4223475"/>
                  <a:pt x="5996376" y="4212796"/>
                  <a:pt x="5982293" y="4212796"/>
                </a:cubicBezTo>
                <a:cubicBezTo>
                  <a:pt x="5978896" y="4212796"/>
                  <a:pt x="5977902" y="4212796"/>
                  <a:pt x="5976949" y="4213281"/>
                </a:cubicBezTo>
                <a:cubicBezTo>
                  <a:pt x="5986186" y="4186584"/>
                  <a:pt x="6008513" y="4171050"/>
                  <a:pt x="6032290" y="4171050"/>
                </a:cubicBezTo>
                <a:cubicBezTo>
                  <a:pt x="6070150" y="4171050"/>
                  <a:pt x="6087631" y="4204545"/>
                  <a:pt x="6087631" y="4238524"/>
                </a:cubicBezTo>
                <a:cubicBezTo>
                  <a:pt x="6087631" y="4271530"/>
                  <a:pt x="6067251" y="4304055"/>
                  <a:pt x="6044427" y="4329783"/>
                </a:cubicBezTo>
                <a:lnTo>
                  <a:pt x="5965309" y="4418130"/>
                </a:lnTo>
                <a:cubicBezTo>
                  <a:pt x="5960918" y="4422500"/>
                  <a:pt x="5960918" y="4423470"/>
                  <a:pt x="5960918" y="4433179"/>
                </a:cubicBezTo>
                <a:lnTo>
                  <a:pt x="6113852" y="4433179"/>
                </a:lnTo>
                <a:close/>
                <a:moveTo>
                  <a:pt x="6334843" y="4297258"/>
                </a:moveTo>
                <a:cubicBezTo>
                  <a:pt x="6334843" y="4186584"/>
                  <a:pt x="6287746" y="4158428"/>
                  <a:pt x="6250838" y="4158428"/>
                </a:cubicBezTo>
                <a:cubicBezTo>
                  <a:pt x="6228055" y="4158428"/>
                  <a:pt x="6208131" y="4165710"/>
                  <a:pt x="6190153" y="4184156"/>
                </a:cubicBezTo>
                <a:cubicBezTo>
                  <a:pt x="6173169" y="4203087"/>
                  <a:pt x="6163973" y="4220078"/>
                  <a:pt x="6163973" y="4251145"/>
                </a:cubicBezTo>
                <a:cubicBezTo>
                  <a:pt x="6163973" y="4302597"/>
                  <a:pt x="6200385" y="4343374"/>
                  <a:pt x="6246488" y="4343374"/>
                </a:cubicBezTo>
                <a:cubicBezTo>
                  <a:pt x="6271715" y="4343374"/>
                  <a:pt x="6288242" y="4325898"/>
                  <a:pt x="6297936" y="4302112"/>
                </a:cubicBezTo>
                <a:lnTo>
                  <a:pt x="6297936" y="4315219"/>
                </a:lnTo>
                <a:cubicBezTo>
                  <a:pt x="6297936" y="4411822"/>
                  <a:pt x="6255228" y="4430752"/>
                  <a:pt x="6230955" y="4430752"/>
                </a:cubicBezTo>
                <a:cubicBezTo>
                  <a:pt x="6224161" y="4430752"/>
                  <a:pt x="6201834" y="4429782"/>
                  <a:pt x="6190650" y="4415703"/>
                </a:cubicBezTo>
                <a:cubicBezTo>
                  <a:pt x="6208628" y="4415703"/>
                  <a:pt x="6212024" y="4404055"/>
                  <a:pt x="6212024" y="4396772"/>
                </a:cubicBezTo>
                <a:cubicBezTo>
                  <a:pt x="6212024" y="4384151"/>
                  <a:pt x="6202290" y="4377838"/>
                  <a:pt x="6193094" y="4377838"/>
                </a:cubicBezTo>
                <a:cubicBezTo>
                  <a:pt x="6186301" y="4377838"/>
                  <a:pt x="6174164" y="4381724"/>
                  <a:pt x="6174164" y="4397742"/>
                </a:cubicBezTo>
                <a:cubicBezTo>
                  <a:pt x="6174164" y="4425412"/>
                  <a:pt x="6196491" y="4442396"/>
                  <a:pt x="6231452" y="4442396"/>
                </a:cubicBezTo>
                <a:cubicBezTo>
                  <a:pt x="6284846" y="4442396"/>
                  <a:pt x="6334843" y="4386094"/>
                  <a:pt x="6334843" y="4297258"/>
                </a:cubicBezTo>
                <a:close/>
                <a:moveTo>
                  <a:pt x="6296983" y="4259397"/>
                </a:moveTo>
                <a:cubicBezTo>
                  <a:pt x="6296983" y="4293861"/>
                  <a:pt x="6282899" y="4333664"/>
                  <a:pt x="6246986" y="4333664"/>
                </a:cubicBezTo>
                <a:cubicBezTo>
                  <a:pt x="6240151" y="4333664"/>
                  <a:pt x="6221220" y="4333664"/>
                  <a:pt x="6208628" y="4307937"/>
                </a:cubicBezTo>
                <a:cubicBezTo>
                  <a:pt x="6200840" y="4292403"/>
                  <a:pt x="6200840" y="4272019"/>
                  <a:pt x="6200840" y="4251630"/>
                </a:cubicBezTo>
                <a:cubicBezTo>
                  <a:pt x="6200840" y="4229299"/>
                  <a:pt x="6200840" y="4209884"/>
                  <a:pt x="6209581" y="4194835"/>
                </a:cubicBezTo>
                <a:cubicBezTo>
                  <a:pt x="6220764" y="4173962"/>
                  <a:pt x="6236298" y="4168623"/>
                  <a:pt x="6250838" y="4168623"/>
                </a:cubicBezTo>
                <a:cubicBezTo>
                  <a:pt x="6269768" y="4168623"/>
                  <a:pt x="6283355" y="4182698"/>
                  <a:pt x="6290646" y="4201144"/>
                </a:cubicBezTo>
                <a:cubicBezTo>
                  <a:pt x="6295492" y="4214250"/>
                  <a:pt x="6296983" y="4240463"/>
                  <a:pt x="6296983" y="4259397"/>
                </a:cubicBezTo>
                <a:close/>
              </a:path>
            </a:pathLst>
          </a:custGeom>
          <a:solidFill>
            <a:srgbClr val="000000"/>
          </a:solidFill>
          <a:ln w="4140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D7F17E3B-E743-6B89-44BA-B6F275D5BE49}"/>
              </a:ext>
            </a:extLst>
          </p:cNvPr>
          <p:cNvSpPr/>
          <p:nvPr/>
        </p:nvSpPr>
        <p:spPr>
          <a:xfrm flipV="1">
            <a:off x="5489112" y="2619387"/>
            <a:ext cx="4591492" cy="31067"/>
          </a:xfrm>
          <a:custGeom>
            <a:avLst/>
            <a:gdLst>
              <a:gd name="connsiteX0" fmla="*/ 118 w 4591492"/>
              <a:gd name="connsiteY0" fmla="*/ -36 h 31067"/>
              <a:gd name="connsiteX1" fmla="*/ 4591611 w 4591492"/>
              <a:gd name="connsiteY1" fmla="*/ -36 h 31067"/>
            </a:gdLst>
            <a:ahLst/>
            <a:cxnLst>
              <a:cxn ang="0">
                <a:pos x="connsiteX0" y="connsiteY0"/>
              </a:cxn>
              <a:cxn ang="0">
                <a:pos x="connsiteX1" y="connsiteY1"/>
              </a:cxn>
            </a:cxnLst>
            <a:rect l="l" t="t" r="r" b="b"/>
            <a:pathLst>
              <a:path w="4591492" h="31067">
                <a:moveTo>
                  <a:pt x="118" y="-36"/>
                </a:moveTo>
                <a:lnTo>
                  <a:pt x="4591611" y="-36"/>
                </a:lnTo>
              </a:path>
            </a:pathLst>
          </a:custGeom>
          <a:noFill/>
          <a:ln w="32996" cap="flat">
            <a:solidFill>
              <a:srgbClr val="000000"/>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15AFED2-CA9A-5E31-5801-0274A29E3009}"/>
              </a:ext>
            </a:extLst>
          </p:cNvPr>
          <p:cNvSpPr/>
          <p:nvPr/>
        </p:nvSpPr>
        <p:spPr>
          <a:xfrm flipV="1">
            <a:off x="10080605" y="2619387"/>
            <a:ext cx="2727001" cy="31067"/>
          </a:xfrm>
          <a:custGeom>
            <a:avLst/>
            <a:gdLst>
              <a:gd name="connsiteX0" fmla="*/ 148 w 2727001"/>
              <a:gd name="connsiteY0" fmla="*/ -36 h 31067"/>
              <a:gd name="connsiteX1" fmla="*/ 2727149 w 2727001"/>
              <a:gd name="connsiteY1" fmla="*/ -36 h 31067"/>
            </a:gdLst>
            <a:ahLst/>
            <a:cxnLst>
              <a:cxn ang="0">
                <a:pos x="connsiteX0" y="connsiteY0"/>
              </a:cxn>
              <a:cxn ang="0">
                <a:pos x="connsiteX1" y="connsiteY1"/>
              </a:cxn>
            </a:cxnLst>
            <a:rect l="l" t="t" r="r" b="b"/>
            <a:pathLst>
              <a:path w="2727001" h="31067">
                <a:moveTo>
                  <a:pt x="148" y="-36"/>
                </a:moveTo>
                <a:lnTo>
                  <a:pt x="2727149" y="-36"/>
                </a:lnTo>
              </a:path>
            </a:pathLst>
          </a:custGeom>
          <a:noFill/>
          <a:ln w="32996" cap="flat">
            <a:solidFill>
              <a:srgbClr val="000000"/>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18F1D1FB-C7B1-81FD-E421-06605AAB7F63}"/>
              </a:ext>
            </a:extLst>
          </p:cNvPr>
          <p:cNvSpPr/>
          <p:nvPr/>
        </p:nvSpPr>
        <p:spPr>
          <a:xfrm flipV="1">
            <a:off x="5489112" y="3306471"/>
            <a:ext cx="4591492" cy="31067"/>
          </a:xfrm>
          <a:custGeom>
            <a:avLst/>
            <a:gdLst>
              <a:gd name="connsiteX0" fmla="*/ 118 w 4591492"/>
              <a:gd name="connsiteY0" fmla="*/ 3 h 31067"/>
              <a:gd name="connsiteX1" fmla="*/ 4591611 w 4591492"/>
              <a:gd name="connsiteY1" fmla="*/ 3 h 31067"/>
            </a:gdLst>
            <a:ahLst/>
            <a:cxnLst>
              <a:cxn ang="0">
                <a:pos x="connsiteX0" y="connsiteY0"/>
              </a:cxn>
              <a:cxn ang="0">
                <a:pos x="connsiteX1" y="connsiteY1"/>
              </a:cxn>
            </a:cxnLst>
            <a:rect l="l" t="t" r="r" b="b"/>
            <a:pathLst>
              <a:path w="4591492" h="31067">
                <a:moveTo>
                  <a:pt x="118" y="3"/>
                </a:moveTo>
                <a:lnTo>
                  <a:pt x="4591611" y="3"/>
                </a:lnTo>
              </a:path>
            </a:pathLst>
          </a:custGeom>
          <a:noFill/>
          <a:ln w="20625" cap="flat">
            <a:solidFill>
              <a:srgbClr val="000000"/>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BA84F34-FADE-B6A2-C3BF-A2B1CF179FE5}"/>
              </a:ext>
            </a:extLst>
          </p:cNvPr>
          <p:cNvSpPr/>
          <p:nvPr/>
        </p:nvSpPr>
        <p:spPr>
          <a:xfrm flipV="1">
            <a:off x="10080605" y="3306471"/>
            <a:ext cx="2727001" cy="31067"/>
          </a:xfrm>
          <a:custGeom>
            <a:avLst/>
            <a:gdLst>
              <a:gd name="connsiteX0" fmla="*/ 148 w 2727001"/>
              <a:gd name="connsiteY0" fmla="*/ 3 h 31067"/>
              <a:gd name="connsiteX1" fmla="*/ 2727149 w 2727001"/>
              <a:gd name="connsiteY1" fmla="*/ 3 h 31067"/>
            </a:gdLst>
            <a:ahLst/>
            <a:cxnLst>
              <a:cxn ang="0">
                <a:pos x="connsiteX0" y="connsiteY0"/>
              </a:cxn>
              <a:cxn ang="0">
                <a:pos x="connsiteX1" y="connsiteY1"/>
              </a:cxn>
            </a:cxnLst>
            <a:rect l="l" t="t" r="r" b="b"/>
            <a:pathLst>
              <a:path w="2727001" h="31067">
                <a:moveTo>
                  <a:pt x="148" y="3"/>
                </a:moveTo>
                <a:lnTo>
                  <a:pt x="2727149" y="3"/>
                </a:lnTo>
              </a:path>
            </a:pathLst>
          </a:custGeom>
          <a:noFill/>
          <a:ln w="20625" cap="flat">
            <a:solidFill>
              <a:srgbClr val="000000"/>
            </a:solid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67837E71-772F-52D4-8D7C-941AEC0431F2}"/>
              </a:ext>
            </a:extLst>
          </p:cNvPr>
          <p:cNvSpPr/>
          <p:nvPr/>
        </p:nvSpPr>
        <p:spPr>
          <a:xfrm flipV="1">
            <a:off x="5489112" y="5968314"/>
            <a:ext cx="4591492" cy="31067"/>
          </a:xfrm>
          <a:custGeom>
            <a:avLst/>
            <a:gdLst>
              <a:gd name="connsiteX0" fmla="*/ 118 w 4591492"/>
              <a:gd name="connsiteY0" fmla="*/ 153 h 31067"/>
              <a:gd name="connsiteX1" fmla="*/ 4591611 w 4591492"/>
              <a:gd name="connsiteY1" fmla="*/ 153 h 31067"/>
            </a:gdLst>
            <a:ahLst/>
            <a:cxnLst>
              <a:cxn ang="0">
                <a:pos x="connsiteX0" y="connsiteY0"/>
              </a:cxn>
              <a:cxn ang="0">
                <a:pos x="connsiteX1" y="connsiteY1"/>
              </a:cxn>
            </a:cxnLst>
            <a:rect l="l" t="t" r="r" b="b"/>
            <a:pathLst>
              <a:path w="4591492" h="31067">
                <a:moveTo>
                  <a:pt x="118" y="153"/>
                </a:moveTo>
                <a:lnTo>
                  <a:pt x="4591611" y="153"/>
                </a:lnTo>
              </a:path>
            </a:pathLst>
          </a:custGeom>
          <a:noFill/>
          <a:ln w="20625" cap="flat">
            <a:solidFill>
              <a:srgbClr val="000000"/>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2CDA943-1B0A-CF65-58A4-39C0D3EBCD72}"/>
              </a:ext>
            </a:extLst>
          </p:cNvPr>
          <p:cNvSpPr/>
          <p:nvPr/>
        </p:nvSpPr>
        <p:spPr>
          <a:xfrm flipV="1">
            <a:off x="10080605" y="5968314"/>
            <a:ext cx="2727001" cy="31067"/>
          </a:xfrm>
          <a:custGeom>
            <a:avLst/>
            <a:gdLst>
              <a:gd name="connsiteX0" fmla="*/ 148 w 2727001"/>
              <a:gd name="connsiteY0" fmla="*/ 153 h 31067"/>
              <a:gd name="connsiteX1" fmla="*/ 2727149 w 2727001"/>
              <a:gd name="connsiteY1" fmla="*/ 153 h 31067"/>
            </a:gdLst>
            <a:ahLst/>
            <a:cxnLst>
              <a:cxn ang="0">
                <a:pos x="connsiteX0" y="connsiteY0"/>
              </a:cxn>
              <a:cxn ang="0">
                <a:pos x="connsiteX1" y="connsiteY1"/>
              </a:cxn>
            </a:cxnLst>
            <a:rect l="l" t="t" r="r" b="b"/>
            <a:pathLst>
              <a:path w="2727001" h="31067">
                <a:moveTo>
                  <a:pt x="148" y="153"/>
                </a:moveTo>
                <a:lnTo>
                  <a:pt x="2727149" y="153"/>
                </a:lnTo>
              </a:path>
            </a:pathLst>
          </a:custGeom>
          <a:noFill/>
          <a:ln w="20625" cap="flat">
            <a:solidFill>
              <a:srgbClr val="000000"/>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A64A40B-93D9-9212-9431-DD82799D34A3}"/>
              </a:ext>
            </a:extLst>
          </p:cNvPr>
          <p:cNvSpPr/>
          <p:nvPr/>
        </p:nvSpPr>
        <p:spPr>
          <a:xfrm flipV="1">
            <a:off x="5489112" y="6655398"/>
            <a:ext cx="4591492" cy="31067"/>
          </a:xfrm>
          <a:custGeom>
            <a:avLst/>
            <a:gdLst>
              <a:gd name="connsiteX0" fmla="*/ 118 w 4591492"/>
              <a:gd name="connsiteY0" fmla="*/ 192 h 31067"/>
              <a:gd name="connsiteX1" fmla="*/ 4591611 w 4591492"/>
              <a:gd name="connsiteY1" fmla="*/ 192 h 31067"/>
            </a:gdLst>
            <a:ahLst/>
            <a:cxnLst>
              <a:cxn ang="0">
                <a:pos x="connsiteX0" y="connsiteY0"/>
              </a:cxn>
              <a:cxn ang="0">
                <a:pos x="connsiteX1" y="connsiteY1"/>
              </a:cxn>
            </a:cxnLst>
            <a:rect l="l" t="t" r="r" b="b"/>
            <a:pathLst>
              <a:path w="4591492" h="31067">
                <a:moveTo>
                  <a:pt x="118" y="192"/>
                </a:moveTo>
                <a:lnTo>
                  <a:pt x="4591611" y="192"/>
                </a:lnTo>
              </a:path>
            </a:pathLst>
          </a:custGeom>
          <a:noFill/>
          <a:ln w="32996" cap="flat">
            <a:solidFill>
              <a:srgbClr val="000000"/>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2BBB263-7160-F2F0-F9A9-B2F3626AAD4E}"/>
              </a:ext>
            </a:extLst>
          </p:cNvPr>
          <p:cNvSpPr/>
          <p:nvPr/>
        </p:nvSpPr>
        <p:spPr>
          <a:xfrm flipV="1">
            <a:off x="10080605" y="6655398"/>
            <a:ext cx="2727001" cy="31067"/>
          </a:xfrm>
          <a:custGeom>
            <a:avLst/>
            <a:gdLst>
              <a:gd name="connsiteX0" fmla="*/ 148 w 2727001"/>
              <a:gd name="connsiteY0" fmla="*/ 192 h 31067"/>
              <a:gd name="connsiteX1" fmla="*/ 2727149 w 2727001"/>
              <a:gd name="connsiteY1" fmla="*/ 192 h 31067"/>
            </a:gdLst>
            <a:ahLst/>
            <a:cxnLst>
              <a:cxn ang="0">
                <a:pos x="connsiteX0" y="connsiteY0"/>
              </a:cxn>
              <a:cxn ang="0">
                <a:pos x="connsiteX1" y="connsiteY1"/>
              </a:cxn>
            </a:cxnLst>
            <a:rect l="l" t="t" r="r" b="b"/>
            <a:pathLst>
              <a:path w="2727001" h="31067">
                <a:moveTo>
                  <a:pt x="148" y="192"/>
                </a:moveTo>
                <a:lnTo>
                  <a:pt x="2727149" y="192"/>
                </a:lnTo>
              </a:path>
            </a:pathLst>
          </a:custGeom>
          <a:noFill/>
          <a:ln w="32996" cap="flat">
            <a:solidFill>
              <a:srgbClr val="000000"/>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97801EC-60AC-D61E-43FF-CA9818D80AB2}"/>
              </a:ext>
            </a:extLst>
          </p:cNvPr>
          <p:cNvSpPr/>
          <p:nvPr/>
        </p:nvSpPr>
        <p:spPr>
          <a:xfrm>
            <a:off x="5789708" y="6919304"/>
            <a:ext cx="6990240" cy="1380309"/>
          </a:xfrm>
          <a:custGeom>
            <a:avLst/>
            <a:gdLst>
              <a:gd name="connsiteX0" fmla="*/ 286065 w 6990240"/>
              <a:gd name="connsiteY0" fmla="*/ 206478 h 1380309"/>
              <a:gd name="connsiteX1" fmla="*/ 272473 w 6990240"/>
              <a:gd name="connsiteY1" fmla="*/ 198226 h 1380309"/>
              <a:gd name="connsiteX2" fmla="*/ 157427 w 6990240"/>
              <a:gd name="connsiteY2" fmla="*/ 198226 h 1380309"/>
              <a:gd name="connsiteX3" fmla="*/ 157427 w 6990240"/>
              <a:gd name="connsiteY3" fmla="*/ 82694 h 1380309"/>
              <a:gd name="connsiteX4" fmla="*/ 149174 w 6990240"/>
              <a:gd name="connsiteY4" fmla="*/ 69103 h 1380309"/>
              <a:gd name="connsiteX5" fmla="*/ 140923 w 6990240"/>
              <a:gd name="connsiteY5" fmla="*/ 82694 h 1380309"/>
              <a:gd name="connsiteX6" fmla="*/ 140923 w 6990240"/>
              <a:gd name="connsiteY6" fmla="*/ 198226 h 1380309"/>
              <a:gd name="connsiteX7" fmla="*/ 25391 w 6990240"/>
              <a:gd name="connsiteY7" fmla="*/ 198226 h 1380309"/>
              <a:gd name="connsiteX8" fmla="*/ 11799 w 6990240"/>
              <a:gd name="connsiteY8" fmla="*/ 206478 h 1380309"/>
              <a:gd name="connsiteX9" fmla="*/ 25391 w 6990240"/>
              <a:gd name="connsiteY9" fmla="*/ 214730 h 1380309"/>
              <a:gd name="connsiteX10" fmla="*/ 140923 w 6990240"/>
              <a:gd name="connsiteY10" fmla="*/ 214730 h 1380309"/>
              <a:gd name="connsiteX11" fmla="*/ 140923 w 6990240"/>
              <a:gd name="connsiteY11" fmla="*/ 330747 h 1380309"/>
              <a:gd name="connsiteX12" fmla="*/ 149174 w 6990240"/>
              <a:gd name="connsiteY12" fmla="*/ 344339 h 1380309"/>
              <a:gd name="connsiteX13" fmla="*/ 157427 w 6990240"/>
              <a:gd name="connsiteY13" fmla="*/ 330747 h 1380309"/>
              <a:gd name="connsiteX14" fmla="*/ 157427 w 6990240"/>
              <a:gd name="connsiteY14" fmla="*/ 214730 h 1380309"/>
              <a:gd name="connsiteX15" fmla="*/ 272473 w 6990240"/>
              <a:gd name="connsiteY15" fmla="*/ 214730 h 1380309"/>
              <a:gd name="connsiteX16" fmla="*/ 286065 w 6990240"/>
              <a:gd name="connsiteY16" fmla="*/ 206478 h 1380309"/>
              <a:gd name="connsiteX17" fmla="*/ 646736 w 6990240"/>
              <a:gd name="connsiteY17" fmla="*/ 220556 h 1380309"/>
              <a:gd name="connsiteX18" fmla="*/ 560331 w 6990240"/>
              <a:gd name="connsiteY18" fmla="*/ 127354 h 1380309"/>
              <a:gd name="connsiteX19" fmla="*/ 502563 w 6990240"/>
              <a:gd name="connsiteY19" fmla="*/ 154538 h 1380309"/>
              <a:gd name="connsiteX20" fmla="*/ 502563 w 6990240"/>
              <a:gd name="connsiteY20" fmla="*/ 127354 h 1380309"/>
              <a:gd name="connsiteX21" fmla="*/ 443345 w 6990240"/>
              <a:gd name="connsiteY21" fmla="*/ 132208 h 1380309"/>
              <a:gd name="connsiteX22" fmla="*/ 443345 w 6990240"/>
              <a:gd name="connsiteY22" fmla="*/ 144829 h 1380309"/>
              <a:gd name="connsiteX23" fmla="*/ 475381 w 6990240"/>
              <a:gd name="connsiteY23" fmla="*/ 165217 h 1380309"/>
              <a:gd name="connsiteX24" fmla="*/ 475381 w 6990240"/>
              <a:gd name="connsiteY24" fmla="*/ 358416 h 1380309"/>
              <a:gd name="connsiteX25" fmla="*/ 443345 w 6990240"/>
              <a:gd name="connsiteY25" fmla="*/ 377348 h 1380309"/>
              <a:gd name="connsiteX26" fmla="*/ 443345 w 6990240"/>
              <a:gd name="connsiteY26" fmla="*/ 389969 h 1380309"/>
              <a:gd name="connsiteX27" fmla="*/ 489457 w 6990240"/>
              <a:gd name="connsiteY27" fmla="*/ 388513 h 1380309"/>
              <a:gd name="connsiteX28" fmla="*/ 536058 w 6990240"/>
              <a:gd name="connsiteY28" fmla="*/ 389969 h 1380309"/>
              <a:gd name="connsiteX29" fmla="*/ 536058 w 6990240"/>
              <a:gd name="connsiteY29" fmla="*/ 377348 h 1380309"/>
              <a:gd name="connsiteX30" fmla="*/ 504021 w 6990240"/>
              <a:gd name="connsiteY30" fmla="*/ 358416 h 1380309"/>
              <a:gd name="connsiteX31" fmla="*/ 504021 w 6990240"/>
              <a:gd name="connsiteY31" fmla="*/ 285603 h 1380309"/>
              <a:gd name="connsiteX32" fmla="*/ 554503 w 6990240"/>
              <a:gd name="connsiteY32" fmla="*/ 314243 h 1380309"/>
              <a:gd name="connsiteX33" fmla="*/ 646736 w 6990240"/>
              <a:gd name="connsiteY33" fmla="*/ 220556 h 1380309"/>
              <a:gd name="connsiteX34" fmla="*/ 612272 w 6990240"/>
              <a:gd name="connsiteY34" fmla="*/ 220556 h 1380309"/>
              <a:gd name="connsiteX35" fmla="*/ 553049 w 6990240"/>
              <a:gd name="connsiteY35" fmla="*/ 305505 h 1380309"/>
              <a:gd name="connsiteX36" fmla="*/ 509845 w 6990240"/>
              <a:gd name="connsiteY36" fmla="*/ 280263 h 1380309"/>
              <a:gd name="connsiteX37" fmla="*/ 504021 w 6990240"/>
              <a:gd name="connsiteY37" fmla="*/ 262788 h 1380309"/>
              <a:gd name="connsiteX38" fmla="*/ 504021 w 6990240"/>
              <a:gd name="connsiteY38" fmla="*/ 171042 h 1380309"/>
              <a:gd name="connsiteX39" fmla="*/ 556931 w 6990240"/>
              <a:gd name="connsiteY39" fmla="*/ 138033 h 1380309"/>
              <a:gd name="connsiteX40" fmla="*/ 612272 w 6990240"/>
              <a:gd name="connsiteY40" fmla="*/ 220556 h 1380309"/>
              <a:gd name="connsiteX41" fmla="*/ 1070514 w 6990240"/>
              <a:gd name="connsiteY41" fmla="*/ 318126 h 1380309"/>
              <a:gd name="connsiteX42" fmla="*/ 1062747 w 6990240"/>
              <a:gd name="connsiteY42" fmla="*/ 308903 h 1380309"/>
              <a:gd name="connsiteX43" fmla="*/ 846246 w 6990240"/>
              <a:gd name="connsiteY43" fmla="*/ 206478 h 1380309"/>
              <a:gd name="connsiteX44" fmla="*/ 1062747 w 6990240"/>
              <a:gd name="connsiteY44" fmla="*/ 104539 h 1380309"/>
              <a:gd name="connsiteX45" fmla="*/ 1070514 w 6990240"/>
              <a:gd name="connsiteY45" fmla="*/ 95315 h 1380309"/>
              <a:gd name="connsiteX46" fmla="*/ 1062263 w 6990240"/>
              <a:gd name="connsiteY46" fmla="*/ 87063 h 1380309"/>
              <a:gd name="connsiteX47" fmla="*/ 1054980 w 6990240"/>
              <a:gd name="connsiteY47" fmla="*/ 89976 h 1380309"/>
              <a:gd name="connsiteX48" fmla="*/ 826346 w 6990240"/>
              <a:gd name="connsiteY48" fmla="*/ 197741 h 1380309"/>
              <a:gd name="connsiteX49" fmla="*/ 818579 w 6990240"/>
              <a:gd name="connsiteY49" fmla="*/ 206478 h 1380309"/>
              <a:gd name="connsiteX50" fmla="*/ 826346 w 6990240"/>
              <a:gd name="connsiteY50" fmla="*/ 215701 h 1380309"/>
              <a:gd name="connsiteX51" fmla="*/ 1054980 w 6990240"/>
              <a:gd name="connsiteY51" fmla="*/ 323466 h 1380309"/>
              <a:gd name="connsiteX52" fmla="*/ 1062263 w 6990240"/>
              <a:gd name="connsiteY52" fmla="*/ 326378 h 1380309"/>
              <a:gd name="connsiteX53" fmla="*/ 1070514 w 6990240"/>
              <a:gd name="connsiteY53" fmla="*/ 318126 h 1380309"/>
              <a:gd name="connsiteX54" fmla="*/ 1417473 w 6990240"/>
              <a:gd name="connsiteY54" fmla="*/ 177838 h 1380309"/>
              <a:gd name="connsiteX55" fmla="*/ 1400966 w 6990240"/>
              <a:gd name="connsiteY55" fmla="*/ 81238 h 1380309"/>
              <a:gd name="connsiteX56" fmla="*/ 1331065 w 6990240"/>
              <a:gd name="connsiteY56" fmla="*/ 35123 h 1380309"/>
              <a:gd name="connsiteX57" fmla="*/ 1259221 w 6990240"/>
              <a:gd name="connsiteY57" fmla="*/ 84151 h 1380309"/>
              <a:gd name="connsiteX58" fmla="*/ 1243687 w 6990240"/>
              <a:gd name="connsiteY58" fmla="*/ 177838 h 1380309"/>
              <a:gd name="connsiteX59" fmla="*/ 1262137 w 6990240"/>
              <a:gd name="connsiteY59" fmla="*/ 277350 h 1380309"/>
              <a:gd name="connsiteX60" fmla="*/ 1330580 w 6990240"/>
              <a:gd name="connsiteY60" fmla="*/ 319097 h 1380309"/>
              <a:gd name="connsiteX61" fmla="*/ 1402424 w 6990240"/>
              <a:gd name="connsiteY61" fmla="*/ 271040 h 1380309"/>
              <a:gd name="connsiteX62" fmla="*/ 1417473 w 6990240"/>
              <a:gd name="connsiteY62" fmla="*/ 177838 h 1380309"/>
              <a:gd name="connsiteX63" fmla="*/ 1383005 w 6990240"/>
              <a:gd name="connsiteY63" fmla="*/ 172984 h 1380309"/>
              <a:gd name="connsiteX64" fmla="*/ 1378639 w 6990240"/>
              <a:gd name="connsiteY64" fmla="*/ 258419 h 1380309"/>
              <a:gd name="connsiteX65" fmla="*/ 1330580 w 6990240"/>
              <a:gd name="connsiteY65" fmla="*/ 309874 h 1380309"/>
              <a:gd name="connsiteX66" fmla="*/ 1282521 w 6990240"/>
              <a:gd name="connsiteY66" fmla="*/ 259875 h 1380309"/>
              <a:gd name="connsiteX67" fmla="*/ 1278155 w 6990240"/>
              <a:gd name="connsiteY67" fmla="*/ 172984 h 1380309"/>
              <a:gd name="connsiteX68" fmla="*/ 1281552 w 6990240"/>
              <a:gd name="connsiteY68" fmla="*/ 96772 h 1380309"/>
              <a:gd name="connsiteX69" fmla="*/ 1330580 w 6990240"/>
              <a:gd name="connsiteY69" fmla="*/ 44346 h 1380309"/>
              <a:gd name="connsiteX70" fmla="*/ 1379124 w 6990240"/>
              <a:gd name="connsiteY70" fmla="*/ 92403 h 1380309"/>
              <a:gd name="connsiteX71" fmla="*/ 1383005 w 6990240"/>
              <a:gd name="connsiteY71" fmla="*/ 172984 h 1380309"/>
              <a:gd name="connsiteX72" fmla="*/ 1513222 w 6990240"/>
              <a:gd name="connsiteY72" fmla="*/ 288030 h 1380309"/>
              <a:gd name="connsiteX73" fmla="*/ 1491376 w 6990240"/>
              <a:gd name="connsiteY73" fmla="*/ 266185 h 1380309"/>
              <a:gd name="connsiteX74" fmla="*/ 1469534 w 6990240"/>
              <a:gd name="connsiteY74" fmla="*/ 288030 h 1380309"/>
              <a:gd name="connsiteX75" fmla="*/ 1491376 w 6990240"/>
              <a:gd name="connsiteY75" fmla="*/ 309874 h 1380309"/>
              <a:gd name="connsiteX76" fmla="*/ 1513222 w 6990240"/>
              <a:gd name="connsiteY76" fmla="*/ 288030 h 1380309"/>
              <a:gd name="connsiteX77" fmla="*/ 1721593 w 6990240"/>
              <a:gd name="connsiteY77" fmla="*/ 309874 h 1380309"/>
              <a:gd name="connsiteX78" fmla="*/ 1721593 w 6990240"/>
              <a:gd name="connsiteY78" fmla="*/ 297253 h 1380309"/>
              <a:gd name="connsiteX79" fmla="*/ 1708482 w 6990240"/>
              <a:gd name="connsiteY79" fmla="*/ 297253 h 1380309"/>
              <a:gd name="connsiteX80" fmla="*/ 1670137 w 6990240"/>
              <a:gd name="connsiteY80" fmla="*/ 277350 h 1380309"/>
              <a:gd name="connsiteX81" fmla="*/ 1670137 w 6990240"/>
              <a:gd name="connsiteY81" fmla="*/ 45802 h 1380309"/>
              <a:gd name="connsiteX82" fmla="*/ 1660427 w 6990240"/>
              <a:gd name="connsiteY82" fmla="*/ 35123 h 1380309"/>
              <a:gd name="connsiteX83" fmla="*/ 1585671 w 6990240"/>
              <a:gd name="connsiteY83" fmla="*/ 61336 h 1380309"/>
              <a:gd name="connsiteX84" fmla="*/ 1585671 w 6990240"/>
              <a:gd name="connsiteY84" fmla="*/ 74442 h 1380309"/>
              <a:gd name="connsiteX85" fmla="*/ 1639554 w 6990240"/>
              <a:gd name="connsiteY85" fmla="*/ 63763 h 1380309"/>
              <a:gd name="connsiteX86" fmla="*/ 1639554 w 6990240"/>
              <a:gd name="connsiteY86" fmla="*/ 277350 h 1380309"/>
              <a:gd name="connsiteX87" fmla="*/ 1601205 w 6990240"/>
              <a:gd name="connsiteY87" fmla="*/ 297253 h 1380309"/>
              <a:gd name="connsiteX88" fmla="*/ 1588099 w 6990240"/>
              <a:gd name="connsiteY88" fmla="*/ 297253 h 1380309"/>
              <a:gd name="connsiteX89" fmla="*/ 1588099 w 6990240"/>
              <a:gd name="connsiteY89" fmla="*/ 309874 h 1380309"/>
              <a:gd name="connsiteX90" fmla="*/ 1654603 w 6990240"/>
              <a:gd name="connsiteY90" fmla="*/ 308418 h 1380309"/>
              <a:gd name="connsiteX91" fmla="*/ 1721593 w 6990240"/>
              <a:gd name="connsiteY91" fmla="*/ 309874 h 1380309"/>
              <a:gd name="connsiteX92" fmla="*/ 1839064 w 6990240"/>
              <a:gd name="connsiteY92" fmla="*/ 309388 h 1380309"/>
              <a:gd name="connsiteX93" fmla="*/ 1812367 w 6990240"/>
              <a:gd name="connsiteY93" fmla="*/ 266185 h 1380309"/>
              <a:gd name="connsiteX94" fmla="*/ 1790521 w 6990240"/>
              <a:gd name="connsiteY94" fmla="*/ 288030 h 1380309"/>
              <a:gd name="connsiteX95" fmla="*/ 1812367 w 6990240"/>
              <a:gd name="connsiteY95" fmla="*/ 309874 h 1380309"/>
              <a:gd name="connsiteX96" fmla="*/ 1828870 w 6990240"/>
              <a:gd name="connsiteY96" fmla="*/ 303078 h 1380309"/>
              <a:gd name="connsiteX97" fmla="*/ 1800230 w 6990240"/>
              <a:gd name="connsiteY97" fmla="*/ 380261 h 1380309"/>
              <a:gd name="connsiteX98" fmla="*/ 1797318 w 6990240"/>
              <a:gd name="connsiteY98" fmla="*/ 385115 h 1380309"/>
              <a:gd name="connsiteX99" fmla="*/ 1801200 w 6990240"/>
              <a:gd name="connsiteY99" fmla="*/ 389484 h 1380309"/>
              <a:gd name="connsiteX100" fmla="*/ 1839064 w 6990240"/>
              <a:gd name="connsiteY100" fmla="*/ 309388 h 1380309"/>
              <a:gd name="connsiteX101" fmla="*/ 2174491 w 6990240"/>
              <a:gd name="connsiteY101" fmla="*/ 127839 h 1380309"/>
              <a:gd name="connsiteX102" fmla="*/ 2165755 w 6990240"/>
              <a:gd name="connsiteY102" fmla="*/ 116674 h 1380309"/>
              <a:gd name="connsiteX103" fmla="*/ 2107506 w 6990240"/>
              <a:gd name="connsiteY103" fmla="*/ 89491 h 1380309"/>
              <a:gd name="connsiteX104" fmla="*/ 2164786 w 6990240"/>
              <a:gd name="connsiteY104" fmla="*/ 62307 h 1380309"/>
              <a:gd name="connsiteX105" fmla="*/ 2174491 w 6990240"/>
              <a:gd name="connsiteY105" fmla="*/ 50656 h 1380309"/>
              <a:gd name="connsiteX106" fmla="*/ 2163328 w 6990240"/>
              <a:gd name="connsiteY106" fmla="*/ 39006 h 1380309"/>
              <a:gd name="connsiteX107" fmla="*/ 2148768 w 6990240"/>
              <a:gd name="connsiteY107" fmla="*/ 47259 h 1380309"/>
              <a:gd name="connsiteX108" fmla="*/ 2103136 w 6990240"/>
              <a:gd name="connsiteY108" fmla="*/ 80753 h 1380309"/>
              <a:gd name="connsiteX109" fmla="*/ 2109445 w 6990240"/>
              <a:gd name="connsiteY109" fmla="*/ 10851 h 1380309"/>
              <a:gd name="connsiteX110" fmla="*/ 2098766 w 6990240"/>
              <a:gd name="connsiteY110" fmla="*/ 172 h 1380309"/>
              <a:gd name="connsiteX111" fmla="*/ 2087602 w 6990240"/>
              <a:gd name="connsiteY111" fmla="*/ 10851 h 1380309"/>
              <a:gd name="connsiteX112" fmla="*/ 2093426 w 6990240"/>
              <a:gd name="connsiteY112" fmla="*/ 80753 h 1380309"/>
              <a:gd name="connsiteX113" fmla="*/ 2042455 w 6990240"/>
              <a:gd name="connsiteY113" fmla="*/ 43860 h 1380309"/>
              <a:gd name="connsiteX114" fmla="*/ 2033235 w 6990240"/>
              <a:gd name="connsiteY114" fmla="*/ 39006 h 1380309"/>
              <a:gd name="connsiteX115" fmla="*/ 2022071 w 6990240"/>
              <a:gd name="connsiteY115" fmla="*/ 50656 h 1380309"/>
              <a:gd name="connsiteX116" fmla="*/ 2030807 w 6990240"/>
              <a:gd name="connsiteY116" fmla="*/ 61821 h 1380309"/>
              <a:gd name="connsiteX117" fmla="*/ 2089056 w 6990240"/>
              <a:gd name="connsiteY117" fmla="*/ 89005 h 1380309"/>
              <a:gd name="connsiteX118" fmla="*/ 2031777 w 6990240"/>
              <a:gd name="connsiteY118" fmla="*/ 116189 h 1380309"/>
              <a:gd name="connsiteX119" fmla="*/ 2022071 w 6990240"/>
              <a:gd name="connsiteY119" fmla="*/ 127839 h 1380309"/>
              <a:gd name="connsiteX120" fmla="*/ 2035662 w 6990240"/>
              <a:gd name="connsiteY120" fmla="*/ 139489 h 1380309"/>
              <a:gd name="connsiteX121" fmla="*/ 2093426 w 6990240"/>
              <a:gd name="connsiteY121" fmla="*/ 97743 h 1380309"/>
              <a:gd name="connsiteX122" fmla="*/ 2087602 w 6990240"/>
              <a:gd name="connsiteY122" fmla="*/ 168129 h 1380309"/>
              <a:gd name="connsiteX123" fmla="*/ 2098281 w 6990240"/>
              <a:gd name="connsiteY123" fmla="*/ 178323 h 1380309"/>
              <a:gd name="connsiteX124" fmla="*/ 2109445 w 6990240"/>
              <a:gd name="connsiteY124" fmla="*/ 168129 h 1380309"/>
              <a:gd name="connsiteX125" fmla="*/ 2103136 w 6990240"/>
              <a:gd name="connsiteY125" fmla="*/ 97743 h 1380309"/>
              <a:gd name="connsiteX126" fmla="*/ 2156534 w 6990240"/>
              <a:gd name="connsiteY126" fmla="*/ 137062 h 1380309"/>
              <a:gd name="connsiteX127" fmla="*/ 2163328 w 6990240"/>
              <a:gd name="connsiteY127" fmla="*/ 139489 h 1380309"/>
              <a:gd name="connsiteX128" fmla="*/ 2174491 w 6990240"/>
              <a:gd name="connsiteY128" fmla="*/ 127839 h 1380309"/>
              <a:gd name="connsiteX129" fmla="*/ 2539291 w 6990240"/>
              <a:gd name="connsiteY129" fmla="*/ 220556 h 1380309"/>
              <a:gd name="connsiteX130" fmla="*/ 2452887 w 6990240"/>
              <a:gd name="connsiteY130" fmla="*/ 127354 h 1380309"/>
              <a:gd name="connsiteX131" fmla="*/ 2395119 w 6990240"/>
              <a:gd name="connsiteY131" fmla="*/ 154538 h 1380309"/>
              <a:gd name="connsiteX132" fmla="*/ 2395119 w 6990240"/>
              <a:gd name="connsiteY132" fmla="*/ 127354 h 1380309"/>
              <a:gd name="connsiteX133" fmla="*/ 2335896 w 6990240"/>
              <a:gd name="connsiteY133" fmla="*/ 132208 h 1380309"/>
              <a:gd name="connsiteX134" fmla="*/ 2335896 w 6990240"/>
              <a:gd name="connsiteY134" fmla="*/ 144829 h 1380309"/>
              <a:gd name="connsiteX135" fmla="*/ 2367937 w 6990240"/>
              <a:gd name="connsiteY135" fmla="*/ 165217 h 1380309"/>
              <a:gd name="connsiteX136" fmla="*/ 2367937 w 6990240"/>
              <a:gd name="connsiteY136" fmla="*/ 358416 h 1380309"/>
              <a:gd name="connsiteX137" fmla="*/ 2335896 w 6990240"/>
              <a:gd name="connsiteY137" fmla="*/ 377348 h 1380309"/>
              <a:gd name="connsiteX138" fmla="*/ 2335896 w 6990240"/>
              <a:gd name="connsiteY138" fmla="*/ 389969 h 1380309"/>
              <a:gd name="connsiteX139" fmla="*/ 2382012 w 6990240"/>
              <a:gd name="connsiteY139" fmla="*/ 388513 h 1380309"/>
              <a:gd name="connsiteX140" fmla="*/ 2428613 w 6990240"/>
              <a:gd name="connsiteY140" fmla="*/ 389969 h 1380309"/>
              <a:gd name="connsiteX141" fmla="*/ 2428613 w 6990240"/>
              <a:gd name="connsiteY141" fmla="*/ 377348 h 1380309"/>
              <a:gd name="connsiteX142" fmla="*/ 2396577 w 6990240"/>
              <a:gd name="connsiteY142" fmla="*/ 358416 h 1380309"/>
              <a:gd name="connsiteX143" fmla="*/ 2396577 w 6990240"/>
              <a:gd name="connsiteY143" fmla="*/ 285603 h 1380309"/>
              <a:gd name="connsiteX144" fmla="*/ 2447059 w 6990240"/>
              <a:gd name="connsiteY144" fmla="*/ 314243 h 1380309"/>
              <a:gd name="connsiteX145" fmla="*/ 2539291 w 6990240"/>
              <a:gd name="connsiteY145" fmla="*/ 220556 h 1380309"/>
              <a:gd name="connsiteX146" fmla="*/ 2504827 w 6990240"/>
              <a:gd name="connsiteY146" fmla="*/ 220556 h 1380309"/>
              <a:gd name="connsiteX147" fmla="*/ 2445605 w 6990240"/>
              <a:gd name="connsiteY147" fmla="*/ 305505 h 1380309"/>
              <a:gd name="connsiteX148" fmla="*/ 2402401 w 6990240"/>
              <a:gd name="connsiteY148" fmla="*/ 280263 h 1380309"/>
              <a:gd name="connsiteX149" fmla="*/ 2396577 w 6990240"/>
              <a:gd name="connsiteY149" fmla="*/ 262788 h 1380309"/>
              <a:gd name="connsiteX150" fmla="*/ 2396577 w 6990240"/>
              <a:gd name="connsiteY150" fmla="*/ 171042 h 1380309"/>
              <a:gd name="connsiteX151" fmla="*/ 2449486 w 6990240"/>
              <a:gd name="connsiteY151" fmla="*/ 138033 h 1380309"/>
              <a:gd name="connsiteX152" fmla="*/ 2504827 w 6990240"/>
              <a:gd name="connsiteY152" fmla="*/ 220556 h 1380309"/>
              <a:gd name="connsiteX153" fmla="*/ 2962581 w 6990240"/>
              <a:gd name="connsiteY153" fmla="*/ 318126 h 1380309"/>
              <a:gd name="connsiteX154" fmla="*/ 2954814 w 6990240"/>
              <a:gd name="connsiteY154" fmla="*/ 308903 h 1380309"/>
              <a:gd name="connsiteX155" fmla="*/ 2738317 w 6990240"/>
              <a:gd name="connsiteY155" fmla="*/ 206478 h 1380309"/>
              <a:gd name="connsiteX156" fmla="*/ 2954814 w 6990240"/>
              <a:gd name="connsiteY156" fmla="*/ 104539 h 1380309"/>
              <a:gd name="connsiteX157" fmla="*/ 2962581 w 6990240"/>
              <a:gd name="connsiteY157" fmla="*/ 95315 h 1380309"/>
              <a:gd name="connsiteX158" fmla="*/ 2954329 w 6990240"/>
              <a:gd name="connsiteY158" fmla="*/ 87063 h 1380309"/>
              <a:gd name="connsiteX159" fmla="*/ 2947047 w 6990240"/>
              <a:gd name="connsiteY159" fmla="*/ 89976 h 1380309"/>
              <a:gd name="connsiteX160" fmla="*/ 2718413 w 6990240"/>
              <a:gd name="connsiteY160" fmla="*/ 197741 h 1380309"/>
              <a:gd name="connsiteX161" fmla="*/ 2710646 w 6990240"/>
              <a:gd name="connsiteY161" fmla="*/ 206478 h 1380309"/>
              <a:gd name="connsiteX162" fmla="*/ 2718413 w 6990240"/>
              <a:gd name="connsiteY162" fmla="*/ 215701 h 1380309"/>
              <a:gd name="connsiteX163" fmla="*/ 2947047 w 6990240"/>
              <a:gd name="connsiteY163" fmla="*/ 323466 h 1380309"/>
              <a:gd name="connsiteX164" fmla="*/ 2954329 w 6990240"/>
              <a:gd name="connsiteY164" fmla="*/ 326378 h 1380309"/>
              <a:gd name="connsiteX165" fmla="*/ 2962581 w 6990240"/>
              <a:gd name="connsiteY165" fmla="*/ 318126 h 1380309"/>
              <a:gd name="connsiteX166" fmla="*/ 3309660 w 6990240"/>
              <a:gd name="connsiteY166" fmla="*/ 177838 h 1380309"/>
              <a:gd name="connsiteX167" fmla="*/ 3293157 w 6990240"/>
              <a:gd name="connsiteY167" fmla="*/ 81238 h 1380309"/>
              <a:gd name="connsiteX168" fmla="*/ 3223256 w 6990240"/>
              <a:gd name="connsiteY168" fmla="*/ 35123 h 1380309"/>
              <a:gd name="connsiteX169" fmla="*/ 3151412 w 6990240"/>
              <a:gd name="connsiteY169" fmla="*/ 84151 h 1380309"/>
              <a:gd name="connsiteX170" fmla="*/ 3135878 w 6990240"/>
              <a:gd name="connsiteY170" fmla="*/ 177838 h 1380309"/>
              <a:gd name="connsiteX171" fmla="*/ 3154324 w 6990240"/>
              <a:gd name="connsiteY171" fmla="*/ 277350 h 1380309"/>
              <a:gd name="connsiteX172" fmla="*/ 3222771 w 6990240"/>
              <a:gd name="connsiteY172" fmla="*/ 319097 h 1380309"/>
              <a:gd name="connsiteX173" fmla="*/ 3294615 w 6990240"/>
              <a:gd name="connsiteY173" fmla="*/ 271040 h 1380309"/>
              <a:gd name="connsiteX174" fmla="*/ 3309660 w 6990240"/>
              <a:gd name="connsiteY174" fmla="*/ 177838 h 1380309"/>
              <a:gd name="connsiteX175" fmla="*/ 3275196 w 6990240"/>
              <a:gd name="connsiteY175" fmla="*/ 172984 h 1380309"/>
              <a:gd name="connsiteX176" fmla="*/ 3270826 w 6990240"/>
              <a:gd name="connsiteY176" fmla="*/ 258419 h 1380309"/>
              <a:gd name="connsiteX177" fmla="*/ 3222771 w 6990240"/>
              <a:gd name="connsiteY177" fmla="*/ 309874 h 1380309"/>
              <a:gd name="connsiteX178" fmla="*/ 3174712 w 6990240"/>
              <a:gd name="connsiteY178" fmla="*/ 259875 h 1380309"/>
              <a:gd name="connsiteX179" fmla="*/ 3170346 w 6990240"/>
              <a:gd name="connsiteY179" fmla="*/ 172984 h 1380309"/>
              <a:gd name="connsiteX180" fmla="*/ 3173743 w 6990240"/>
              <a:gd name="connsiteY180" fmla="*/ 96772 h 1380309"/>
              <a:gd name="connsiteX181" fmla="*/ 3222771 w 6990240"/>
              <a:gd name="connsiteY181" fmla="*/ 44346 h 1380309"/>
              <a:gd name="connsiteX182" fmla="*/ 3271315 w 6990240"/>
              <a:gd name="connsiteY182" fmla="*/ 92403 h 1380309"/>
              <a:gd name="connsiteX183" fmla="*/ 3275196 w 6990240"/>
              <a:gd name="connsiteY183" fmla="*/ 172984 h 1380309"/>
              <a:gd name="connsiteX184" fmla="*/ 3405289 w 6990240"/>
              <a:gd name="connsiteY184" fmla="*/ 288030 h 1380309"/>
              <a:gd name="connsiteX185" fmla="*/ 3383447 w 6990240"/>
              <a:gd name="connsiteY185" fmla="*/ 266185 h 1380309"/>
              <a:gd name="connsiteX186" fmla="*/ 3361605 w 6990240"/>
              <a:gd name="connsiteY186" fmla="*/ 288030 h 1380309"/>
              <a:gd name="connsiteX187" fmla="*/ 3383447 w 6990240"/>
              <a:gd name="connsiteY187" fmla="*/ 309874 h 1380309"/>
              <a:gd name="connsiteX188" fmla="*/ 3405289 w 6990240"/>
              <a:gd name="connsiteY188" fmla="*/ 288030 h 1380309"/>
              <a:gd name="connsiteX189" fmla="*/ 3630771 w 6990240"/>
              <a:gd name="connsiteY189" fmla="*/ 177838 h 1380309"/>
              <a:gd name="connsiteX190" fmla="*/ 3614268 w 6990240"/>
              <a:gd name="connsiteY190" fmla="*/ 81238 h 1380309"/>
              <a:gd name="connsiteX191" fmla="*/ 3544367 w 6990240"/>
              <a:gd name="connsiteY191" fmla="*/ 35123 h 1380309"/>
              <a:gd name="connsiteX192" fmla="*/ 3472523 w 6990240"/>
              <a:gd name="connsiteY192" fmla="*/ 84151 h 1380309"/>
              <a:gd name="connsiteX193" fmla="*/ 3456989 w 6990240"/>
              <a:gd name="connsiteY193" fmla="*/ 177838 h 1380309"/>
              <a:gd name="connsiteX194" fmla="*/ 3475435 w 6990240"/>
              <a:gd name="connsiteY194" fmla="*/ 277350 h 1380309"/>
              <a:gd name="connsiteX195" fmla="*/ 3543878 w 6990240"/>
              <a:gd name="connsiteY195" fmla="*/ 319097 h 1380309"/>
              <a:gd name="connsiteX196" fmla="*/ 3615722 w 6990240"/>
              <a:gd name="connsiteY196" fmla="*/ 271040 h 1380309"/>
              <a:gd name="connsiteX197" fmla="*/ 3630771 w 6990240"/>
              <a:gd name="connsiteY197" fmla="*/ 177838 h 1380309"/>
              <a:gd name="connsiteX198" fmla="*/ 3596307 w 6990240"/>
              <a:gd name="connsiteY198" fmla="*/ 172984 h 1380309"/>
              <a:gd name="connsiteX199" fmla="*/ 3591937 w 6990240"/>
              <a:gd name="connsiteY199" fmla="*/ 258419 h 1380309"/>
              <a:gd name="connsiteX200" fmla="*/ 3543878 w 6990240"/>
              <a:gd name="connsiteY200" fmla="*/ 309874 h 1380309"/>
              <a:gd name="connsiteX201" fmla="*/ 3495823 w 6990240"/>
              <a:gd name="connsiteY201" fmla="*/ 259875 h 1380309"/>
              <a:gd name="connsiteX202" fmla="*/ 3491453 w 6990240"/>
              <a:gd name="connsiteY202" fmla="*/ 172984 h 1380309"/>
              <a:gd name="connsiteX203" fmla="*/ 3494850 w 6990240"/>
              <a:gd name="connsiteY203" fmla="*/ 96772 h 1380309"/>
              <a:gd name="connsiteX204" fmla="*/ 3543878 w 6990240"/>
              <a:gd name="connsiteY204" fmla="*/ 44346 h 1380309"/>
              <a:gd name="connsiteX205" fmla="*/ 3592422 w 6990240"/>
              <a:gd name="connsiteY205" fmla="*/ 92403 h 1380309"/>
              <a:gd name="connsiteX206" fmla="*/ 3596307 w 6990240"/>
              <a:gd name="connsiteY206" fmla="*/ 172984 h 1380309"/>
              <a:gd name="connsiteX207" fmla="*/ 3832709 w 6990240"/>
              <a:gd name="connsiteY207" fmla="*/ 226866 h 1380309"/>
              <a:gd name="connsiteX208" fmla="*/ 3754071 w 6990240"/>
              <a:gd name="connsiteY208" fmla="*/ 136577 h 1380309"/>
              <a:gd name="connsiteX209" fmla="*/ 3701642 w 6990240"/>
              <a:gd name="connsiteY209" fmla="*/ 157450 h 1380309"/>
              <a:gd name="connsiteX210" fmla="*/ 3701642 w 6990240"/>
              <a:gd name="connsiteY210" fmla="*/ 77355 h 1380309"/>
              <a:gd name="connsiteX211" fmla="*/ 3736595 w 6990240"/>
              <a:gd name="connsiteY211" fmla="*/ 82694 h 1380309"/>
              <a:gd name="connsiteX212" fmla="*/ 3816690 w 6990240"/>
              <a:gd name="connsiteY212" fmla="*/ 39492 h 1380309"/>
              <a:gd name="connsiteX213" fmla="*/ 3812320 w 6990240"/>
              <a:gd name="connsiteY213" fmla="*/ 35123 h 1380309"/>
              <a:gd name="connsiteX214" fmla="*/ 3808923 w 6990240"/>
              <a:gd name="connsiteY214" fmla="*/ 36093 h 1380309"/>
              <a:gd name="connsiteX215" fmla="*/ 3753098 w 6990240"/>
              <a:gd name="connsiteY215" fmla="*/ 48229 h 1380309"/>
              <a:gd name="connsiteX216" fmla="*/ 3698245 w 6990240"/>
              <a:gd name="connsiteY216" fmla="*/ 36579 h 1380309"/>
              <a:gd name="connsiteX217" fmla="*/ 3692906 w 6990240"/>
              <a:gd name="connsiteY217" fmla="*/ 35608 h 1380309"/>
              <a:gd name="connsiteX218" fmla="*/ 3689024 w 6990240"/>
              <a:gd name="connsiteY218" fmla="*/ 45317 h 1380309"/>
              <a:gd name="connsiteX219" fmla="*/ 3689024 w 6990240"/>
              <a:gd name="connsiteY219" fmla="*/ 167644 h 1380309"/>
              <a:gd name="connsiteX220" fmla="*/ 3694849 w 6990240"/>
              <a:gd name="connsiteY220" fmla="*/ 178323 h 1380309"/>
              <a:gd name="connsiteX221" fmla="*/ 3700188 w 6990240"/>
              <a:gd name="connsiteY221" fmla="*/ 174440 h 1380309"/>
              <a:gd name="connsiteX222" fmla="*/ 3753098 w 6990240"/>
              <a:gd name="connsiteY222" fmla="*/ 145800 h 1380309"/>
              <a:gd name="connsiteX223" fmla="*/ 3788535 w 6990240"/>
              <a:gd name="connsiteY223" fmla="*/ 172013 h 1380309"/>
              <a:gd name="connsiteX224" fmla="*/ 3795817 w 6990240"/>
              <a:gd name="connsiteY224" fmla="*/ 223953 h 1380309"/>
              <a:gd name="connsiteX225" fmla="*/ 3786108 w 6990240"/>
              <a:gd name="connsiteY225" fmla="*/ 280748 h 1380309"/>
              <a:gd name="connsiteX226" fmla="*/ 3741934 w 6990240"/>
              <a:gd name="connsiteY226" fmla="*/ 307447 h 1380309"/>
              <a:gd name="connsiteX227" fmla="*/ 3681258 w 6990240"/>
              <a:gd name="connsiteY227" fmla="*/ 261331 h 1380309"/>
              <a:gd name="connsiteX228" fmla="*/ 3688051 w 6990240"/>
              <a:gd name="connsiteY228" fmla="*/ 261817 h 1380309"/>
              <a:gd name="connsiteX229" fmla="*/ 3708924 w 6990240"/>
              <a:gd name="connsiteY229" fmla="*/ 241914 h 1380309"/>
              <a:gd name="connsiteX230" fmla="*/ 3688051 w 6990240"/>
              <a:gd name="connsiteY230" fmla="*/ 221526 h 1380309"/>
              <a:gd name="connsiteX231" fmla="*/ 3668147 w 6990240"/>
              <a:gd name="connsiteY231" fmla="*/ 243370 h 1380309"/>
              <a:gd name="connsiteX232" fmla="*/ 3742419 w 6990240"/>
              <a:gd name="connsiteY232" fmla="*/ 319097 h 1380309"/>
              <a:gd name="connsiteX233" fmla="*/ 3832709 w 6990240"/>
              <a:gd name="connsiteY233" fmla="*/ 226866 h 1380309"/>
              <a:gd name="connsiteX234" fmla="*/ 3937562 w 6990240"/>
              <a:gd name="connsiteY234" fmla="*/ 309388 h 1380309"/>
              <a:gd name="connsiteX235" fmla="*/ 3910861 w 6990240"/>
              <a:gd name="connsiteY235" fmla="*/ 266185 h 1380309"/>
              <a:gd name="connsiteX236" fmla="*/ 3889019 w 6990240"/>
              <a:gd name="connsiteY236" fmla="*/ 288030 h 1380309"/>
              <a:gd name="connsiteX237" fmla="*/ 3910861 w 6990240"/>
              <a:gd name="connsiteY237" fmla="*/ 309874 h 1380309"/>
              <a:gd name="connsiteX238" fmla="*/ 3927369 w 6990240"/>
              <a:gd name="connsiteY238" fmla="*/ 303078 h 1380309"/>
              <a:gd name="connsiteX239" fmla="*/ 3898728 w 6990240"/>
              <a:gd name="connsiteY239" fmla="*/ 380261 h 1380309"/>
              <a:gd name="connsiteX240" fmla="*/ 3895812 w 6990240"/>
              <a:gd name="connsiteY240" fmla="*/ 385115 h 1380309"/>
              <a:gd name="connsiteX241" fmla="*/ 3899698 w 6990240"/>
              <a:gd name="connsiteY241" fmla="*/ 389484 h 1380309"/>
              <a:gd name="connsiteX242" fmla="*/ 3937562 w 6990240"/>
              <a:gd name="connsiteY242" fmla="*/ 309388 h 1380309"/>
              <a:gd name="connsiteX243" fmla="*/ 4272874 w 6990240"/>
              <a:gd name="connsiteY243" fmla="*/ 127839 h 1380309"/>
              <a:gd name="connsiteX244" fmla="*/ 4264134 w 6990240"/>
              <a:gd name="connsiteY244" fmla="*/ 116674 h 1380309"/>
              <a:gd name="connsiteX245" fmla="*/ 4205893 w 6990240"/>
              <a:gd name="connsiteY245" fmla="*/ 89491 h 1380309"/>
              <a:gd name="connsiteX246" fmla="*/ 4263181 w 6990240"/>
              <a:gd name="connsiteY246" fmla="*/ 62307 h 1380309"/>
              <a:gd name="connsiteX247" fmla="*/ 4272874 w 6990240"/>
              <a:gd name="connsiteY247" fmla="*/ 50656 h 1380309"/>
              <a:gd name="connsiteX248" fmla="*/ 4261690 w 6990240"/>
              <a:gd name="connsiteY248" fmla="*/ 39006 h 1380309"/>
              <a:gd name="connsiteX249" fmla="*/ 4247150 w 6990240"/>
              <a:gd name="connsiteY249" fmla="*/ 47259 h 1380309"/>
              <a:gd name="connsiteX250" fmla="*/ 4201502 w 6990240"/>
              <a:gd name="connsiteY250" fmla="*/ 80753 h 1380309"/>
              <a:gd name="connsiteX251" fmla="*/ 4207840 w 6990240"/>
              <a:gd name="connsiteY251" fmla="*/ 10851 h 1380309"/>
              <a:gd name="connsiteX252" fmla="*/ 4197152 w 6990240"/>
              <a:gd name="connsiteY252" fmla="*/ 172 h 1380309"/>
              <a:gd name="connsiteX253" fmla="*/ 4185968 w 6990240"/>
              <a:gd name="connsiteY253" fmla="*/ 10851 h 1380309"/>
              <a:gd name="connsiteX254" fmla="*/ 4191809 w 6990240"/>
              <a:gd name="connsiteY254" fmla="*/ 80753 h 1380309"/>
              <a:gd name="connsiteX255" fmla="*/ 4140817 w 6990240"/>
              <a:gd name="connsiteY255" fmla="*/ 43860 h 1380309"/>
              <a:gd name="connsiteX256" fmla="*/ 4131621 w 6990240"/>
              <a:gd name="connsiteY256" fmla="*/ 39006 h 1380309"/>
              <a:gd name="connsiteX257" fmla="*/ 4120445 w 6990240"/>
              <a:gd name="connsiteY257" fmla="*/ 50656 h 1380309"/>
              <a:gd name="connsiteX258" fmla="*/ 4129181 w 6990240"/>
              <a:gd name="connsiteY258" fmla="*/ 61821 h 1380309"/>
              <a:gd name="connsiteX259" fmla="*/ 4187418 w 6990240"/>
              <a:gd name="connsiteY259" fmla="*/ 89005 h 1380309"/>
              <a:gd name="connsiteX260" fmla="*/ 4130155 w 6990240"/>
              <a:gd name="connsiteY260" fmla="*/ 116189 h 1380309"/>
              <a:gd name="connsiteX261" fmla="*/ 4120445 w 6990240"/>
              <a:gd name="connsiteY261" fmla="*/ 127839 h 1380309"/>
              <a:gd name="connsiteX262" fmla="*/ 4134024 w 6990240"/>
              <a:gd name="connsiteY262" fmla="*/ 139489 h 1380309"/>
              <a:gd name="connsiteX263" fmla="*/ 4191809 w 6990240"/>
              <a:gd name="connsiteY263" fmla="*/ 97743 h 1380309"/>
              <a:gd name="connsiteX264" fmla="*/ 4185968 w 6990240"/>
              <a:gd name="connsiteY264" fmla="*/ 168129 h 1380309"/>
              <a:gd name="connsiteX265" fmla="*/ 4196656 w 6990240"/>
              <a:gd name="connsiteY265" fmla="*/ 178323 h 1380309"/>
              <a:gd name="connsiteX266" fmla="*/ 4207840 w 6990240"/>
              <a:gd name="connsiteY266" fmla="*/ 168129 h 1380309"/>
              <a:gd name="connsiteX267" fmla="*/ 4201502 w 6990240"/>
              <a:gd name="connsiteY267" fmla="*/ 97743 h 1380309"/>
              <a:gd name="connsiteX268" fmla="*/ 4254896 w 6990240"/>
              <a:gd name="connsiteY268" fmla="*/ 137062 h 1380309"/>
              <a:gd name="connsiteX269" fmla="*/ 4261690 w 6990240"/>
              <a:gd name="connsiteY269" fmla="*/ 139489 h 1380309"/>
              <a:gd name="connsiteX270" fmla="*/ 4272874 w 6990240"/>
              <a:gd name="connsiteY270" fmla="*/ 127839 h 1380309"/>
              <a:gd name="connsiteX271" fmla="*/ 4479285 w 6990240"/>
              <a:gd name="connsiteY271" fmla="*/ 127839 h 1380309"/>
              <a:gd name="connsiteX272" fmla="*/ 4470545 w 6990240"/>
              <a:gd name="connsiteY272" fmla="*/ 116674 h 1380309"/>
              <a:gd name="connsiteX273" fmla="*/ 4412304 w 6990240"/>
              <a:gd name="connsiteY273" fmla="*/ 89491 h 1380309"/>
              <a:gd name="connsiteX274" fmla="*/ 4469592 w 6990240"/>
              <a:gd name="connsiteY274" fmla="*/ 62307 h 1380309"/>
              <a:gd name="connsiteX275" fmla="*/ 4479285 w 6990240"/>
              <a:gd name="connsiteY275" fmla="*/ 50656 h 1380309"/>
              <a:gd name="connsiteX276" fmla="*/ 4468142 w 6990240"/>
              <a:gd name="connsiteY276" fmla="*/ 39006 h 1380309"/>
              <a:gd name="connsiteX277" fmla="*/ 4453561 w 6990240"/>
              <a:gd name="connsiteY277" fmla="*/ 47259 h 1380309"/>
              <a:gd name="connsiteX278" fmla="*/ 4407954 w 6990240"/>
              <a:gd name="connsiteY278" fmla="*/ 80753 h 1380309"/>
              <a:gd name="connsiteX279" fmla="*/ 4414251 w 6990240"/>
              <a:gd name="connsiteY279" fmla="*/ 10851 h 1380309"/>
              <a:gd name="connsiteX280" fmla="*/ 4403563 w 6990240"/>
              <a:gd name="connsiteY280" fmla="*/ 172 h 1380309"/>
              <a:gd name="connsiteX281" fmla="*/ 4392421 w 6990240"/>
              <a:gd name="connsiteY281" fmla="*/ 10851 h 1380309"/>
              <a:gd name="connsiteX282" fmla="*/ 4398220 w 6990240"/>
              <a:gd name="connsiteY282" fmla="*/ 80753 h 1380309"/>
              <a:gd name="connsiteX283" fmla="*/ 4347269 w 6990240"/>
              <a:gd name="connsiteY283" fmla="*/ 43860 h 1380309"/>
              <a:gd name="connsiteX284" fmla="*/ 4338032 w 6990240"/>
              <a:gd name="connsiteY284" fmla="*/ 39006 h 1380309"/>
              <a:gd name="connsiteX285" fmla="*/ 4326889 w 6990240"/>
              <a:gd name="connsiteY285" fmla="*/ 50656 h 1380309"/>
              <a:gd name="connsiteX286" fmla="*/ 4335630 w 6990240"/>
              <a:gd name="connsiteY286" fmla="*/ 61821 h 1380309"/>
              <a:gd name="connsiteX287" fmla="*/ 4393870 w 6990240"/>
              <a:gd name="connsiteY287" fmla="*/ 89005 h 1380309"/>
              <a:gd name="connsiteX288" fmla="*/ 4336582 w 6990240"/>
              <a:gd name="connsiteY288" fmla="*/ 116189 h 1380309"/>
              <a:gd name="connsiteX289" fmla="*/ 4326889 w 6990240"/>
              <a:gd name="connsiteY289" fmla="*/ 127839 h 1380309"/>
              <a:gd name="connsiteX290" fmla="*/ 4340476 w 6990240"/>
              <a:gd name="connsiteY290" fmla="*/ 139489 h 1380309"/>
              <a:gd name="connsiteX291" fmla="*/ 4398220 w 6990240"/>
              <a:gd name="connsiteY291" fmla="*/ 97743 h 1380309"/>
              <a:gd name="connsiteX292" fmla="*/ 4392421 w 6990240"/>
              <a:gd name="connsiteY292" fmla="*/ 168129 h 1380309"/>
              <a:gd name="connsiteX293" fmla="*/ 4403066 w 6990240"/>
              <a:gd name="connsiteY293" fmla="*/ 178323 h 1380309"/>
              <a:gd name="connsiteX294" fmla="*/ 4414251 w 6990240"/>
              <a:gd name="connsiteY294" fmla="*/ 168129 h 1380309"/>
              <a:gd name="connsiteX295" fmla="*/ 4407954 w 6990240"/>
              <a:gd name="connsiteY295" fmla="*/ 97743 h 1380309"/>
              <a:gd name="connsiteX296" fmla="*/ 4461349 w 6990240"/>
              <a:gd name="connsiteY296" fmla="*/ 137062 h 1380309"/>
              <a:gd name="connsiteX297" fmla="*/ 4468142 w 6990240"/>
              <a:gd name="connsiteY297" fmla="*/ 139489 h 1380309"/>
              <a:gd name="connsiteX298" fmla="*/ 4479285 w 6990240"/>
              <a:gd name="connsiteY298" fmla="*/ 127839 h 1380309"/>
              <a:gd name="connsiteX299" fmla="*/ 4844097 w 6990240"/>
              <a:gd name="connsiteY299" fmla="*/ 220556 h 1380309"/>
              <a:gd name="connsiteX300" fmla="*/ 4757689 w 6990240"/>
              <a:gd name="connsiteY300" fmla="*/ 127354 h 1380309"/>
              <a:gd name="connsiteX301" fmla="*/ 4699904 w 6990240"/>
              <a:gd name="connsiteY301" fmla="*/ 154538 h 1380309"/>
              <a:gd name="connsiteX302" fmla="*/ 4699904 w 6990240"/>
              <a:gd name="connsiteY302" fmla="*/ 127354 h 1380309"/>
              <a:gd name="connsiteX303" fmla="*/ 4640710 w 6990240"/>
              <a:gd name="connsiteY303" fmla="*/ 132208 h 1380309"/>
              <a:gd name="connsiteX304" fmla="*/ 4640710 w 6990240"/>
              <a:gd name="connsiteY304" fmla="*/ 144829 h 1380309"/>
              <a:gd name="connsiteX305" fmla="*/ 4672730 w 6990240"/>
              <a:gd name="connsiteY305" fmla="*/ 165217 h 1380309"/>
              <a:gd name="connsiteX306" fmla="*/ 4672730 w 6990240"/>
              <a:gd name="connsiteY306" fmla="*/ 358416 h 1380309"/>
              <a:gd name="connsiteX307" fmla="*/ 4640710 w 6990240"/>
              <a:gd name="connsiteY307" fmla="*/ 377348 h 1380309"/>
              <a:gd name="connsiteX308" fmla="*/ 4640710 w 6990240"/>
              <a:gd name="connsiteY308" fmla="*/ 389969 h 1380309"/>
              <a:gd name="connsiteX309" fmla="*/ 4686814 w 6990240"/>
              <a:gd name="connsiteY309" fmla="*/ 388513 h 1380309"/>
              <a:gd name="connsiteX310" fmla="*/ 4733415 w 6990240"/>
              <a:gd name="connsiteY310" fmla="*/ 389969 h 1380309"/>
              <a:gd name="connsiteX311" fmla="*/ 4733415 w 6990240"/>
              <a:gd name="connsiteY311" fmla="*/ 377348 h 1380309"/>
              <a:gd name="connsiteX312" fmla="*/ 4701395 w 6990240"/>
              <a:gd name="connsiteY312" fmla="*/ 358416 h 1380309"/>
              <a:gd name="connsiteX313" fmla="*/ 4701395 w 6990240"/>
              <a:gd name="connsiteY313" fmla="*/ 285603 h 1380309"/>
              <a:gd name="connsiteX314" fmla="*/ 4751848 w 6990240"/>
              <a:gd name="connsiteY314" fmla="*/ 314243 h 1380309"/>
              <a:gd name="connsiteX315" fmla="*/ 4844097 w 6990240"/>
              <a:gd name="connsiteY315" fmla="*/ 220556 h 1380309"/>
              <a:gd name="connsiteX316" fmla="*/ 4809633 w 6990240"/>
              <a:gd name="connsiteY316" fmla="*/ 220556 h 1380309"/>
              <a:gd name="connsiteX317" fmla="*/ 4750398 w 6990240"/>
              <a:gd name="connsiteY317" fmla="*/ 305505 h 1380309"/>
              <a:gd name="connsiteX318" fmla="*/ 4707194 w 6990240"/>
              <a:gd name="connsiteY318" fmla="*/ 280263 h 1380309"/>
              <a:gd name="connsiteX319" fmla="*/ 4701395 w 6990240"/>
              <a:gd name="connsiteY319" fmla="*/ 262788 h 1380309"/>
              <a:gd name="connsiteX320" fmla="*/ 4701395 w 6990240"/>
              <a:gd name="connsiteY320" fmla="*/ 171042 h 1380309"/>
              <a:gd name="connsiteX321" fmla="*/ 4754292 w 6990240"/>
              <a:gd name="connsiteY321" fmla="*/ 138033 h 1380309"/>
              <a:gd name="connsiteX322" fmla="*/ 4809633 w 6990240"/>
              <a:gd name="connsiteY322" fmla="*/ 220556 h 1380309"/>
              <a:gd name="connsiteX323" fmla="*/ 5267523 w 6990240"/>
              <a:gd name="connsiteY323" fmla="*/ 318126 h 1380309"/>
              <a:gd name="connsiteX324" fmla="*/ 5259736 w 6990240"/>
              <a:gd name="connsiteY324" fmla="*/ 308903 h 1380309"/>
              <a:gd name="connsiteX325" fmla="*/ 5043259 w 6990240"/>
              <a:gd name="connsiteY325" fmla="*/ 206478 h 1380309"/>
              <a:gd name="connsiteX326" fmla="*/ 5259736 w 6990240"/>
              <a:gd name="connsiteY326" fmla="*/ 104539 h 1380309"/>
              <a:gd name="connsiteX327" fmla="*/ 5267523 w 6990240"/>
              <a:gd name="connsiteY327" fmla="*/ 95315 h 1380309"/>
              <a:gd name="connsiteX328" fmla="*/ 5259239 w 6990240"/>
              <a:gd name="connsiteY328" fmla="*/ 87063 h 1380309"/>
              <a:gd name="connsiteX329" fmla="*/ 5251990 w 6990240"/>
              <a:gd name="connsiteY329" fmla="*/ 89976 h 1380309"/>
              <a:gd name="connsiteX330" fmla="*/ 5023334 w 6990240"/>
              <a:gd name="connsiteY330" fmla="*/ 197741 h 1380309"/>
              <a:gd name="connsiteX331" fmla="*/ 5015588 w 6990240"/>
              <a:gd name="connsiteY331" fmla="*/ 206478 h 1380309"/>
              <a:gd name="connsiteX332" fmla="*/ 5023334 w 6990240"/>
              <a:gd name="connsiteY332" fmla="*/ 215701 h 1380309"/>
              <a:gd name="connsiteX333" fmla="*/ 5251990 w 6990240"/>
              <a:gd name="connsiteY333" fmla="*/ 323466 h 1380309"/>
              <a:gd name="connsiteX334" fmla="*/ 5259239 w 6990240"/>
              <a:gd name="connsiteY334" fmla="*/ 326378 h 1380309"/>
              <a:gd name="connsiteX335" fmla="*/ 5267523 w 6990240"/>
              <a:gd name="connsiteY335" fmla="*/ 318126 h 1380309"/>
              <a:gd name="connsiteX336" fmla="*/ 5614482 w 6990240"/>
              <a:gd name="connsiteY336" fmla="*/ 177838 h 1380309"/>
              <a:gd name="connsiteX337" fmla="*/ 5597955 w 6990240"/>
              <a:gd name="connsiteY337" fmla="*/ 81238 h 1380309"/>
              <a:gd name="connsiteX338" fmla="*/ 5528074 w 6990240"/>
              <a:gd name="connsiteY338" fmla="*/ 35123 h 1380309"/>
              <a:gd name="connsiteX339" fmla="*/ 5456205 w 6990240"/>
              <a:gd name="connsiteY339" fmla="*/ 84151 h 1380309"/>
              <a:gd name="connsiteX340" fmla="*/ 5440672 w 6990240"/>
              <a:gd name="connsiteY340" fmla="*/ 177838 h 1380309"/>
              <a:gd name="connsiteX341" fmla="*/ 5459146 w 6990240"/>
              <a:gd name="connsiteY341" fmla="*/ 277350 h 1380309"/>
              <a:gd name="connsiteX342" fmla="*/ 5527577 w 6990240"/>
              <a:gd name="connsiteY342" fmla="*/ 319097 h 1380309"/>
              <a:gd name="connsiteX343" fmla="*/ 5599405 w 6990240"/>
              <a:gd name="connsiteY343" fmla="*/ 271040 h 1380309"/>
              <a:gd name="connsiteX344" fmla="*/ 5614482 w 6990240"/>
              <a:gd name="connsiteY344" fmla="*/ 177838 h 1380309"/>
              <a:gd name="connsiteX345" fmla="*/ 5580019 w 6990240"/>
              <a:gd name="connsiteY345" fmla="*/ 172984 h 1380309"/>
              <a:gd name="connsiteX346" fmla="*/ 5575628 w 6990240"/>
              <a:gd name="connsiteY346" fmla="*/ 258419 h 1380309"/>
              <a:gd name="connsiteX347" fmla="*/ 5527577 w 6990240"/>
              <a:gd name="connsiteY347" fmla="*/ 309874 h 1380309"/>
              <a:gd name="connsiteX348" fmla="*/ 5479526 w 6990240"/>
              <a:gd name="connsiteY348" fmla="*/ 259875 h 1380309"/>
              <a:gd name="connsiteX349" fmla="*/ 5475136 w 6990240"/>
              <a:gd name="connsiteY349" fmla="*/ 172984 h 1380309"/>
              <a:gd name="connsiteX350" fmla="*/ 5478532 w 6990240"/>
              <a:gd name="connsiteY350" fmla="*/ 96772 h 1380309"/>
              <a:gd name="connsiteX351" fmla="*/ 5527577 w 6990240"/>
              <a:gd name="connsiteY351" fmla="*/ 44346 h 1380309"/>
              <a:gd name="connsiteX352" fmla="*/ 5576125 w 6990240"/>
              <a:gd name="connsiteY352" fmla="*/ 92403 h 1380309"/>
              <a:gd name="connsiteX353" fmla="*/ 5579977 w 6990240"/>
              <a:gd name="connsiteY353" fmla="*/ 172984 h 1380309"/>
              <a:gd name="connsiteX354" fmla="*/ 5710211 w 6990240"/>
              <a:gd name="connsiteY354" fmla="*/ 288030 h 1380309"/>
              <a:gd name="connsiteX355" fmla="*/ 5688381 w 6990240"/>
              <a:gd name="connsiteY355" fmla="*/ 266185 h 1380309"/>
              <a:gd name="connsiteX356" fmla="*/ 5666510 w 6990240"/>
              <a:gd name="connsiteY356" fmla="*/ 288030 h 1380309"/>
              <a:gd name="connsiteX357" fmla="*/ 5688381 w 6990240"/>
              <a:gd name="connsiteY357" fmla="*/ 309874 h 1380309"/>
              <a:gd name="connsiteX358" fmla="*/ 5710211 w 6990240"/>
              <a:gd name="connsiteY358" fmla="*/ 288030 h 1380309"/>
              <a:gd name="connsiteX359" fmla="*/ 5935594 w 6990240"/>
              <a:gd name="connsiteY359" fmla="*/ 177838 h 1380309"/>
              <a:gd name="connsiteX360" fmla="*/ 5919066 w 6990240"/>
              <a:gd name="connsiteY360" fmla="*/ 81238 h 1380309"/>
              <a:gd name="connsiteX361" fmla="*/ 5849185 w 6990240"/>
              <a:gd name="connsiteY361" fmla="*/ 35123 h 1380309"/>
              <a:gd name="connsiteX362" fmla="*/ 5777316 w 6990240"/>
              <a:gd name="connsiteY362" fmla="*/ 84151 h 1380309"/>
              <a:gd name="connsiteX363" fmla="*/ 5761783 w 6990240"/>
              <a:gd name="connsiteY363" fmla="*/ 177838 h 1380309"/>
              <a:gd name="connsiteX364" fmla="*/ 5780257 w 6990240"/>
              <a:gd name="connsiteY364" fmla="*/ 277350 h 1380309"/>
              <a:gd name="connsiteX365" fmla="*/ 5848689 w 6990240"/>
              <a:gd name="connsiteY365" fmla="*/ 319097 h 1380309"/>
              <a:gd name="connsiteX366" fmla="*/ 5920516 w 6990240"/>
              <a:gd name="connsiteY366" fmla="*/ 271040 h 1380309"/>
              <a:gd name="connsiteX367" fmla="*/ 5935594 w 6990240"/>
              <a:gd name="connsiteY367" fmla="*/ 177838 h 1380309"/>
              <a:gd name="connsiteX368" fmla="*/ 5901089 w 6990240"/>
              <a:gd name="connsiteY368" fmla="*/ 172984 h 1380309"/>
              <a:gd name="connsiteX369" fmla="*/ 5896739 w 6990240"/>
              <a:gd name="connsiteY369" fmla="*/ 258419 h 1380309"/>
              <a:gd name="connsiteX370" fmla="*/ 5848689 w 6990240"/>
              <a:gd name="connsiteY370" fmla="*/ 309874 h 1380309"/>
              <a:gd name="connsiteX371" fmla="*/ 5800638 w 6990240"/>
              <a:gd name="connsiteY371" fmla="*/ 259875 h 1380309"/>
              <a:gd name="connsiteX372" fmla="*/ 5796247 w 6990240"/>
              <a:gd name="connsiteY372" fmla="*/ 172984 h 1380309"/>
              <a:gd name="connsiteX373" fmla="*/ 5799643 w 6990240"/>
              <a:gd name="connsiteY373" fmla="*/ 96772 h 1380309"/>
              <a:gd name="connsiteX374" fmla="*/ 5848689 w 6990240"/>
              <a:gd name="connsiteY374" fmla="*/ 44346 h 1380309"/>
              <a:gd name="connsiteX375" fmla="*/ 5897236 w 6990240"/>
              <a:gd name="connsiteY375" fmla="*/ 92403 h 1380309"/>
              <a:gd name="connsiteX376" fmla="*/ 5901089 w 6990240"/>
              <a:gd name="connsiteY376" fmla="*/ 172984 h 1380309"/>
              <a:gd name="connsiteX377" fmla="*/ 6124897 w 6990240"/>
              <a:gd name="connsiteY377" fmla="*/ 309874 h 1380309"/>
              <a:gd name="connsiteX378" fmla="*/ 6124897 w 6990240"/>
              <a:gd name="connsiteY378" fmla="*/ 297253 h 1380309"/>
              <a:gd name="connsiteX379" fmla="*/ 6111766 w 6990240"/>
              <a:gd name="connsiteY379" fmla="*/ 297253 h 1380309"/>
              <a:gd name="connsiteX380" fmla="*/ 6073450 w 6990240"/>
              <a:gd name="connsiteY380" fmla="*/ 277350 h 1380309"/>
              <a:gd name="connsiteX381" fmla="*/ 6073450 w 6990240"/>
              <a:gd name="connsiteY381" fmla="*/ 45802 h 1380309"/>
              <a:gd name="connsiteX382" fmla="*/ 6063715 w 6990240"/>
              <a:gd name="connsiteY382" fmla="*/ 35123 h 1380309"/>
              <a:gd name="connsiteX383" fmla="*/ 5988988 w 6990240"/>
              <a:gd name="connsiteY383" fmla="*/ 61336 h 1380309"/>
              <a:gd name="connsiteX384" fmla="*/ 5988988 w 6990240"/>
              <a:gd name="connsiteY384" fmla="*/ 74442 h 1380309"/>
              <a:gd name="connsiteX385" fmla="*/ 6042838 w 6990240"/>
              <a:gd name="connsiteY385" fmla="*/ 63763 h 1380309"/>
              <a:gd name="connsiteX386" fmla="*/ 6042838 w 6990240"/>
              <a:gd name="connsiteY386" fmla="*/ 277350 h 1380309"/>
              <a:gd name="connsiteX387" fmla="*/ 6004522 w 6990240"/>
              <a:gd name="connsiteY387" fmla="*/ 297253 h 1380309"/>
              <a:gd name="connsiteX388" fmla="*/ 5991390 w 6990240"/>
              <a:gd name="connsiteY388" fmla="*/ 297253 h 1380309"/>
              <a:gd name="connsiteX389" fmla="*/ 5991390 w 6990240"/>
              <a:gd name="connsiteY389" fmla="*/ 309874 h 1380309"/>
              <a:gd name="connsiteX390" fmla="*/ 6057916 w 6990240"/>
              <a:gd name="connsiteY390" fmla="*/ 308418 h 1380309"/>
              <a:gd name="connsiteX391" fmla="*/ 6124897 w 6990240"/>
              <a:gd name="connsiteY391" fmla="*/ 309874 h 1380309"/>
              <a:gd name="connsiteX392" fmla="*/ 6242373 w 6990240"/>
              <a:gd name="connsiteY392" fmla="*/ 309388 h 1380309"/>
              <a:gd name="connsiteX393" fmla="*/ 6215655 w 6990240"/>
              <a:gd name="connsiteY393" fmla="*/ 266185 h 1380309"/>
              <a:gd name="connsiteX394" fmla="*/ 6193824 w 6990240"/>
              <a:gd name="connsiteY394" fmla="*/ 288030 h 1380309"/>
              <a:gd name="connsiteX395" fmla="*/ 6215655 w 6990240"/>
              <a:gd name="connsiteY395" fmla="*/ 309874 h 1380309"/>
              <a:gd name="connsiteX396" fmla="*/ 6232183 w 6990240"/>
              <a:gd name="connsiteY396" fmla="*/ 303078 h 1380309"/>
              <a:gd name="connsiteX397" fmla="*/ 6203518 w 6990240"/>
              <a:gd name="connsiteY397" fmla="*/ 380261 h 1380309"/>
              <a:gd name="connsiteX398" fmla="*/ 6200618 w 6990240"/>
              <a:gd name="connsiteY398" fmla="*/ 385115 h 1380309"/>
              <a:gd name="connsiteX399" fmla="*/ 6204512 w 6990240"/>
              <a:gd name="connsiteY399" fmla="*/ 389484 h 1380309"/>
              <a:gd name="connsiteX400" fmla="*/ 6242373 w 6990240"/>
              <a:gd name="connsiteY400" fmla="*/ 309388 h 1380309"/>
              <a:gd name="connsiteX401" fmla="*/ 6577775 w 6990240"/>
              <a:gd name="connsiteY401" fmla="*/ 127839 h 1380309"/>
              <a:gd name="connsiteX402" fmla="*/ 6569035 w 6990240"/>
              <a:gd name="connsiteY402" fmla="*/ 116674 h 1380309"/>
              <a:gd name="connsiteX403" fmla="*/ 6510794 w 6990240"/>
              <a:gd name="connsiteY403" fmla="*/ 89491 h 1380309"/>
              <a:gd name="connsiteX404" fmla="*/ 6568082 w 6990240"/>
              <a:gd name="connsiteY404" fmla="*/ 62307 h 1380309"/>
              <a:gd name="connsiteX405" fmla="*/ 6577775 w 6990240"/>
              <a:gd name="connsiteY405" fmla="*/ 50656 h 1380309"/>
              <a:gd name="connsiteX406" fmla="*/ 6566632 w 6990240"/>
              <a:gd name="connsiteY406" fmla="*/ 39006 h 1380309"/>
              <a:gd name="connsiteX407" fmla="*/ 6552051 w 6990240"/>
              <a:gd name="connsiteY407" fmla="*/ 47259 h 1380309"/>
              <a:gd name="connsiteX408" fmla="*/ 6506445 w 6990240"/>
              <a:gd name="connsiteY408" fmla="*/ 80753 h 1380309"/>
              <a:gd name="connsiteX409" fmla="*/ 6512741 w 6990240"/>
              <a:gd name="connsiteY409" fmla="*/ 10851 h 1380309"/>
              <a:gd name="connsiteX410" fmla="*/ 6502054 w 6990240"/>
              <a:gd name="connsiteY410" fmla="*/ 172 h 1380309"/>
              <a:gd name="connsiteX411" fmla="*/ 6490911 w 6990240"/>
              <a:gd name="connsiteY411" fmla="*/ 10851 h 1380309"/>
              <a:gd name="connsiteX412" fmla="*/ 6496710 w 6990240"/>
              <a:gd name="connsiteY412" fmla="*/ 80753 h 1380309"/>
              <a:gd name="connsiteX413" fmla="*/ 6445759 w 6990240"/>
              <a:gd name="connsiteY413" fmla="*/ 43860 h 1380309"/>
              <a:gd name="connsiteX414" fmla="*/ 6436522 w 6990240"/>
              <a:gd name="connsiteY414" fmla="*/ 39006 h 1380309"/>
              <a:gd name="connsiteX415" fmla="*/ 6425380 w 6990240"/>
              <a:gd name="connsiteY415" fmla="*/ 50656 h 1380309"/>
              <a:gd name="connsiteX416" fmla="*/ 6434120 w 6990240"/>
              <a:gd name="connsiteY416" fmla="*/ 61821 h 1380309"/>
              <a:gd name="connsiteX417" fmla="*/ 6492360 w 6990240"/>
              <a:gd name="connsiteY417" fmla="*/ 89005 h 1380309"/>
              <a:gd name="connsiteX418" fmla="*/ 6435072 w 6990240"/>
              <a:gd name="connsiteY418" fmla="*/ 116189 h 1380309"/>
              <a:gd name="connsiteX419" fmla="*/ 6425380 w 6990240"/>
              <a:gd name="connsiteY419" fmla="*/ 127839 h 1380309"/>
              <a:gd name="connsiteX420" fmla="*/ 6438967 w 6990240"/>
              <a:gd name="connsiteY420" fmla="*/ 139489 h 1380309"/>
              <a:gd name="connsiteX421" fmla="*/ 6496710 w 6990240"/>
              <a:gd name="connsiteY421" fmla="*/ 97743 h 1380309"/>
              <a:gd name="connsiteX422" fmla="*/ 6490911 w 6990240"/>
              <a:gd name="connsiteY422" fmla="*/ 168129 h 1380309"/>
              <a:gd name="connsiteX423" fmla="*/ 6501598 w 6990240"/>
              <a:gd name="connsiteY423" fmla="*/ 178323 h 1380309"/>
              <a:gd name="connsiteX424" fmla="*/ 6512741 w 6990240"/>
              <a:gd name="connsiteY424" fmla="*/ 168129 h 1380309"/>
              <a:gd name="connsiteX425" fmla="*/ 6506445 w 6990240"/>
              <a:gd name="connsiteY425" fmla="*/ 97743 h 1380309"/>
              <a:gd name="connsiteX426" fmla="*/ 6559839 w 6990240"/>
              <a:gd name="connsiteY426" fmla="*/ 137062 h 1380309"/>
              <a:gd name="connsiteX427" fmla="*/ 6566632 w 6990240"/>
              <a:gd name="connsiteY427" fmla="*/ 139489 h 1380309"/>
              <a:gd name="connsiteX428" fmla="*/ 6577775 w 6990240"/>
              <a:gd name="connsiteY428" fmla="*/ 127839 h 1380309"/>
              <a:gd name="connsiteX429" fmla="*/ 6784102 w 6990240"/>
              <a:gd name="connsiteY429" fmla="*/ 127839 h 1380309"/>
              <a:gd name="connsiteX430" fmla="*/ 6775362 w 6990240"/>
              <a:gd name="connsiteY430" fmla="*/ 116674 h 1380309"/>
              <a:gd name="connsiteX431" fmla="*/ 6717122 w 6990240"/>
              <a:gd name="connsiteY431" fmla="*/ 89491 h 1380309"/>
              <a:gd name="connsiteX432" fmla="*/ 6774410 w 6990240"/>
              <a:gd name="connsiteY432" fmla="*/ 62307 h 1380309"/>
              <a:gd name="connsiteX433" fmla="*/ 6784102 w 6990240"/>
              <a:gd name="connsiteY433" fmla="*/ 50656 h 1380309"/>
              <a:gd name="connsiteX434" fmla="*/ 6772919 w 6990240"/>
              <a:gd name="connsiteY434" fmla="*/ 39006 h 1380309"/>
              <a:gd name="connsiteX435" fmla="*/ 6758379 w 6990240"/>
              <a:gd name="connsiteY435" fmla="*/ 47259 h 1380309"/>
              <a:gd name="connsiteX436" fmla="*/ 6712731 w 6990240"/>
              <a:gd name="connsiteY436" fmla="*/ 80753 h 1380309"/>
              <a:gd name="connsiteX437" fmla="*/ 6719069 w 6990240"/>
              <a:gd name="connsiteY437" fmla="*/ 10851 h 1380309"/>
              <a:gd name="connsiteX438" fmla="*/ 6708382 w 6990240"/>
              <a:gd name="connsiteY438" fmla="*/ 172 h 1380309"/>
              <a:gd name="connsiteX439" fmla="*/ 6697197 w 6990240"/>
              <a:gd name="connsiteY439" fmla="*/ 10851 h 1380309"/>
              <a:gd name="connsiteX440" fmla="*/ 6703038 w 6990240"/>
              <a:gd name="connsiteY440" fmla="*/ 80753 h 1380309"/>
              <a:gd name="connsiteX441" fmla="*/ 6652046 w 6990240"/>
              <a:gd name="connsiteY441" fmla="*/ 43860 h 1380309"/>
              <a:gd name="connsiteX442" fmla="*/ 6642850 w 6990240"/>
              <a:gd name="connsiteY442" fmla="*/ 39006 h 1380309"/>
              <a:gd name="connsiteX443" fmla="*/ 6631666 w 6990240"/>
              <a:gd name="connsiteY443" fmla="*/ 50656 h 1380309"/>
              <a:gd name="connsiteX444" fmla="*/ 6640406 w 6990240"/>
              <a:gd name="connsiteY444" fmla="*/ 61821 h 1380309"/>
              <a:gd name="connsiteX445" fmla="*/ 6698647 w 6990240"/>
              <a:gd name="connsiteY445" fmla="*/ 89005 h 1380309"/>
              <a:gd name="connsiteX446" fmla="*/ 6641401 w 6990240"/>
              <a:gd name="connsiteY446" fmla="*/ 116189 h 1380309"/>
              <a:gd name="connsiteX447" fmla="*/ 6631666 w 6990240"/>
              <a:gd name="connsiteY447" fmla="*/ 127839 h 1380309"/>
              <a:gd name="connsiteX448" fmla="*/ 6645253 w 6990240"/>
              <a:gd name="connsiteY448" fmla="*/ 139489 h 1380309"/>
              <a:gd name="connsiteX449" fmla="*/ 6703038 w 6990240"/>
              <a:gd name="connsiteY449" fmla="*/ 97743 h 1380309"/>
              <a:gd name="connsiteX450" fmla="*/ 6697197 w 6990240"/>
              <a:gd name="connsiteY450" fmla="*/ 168129 h 1380309"/>
              <a:gd name="connsiteX451" fmla="*/ 6707884 w 6990240"/>
              <a:gd name="connsiteY451" fmla="*/ 178323 h 1380309"/>
              <a:gd name="connsiteX452" fmla="*/ 6719069 w 6990240"/>
              <a:gd name="connsiteY452" fmla="*/ 168129 h 1380309"/>
              <a:gd name="connsiteX453" fmla="*/ 6712731 w 6990240"/>
              <a:gd name="connsiteY453" fmla="*/ 97743 h 1380309"/>
              <a:gd name="connsiteX454" fmla="*/ 6766125 w 6990240"/>
              <a:gd name="connsiteY454" fmla="*/ 137062 h 1380309"/>
              <a:gd name="connsiteX455" fmla="*/ 6772919 w 6990240"/>
              <a:gd name="connsiteY455" fmla="*/ 139489 h 1380309"/>
              <a:gd name="connsiteX456" fmla="*/ 6784102 w 6990240"/>
              <a:gd name="connsiteY456" fmla="*/ 127839 h 1380309"/>
              <a:gd name="connsiteX457" fmla="*/ 6990390 w 6990240"/>
              <a:gd name="connsiteY457" fmla="*/ 127839 h 1380309"/>
              <a:gd name="connsiteX458" fmla="*/ 6981649 w 6990240"/>
              <a:gd name="connsiteY458" fmla="*/ 116674 h 1380309"/>
              <a:gd name="connsiteX459" fmla="*/ 6923408 w 6990240"/>
              <a:gd name="connsiteY459" fmla="*/ 89491 h 1380309"/>
              <a:gd name="connsiteX460" fmla="*/ 6980696 w 6990240"/>
              <a:gd name="connsiteY460" fmla="*/ 62307 h 1380309"/>
              <a:gd name="connsiteX461" fmla="*/ 6990390 w 6990240"/>
              <a:gd name="connsiteY461" fmla="*/ 50656 h 1380309"/>
              <a:gd name="connsiteX462" fmla="*/ 6979247 w 6990240"/>
              <a:gd name="connsiteY462" fmla="*/ 39006 h 1380309"/>
              <a:gd name="connsiteX463" fmla="*/ 6964666 w 6990240"/>
              <a:gd name="connsiteY463" fmla="*/ 47259 h 1380309"/>
              <a:gd name="connsiteX464" fmla="*/ 6919059 w 6990240"/>
              <a:gd name="connsiteY464" fmla="*/ 80753 h 1380309"/>
              <a:gd name="connsiteX465" fmla="*/ 6925355 w 6990240"/>
              <a:gd name="connsiteY465" fmla="*/ 10851 h 1380309"/>
              <a:gd name="connsiteX466" fmla="*/ 6914668 w 6990240"/>
              <a:gd name="connsiteY466" fmla="*/ 172 h 1380309"/>
              <a:gd name="connsiteX467" fmla="*/ 6903525 w 6990240"/>
              <a:gd name="connsiteY467" fmla="*/ 10851 h 1380309"/>
              <a:gd name="connsiteX468" fmla="*/ 6909325 w 6990240"/>
              <a:gd name="connsiteY468" fmla="*/ 80753 h 1380309"/>
              <a:gd name="connsiteX469" fmla="*/ 6858375 w 6990240"/>
              <a:gd name="connsiteY469" fmla="*/ 43860 h 1380309"/>
              <a:gd name="connsiteX470" fmla="*/ 6849137 w 6990240"/>
              <a:gd name="connsiteY470" fmla="*/ 39006 h 1380309"/>
              <a:gd name="connsiteX471" fmla="*/ 6837994 w 6990240"/>
              <a:gd name="connsiteY471" fmla="*/ 50656 h 1380309"/>
              <a:gd name="connsiteX472" fmla="*/ 6846734 w 6990240"/>
              <a:gd name="connsiteY472" fmla="*/ 61821 h 1380309"/>
              <a:gd name="connsiteX473" fmla="*/ 6904975 w 6990240"/>
              <a:gd name="connsiteY473" fmla="*/ 89005 h 1380309"/>
              <a:gd name="connsiteX474" fmla="*/ 6847687 w 6990240"/>
              <a:gd name="connsiteY474" fmla="*/ 116189 h 1380309"/>
              <a:gd name="connsiteX475" fmla="*/ 6837994 w 6990240"/>
              <a:gd name="connsiteY475" fmla="*/ 127839 h 1380309"/>
              <a:gd name="connsiteX476" fmla="*/ 6851581 w 6990240"/>
              <a:gd name="connsiteY476" fmla="*/ 139489 h 1380309"/>
              <a:gd name="connsiteX477" fmla="*/ 6909325 w 6990240"/>
              <a:gd name="connsiteY477" fmla="*/ 97743 h 1380309"/>
              <a:gd name="connsiteX478" fmla="*/ 6903525 w 6990240"/>
              <a:gd name="connsiteY478" fmla="*/ 168129 h 1380309"/>
              <a:gd name="connsiteX479" fmla="*/ 6914212 w 6990240"/>
              <a:gd name="connsiteY479" fmla="*/ 178323 h 1380309"/>
              <a:gd name="connsiteX480" fmla="*/ 6925355 w 6990240"/>
              <a:gd name="connsiteY480" fmla="*/ 168129 h 1380309"/>
              <a:gd name="connsiteX481" fmla="*/ 6919059 w 6990240"/>
              <a:gd name="connsiteY481" fmla="*/ 97743 h 1380309"/>
              <a:gd name="connsiteX482" fmla="*/ 6972453 w 6990240"/>
              <a:gd name="connsiteY482" fmla="*/ 137062 h 1380309"/>
              <a:gd name="connsiteX483" fmla="*/ 6979247 w 6990240"/>
              <a:gd name="connsiteY483" fmla="*/ 139489 h 1380309"/>
              <a:gd name="connsiteX484" fmla="*/ 6990390 w 6990240"/>
              <a:gd name="connsiteY484" fmla="*/ 127839 h 1380309"/>
              <a:gd name="connsiteX485" fmla="*/ 203542 w 6990240"/>
              <a:gd name="connsiteY485" fmla="*/ 715811 h 1380309"/>
              <a:gd name="connsiteX486" fmla="*/ 117137 w 6990240"/>
              <a:gd name="connsiteY486" fmla="*/ 622609 h 1380309"/>
              <a:gd name="connsiteX487" fmla="*/ 59371 w 6990240"/>
              <a:gd name="connsiteY487" fmla="*/ 649793 h 1380309"/>
              <a:gd name="connsiteX488" fmla="*/ 59371 w 6990240"/>
              <a:gd name="connsiteY488" fmla="*/ 622609 h 1380309"/>
              <a:gd name="connsiteX489" fmla="*/ 149 w 6990240"/>
              <a:gd name="connsiteY489" fmla="*/ 627464 h 1380309"/>
              <a:gd name="connsiteX490" fmla="*/ 149 w 6990240"/>
              <a:gd name="connsiteY490" fmla="*/ 640085 h 1380309"/>
              <a:gd name="connsiteX491" fmla="*/ 32187 w 6990240"/>
              <a:gd name="connsiteY491" fmla="*/ 660473 h 1380309"/>
              <a:gd name="connsiteX492" fmla="*/ 32187 w 6990240"/>
              <a:gd name="connsiteY492" fmla="*/ 853672 h 1380309"/>
              <a:gd name="connsiteX493" fmla="*/ 149 w 6990240"/>
              <a:gd name="connsiteY493" fmla="*/ 872602 h 1380309"/>
              <a:gd name="connsiteX494" fmla="*/ 149 w 6990240"/>
              <a:gd name="connsiteY494" fmla="*/ 885224 h 1380309"/>
              <a:gd name="connsiteX495" fmla="*/ 46264 w 6990240"/>
              <a:gd name="connsiteY495" fmla="*/ 883770 h 1380309"/>
              <a:gd name="connsiteX496" fmla="*/ 92865 w 6990240"/>
              <a:gd name="connsiteY496" fmla="*/ 885224 h 1380309"/>
              <a:gd name="connsiteX497" fmla="*/ 92865 w 6990240"/>
              <a:gd name="connsiteY497" fmla="*/ 872602 h 1380309"/>
              <a:gd name="connsiteX498" fmla="*/ 60827 w 6990240"/>
              <a:gd name="connsiteY498" fmla="*/ 853672 h 1380309"/>
              <a:gd name="connsiteX499" fmla="*/ 60827 w 6990240"/>
              <a:gd name="connsiteY499" fmla="*/ 780859 h 1380309"/>
              <a:gd name="connsiteX500" fmla="*/ 111311 w 6990240"/>
              <a:gd name="connsiteY500" fmla="*/ 809499 h 1380309"/>
              <a:gd name="connsiteX501" fmla="*/ 203542 w 6990240"/>
              <a:gd name="connsiteY501" fmla="*/ 715811 h 1380309"/>
              <a:gd name="connsiteX502" fmla="*/ 169077 w 6990240"/>
              <a:gd name="connsiteY502" fmla="*/ 715811 h 1380309"/>
              <a:gd name="connsiteX503" fmla="*/ 109855 w 6990240"/>
              <a:gd name="connsiteY503" fmla="*/ 800762 h 1380309"/>
              <a:gd name="connsiteX504" fmla="*/ 66652 w 6990240"/>
              <a:gd name="connsiteY504" fmla="*/ 775519 h 1380309"/>
              <a:gd name="connsiteX505" fmla="*/ 60827 w 6990240"/>
              <a:gd name="connsiteY505" fmla="*/ 758043 h 1380309"/>
              <a:gd name="connsiteX506" fmla="*/ 60827 w 6990240"/>
              <a:gd name="connsiteY506" fmla="*/ 666298 h 1380309"/>
              <a:gd name="connsiteX507" fmla="*/ 113739 w 6990240"/>
              <a:gd name="connsiteY507" fmla="*/ 633289 h 1380309"/>
              <a:gd name="connsiteX508" fmla="*/ 169077 w 6990240"/>
              <a:gd name="connsiteY508" fmla="*/ 715811 h 1380309"/>
              <a:gd name="connsiteX509" fmla="*/ 641276 w 6990240"/>
              <a:gd name="connsiteY509" fmla="*/ 813384 h 1380309"/>
              <a:gd name="connsiteX510" fmla="*/ 633509 w 6990240"/>
              <a:gd name="connsiteY510" fmla="*/ 804159 h 1380309"/>
              <a:gd name="connsiteX511" fmla="*/ 417008 w 6990240"/>
              <a:gd name="connsiteY511" fmla="*/ 701734 h 1380309"/>
              <a:gd name="connsiteX512" fmla="*/ 633509 w 6990240"/>
              <a:gd name="connsiteY512" fmla="*/ 599794 h 1380309"/>
              <a:gd name="connsiteX513" fmla="*/ 641276 w 6990240"/>
              <a:gd name="connsiteY513" fmla="*/ 590572 h 1380309"/>
              <a:gd name="connsiteX514" fmla="*/ 633025 w 6990240"/>
              <a:gd name="connsiteY514" fmla="*/ 582319 h 1380309"/>
              <a:gd name="connsiteX515" fmla="*/ 625743 w 6990240"/>
              <a:gd name="connsiteY515" fmla="*/ 585232 h 1380309"/>
              <a:gd name="connsiteX516" fmla="*/ 397106 w 6990240"/>
              <a:gd name="connsiteY516" fmla="*/ 692996 h 1380309"/>
              <a:gd name="connsiteX517" fmla="*/ 389339 w 6990240"/>
              <a:gd name="connsiteY517" fmla="*/ 701734 h 1380309"/>
              <a:gd name="connsiteX518" fmla="*/ 397106 w 6990240"/>
              <a:gd name="connsiteY518" fmla="*/ 710957 h 1380309"/>
              <a:gd name="connsiteX519" fmla="*/ 625743 w 6990240"/>
              <a:gd name="connsiteY519" fmla="*/ 818723 h 1380309"/>
              <a:gd name="connsiteX520" fmla="*/ 633025 w 6990240"/>
              <a:gd name="connsiteY520" fmla="*/ 821635 h 1380309"/>
              <a:gd name="connsiteX521" fmla="*/ 641276 w 6990240"/>
              <a:gd name="connsiteY521" fmla="*/ 813384 h 1380309"/>
              <a:gd name="connsiteX522" fmla="*/ 1003160 w 6990240"/>
              <a:gd name="connsiteY522" fmla="*/ 673094 h 1380309"/>
              <a:gd name="connsiteX523" fmla="*/ 986657 w 6990240"/>
              <a:gd name="connsiteY523" fmla="*/ 576494 h 1380309"/>
              <a:gd name="connsiteX524" fmla="*/ 916756 w 6990240"/>
              <a:gd name="connsiteY524" fmla="*/ 530379 h 1380309"/>
              <a:gd name="connsiteX525" fmla="*/ 844912 w 6990240"/>
              <a:gd name="connsiteY525" fmla="*/ 579407 h 1380309"/>
              <a:gd name="connsiteX526" fmla="*/ 829378 w 6990240"/>
              <a:gd name="connsiteY526" fmla="*/ 673094 h 1380309"/>
              <a:gd name="connsiteX527" fmla="*/ 847824 w 6990240"/>
              <a:gd name="connsiteY527" fmla="*/ 772607 h 1380309"/>
              <a:gd name="connsiteX528" fmla="*/ 916267 w 6990240"/>
              <a:gd name="connsiteY528" fmla="*/ 814353 h 1380309"/>
              <a:gd name="connsiteX529" fmla="*/ 988111 w 6990240"/>
              <a:gd name="connsiteY529" fmla="*/ 766294 h 1380309"/>
              <a:gd name="connsiteX530" fmla="*/ 1003160 w 6990240"/>
              <a:gd name="connsiteY530" fmla="*/ 673094 h 1380309"/>
              <a:gd name="connsiteX531" fmla="*/ 968696 w 6990240"/>
              <a:gd name="connsiteY531" fmla="*/ 668240 h 1380309"/>
              <a:gd name="connsiteX532" fmla="*/ 964326 w 6990240"/>
              <a:gd name="connsiteY532" fmla="*/ 753673 h 1380309"/>
              <a:gd name="connsiteX533" fmla="*/ 916267 w 6990240"/>
              <a:gd name="connsiteY533" fmla="*/ 805128 h 1380309"/>
              <a:gd name="connsiteX534" fmla="*/ 868212 w 6990240"/>
              <a:gd name="connsiteY534" fmla="*/ 755131 h 1380309"/>
              <a:gd name="connsiteX535" fmla="*/ 863842 w 6990240"/>
              <a:gd name="connsiteY535" fmla="*/ 668240 h 1380309"/>
              <a:gd name="connsiteX536" fmla="*/ 867243 w 6990240"/>
              <a:gd name="connsiteY536" fmla="*/ 592028 h 1380309"/>
              <a:gd name="connsiteX537" fmla="*/ 916267 w 6990240"/>
              <a:gd name="connsiteY537" fmla="*/ 539602 h 1380309"/>
              <a:gd name="connsiteX538" fmla="*/ 964811 w 6990240"/>
              <a:gd name="connsiteY538" fmla="*/ 587659 h 1380309"/>
              <a:gd name="connsiteX539" fmla="*/ 968696 w 6990240"/>
              <a:gd name="connsiteY539" fmla="*/ 668240 h 1380309"/>
              <a:gd name="connsiteX540" fmla="*/ 1098909 w 6990240"/>
              <a:gd name="connsiteY540" fmla="*/ 783286 h 1380309"/>
              <a:gd name="connsiteX541" fmla="*/ 1077067 w 6990240"/>
              <a:gd name="connsiteY541" fmla="*/ 761440 h 1380309"/>
              <a:gd name="connsiteX542" fmla="*/ 1055221 w 6990240"/>
              <a:gd name="connsiteY542" fmla="*/ 783286 h 1380309"/>
              <a:gd name="connsiteX543" fmla="*/ 1077067 w 6990240"/>
              <a:gd name="connsiteY543" fmla="*/ 805128 h 1380309"/>
              <a:gd name="connsiteX544" fmla="*/ 1098909 w 6990240"/>
              <a:gd name="connsiteY544" fmla="*/ 783286 h 1380309"/>
              <a:gd name="connsiteX545" fmla="*/ 1324271 w 6990240"/>
              <a:gd name="connsiteY545" fmla="*/ 673094 h 1380309"/>
              <a:gd name="connsiteX546" fmla="*/ 1307764 w 6990240"/>
              <a:gd name="connsiteY546" fmla="*/ 576494 h 1380309"/>
              <a:gd name="connsiteX547" fmla="*/ 1237863 w 6990240"/>
              <a:gd name="connsiteY547" fmla="*/ 530379 h 1380309"/>
              <a:gd name="connsiteX548" fmla="*/ 1166019 w 6990240"/>
              <a:gd name="connsiteY548" fmla="*/ 579407 h 1380309"/>
              <a:gd name="connsiteX549" fmla="*/ 1150485 w 6990240"/>
              <a:gd name="connsiteY549" fmla="*/ 673094 h 1380309"/>
              <a:gd name="connsiteX550" fmla="*/ 1168935 w 6990240"/>
              <a:gd name="connsiteY550" fmla="*/ 772607 h 1380309"/>
              <a:gd name="connsiteX551" fmla="*/ 1237378 w 6990240"/>
              <a:gd name="connsiteY551" fmla="*/ 814353 h 1380309"/>
              <a:gd name="connsiteX552" fmla="*/ 1309222 w 6990240"/>
              <a:gd name="connsiteY552" fmla="*/ 766294 h 1380309"/>
              <a:gd name="connsiteX553" fmla="*/ 1324271 w 6990240"/>
              <a:gd name="connsiteY553" fmla="*/ 673094 h 1380309"/>
              <a:gd name="connsiteX554" fmla="*/ 1289803 w 6990240"/>
              <a:gd name="connsiteY554" fmla="*/ 668240 h 1380309"/>
              <a:gd name="connsiteX555" fmla="*/ 1285437 w 6990240"/>
              <a:gd name="connsiteY555" fmla="*/ 753673 h 1380309"/>
              <a:gd name="connsiteX556" fmla="*/ 1237378 w 6990240"/>
              <a:gd name="connsiteY556" fmla="*/ 805128 h 1380309"/>
              <a:gd name="connsiteX557" fmla="*/ 1189319 w 6990240"/>
              <a:gd name="connsiteY557" fmla="*/ 755131 h 1380309"/>
              <a:gd name="connsiteX558" fmla="*/ 1184953 w 6990240"/>
              <a:gd name="connsiteY558" fmla="*/ 668240 h 1380309"/>
              <a:gd name="connsiteX559" fmla="*/ 1188350 w 6990240"/>
              <a:gd name="connsiteY559" fmla="*/ 592028 h 1380309"/>
              <a:gd name="connsiteX560" fmla="*/ 1237378 w 6990240"/>
              <a:gd name="connsiteY560" fmla="*/ 539602 h 1380309"/>
              <a:gd name="connsiteX561" fmla="*/ 1285922 w 6990240"/>
              <a:gd name="connsiteY561" fmla="*/ 587659 h 1380309"/>
              <a:gd name="connsiteX562" fmla="*/ 1289803 w 6990240"/>
              <a:gd name="connsiteY562" fmla="*/ 668240 h 1380309"/>
              <a:gd name="connsiteX563" fmla="*/ 1530575 w 6990240"/>
              <a:gd name="connsiteY563" fmla="*/ 673094 h 1380309"/>
              <a:gd name="connsiteX564" fmla="*/ 1514072 w 6990240"/>
              <a:gd name="connsiteY564" fmla="*/ 576494 h 1380309"/>
              <a:gd name="connsiteX565" fmla="*/ 1444170 w 6990240"/>
              <a:gd name="connsiteY565" fmla="*/ 530379 h 1380309"/>
              <a:gd name="connsiteX566" fmla="*/ 1372326 w 6990240"/>
              <a:gd name="connsiteY566" fmla="*/ 579407 h 1380309"/>
              <a:gd name="connsiteX567" fmla="*/ 1356793 w 6990240"/>
              <a:gd name="connsiteY567" fmla="*/ 673094 h 1380309"/>
              <a:gd name="connsiteX568" fmla="*/ 1375238 w 6990240"/>
              <a:gd name="connsiteY568" fmla="*/ 772607 h 1380309"/>
              <a:gd name="connsiteX569" fmla="*/ 1443686 w 6990240"/>
              <a:gd name="connsiteY569" fmla="*/ 814353 h 1380309"/>
              <a:gd name="connsiteX570" fmla="*/ 1515526 w 6990240"/>
              <a:gd name="connsiteY570" fmla="*/ 766294 h 1380309"/>
              <a:gd name="connsiteX571" fmla="*/ 1530575 w 6990240"/>
              <a:gd name="connsiteY571" fmla="*/ 673094 h 1380309"/>
              <a:gd name="connsiteX572" fmla="*/ 1496111 w 6990240"/>
              <a:gd name="connsiteY572" fmla="*/ 668240 h 1380309"/>
              <a:gd name="connsiteX573" fmla="*/ 1491740 w 6990240"/>
              <a:gd name="connsiteY573" fmla="*/ 753673 h 1380309"/>
              <a:gd name="connsiteX574" fmla="*/ 1443686 w 6990240"/>
              <a:gd name="connsiteY574" fmla="*/ 805128 h 1380309"/>
              <a:gd name="connsiteX575" fmla="*/ 1395627 w 6990240"/>
              <a:gd name="connsiteY575" fmla="*/ 755131 h 1380309"/>
              <a:gd name="connsiteX576" fmla="*/ 1391256 w 6990240"/>
              <a:gd name="connsiteY576" fmla="*/ 668240 h 1380309"/>
              <a:gd name="connsiteX577" fmla="*/ 1394657 w 6990240"/>
              <a:gd name="connsiteY577" fmla="*/ 592028 h 1380309"/>
              <a:gd name="connsiteX578" fmla="*/ 1443686 w 6990240"/>
              <a:gd name="connsiteY578" fmla="*/ 539602 h 1380309"/>
              <a:gd name="connsiteX579" fmla="*/ 1492225 w 6990240"/>
              <a:gd name="connsiteY579" fmla="*/ 587659 h 1380309"/>
              <a:gd name="connsiteX580" fmla="*/ 1496111 w 6990240"/>
              <a:gd name="connsiteY580" fmla="*/ 668240 h 1380309"/>
              <a:gd name="connsiteX581" fmla="*/ 1720014 w 6990240"/>
              <a:gd name="connsiteY581" fmla="*/ 805128 h 1380309"/>
              <a:gd name="connsiteX582" fmla="*/ 1720014 w 6990240"/>
              <a:gd name="connsiteY582" fmla="*/ 792507 h 1380309"/>
              <a:gd name="connsiteX583" fmla="*/ 1706908 w 6990240"/>
              <a:gd name="connsiteY583" fmla="*/ 792507 h 1380309"/>
              <a:gd name="connsiteX584" fmla="*/ 1668559 w 6990240"/>
              <a:gd name="connsiteY584" fmla="*/ 772607 h 1380309"/>
              <a:gd name="connsiteX585" fmla="*/ 1668559 w 6990240"/>
              <a:gd name="connsiteY585" fmla="*/ 541058 h 1380309"/>
              <a:gd name="connsiteX586" fmla="*/ 1658849 w 6990240"/>
              <a:gd name="connsiteY586" fmla="*/ 530379 h 1380309"/>
              <a:gd name="connsiteX587" fmla="*/ 1584093 w 6990240"/>
              <a:gd name="connsiteY587" fmla="*/ 556592 h 1380309"/>
              <a:gd name="connsiteX588" fmla="*/ 1584093 w 6990240"/>
              <a:gd name="connsiteY588" fmla="*/ 569698 h 1380309"/>
              <a:gd name="connsiteX589" fmla="*/ 1637976 w 6990240"/>
              <a:gd name="connsiteY589" fmla="*/ 559019 h 1380309"/>
              <a:gd name="connsiteX590" fmla="*/ 1637976 w 6990240"/>
              <a:gd name="connsiteY590" fmla="*/ 772607 h 1380309"/>
              <a:gd name="connsiteX591" fmla="*/ 1599627 w 6990240"/>
              <a:gd name="connsiteY591" fmla="*/ 792507 h 1380309"/>
              <a:gd name="connsiteX592" fmla="*/ 1586521 w 6990240"/>
              <a:gd name="connsiteY592" fmla="*/ 792507 h 1380309"/>
              <a:gd name="connsiteX593" fmla="*/ 1586521 w 6990240"/>
              <a:gd name="connsiteY593" fmla="*/ 805128 h 1380309"/>
              <a:gd name="connsiteX594" fmla="*/ 1653025 w 6990240"/>
              <a:gd name="connsiteY594" fmla="*/ 803674 h 1380309"/>
              <a:gd name="connsiteX595" fmla="*/ 1720014 w 6990240"/>
              <a:gd name="connsiteY595" fmla="*/ 805128 h 1380309"/>
              <a:gd name="connsiteX596" fmla="*/ 194319 w 6990240"/>
              <a:gd name="connsiteY596" fmla="*/ 1223687 h 1380309"/>
              <a:gd name="connsiteX597" fmla="*/ 132670 w 6990240"/>
              <a:gd name="connsiteY597" fmla="*/ 1140195 h 1380309"/>
              <a:gd name="connsiteX598" fmla="*/ 79759 w 6990240"/>
              <a:gd name="connsiteY598" fmla="*/ 1127574 h 1380309"/>
              <a:gd name="connsiteX599" fmla="*/ 38012 w 6990240"/>
              <a:gd name="connsiteY599" fmla="*/ 1075149 h 1380309"/>
              <a:gd name="connsiteX600" fmla="*/ 92380 w 6990240"/>
              <a:gd name="connsiteY600" fmla="*/ 1021265 h 1380309"/>
              <a:gd name="connsiteX601" fmla="*/ 172960 w 6990240"/>
              <a:gd name="connsiteY601" fmla="*/ 1107185 h 1380309"/>
              <a:gd name="connsiteX602" fmla="*/ 177815 w 6990240"/>
              <a:gd name="connsiteY602" fmla="*/ 1112040 h 1380309"/>
              <a:gd name="connsiteX603" fmla="*/ 183155 w 6990240"/>
              <a:gd name="connsiteY603" fmla="*/ 1102330 h 1380309"/>
              <a:gd name="connsiteX604" fmla="*/ 183155 w 6990240"/>
              <a:gd name="connsiteY604" fmla="*/ 1019323 h 1380309"/>
              <a:gd name="connsiteX605" fmla="*/ 178786 w 6990240"/>
              <a:gd name="connsiteY605" fmla="*/ 1009617 h 1380309"/>
              <a:gd name="connsiteX606" fmla="*/ 172475 w 6990240"/>
              <a:gd name="connsiteY606" fmla="*/ 1014957 h 1380309"/>
              <a:gd name="connsiteX607" fmla="*/ 157912 w 6990240"/>
              <a:gd name="connsiteY607" fmla="*/ 1038257 h 1380309"/>
              <a:gd name="connsiteX608" fmla="*/ 91894 w 6990240"/>
              <a:gd name="connsiteY608" fmla="*/ 1009617 h 1380309"/>
              <a:gd name="connsiteX609" fmla="*/ 11799 w 6990240"/>
              <a:gd name="connsiteY609" fmla="*/ 1089713 h 1380309"/>
              <a:gd name="connsiteX610" fmla="*/ 65681 w 6990240"/>
              <a:gd name="connsiteY610" fmla="*/ 1164954 h 1380309"/>
              <a:gd name="connsiteX611" fmla="*/ 120049 w 6990240"/>
              <a:gd name="connsiteY611" fmla="*/ 1178545 h 1380309"/>
              <a:gd name="connsiteX612" fmla="*/ 155000 w 6990240"/>
              <a:gd name="connsiteY612" fmla="*/ 1199902 h 1380309"/>
              <a:gd name="connsiteX613" fmla="*/ 168106 w 6990240"/>
              <a:gd name="connsiteY613" fmla="*/ 1237767 h 1380309"/>
              <a:gd name="connsiteX614" fmla="*/ 112768 w 6990240"/>
              <a:gd name="connsiteY614" fmla="*/ 1296501 h 1380309"/>
              <a:gd name="connsiteX615" fmla="*/ 47720 w 6990240"/>
              <a:gd name="connsiteY615" fmla="*/ 1274174 h 1380309"/>
              <a:gd name="connsiteX616" fmla="*/ 21993 w 6990240"/>
              <a:gd name="connsiteY616" fmla="*/ 1211066 h 1380309"/>
              <a:gd name="connsiteX617" fmla="*/ 17139 w 6990240"/>
              <a:gd name="connsiteY617" fmla="*/ 1206700 h 1380309"/>
              <a:gd name="connsiteX618" fmla="*/ 11799 w 6990240"/>
              <a:gd name="connsiteY618" fmla="*/ 1216894 h 1380309"/>
              <a:gd name="connsiteX619" fmla="*/ 11799 w 6990240"/>
              <a:gd name="connsiteY619" fmla="*/ 1299417 h 1380309"/>
              <a:gd name="connsiteX620" fmla="*/ 16168 w 6990240"/>
              <a:gd name="connsiteY620" fmla="*/ 1309607 h 1380309"/>
              <a:gd name="connsiteX621" fmla="*/ 22478 w 6990240"/>
              <a:gd name="connsiteY621" fmla="*/ 1304268 h 1380309"/>
              <a:gd name="connsiteX622" fmla="*/ 37041 w 6990240"/>
              <a:gd name="connsiteY622" fmla="*/ 1280482 h 1380309"/>
              <a:gd name="connsiteX623" fmla="*/ 113253 w 6990240"/>
              <a:gd name="connsiteY623" fmla="*/ 1309607 h 1380309"/>
              <a:gd name="connsiteX624" fmla="*/ 194319 w 6990240"/>
              <a:gd name="connsiteY624" fmla="*/ 1223687 h 1380309"/>
              <a:gd name="connsiteX625" fmla="*/ 354752 w 6990240"/>
              <a:gd name="connsiteY625" fmla="*/ 1249415 h 1380309"/>
              <a:gd name="connsiteX626" fmla="*/ 354752 w 6990240"/>
              <a:gd name="connsiteY626" fmla="*/ 1225630 h 1380309"/>
              <a:gd name="connsiteX627" fmla="*/ 344559 w 6990240"/>
              <a:gd name="connsiteY627" fmla="*/ 1225630 h 1380309"/>
              <a:gd name="connsiteX628" fmla="*/ 344559 w 6990240"/>
              <a:gd name="connsiteY628" fmla="*/ 1248446 h 1380309"/>
              <a:gd name="connsiteX629" fmla="*/ 316889 w 6990240"/>
              <a:gd name="connsiteY629" fmla="*/ 1294562 h 1380309"/>
              <a:gd name="connsiteX630" fmla="*/ 289220 w 6990240"/>
              <a:gd name="connsiteY630" fmla="*/ 1249900 h 1380309"/>
              <a:gd name="connsiteX631" fmla="*/ 289220 w 6990240"/>
              <a:gd name="connsiteY631" fmla="*/ 1135340 h 1380309"/>
              <a:gd name="connsiteX632" fmla="*/ 348442 w 6990240"/>
              <a:gd name="connsiteY632" fmla="*/ 1135340 h 1380309"/>
              <a:gd name="connsiteX633" fmla="*/ 348442 w 6990240"/>
              <a:gd name="connsiteY633" fmla="*/ 1122719 h 1380309"/>
              <a:gd name="connsiteX634" fmla="*/ 289220 w 6990240"/>
              <a:gd name="connsiteY634" fmla="*/ 1122719 h 1380309"/>
              <a:gd name="connsiteX635" fmla="*/ 289220 w 6990240"/>
              <a:gd name="connsiteY635" fmla="*/ 1046509 h 1380309"/>
              <a:gd name="connsiteX636" fmla="*/ 279026 w 6990240"/>
              <a:gd name="connsiteY636" fmla="*/ 1046509 h 1380309"/>
              <a:gd name="connsiteX637" fmla="*/ 225629 w 6990240"/>
              <a:gd name="connsiteY637" fmla="*/ 1126120 h 1380309"/>
              <a:gd name="connsiteX638" fmla="*/ 225629 w 6990240"/>
              <a:gd name="connsiteY638" fmla="*/ 1135340 h 1380309"/>
              <a:gd name="connsiteX639" fmla="*/ 260580 w 6990240"/>
              <a:gd name="connsiteY639" fmla="*/ 1135340 h 1380309"/>
              <a:gd name="connsiteX640" fmla="*/ 260580 w 6990240"/>
              <a:gd name="connsiteY640" fmla="*/ 1249415 h 1380309"/>
              <a:gd name="connsiteX641" fmla="*/ 313977 w 6990240"/>
              <a:gd name="connsiteY641" fmla="*/ 1304756 h 1380309"/>
              <a:gd name="connsiteX642" fmla="*/ 354752 w 6990240"/>
              <a:gd name="connsiteY642" fmla="*/ 1249415 h 1380309"/>
              <a:gd name="connsiteX643" fmla="*/ 577928 w 6990240"/>
              <a:gd name="connsiteY643" fmla="*/ 1263495 h 1380309"/>
              <a:gd name="connsiteX644" fmla="*/ 577928 w 6990240"/>
              <a:gd name="connsiteY644" fmla="*/ 1240679 h 1380309"/>
              <a:gd name="connsiteX645" fmla="*/ 567249 w 6990240"/>
              <a:gd name="connsiteY645" fmla="*/ 1240679 h 1380309"/>
              <a:gd name="connsiteX646" fmla="*/ 567249 w 6990240"/>
              <a:gd name="connsiteY646" fmla="*/ 1263495 h 1380309"/>
              <a:gd name="connsiteX647" fmla="*/ 552685 w 6990240"/>
              <a:gd name="connsiteY647" fmla="*/ 1290192 h 1380309"/>
              <a:gd name="connsiteX648" fmla="*/ 537151 w 6990240"/>
              <a:gd name="connsiteY648" fmla="*/ 1269319 h 1380309"/>
              <a:gd name="connsiteX649" fmla="*/ 537151 w 6990240"/>
              <a:gd name="connsiteY649" fmla="*/ 1186796 h 1380309"/>
              <a:gd name="connsiteX650" fmla="*/ 522587 w 6990240"/>
              <a:gd name="connsiteY650" fmla="*/ 1138252 h 1380309"/>
              <a:gd name="connsiteX651" fmla="*/ 465792 w 6990240"/>
              <a:gd name="connsiteY651" fmla="*/ 1115437 h 1380309"/>
              <a:gd name="connsiteX652" fmla="*/ 403657 w 6990240"/>
              <a:gd name="connsiteY652" fmla="*/ 1162037 h 1380309"/>
              <a:gd name="connsiteX653" fmla="*/ 422592 w 6990240"/>
              <a:gd name="connsiteY653" fmla="*/ 1181457 h 1380309"/>
              <a:gd name="connsiteX654" fmla="*/ 441522 w 6990240"/>
              <a:gd name="connsiteY654" fmla="*/ 1162526 h 1380309"/>
              <a:gd name="connsiteX655" fmla="*/ 420649 w 6990240"/>
              <a:gd name="connsiteY655" fmla="*/ 1143592 h 1380309"/>
              <a:gd name="connsiteX656" fmla="*/ 465307 w 6990240"/>
              <a:gd name="connsiteY656" fmla="*/ 1124661 h 1380309"/>
              <a:gd name="connsiteX657" fmla="*/ 508996 w 6990240"/>
              <a:gd name="connsiteY657" fmla="*/ 1177571 h 1380309"/>
              <a:gd name="connsiteX658" fmla="*/ 508996 w 6990240"/>
              <a:gd name="connsiteY658" fmla="*/ 1192620 h 1380309"/>
              <a:gd name="connsiteX659" fmla="*/ 432786 w 6990240"/>
              <a:gd name="connsiteY659" fmla="*/ 1207669 h 1380309"/>
              <a:gd name="connsiteX660" fmla="*/ 391524 w 6990240"/>
              <a:gd name="connsiteY660" fmla="*/ 1261067 h 1380309"/>
              <a:gd name="connsiteX661" fmla="*/ 457540 w 6990240"/>
              <a:gd name="connsiteY661" fmla="*/ 1304756 h 1380309"/>
              <a:gd name="connsiteX662" fmla="*/ 511908 w 6990240"/>
              <a:gd name="connsiteY662" fmla="*/ 1268834 h 1380309"/>
              <a:gd name="connsiteX663" fmla="*/ 543949 w 6990240"/>
              <a:gd name="connsiteY663" fmla="*/ 1302814 h 1380309"/>
              <a:gd name="connsiteX664" fmla="*/ 577928 w 6990240"/>
              <a:gd name="connsiteY664" fmla="*/ 1263495 h 1380309"/>
              <a:gd name="connsiteX665" fmla="*/ 508996 w 6990240"/>
              <a:gd name="connsiteY665" fmla="*/ 1242622 h 1380309"/>
              <a:gd name="connsiteX666" fmla="*/ 460452 w 6990240"/>
              <a:gd name="connsiteY666" fmla="*/ 1296016 h 1380309"/>
              <a:gd name="connsiteX667" fmla="*/ 423561 w 6990240"/>
              <a:gd name="connsiteY667" fmla="*/ 1260583 h 1380309"/>
              <a:gd name="connsiteX668" fmla="*/ 508996 w 6990240"/>
              <a:gd name="connsiteY668" fmla="*/ 1201360 h 1380309"/>
              <a:gd name="connsiteX669" fmla="*/ 805593 w 6990240"/>
              <a:gd name="connsiteY669" fmla="*/ 1300386 h 1380309"/>
              <a:gd name="connsiteX670" fmla="*/ 805593 w 6990240"/>
              <a:gd name="connsiteY670" fmla="*/ 1287765 h 1380309"/>
              <a:gd name="connsiteX671" fmla="*/ 773068 w 6990240"/>
              <a:gd name="connsiteY671" fmla="*/ 1275143 h 1380309"/>
              <a:gd name="connsiteX672" fmla="*/ 773068 w 6990240"/>
              <a:gd name="connsiteY672" fmla="*/ 1196506 h 1380309"/>
              <a:gd name="connsiteX673" fmla="*/ 760446 w 6990240"/>
              <a:gd name="connsiteY673" fmla="*/ 1133398 h 1380309"/>
              <a:gd name="connsiteX674" fmla="*/ 717246 w 6990240"/>
              <a:gd name="connsiteY674" fmla="*/ 1117864 h 1380309"/>
              <a:gd name="connsiteX675" fmla="*/ 656081 w 6990240"/>
              <a:gd name="connsiteY675" fmla="*/ 1161553 h 1380309"/>
              <a:gd name="connsiteX676" fmla="*/ 656081 w 6990240"/>
              <a:gd name="connsiteY676" fmla="*/ 1117864 h 1380309"/>
              <a:gd name="connsiteX677" fmla="*/ 597828 w 6990240"/>
              <a:gd name="connsiteY677" fmla="*/ 1122719 h 1380309"/>
              <a:gd name="connsiteX678" fmla="*/ 597828 w 6990240"/>
              <a:gd name="connsiteY678" fmla="*/ 1135340 h 1380309"/>
              <a:gd name="connsiteX679" fmla="*/ 630353 w 6990240"/>
              <a:gd name="connsiteY679" fmla="*/ 1158641 h 1380309"/>
              <a:gd name="connsiteX680" fmla="*/ 630353 w 6990240"/>
              <a:gd name="connsiteY680" fmla="*/ 1268834 h 1380309"/>
              <a:gd name="connsiteX681" fmla="*/ 597828 w 6990240"/>
              <a:gd name="connsiteY681" fmla="*/ 1287765 h 1380309"/>
              <a:gd name="connsiteX682" fmla="*/ 597828 w 6990240"/>
              <a:gd name="connsiteY682" fmla="*/ 1300386 h 1380309"/>
              <a:gd name="connsiteX683" fmla="*/ 644428 w 6990240"/>
              <a:gd name="connsiteY683" fmla="*/ 1298928 h 1380309"/>
              <a:gd name="connsiteX684" fmla="*/ 690545 w 6990240"/>
              <a:gd name="connsiteY684" fmla="*/ 1300386 h 1380309"/>
              <a:gd name="connsiteX685" fmla="*/ 690545 w 6990240"/>
              <a:gd name="connsiteY685" fmla="*/ 1287765 h 1380309"/>
              <a:gd name="connsiteX686" fmla="*/ 658508 w 6990240"/>
              <a:gd name="connsiteY686" fmla="*/ 1268834 h 1380309"/>
              <a:gd name="connsiteX687" fmla="*/ 658508 w 6990240"/>
              <a:gd name="connsiteY687" fmla="*/ 1193105 h 1380309"/>
              <a:gd name="connsiteX688" fmla="*/ 714330 w 6990240"/>
              <a:gd name="connsiteY688" fmla="*/ 1127089 h 1380309"/>
              <a:gd name="connsiteX689" fmla="*/ 744912 w 6990240"/>
              <a:gd name="connsiteY689" fmla="*/ 1172720 h 1380309"/>
              <a:gd name="connsiteX690" fmla="*/ 744912 w 6990240"/>
              <a:gd name="connsiteY690" fmla="*/ 1268834 h 1380309"/>
              <a:gd name="connsiteX691" fmla="*/ 712876 w 6990240"/>
              <a:gd name="connsiteY691" fmla="*/ 1287765 h 1380309"/>
              <a:gd name="connsiteX692" fmla="*/ 712876 w 6990240"/>
              <a:gd name="connsiteY692" fmla="*/ 1300386 h 1380309"/>
              <a:gd name="connsiteX693" fmla="*/ 759477 w 6990240"/>
              <a:gd name="connsiteY693" fmla="*/ 1298928 h 1380309"/>
              <a:gd name="connsiteX694" fmla="*/ 1031680 w 6990240"/>
              <a:gd name="connsiteY694" fmla="*/ 1300386 h 1380309"/>
              <a:gd name="connsiteX695" fmla="*/ 1031680 w 6990240"/>
              <a:gd name="connsiteY695" fmla="*/ 1287765 h 1380309"/>
              <a:gd name="connsiteX696" fmla="*/ 999639 w 6990240"/>
              <a:gd name="connsiteY696" fmla="*/ 1264464 h 1380309"/>
              <a:gd name="connsiteX697" fmla="*/ 999639 w 6990240"/>
              <a:gd name="connsiteY697" fmla="*/ 1013983 h 1380309"/>
              <a:gd name="connsiteX698" fmla="*/ 939932 w 6990240"/>
              <a:gd name="connsiteY698" fmla="*/ 1018353 h 1380309"/>
              <a:gd name="connsiteX699" fmla="*/ 939932 w 6990240"/>
              <a:gd name="connsiteY699" fmla="*/ 1031460 h 1380309"/>
              <a:gd name="connsiteX700" fmla="*/ 972457 w 6990240"/>
              <a:gd name="connsiteY700" fmla="*/ 1054275 h 1380309"/>
              <a:gd name="connsiteX701" fmla="*/ 972457 w 6990240"/>
              <a:gd name="connsiteY701" fmla="*/ 1143592 h 1380309"/>
              <a:gd name="connsiteX702" fmla="*/ 920032 w 6990240"/>
              <a:gd name="connsiteY702" fmla="*/ 1117864 h 1380309"/>
              <a:gd name="connsiteX703" fmla="*/ 828285 w 6990240"/>
              <a:gd name="connsiteY703" fmla="*/ 1211555 h 1380309"/>
              <a:gd name="connsiteX704" fmla="*/ 915662 w 6990240"/>
              <a:gd name="connsiteY704" fmla="*/ 1304756 h 1380309"/>
              <a:gd name="connsiteX705" fmla="*/ 970999 w 6990240"/>
              <a:gd name="connsiteY705" fmla="*/ 1277570 h 1380309"/>
              <a:gd name="connsiteX706" fmla="*/ 970999 w 6990240"/>
              <a:gd name="connsiteY706" fmla="*/ 1304756 h 1380309"/>
              <a:gd name="connsiteX707" fmla="*/ 970999 w 6990240"/>
              <a:gd name="connsiteY707" fmla="*/ 1251843 h 1380309"/>
              <a:gd name="connsiteX708" fmla="*/ 966633 w 6990240"/>
              <a:gd name="connsiteY708" fmla="*/ 1266892 h 1380309"/>
              <a:gd name="connsiteX709" fmla="*/ 917605 w 6990240"/>
              <a:gd name="connsiteY709" fmla="*/ 1296016 h 1380309"/>
              <a:gd name="connsiteX710" fmla="*/ 874401 w 6990240"/>
              <a:gd name="connsiteY710" fmla="*/ 1269319 h 1380309"/>
              <a:gd name="connsiteX711" fmla="*/ 862264 w 6990240"/>
              <a:gd name="connsiteY711" fmla="*/ 1212039 h 1380309"/>
              <a:gd name="connsiteX712" fmla="*/ 875370 w 6990240"/>
              <a:gd name="connsiteY712" fmla="*/ 1153301 h 1380309"/>
              <a:gd name="connsiteX713" fmla="*/ 921971 w 6990240"/>
              <a:gd name="connsiteY713" fmla="*/ 1127089 h 1380309"/>
              <a:gd name="connsiteX714" fmla="*/ 966633 w 6990240"/>
              <a:gd name="connsiteY714" fmla="*/ 1151847 h 1380309"/>
              <a:gd name="connsiteX715" fmla="*/ 970999 w 6990240"/>
              <a:gd name="connsiteY715" fmla="*/ 1166892 h 1380309"/>
              <a:gd name="connsiteX716" fmla="*/ 1243202 w 6990240"/>
              <a:gd name="connsiteY716" fmla="*/ 1263495 h 1380309"/>
              <a:gd name="connsiteX717" fmla="*/ 1243202 w 6990240"/>
              <a:gd name="connsiteY717" fmla="*/ 1240679 h 1380309"/>
              <a:gd name="connsiteX718" fmla="*/ 1232524 w 6990240"/>
              <a:gd name="connsiteY718" fmla="*/ 1240679 h 1380309"/>
              <a:gd name="connsiteX719" fmla="*/ 1232524 w 6990240"/>
              <a:gd name="connsiteY719" fmla="*/ 1263495 h 1380309"/>
              <a:gd name="connsiteX720" fmla="*/ 1217963 w 6990240"/>
              <a:gd name="connsiteY720" fmla="*/ 1290192 h 1380309"/>
              <a:gd name="connsiteX721" fmla="*/ 1202430 w 6990240"/>
              <a:gd name="connsiteY721" fmla="*/ 1269319 h 1380309"/>
              <a:gd name="connsiteX722" fmla="*/ 1202430 w 6990240"/>
              <a:gd name="connsiteY722" fmla="*/ 1186796 h 1380309"/>
              <a:gd name="connsiteX723" fmla="*/ 1187865 w 6990240"/>
              <a:gd name="connsiteY723" fmla="*/ 1138252 h 1380309"/>
              <a:gd name="connsiteX724" fmla="*/ 1131070 w 6990240"/>
              <a:gd name="connsiteY724" fmla="*/ 1115437 h 1380309"/>
              <a:gd name="connsiteX725" fmla="*/ 1068936 w 6990240"/>
              <a:gd name="connsiteY725" fmla="*/ 1162037 h 1380309"/>
              <a:gd name="connsiteX726" fmla="*/ 1087866 w 6990240"/>
              <a:gd name="connsiteY726" fmla="*/ 1181457 h 1380309"/>
              <a:gd name="connsiteX727" fmla="*/ 1106801 w 6990240"/>
              <a:gd name="connsiteY727" fmla="*/ 1162526 h 1380309"/>
              <a:gd name="connsiteX728" fmla="*/ 1085927 w 6990240"/>
              <a:gd name="connsiteY728" fmla="*/ 1143592 h 1380309"/>
              <a:gd name="connsiteX729" fmla="*/ 1130586 w 6990240"/>
              <a:gd name="connsiteY729" fmla="*/ 1124661 h 1380309"/>
              <a:gd name="connsiteX730" fmla="*/ 1174274 w 6990240"/>
              <a:gd name="connsiteY730" fmla="*/ 1177571 h 1380309"/>
              <a:gd name="connsiteX731" fmla="*/ 1174274 w 6990240"/>
              <a:gd name="connsiteY731" fmla="*/ 1192620 h 1380309"/>
              <a:gd name="connsiteX732" fmla="*/ 1098060 w 6990240"/>
              <a:gd name="connsiteY732" fmla="*/ 1207669 h 1380309"/>
              <a:gd name="connsiteX733" fmla="*/ 1056799 w 6990240"/>
              <a:gd name="connsiteY733" fmla="*/ 1261067 h 1380309"/>
              <a:gd name="connsiteX734" fmla="*/ 1122819 w 6990240"/>
              <a:gd name="connsiteY734" fmla="*/ 1304756 h 1380309"/>
              <a:gd name="connsiteX735" fmla="*/ 1177187 w 6990240"/>
              <a:gd name="connsiteY735" fmla="*/ 1268834 h 1380309"/>
              <a:gd name="connsiteX736" fmla="*/ 1209223 w 6990240"/>
              <a:gd name="connsiteY736" fmla="*/ 1302814 h 1380309"/>
              <a:gd name="connsiteX737" fmla="*/ 1243202 w 6990240"/>
              <a:gd name="connsiteY737" fmla="*/ 1263495 h 1380309"/>
              <a:gd name="connsiteX738" fmla="*/ 1174274 w 6990240"/>
              <a:gd name="connsiteY738" fmla="*/ 1242622 h 1380309"/>
              <a:gd name="connsiteX739" fmla="*/ 1125731 w 6990240"/>
              <a:gd name="connsiteY739" fmla="*/ 1296016 h 1380309"/>
              <a:gd name="connsiteX740" fmla="*/ 1088839 w 6990240"/>
              <a:gd name="connsiteY740" fmla="*/ 1260583 h 1380309"/>
              <a:gd name="connsiteX741" fmla="*/ 1174274 w 6990240"/>
              <a:gd name="connsiteY741" fmla="*/ 1201360 h 1380309"/>
              <a:gd name="connsiteX742" fmla="*/ 1399997 w 6990240"/>
              <a:gd name="connsiteY742" fmla="*/ 1143107 h 1380309"/>
              <a:gd name="connsiteX743" fmla="*/ 1369899 w 6990240"/>
              <a:gd name="connsiteY743" fmla="*/ 1117864 h 1380309"/>
              <a:gd name="connsiteX744" fmla="*/ 1318932 w 6990240"/>
              <a:gd name="connsiteY744" fmla="*/ 1163496 h 1380309"/>
              <a:gd name="connsiteX745" fmla="*/ 1318932 w 6990240"/>
              <a:gd name="connsiteY745" fmla="*/ 1117864 h 1380309"/>
              <a:gd name="connsiteX746" fmla="*/ 1261648 w 6990240"/>
              <a:gd name="connsiteY746" fmla="*/ 1122719 h 1380309"/>
              <a:gd name="connsiteX747" fmla="*/ 1261648 w 6990240"/>
              <a:gd name="connsiteY747" fmla="*/ 1135340 h 1380309"/>
              <a:gd name="connsiteX748" fmla="*/ 1293689 w 6990240"/>
              <a:gd name="connsiteY748" fmla="*/ 1158641 h 1380309"/>
              <a:gd name="connsiteX749" fmla="*/ 1293689 w 6990240"/>
              <a:gd name="connsiteY749" fmla="*/ 1268834 h 1380309"/>
              <a:gd name="connsiteX750" fmla="*/ 1261648 w 6990240"/>
              <a:gd name="connsiteY750" fmla="*/ 1287765 h 1380309"/>
              <a:gd name="connsiteX751" fmla="*/ 1261648 w 6990240"/>
              <a:gd name="connsiteY751" fmla="*/ 1300386 h 1380309"/>
              <a:gd name="connsiteX752" fmla="*/ 1308738 w 6990240"/>
              <a:gd name="connsiteY752" fmla="*/ 1298928 h 1380309"/>
              <a:gd name="connsiteX753" fmla="*/ 1361163 w 6990240"/>
              <a:gd name="connsiteY753" fmla="*/ 1300386 h 1380309"/>
              <a:gd name="connsiteX754" fmla="*/ 1361163 w 6990240"/>
              <a:gd name="connsiteY754" fmla="*/ 1287765 h 1380309"/>
              <a:gd name="connsiteX755" fmla="*/ 1352422 w 6990240"/>
              <a:gd name="connsiteY755" fmla="*/ 1287765 h 1380309"/>
              <a:gd name="connsiteX756" fmla="*/ 1320871 w 6990240"/>
              <a:gd name="connsiteY756" fmla="*/ 1268350 h 1380309"/>
              <a:gd name="connsiteX757" fmla="*/ 1320871 w 6990240"/>
              <a:gd name="connsiteY757" fmla="*/ 1204757 h 1380309"/>
              <a:gd name="connsiteX758" fmla="*/ 1369899 w 6990240"/>
              <a:gd name="connsiteY758" fmla="*/ 1127089 h 1380309"/>
              <a:gd name="connsiteX759" fmla="*/ 1374269 w 6990240"/>
              <a:gd name="connsiteY759" fmla="*/ 1127574 h 1380309"/>
              <a:gd name="connsiteX760" fmla="*/ 1364559 w 6990240"/>
              <a:gd name="connsiteY760" fmla="*/ 1143592 h 1380309"/>
              <a:gd name="connsiteX761" fmla="*/ 1382520 w 6990240"/>
              <a:gd name="connsiteY761" fmla="*/ 1161553 h 1380309"/>
              <a:gd name="connsiteX762" fmla="*/ 1399997 w 6990240"/>
              <a:gd name="connsiteY762" fmla="*/ 1143107 h 1380309"/>
              <a:gd name="connsiteX763" fmla="*/ 1629240 w 6990240"/>
              <a:gd name="connsiteY763" fmla="*/ 1300386 h 1380309"/>
              <a:gd name="connsiteX764" fmla="*/ 1629240 w 6990240"/>
              <a:gd name="connsiteY764" fmla="*/ 1287765 h 1380309"/>
              <a:gd name="connsiteX765" fmla="*/ 1597199 w 6990240"/>
              <a:gd name="connsiteY765" fmla="*/ 1264464 h 1380309"/>
              <a:gd name="connsiteX766" fmla="*/ 1597199 w 6990240"/>
              <a:gd name="connsiteY766" fmla="*/ 1013983 h 1380309"/>
              <a:gd name="connsiteX767" fmla="*/ 1537492 w 6990240"/>
              <a:gd name="connsiteY767" fmla="*/ 1018353 h 1380309"/>
              <a:gd name="connsiteX768" fmla="*/ 1537492 w 6990240"/>
              <a:gd name="connsiteY768" fmla="*/ 1031460 h 1380309"/>
              <a:gd name="connsiteX769" fmla="*/ 1570018 w 6990240"/>
              <a:gd name="connsiteY769" fmla="*/ 1054275 h 1380309"/>
              <a:gd name="connsiteX770" fmla="*/ 1570018 w 6990240"/>
              <a:gd name="connsiteY770" fmla="*/ 1143592 h 1380309"/>
              <a:gd name="connsiteX771" fmla="*/ 1517588 w 6990240"/>
              <a:gd name="connsiteY771" fmla="*/ 1117864 h 1380309"/>
              <a:gd name="connsiteX772" fmla="*/ 1425845 w 6990240"/>
              <a:gd name="connsiteY772" fmla="*/ 1211555 h 1380309"/>
              <a:gd name="connsiteX773" fmla="*/ 1513222 w 6990240"/>
              <a:gd name="connsiteY773" fmla="*/ 1304756 h 1380309"/>
              <a:gd name="connsiteX774" fmla="*/ 1568559 w 6990240"/>
              <a:gd name="connsiteY774" fmla="*/ 1277570 h 1380309"/>
              <a:gd name="connsiteX775" fmla="*/ 1568559 w 6990240"/>
              <a:gd name="connsiteY775" fmla="*/ 1304756 h 1380309"/>
              <a:gd name="connsiteX776" fmla="*/ 1568559 w 6990240"/>
              <a:gd name="connsiteY776" fmla="*/ 1251843 h 1380309"/>
              <a:gd name="connsiteX777" fmla="*/ 1564189 w 6990240"/>
              <a:gd name="connsiteY777" fmla="*/ 1266892 h 1380309"/>
              <a:gd name="connsiteX778" fmla="*/ 1515165 w 6990240"/>
              <a:gd name="connsiteY778" fmla="*/ 1296016 h 1380309"/>
              <a:gd name="connsiteX779" fmla="*/ 1471961 w 6990240"/>
              <a:gd name="connsiteY779" fmla="*/ 1269319 h 1380309"/>
              <a:gd name="connsiteX780" fmla="*/ 1459824 w 6990240"/>
              <a:gd name="connsiteY780" fmla="*/ 1212039 h 1380309"/>
              <a:gd name="connsiteX781" fmla="*/ 1472930 w 6990240"/>
              <a:gd name="connsiteY781" fmla="*/ 1153301 h 1380309"/>
              <a:gd name="connsiteX782" fmla="*/ 1519531 w 6990240"/>
              <a:gd name="connsiteY782" fmla="*/ 1127089 h 1380309"/>
              <a:gd name="connsiteX783" fmla="*/ 1564189 w 6990240"/>
              <a:gd name="connsiteY783" fmla="*/ 1151847 h 1380309"/>
              <a:gd name="connsiteX784" fmla="*/ 1568559 w 6990240"/>
              <a:gd name="connsiteY784" fmla="*/ 1166892 h 1380309"/>
              <a:gd name="connsiteX785" fmla="*/ 1949618 w 6990240"/>
              <a:gd name="connsiteY785" fmla="*/ 1251358 h 1380309"/>
              <a:gd name="connsiteX786" fmla="*/ 1944279 w 6990240"/>
              <a:gd name="connsiteY786" fmla="*/ 1246503 h 1380309"/>
              <a:gd name="connsiteX787" fmla="*/ 1938939 w 6990240"/>
              <a:gd name="connsiteY787" fmla="*/ 1252327 h 1380309"/>
              <a:gd name="connsiteX788" fmla="*/ 1883118 w 6990240"/>
              <a:gd name="connsiteY788" fmla="*/ 1294562 h 1380309"/>
              <a:gd name="connsiteX789" fmla="*/ 1836517 w 6990240"/>
              <a:gd name="connsiteY789" fmla="*/ 1266892 h 1380309"/>
              <a:gd name="connsiteX790" fmla="*/ 1823895 w 6990240"/>
              <a:gd name="connsiteY790" fmla="*/ 1205242 h 1380309"/>
              <a:gd name="connsiteX791" fmla="*/ 1939424 w 6990240"/>
              <a:gd name="connsiteY791" fmla="*/ 1205242 h 1380309"/>
              <a:gd name="connsiteX792" fmla="*/ 1949618 w 6990240"/>
              <a:gd name="connsiteY792" fmla="*/ 1196506 h 1380309"/>
              <a:gd name="connsiteX793" fmla="*/ 1875836 w 6990240"/>
              <a:gd name="connsiteY793" fmla="*/ 1115437 h 1380309"/>
              <a:gd name="connsiteX794" fmla="*/ 1789916 w 6990240"/>
              <a:gd name="connsiteY794" fmla="*/ 1209612 h 1380309"/>
              <a:gd name="connsiteX795" fmla="*/ 1880690 w 6990240"/>
              <a:gd name="connsiteY795" fmla="*/ 1304756 h 1380309"/>
              <a:gd name="connsiteX796" fmla="*/ 1949618 w 6990240"/>
              <a:gd name="connsiteY796" fmla="*/ 1251358 h 1380309"/>
              <a:gd name="connsiteX797" fmla="*/ 1922436 w 6990240"/>
              <a:gd name="connsiteY797" fmla="*/ 1196506 h 1380309"/>
              <a:gd name="connsiteX798" fmla="*/ 1824380 w 6990240"/>
              <a:gd name="connsiteY798" fmla="*/ 1196506 h 1380309"/>
              <a:gd name="connsiteX799" fmla="*/ 1875836 w 6990240"/>
              <a:gd name="connsiteY799" fmla="*/ 1124661 h 1380309"/>
              <a:gd name="connsiteX800" fmla="*/ 1922436 w 6990240"/>
              <a:gd name="connsiteY800" fmla="*/ 1196506 h 1380309"/>
              <a:gd name="connsiteX801" fmla="*/ 2111508 w 6990240"/>
              <a:gd name="connsiteY801" fmla="*/ 1143107 h 1380309"/>
              <a:gd name="connsiteX802" fmla="*/ 2081414 w 6990240"/>
              <a:gd name="connsiteY802" fmla="*/ 1117864 h 1380309"/>
              <a:gd name="connsiteX803" fmla="*/ 2030443 w 6990240"/>
              <a:gd name="connsiteY803" fmla="*/ 1163496 h 1380309"/>
              <a:gd name="connsiteX804" fmla="*/ 2030443 w 6990240"/>
              <a:gd name="connsiteY804" fmla="*/ 1117864 h 1380309"/>
              <a:gd name="connsiteX805" fmla="*/ 1973163 w 6990240"/>
              <a:gd name="connsiteY805" fmla="*/ 1122719 h 1380309"/>
              <a:gd name="connsiteX806" fmla="*/ 1973163 w 6990240"/>
              <a:gd name="connsiteY806" fmla="*/ 1135340 h 1380309"/>
              <a:gd name="connsiteX807" fmla="*/ 2005199 w 6990240"/>
              <a:gd name="connsiteY807" fmla="*/ 1158641 h 1380309"/>
              <a:gd name="connsiteX808" fmla="*/ 2005199 w 6990240"/>
              <a:gd name="connsiteY808" fmla="*/ 1268834 h 1380309"/>
              <a:gd name="connsiteX809" fmla="*/ 1973163 w 6990240"/>
              <a:gd name="connsiteY809" fmla="*/ 1287765 h 1380309"/>
              <a:gd name="connsiteX810" fmla="*/ 1973163 w 6990240"/>
              <a:gd name="connsiteY810" fmla="*/ 1300386 h 1380309"/>
              <a:gd name="connsiteX811" fmla="*/ 2020248 w 6990240"/>
              <a:gd name="connsiteY811" fmla="*/ 1298928 h 1380309"/>
              <a:gd name="connsiteX812" fmla="*/ 2072674 w 6990240"/>
              <a:gd name="connsiteY812" fmla="*/ 1300386 h 1380309"/>
              <a:gd name="connsiteX813" fmla="*/ 2072674 w 6990240"/>
              <a:gd name="connsiteY813" fmla="*/ 1287765 h 1380309"/>
              <a:gd name="connsiteX814" fmla="*/ 2063937 w 6990240"/>
              <a:gd name="connsiteY814" fmla="*/ 1287765 h 1380309"/>
              <a:gd name="connsiteX815" fmla="*/ 2032385 w 6990240"/>
              <a:gd name="connsiteY815" fmla="*/ 1268350 h 1380309"/>
              <a:gd name="connsiteX816" fmla="*/ 2032385 w 6990240"/>
              <a:gd name="connsiteY816" fmla="*/ 1204757 h 1380309"/>
              <a:gd name="connsiteX817" fmla="*/ 2081414 w 6990240"/>
              <a:gd name="connsiteY817" fmla="*/ 1127089 h 1380309"/>
              <a:gd name="connsiteX818" fmla="*/ 2085780 w 6990240"/>
              <a:gd name="connsiteY818" fmla="*/ 1127574 h 1380309"/>
              <a:gd name="connsiteX819" fmla="*/ 2076074 w 6990240"/>
              <a:gd name="connsiteY819" fmla="*/ 1143592 h 1380309"/>
              <a:gd name="connsiteX820" fmla="*/ 2094035 w 6990240"/>
              <a:gd name="connsiteY820" fmla="*/ 1161553 h 1380309"/>
              <a:gd name="connsiteX821" fmla="*/ 2111508 w 6990240"/>
              <a:gd name="connsiteY821" fmla="*/ 1143107 h 1380309"/>
              <a:gd name="connsiteX822" fmla="*/ 2273277 w 6990240"/>
              <a:gd name="connsiteY822" fmla="*/ 1143107 h 1380309"/>
              <a:gd name="connsiteX823" fmla="*/ 2243183 w 6990240"/>
              <a:gd name="connsiteY823" fmla="*/ 1117864 h 1380309"/>
              <a:gd name="connsiteX824" fmla="*/ 2192212 w 6990240"/>
              <a:gd name="connsiteY824" fmla="*/ 1163496 h 1380309"/>
              <a:gd name="connsiteX825" fmla="*/ 2192212 w 6990240"/>
              <a:gd name="connsiteY825" fmla="*/ 1117864 h 1380309"/>
              <a:gd name="connsiteX826" fmla="*/ 2134932 w 6990240"/>
              <a:gd name="connsiteY826" fmla="*/ 1122719 h 1380309"/>
              <a:gd name="connsiteX827" fmla="*/ 2134932 w 6990240"/>
              <a:gd name="connsiteY827" fmla="*/ 1135340 h 1380309"/>
              <a:gd name="connsiteX828" fmla="*/ 2166969 w 6990240"/>
              <a:gd name="connsiteY828" fmla="*/ 1158641 h 1380309"/>
              <a:gd name="connsiteX829" fmla="*/ 2166969 w 6990240"/>
              <a:gd name="connsiteY829" fmla="*/ 1268834 h 1380309"/>
              <a:gd name="connsiteX830" fmla="*/ 2134932 w 6990240"/>
              <a:gd name="connsiteY830" fmla="*/ 1287765 h 1380309"/>
              <a:gd name="connsiteX831" fmla="*/ 2134932 w 6990240"/>
              <a:gd name="connsiteY831" fmla="*/ 1300386 h 1380309"/>
              <a:gd name="connsiteX832" fmla="*/ 2182018 w 6990240"/>
              <a:gd name="connsiteY832" fmla="*/ 1298928 h 1380309"/>
              <a:gd name="connsiteX833" fmla="*/ 2234443 w 6990240"/>
              <a:gd name="connsiteY833" fmla="*/ 1300386 h 1380309"/>
              <a:gd name="connsiteX834" fmla="*/ 2234443 w 6990240"/>
              <a:gd name="connsiteY834" fmla="*/ 1287765 h 1380309"/>
              <a:gd name="connsiteX835" fmla="*/ 2225707 w 6990240"/>
              <a:gd name="connsiteY835" fmla="*/ 1287765 h 1380309"/>
              <a:gd name="connsiteX836" fmla="*/ 2194155 w 6990240"/>
              <a:gd name="connsiteY836" fmla="*/ 1268350 h 1380309"/>
              <a:gd name="connsiteX837" fmla="*/ 2194155 w 6990240"/>
              <a:gd name="connsiteY837" fmla="*/ 1204757 h 1380309"/>
              <a:gd name="connsiteX838" fmla="*/ 2243183 w 6990240"/>
              <a:gd name="connsiteY838" fmla="*/ 1127089 h 1380309"/>
              <a:gd name="connsiteX839" fmla="*/ 2247549 w 6990240"/>
              <a:gd name="connsiteY839" fmla="*/ 1127574 h 1380309"/>
              <a:gd name="connsiteX840" fmla="*/ 2237839 w 6990240"/>
              <a:gd name="connsiteY840" fmla="*/ 1143592 h 1380309"/>
              <a:gd name="connsiteX841" fmla="*/ 2255801 w 6990240"/>
              <a:gd name="connsiteY841" fmla="*/ 1161553 h 1380309"/>
              <a:gd name="connsiteX842" fmla="*/ 2273277 w 6990240"/>
              <a:gd name="connsiteY842" fmla="*/ 1143107 h 1380309"/>
              <a:gd name="connsiteX843" fmla="*/ 2479220 w 6990240"/>
              <a:gd name="connsiteY843" fmla="*/ 1212039 h 1380309"/>
              <a:gd name="connsiteX844" fmla="*/ 2388445 w 6990240"/>
              <a:gd name="connsiteY844" fmla="*/ 1115437 h 1380309"/>
              <a:gd name="connsiteX845" fmla="*/ 2296698 w 6990240"/>
              <a:gd name="connsiteY845" fmla="*/ 1212039 h 1380309"/>
              <a:gd name="connsiteX846" fmla="*/ 2387961 w 6990240"/>
              <a:gd name="connsiteY846" fmla="*/ 1304756 h 1380309"/>
              <a:gd name="connsiteX847" fmla="*/ 2479220 w 6990240"/>
              <a:gd name="connsiteY847" fmla="*/ 1212039 h 1380309"/>
              <a:gd name="connsiteX848" fmla="*/ 2445240 w 6990240"/>
              <a:gd name="connsiteY848" fmla="*/ 1208638 h 1380309"/>
              <a:gd name="connsiteX849" fmla="*/ 2436016 w 6990240"/>
              <a:gd name="connsiteY849" fmla="*/ 1263979 h 1380309"/>
              <a:gd name="connsiteX850" fmla="*/ 2388445 w 6990240"/>
              <a:gd name="connsiteY850" fmla="*/ 1294562 h 1380309"/>
              <a:gd name="connsiteX851" fmla="*/ 2341360 w 6990240"/>
              <a:gd name="connsiteY851" fmla="*/ 1266892 h 1380309"/>
              <a:gd name="connsiteX852" fmla="*/ 2330681 w 6990240"/>
              <a:gd name="connsiteY852" fmla="*/ 1208638 h 1380309"/>
              <a:gd name="connsiteX853" fmla="*/ 2340871 w 6990240"/>
              <a:gd name="connsiteY853" fmla="*/ 1152332 h 1380309"/>
              <a:gd name="connsiteX854" fmla="*/ 2387961 w 6990240"/>
              <a:gd name="connsiteY854" fmla="*/ 1124661 h 1380309"/>
              <a:gd name="connsiteX855" fmla="*/ 2434562 w 6990240"/>
              <a:gd name="connsiteY855" fmla="*/ 1151359 h 1380309"/>
              <a:gd name="connsiteX856" fmla="*/ 2445240 w 6990240"/>
              <a:gd name="connsiteY856" fmla="*/ 1208638 h 1380309"/>
              <a:gd name="connsiteX857" fmla="*/ 2641353 w 6990240"/>
              <a:gd name="connsiteY857" fmla="*/ 1143107 h 1380309"/>
              <a:gd name="connsiteX858" fmla="*/ 2611256 w 6990240"/>
              <a:gd name="connsiteY858" fmla="*/ 1117864 h 1380309"/>
              <a:gd name="connsiteX859" fmla="*/ 2560285 w 6990240"/>
              <a:gd name="connsiteY859" fmla="*/ 1163496 h 1380309"/>
              <a:gd name="connsiteX860" fmla="*/ 2560285 w 6990240"/>
              <a:gd name="connsiteY860" fmla="*/ 1117864 h 1380309"/>
              <a:gd name="connsiteX861" fmla="*/ 2503005 w 6990240"/>
              <a:gd name="connsiteY861" fmla="*/ 1122719 h 1380309"/>
              <a:gd name="connsiteX862" fmla="*/ 2503005 w 6990240"/>
              <a:gd name="connsiteY862" fmla="*/ 1135340 h 1380309"/>
              <a:gd name="connsiteX863" fmla="*/ 2535041 w 6990240"/>
              <a:gd name="connsiteY863" fmla="*/ 1158641 h 1380309"/>
              <a:gd name="connsiteX864" fmla="*/ 2535041 w 6990240"/>
              <a:gd name="connsiteY864" fmla="*/ 1268834 h 1380309"/>
              <a:gd name="connsiteX865" fmla="*/ 2503005 w 6990240"/>
              <a:gd name="connsiteY865" fmla="*/ 1287765 h 1380309"/>
              <a:gd name="connsiteX866" fmla="*/ 2503005 w 6990240"/>
              <a:gd name="connsiteY866" fmla="*/ 1300386 h 1380309"/>
              <a:gd name="connsiteX867" fmla="*/ 2550090 w 6990240"/>
              <a:gd name="connsiteY867" fmla="*/ 1298928 h 1380309"/>
              <a:gd name="connsiteX868" fmla="*/ 2602520 w 6990240"/>
              <a:gd name="connsiteY868" fmla="*/ 1300386 h 1380309"/>
              <a:gd name="connsiteX869" fmla="*/ 2602520 w 6990240"/>
              <a:gd name="connsiteY869" fmla="*/ 1287765 h 1380309"/>
              <a:gd name="connsiteX870" fmla="*/ 2593779 w 6990240"/>
              <a:gd name="connsiteY870" fmla="*/ 1287765 h 1380309"/>
              <a:gd name="connsiteX871" fmla="*/ 2562227 w 6990240"/>
              <a:gd name="connsiteY871" fmla="*/ 1268350 h 1380309"/>
              <a:gd name="connsiteX872" fmla="*/ 2562227 w 6990240"/>
              <a:gd name="connsiteY872" fmla="*/ 1204757 h 1380309"/>
              <a:gd name="connsiteX873" fmla="*/ 2611256 w 6990240"/>
              <a:gd name="connsiteY873" fmla="*/ 1127089 h 1380309"/>
              <a:gd name="connsiteX874" fmla="*/ 2615626 w 6990240"/>
              <a:gd name="connsiteY874" fmla="*/ 1127574 h 1380309"/>
              <a:gd name="connsiteX875" fmla="*/ 2605916 w 6990240"/>
              <a:gd name="connsiteY875" fmla="*/ 1143592 h 1380309"/>
              <a:gd name="connsiteX876" fmla="*/ 2623877 w 6990240"/>
              <a:gd name="connsiteY876" fmla="*/ 1161553 h 1380309"/>
              <a:gd name="connsiteX877" fmla="*/ 2641353 w 6990240"/>
              <a:gd name="connsiteY877" fmla="*/ 1143107 h 1380309"/>
              <a:gd name="connsiteX878" fmla="*/ 2801665 w 6990240"/>
              <a:gd name="connsiteY878" fmla="*/ 1247472 h 1380309"/>
              <a:gd name="connsiteX879" fmla="*/ 2784188 w 6990240"/>
              <a:gd name="connsiteY879" fmla="*/ 1208154 h 1380309"/>
              <a:gd name="connsiteX880" fmla="*/ 2737103 w 6990240"/>
              <a:gd name="connsiteY880" fmla="*/ 1188739 h 1380309"/>
              <a:gd name="connsiteX881" fmla="*/ 2686617 w 6990240"/>
              <a:gd name="connsiteY881" fmla="*/ 1154759 h 1380309"/>
              <a:gd name="connsiteX882" fmla="*/ 2732733 w 6990240"/>
              <a:gd name="connsiteY882" fmla="*/ 1123203 h 1380309"/>
              <a:gd name="connsiteX883" fmla="*/ 2781276 w 6990240"/>
              <a:gd name="connsiteY883" fmla="*/ 1173205 h 1380309"/>
              <a:gd name="connsiteX884" fmla="*/ 2786131 w 6990240"/>
              <a:gd name="connsiteY884" fmla="*/ 1177086 h 1380309"/>
              <a:gd name="connsiteX885" fmla="*/ 2791470 w 6990240"/>
              <a:gd name="connsiteY885" fmla="*/ 1166892 h 1380309"/>
              <a:gd name="connsiteX886" fmla="*/ 2791470 w 6990240"/>
              <a:gd name="connsiteY886" fmla="*/ 1125631 h 1380309"/>
              <a:gd name="connsiteX887" fmla="*/ 2786616 w 6990240"/>
              <a:gd name="connsiteY887" fmla="*/ 1115437 h 1380309"/>
              <a:gd name="connsiteX888" fmla="*/ 2778364 w 6990240"/>
              <a:gd name="connsiteY888" fmla="*/ 1120291 h 1380309"/>
              <a:gd name="connsiteX889" fmla="*/ 2771567 w 6990240"/>
              <a:gd name="connsiteY889" fmla="*/ 1127089 h 1380309"/>
              <a:gd name="connsiteX890" fmla="*/ 2732733 w 6990240"/>
              <a:gd name="connsiteY890" fmla="*/ 1115437 h 1380309"/>
              <a:gd name="connsiteX891" fmla="*/ 2666717 w 6990240"/>
              <a:gd name="connsiteY891" fmla="*/ 1166408 h 1380309"/>
              <a:gd name="connsiteX892" fmla="*/ 2684678 w 6990240"/>
              <a:gd name="connsiteY892" fmla="*/ 1201360 h 1380309"/>
              <a:gd name="connsiteX893" fmla="*/ 2739046 w 6990240"/>
              <a:gd name="connsiteY893" fmla="*/ 1220291 h 1380309"/>
              <a:gd name="connsiteX894" fmla="*/ 2781761 w 6990240"/>
              <a:gd name="connsiteY894" fmla="*/ 1258155 h 1380309"/>
              <a:gd name="connsiteX895" fmla="*/ 2735160 w 6990240"/>
              <a:gd name="connsiteY895" fmla="*/ 1296016 h 1380309"/>
              <a:gd name="connsiteX896" fmla="*/ 2677880 w 6990240"/>
              <a:gd name="connsiteY896" fmla="*/ 1237282 h 1380309"/>
              <a:gd name="connsiteX897" fmla="*/ 2672056 w 6990240"/>
              <a:gd name="connsiteY897" fmla="*/ 1230000 h 1380309"/>
              <a:gd name="connsiteX898" fmla="*/ 2666717 w 6990240"/>
              <a:gd name="connsiteY898" fmla="*/ 1240679 h 1380309"/>
              <a:gd name="connsiteX899" fmla="*/ 2666717 w 6990240"/>
              <a:gd name="connsiteY899" fmla="*/ 1295047 h 1380309"/>
              <a:gd name="connsiteX900" fmla="*/ 2671083 w 6990240"/>
              <a:gd name="connsiteY900" fmla="*/ 1304756 h 1380309"/>
              <a:gd name="connsiteX901" fmla="*/ 2681762 w 6990240"/>
              <a:gd name="connsiteY901" fmla="*/ 1296501 h 1380309"/>
              <a:gd name="connsiteX902" fmla="*/ 2690017 w 6990240"/>
              <a:gd name="connsiteY902" fmla="*/ 1287280 h 1380309"/>
              <a:gd name="connsiteX903" fmla="*/ 2735160 w 6990240"/>
              <a:gd name="connsiteY903" fmla="*/ 1304756 h 1380309"/>
              <a:gd name="connsiteX904" fmla="*/ 2801665 w 6990240"/>
              <a:gd name="connsiteY904" fmla="*/ 1247472 h 1380309"/>
              <a:gd name="connsiteX905" fmla="*/ 3152626 w 6990240"/>
              <a:gd name="connsiteY905" fmla="*/ 1263495 h 1380309"/>
              <a:gd name="connsiteX906" fmla="*/ 3152626 w 6990240"/>
              <a:gd name="connsiteY906" fmla="*/ 1240679 h 1380309"/>
              <a:gd name="connsiteX907" fmla="*/ 3141946 w 6990240"/>
              <a:gd name="connsiteY907" fmla="*/ 1240679 h 1380309"/>
              <a:gd name="connsiteX908" fmla="*/ 3141946 w 6990240"/>
              <a:gd name="connsiteY908" fmla="*/ 1263495 h 1380309"/>
              <a:gd name="connsiteX909" fmla="*/ 3127387 w 6990240"/>
              <a:gd name="connsiteY909" fmla="*/ 1290192 h 1380309"/>
              <a:gd name="connsiteX910" fmla="*/ 3111853 w 6990240"/>
              <a:gd name="connsiteY910" fmla="*/ 1269319 h 1380309"/>
              <a:gd name="connsiteX911" fmla="*/ 3111853 w 6990240"/>
              <a:gd name="connsiteY911" fmla="*/ 1186796 h 1380309"/>
              <a:gd name="connsiteX912" fmla="*/ 3097289 w 6990240"/>
              <a:gd name="connsiteY912" fmla="*/ 1138252 h 1380309"/>
              <a:gd name="connsiteX913" fmla="*/ 3040493 w 6990240"/>
              <a:gd name="connsiteY913" fmla="*/ 1115437 h 1380309"/>
              <a:gd name="connsiteX914" fmla="*/ 2978359 w 6990240"/>
              <a:gd name="connsiteY914" fmla="*/ 1162037 h 1380309"/>
              <a:gd name="connsiteX915" fmla="*/ 2997289 w 6990240"/>
              <a:gd name="connsiteY915" fmla="*/ 1181457 h 1380309"/>
              <a:gd name="connsiteX916" fmla="*/ 3016224 w 6990240"/>
              <a:gd name="connsiteY916" fmla="*/ 1162526 h 1380309"/>
              <a:gd name="connsiteX917" fmla="*/ 2995351 w 6990240"/>
              <a:gd name="connsiteY917" fmla="*/ 1143592 h 1380309"/>
              <a:gd name="connsiteX918" fmla="*/ 3040009 w 6990240"/>
              <a:gd name="connsiteY918" fmla="*/ 1124661 h 1380309"/>
              <a:gd name="connsiteX919" fmla="*/ 3083698 w 6990240"/>
              <a:gd name="connsiteY919" fmla="*/ 1177571 h 1380309"/>
              <a:gd name="connsiteX920" fmla="*/ 3083698 w 6990240"/>
              <a:gd name="connsiteY920" fmla="*/ 1192620 h 1380309"/>
              <a:gd name="connsiteX921" fmla="*/ 3007483 w 6990240"/>
              <a:gd name="connsiteY921" fmla="*/ 1207669 h 1380309"/>
              <a:gd name="connsiteX922" fmla="*/ 2966222 w 6990240"/>
              <a:gd name="connsiteY922" fmla="*/ 1261067 h 1380309"/>
              <a:gd name="connsiteX923" fmla="*/ 3032242 w 6990240"/>
              <a:gd name="connsiteY923" fmla="*/ 1304756 h 1380309"/>
              <a:gd name="connsiteX924" fmla="*/ 3086609 w 6990240"/>
              <a:gd name="connsiteY924" fmla="*/ 1268834 h 1380309"/>
              <a:gd name="connsiteX925" fmla="*/ 3118646 w 6990240"/>
              <a:gd name="connsiteY925" fmla="*/ 1302814 h 1380309"/>
              <a:gd name="connsiteX926" fmla="*/ 3152626 w 6990240"/>
              <a:gd name="connsiteY926" fmla="*/ 1263495 h 1380309"/>
              <a:gd name="connsiteX927" fmla="*/ 3083698 w 6990240"/>
              <a:gd name="connsiteY927" fmla="*/ 1242622 h 1380309"/>
              <a:gd name="connsiteX928" fmla="*/ 3035154 w 6990240"/>
              <a:gd name="connsiteY928" fmla="*/ 1296016 h 1380309"/>
              <a:gd name="connsiteX929" fmla="*/ 2998263 w 6990240"/>
              <a:gd name="connsiteY929" fmla="*/ 1260583 h 1380309"/>
              <a:gd name="connsiteX930" fmla="*/ 3083698 w 6990240"/>
              <a:gd name="connsiteY930" fmla="*/ 1201360 h 1380309"/>
              <a:gd name="connsiteX931" fmla="*/ 3309540 w 6990240"/>
              <a:gd name="connsiteY931" fmla="*/ 1143107 h 1380309"/>
              <a:gd name="connsiteX932" fmla="*/ 3279446 w 6990240"/>
              <a:gd name="connsiteY932" fmla="*/ 1117864 h 1380309"/>
              <a:gd name="connsiteX933" fmla="*/ 3228475 w 6990240"/>
              <a:gd name="connsiteY933" fmla="*/ 1163496 h 1380309"/>
              <a:gd name="connsiteX934" fmla="*/ 3228475 w 6990240"/>
              <a:gd name="connsiteY934" fmla="*/ 1117864 h 1380309"/>
              <a:gd name="connsiteX935" fmla="*/ 3171195 w 6990240"/>
              <a:gd name="connsiteY935" fmla="*/ 1122719 h 1380309"/>
              <a:gd name="connsiteX936" fmla="*/ 3171195 w 6990240"/>
              <a:gd name="connsiteY936" fmla="*/ 1135340 h 1380309"/>
              <a:gd name="connsiteX937" fmla="*/ 3203232 w 6990240"/>
              <a:gd name="connsiteY937" fmla="*/ 1158641 h 1380309"/>
              <a:gd name="connsiteX938" fmla="*/ 3203232 w 6990240"/>
              <a:gd name="connsiteY938" fmla="*/ 1268834 h 1380309"/>
              <a:gd name="connsiteX939" fmla="*/ 3171195 w 6990240"/>
              <a:gd name="connsiteY939" fmla="*/ 1287765 h 1380309"/>
              <a:gd name="connsiteX940" fmla="*/ 3171195 w 6990240"/>
              <a:gd name="connsiteY940" fmla="*/ 1300386 h 1380309"/>
              <a:gd name="connsiteX941" fmla="*/ 3218281 w 6990240"/>
              <a:gd name="connsiteY941" fmla="*/ 1298928 h 1380309"/>
              <a:gd name="connsiteX942" fmla="*/ 3270706 w 6990240"/>
              <a:gd name="connsiteY942" fmla="*/ 1300386 h 1380309"/>
              <a:gd name="connsiteX943" fmla="*/ 3270706 w 6990240"/>
              <a:gd name="connsiteY943" fmla="*/ 1287765 h 1380309"/>
              <a:gd name="connsiteX944" fmla="*/ 3261970 w 6990240"/>
              <a:gd name="connsiteY944" fmla="*/ 1287765 h 1380309"/>
              <a:gd name="connsiteX945" fmla="*/ 3230418 w 6990240"/>
              <a:gd name="connsiteY945" fmla="*/ 1268350 h 1380309"/>
              <a:gd name="connsiteX946" fmla="*/ 3230418 w 6990240"/>
              <a:gd name="connsiteY946" fmla="*/ 1204757 h 1380309"/>
              <a:gd name="connsiteX947" fmla="*/ 3279446 w 6990240"/>
              <a:gd name="connsiteY947" fmla="*/ 1127089 h 1380309"/>
              <a:gd name="connsiteX948" fmla="*/ 3283812 w 6990240"/>
              <a:gd name="connsiteY948" fmla="*/ 1127574 h 1380309"/>
              <a:gd name="connsiteX949" fmla="*/ 3274103 w 6990240"/>
              <a:gd name="connsiteY949" fmla="*/ 1143592 h 1380309"/>
              <a:gd name="connsiteX950" fmla="*/ 3292064 w 6990240"/>
              <a:gd name="connsiteY950" fmla="*/ 1161553 h 1380309"/>
              <a:gd name="connsiteX951" fmla="*/ 3309540 w 6990240"/>
              <a:gd name="connsiteY951" fmla="*/ 1143107 h 1380309"/>
              <a:gd name="connsiteX952" fmla="*/ 3492667 w 6990240"/>
              <a:gd name="connsiteY952" fmla="*/ 1251358 h 1380309"/>
              <a:gd name="connsiteX953" fmla="*/ 3487328 w 6990240"/>
              <a:gd name="connsiteY953" fmla="*/ 1246503 h 1380309"/>
              <a:gd name="connsiteX954" fmla="*/ 3481988 w 6990240"/>
              <a:gd name="connsiteY954" fmla="*/ 1252327 h 1380309"/>
              <a:gd name="connsiteX955" fmla="*/ 3426162 w 6990240"/>
              <a:gd name="connsiteY955" fmla="*/ 1294562 h 1380309"/>
              <a:gd name="connsiteX956" fmla="*/ 3379562 w 6990240"/>
              <a:gd name="connsiteY956" fmla="*/ 1266892 h 1380309"/>
              <a:gd name="connsiteX957" fmla="*/ 3366944 w 6990240"/>
              <a:gd name="connsiteY957" fmla="*/ 1205242 h 1380309"/>
              <a:gd name="connsiteX958" fmla="*/ 3482473 w 6990240"/>
              <a:gd name="connsiteY958" fmla="*/ 1205242 h 1380309"/>
              <a:gd name="connsiteX959" fmla="*/ 3492667 w 6990240"/>
              <a:gd name="connsiteY959" fmla="*/ 1196506 h 1380309"/>
              <a:gd name="connsiteX960" fmla="*/ 3418884 w 6990240"/>
              <a:gd name="connsiteY960" fmla="*/ 1115437 h 1380309"/>
              <a:gd name="connsiteX961" fmla="*/ 3332961 w 6990240"/>
              <a:gd name="connsiteY961" fmla="*/ 1209612 h 1380309"/>
              <a:gd name="connsiteX962" fmla="*/ 3423739 w 6990240"/>
              <a:gd name="connsiteY962" fmla="*/ 1304756 h 1380309"/>
              <a:gd name="connsiteX963" fmla="*/ 3492667 w 6990240"/>
              <a:gd name="connsiteY963" fmla="*/ 1251358 h 1380309"/>
              <a:gd name="connsiteX964" fmla="*/ 3465485 w 6990240"/>
              <a:gd name="connsiteY964" fmla="*/ 1196506 h 1380309"/>
              <a:gd name="connsiteX965" fmla="*/ 3367429 w 6990240"/>
              <a:gd name="connsiteY965" fmla="*/ 1196506 h 1380309"/>
              <a:gd name="connsiteX966" fmla="*/ 3418884 w 6990240"/>
              <a:gd name="connsiteY966" fmla="*/ 1124661 h 1380309"/>
              <a:gd name="connsiteX967" fmla="*/ 3465485 w 6990240"/>
              <a:gd name="connsiteY967" fmla="*/ 1196506 h 1380309"/>
              <a:gd name="connsiteX968" fmla="*/ 3743877 w 6990240"/>
              <a:gd name="connsiteY968" fmla="*/ 1300386 h 1380309"/>
              <a:gd name="connsiteX969" fmla="*/ 3743877 w 6990240"/>
              <a:gd name="connsiteY969" fmla="*/ 1287765 h 1380309"/>
              <a:gd name="connsiteX970" fmla="*/ 3714748 w 6990240"/>
              <a:gd name="connsiteY970" fmla="*/ 1269319 h 1380309"/>
              <a:gd name="connsiteX971" fmla="*/ 3714748 w 6990240"/>
              <a:gd name="connsiteY971" fmla="*/ 1117864 h 1380309"/>
              <a:gd name="connsiteX972" fmla="*/ 3656984 w 6990240"/>
              <a:gd name="connsiteY972" fmla="*/ 1122719 h 1380309"/>
              <a:gd name="connsiteX973" fmla="*/ 3656984 w 6990240"/>
              <a:gd name="connsiteY973" fmla="*/ 1135340 h 1380309"/>
              <a:gd name="connsiteX974" fmla="*/ 3687567 w 6990240"/>
              <a:gd name="connsiteY974" fmla="*/ 1158156 h 1380309"/>
              <a:gd name="connsiteX975" fmla="*/ 3687567 w 6990240"/>
              <a:gd name="connsiteY975" fmla="*/ 1268834 h 1380309"/>
              <a:gd name="connsiteX976" fmla="*/ 3655530 w 6990240"/>
              <a:gd name="connsiteY976" fmla="*/ 1287765 h 1380309"/>
              <a:gd name="connsiteX977" fmla="*/ 3655530 w 6990240"/>
              <a:gd name="connsiteY977" fmla="*/ 1300386 h 1380309"/>
              <a:gd name="connsiteX978" fmla="*/ 3701157 w 6990240"/>
              <a:gd name="connsiteY978" fmla="*/ 1298928 h 1380309"/>
              <a:gd name="connsiteX979" fmla="*/ 3743877 w 6990240"/>
              <a:gd name="connsiteY979" fmla="*/ 1300386 h 1380309"/>
              <a:gd name="connsiteX980" fmla="*/ 3721061 w 6990240"/>
              <a:gd name="connsiteY980" fmla="*/ 1051363 h 1380309"/>
              <a:gd name="connsiteX981" fmla="*/ 3699215 w 6990240"/>
              <a:gd name="connsiteY981" fmla="*/ 1029517 h 1380309"/>
              <a:gd name="connsiteX982" fmla="*/ 3676887 w 6990240"/>
              <a:gd name="connsiteY982" fmla="*/ 1051363 h 1380309"/>
              <a:gd name="connsiteX983" fmla="*/ 3698730 w 6990240"/>
              <a:gd name="connsiteY983" fmla="*/ 1073206 h 1380309"/>
              <a:gd name="connsiteX984" fmla="*/ 3721061 w 6990240"/>
              <a:gd name="connsiteY984" fmla="*/ 1051363 h 1380309"/>
              <a:gd name="connsiteX985" fmla="*/ 3977486 w 6990240"/>
              <a:gd name="connsiteY985" fmla="*/ 1300386 h 1380309"/>
              <a:gd name="connsiteX986" fmla="*/ 3977486 w 6990240"/>
              <a:gd name="connsiteY986" fmla="*/ 1287765 h 1380309"/>
              <a:gd name="connsiteX987" fmla="*/ 3944965 w 6990240"/>
              <a:gd name="connsiteY987" fmla="*/ 1275143 h 1380309"/>
              <a:gd name="connsiteX988" fmla="*/ 3944965 w 6990240"/>
              <a:gd name="connsiteY988" fmla="*/ 1196506 h 1380309"/>
              <a:gd name="connsiteX989" fmla="*/ 3932343 w 6990240"/>
              <a:gd name="connsiteY989" fmla="*/ 1133398 h 1380309"/>
              <a:gd name="connsiteX990" fmla="*/ 3889139 w 6990240"/>
              <a:gd name="connsiteY990" fmla="*/ 1117864 h 1380309"/>
              <a:gd name="connsiteX991" fmla="*/ 3827974 w 6990240"/>
              <a:gd name="connsiteY991" fmla="*/ 1161553 h 1380309"/>
              <a:gd name="connsiteX992" fmla="*/ 3827974 w 6990240"/>
              <a:gd name="connsiteY992" fmla="*/ 1117864 h 1380309"/>
              <a:gd name="connsiteX993" fmla="*/ 3769725 w 6990240"/>
              <a:gd name="connsiteY993" fmla="*/ 1122719 h 1380309"/>
              <a:gd name="connsiteX994" fmla="*/ 3769725 w 6990240"/>
              <a:gd name="connsiteY994" fmla="*/ 1135340 h 1380309"/>
              <a:gd name="connsiteX995" fmla="*/ 3802246 w 6990240"/>
              <a:gd name="connsiteY995" fmla="*/ 1158641 h 1380309"/>
              <a:gd name="connsiteX996" fmla="*/ 3802246 w 6990240"/>
              <a:gd name="connsiteY996" fmla="*/ 1268834 h 1380309"/>
              <a:gd name="connsiteX997" fmla="*/ 3769725 w 6990240"/>
              <a:gd name="connsiteY997" fmla="*/ 1287765 h 1380309"/>
              <a:gd name="connsiteX998" fmla="*/ 3769725 w 6990240"/>
              <a:gd name="connsiteY998" fmla="*/ 1300386 h 1380309"/>
              <a:gd name="connsiteX999" fmla="*/ 3816326 w 6990240"/>
              <a:gd name="connsiteY999" fmla="*/ 1298928 h 1380309"/>
              <a:gd name="connsiteX1000" fmla="*/ 3862442 w 6990240"/>
              <a:gd name="connsiteY1000" fmla="*/ 1300386 h 1380309"/>
              <a:gd name="connsiteX1001" fmla="*/ 3862442 w 6990240"/>
              <a:gd name="connsiteY1001" fmla="*/ 1287765 h 1380309"/>
              <a:gd name="connsiteX1002" fmla="*/ 3830401 w 6990240"/>
              <a:gd name="connsiteY1002" fmla="*/ 1268834 h 1380309"/>
              <a:gd name="connsiteX1003" fmla="*/ 3830401 w 6990240"/>
              <a:gd name="connsiteY1003" fmla="*/ 1193105 h 1380309"/>
              <a:gd name="connsiteX1004" fmla="*/ 3886227 w 6990240"/>
              <a:gd name="connsiteY1004" fmla="*/ 1127089 h 1380309"/>
              <a:gd name="connsiteX1005" fmla="*/ 3916810 w 6990240"/>
              <a:gd name="connsiteY1005" fmla="*/ 1172720 h 1380309"/>
              <a:gd name="connsiteX1006" fmla="*/ 3916810 w 6990240"/>
              <a:gd name="connsiteY1006" fmla="*/ 1268834 h 1380309"/>
              <a:gd name="connsiteX1007" fmla="*/ 3884769 w 6990240"/>
              <a:gd name="connsiteY1007" fmla="*/ 1287765 h 1380309"/>
              <a:gd name="connsiteX1008" fmla="*/ 3884769 w 6990240"/>
              <a:gd name="connsiteY1008" fmla="*/ 1300386 h 1380309"/>
              <a:gd name="connsiteX1009" fmla="*/ 3931370 w 6990240"/>
              <a:gd name="connsiteY1009" fmla="*/ 1298928 h 1380309"/>
              <a:gd name="connsiteX1010" fmla="*/ 4338529 w 6990240"/>
              <a:gd name="connsiteY1010" fmla="*/ 1211066 h 1380309"/>
              <a:gd name="connsiteX1011" fmla="*/ 4252121 w 6990240"/>
              <a:gd name="connsiteY1011" fmla="*/ 1117864 h 1380309"/>
              <a:gd name="connsiteX1012" fmla="*/ 4194336 w 6990240"/>
              <a:gd name="connsiteY1012" fmla="*/ 1145050 h 1380309"/>
              <a:gd name="connsiteX1013" fmla="*/ 4194336 w 6990240"/>
              <a:gd name="connsiteY1013" fmla="*/ 1117864 h 1380309"/>
              <a:gd name="connsiteX1014" fmla="*/ 4135142 w 6990240"/>
              <a:gd name="connsiteY1014" fmla="*/ 1122719 h 1380309"/>
              <a:gd name="connsiteX1015" fmla="*/ 4135142 w 6990240"/>
              <a:gd name="connsiteY1015" fmla="*/ 1135340 h 1380309"/>
              <a:gd name="connsiteX1016" fmla="*/ 4167162 w 6990240"/>
              <a:gd name="connsiteY1016" fmla="*/ 1155729 h 1380309"/>
              <a:gd name="connsiteX1017" fmla="*/ 4167162 w 6990240"/>
              <a:gd name="connsiteY1017" fmla="*/ 1348930 h 1380309"/>
              <a:gd name="connsiteX1018" fmla="*/ 4135142 w 6990240"/>
              <a:gd name="connsiteY1018" fmla="*/ 1367860 h 1380309"/>
              <a:gd name="connsiteX1019" fmla="*/ 4135142 w 6990240"/>
              <a:gd name="connsiteY1019" fmla="*/ 1380482 h 1380309"/>
              <a:gd name="connsiteX1020" fmla="*/ 4181246 w 6990240"/>
              <a:gd name="connsiteY1020" fmla="*/ 1379024 h 1380309"/>
              <a:gd name="connsiteX1021" fmla="*/ 4227847 w 6990240"/>
              <a:gd name="connsiteY1021" fmla="*/ 1380482 h 1380309"/>
              <a:gd name="connsiteX1022" fmla="*/ 4227847 w 6990240"/>
              <a:gd name="connsiteY1022" fmla="*/ 1367860 h 1380309"/>
              <a:gd name="connsiteX1023" fmla="*/ 4195827 w 6990240"/>
              <a:gd name="connsiteY1023" fmla="*/ 1348930 h 1380309"/>
              <a:gd name="connsiteX1024" fmla="*/ 4195827 w 6990240"/>
              <a:gd name="connsiteY1024" fmla="*/ 1276116 h 1380309"/>
              <a:gd name="connsiteX1025" fmla="*/ 4246280 w 6990240"/>
              <a:gd name="connsiteY1025" fmla="*/ 1304756 h 1380309"/>
              <a:gd name="connsiteX1026" fmla="*/ 4338529 w 6990240"/>
              <a:gd name="connsiteY1026" fmla="*/ 1211066 h 1380309"/>
              <a:gd name="connsiteX1027" fmla="*/ 4304065 w 6990240"/>
              <a:gd name="connsiteY1027" fmla="*/ 1211066 h 1380309"/>
              <a:gd name="connsiteX1028" fmla="*/ 4244830 w 6990240"/>
              <a:gd name="connsiteY1028" fmla="*/ 1296016 h 1380309"/>
              <a:gd name="connsiteX1029" fmla="*/ 4201626 w 6990240"/>
              <a:gd name="connsiteY1029" fmla="*/ 1270773 h 1380309"/>
              <a:gd name="connsiteX1030" fmla="*/ 4195827 w 6990240"/>
              <a:gd name="connsiteY1030" fmla="*/ 1253301 h 1380309"/>
              <a:gd name="connsiteX1031" fmla="*/ 4195827 w 6990240"/>
              <a:gd name="connsiteY1031" fmla="*/ 1161553 h 1380309"/>
              <a:gd name="connsiteX1032" fmla="*/ 4248724 w 6990240"/>
              <a:gd name="connsiteY1032" fmla="*/ 1128547 h 1380309"/>
              <a:gd name="connsiteX1033" fmla="*/ 4304065 w 6990240"/>
              <a:gd name="connsiteY1033" fmla="*/ 1211066 h 1380309"/>
              <a:gd name="connsiteX1034" fmla="*/ 4552479 w 6990240"/>
              <a:gd name="connsiteY1034" fmla="*/ 1263495 h 1380309"/>
              <a:gd name="connsiteX1035" fmla="*/ 4552479 w 6990240"/>
              <a:gd name="connsiteY1035" fmla="*/ 1240679 h 1380309"/>
              <a:gd name="connsiteX1036" fmla="*/ 4541792 w 6990240"/>
              <a:gd name="connsiteY1036" fmla="*/ 1240679 h 1380309"/>
              <a:gd name="connsiteX1037" fmla="*/ 4541792 w 6990240"/>
              <a:gd name="connsiteY1037" fmla="*/ 1263495 h 1380309"/>
              <a:gd name="connsiteX1038" fmla="*/ 4527252 w 6990240"/>
              <a:gd name="connsiteY1038" fmla="*/ 1290192 h 1380309"/>
              <a:gd name="connsiteX1039" fmla="*/ 4511719 w 6990240"/>
              <a:gd name="connsiteY1039" fmla="*/ 1269319 h 1380309"/>
              <a:gd name="connsiteX1040" fmla="*/ 4511719 w 6990240"/>
              <a:gd name="connsiteY1040" fmla="*/ 1186796 h 1380309"/>
              <a:gd name="connsiteX1041" fmla="*/ 4497138 w 6990240"/>
              <a:gd name="connsiteY1041" fmla="*/ 1138252 h 1380309"/>
              <a:gd name="connsiteX1042" fmla="*/ 4440347 w 6990240"/>
              <a:gd name="connsiteY1042" fmla="*/ 1115437 h 1380309"/>
              <a:gd name="connsiteX1043" fmla="*/ 4378212 w 6990240"/>
              <a:gd name="connsiteY1043" fmla="*/ 1162037 h 1380309"/>
              <a:gd name="connsiteX1044" fmla="*/ 4397143 w 6990240"/>
              <a:gd name="connsiteY1044" fmla="*/ 1181457 h 1380309"/>
              <a:gd name="connsiteX1045" fmla="*/ 4416073 w 6990240"/>
              <a:gd name="connsiteY1045" fmla="*/ 1162526 h 1380309"/>
              <a:gd name="connsiteX1046" fmla="*/ 4395196 w 6990240"/>
              <a:gd name="connsiteY1046" fmla="*/ 1143592 h 1380309"/>
              <a:gd name="connsiteX1047" fmla="*/ 4439850 w 6990240"/>
              <a:gd name="connsiteY1047" fmla="*/ 1124661 h 1380309"/>
              <a:gd name="connsiteX1048" fmla="*/ 4483551 w 6990240"/>
              <a:gd name="connsiteY1048" fmla="*/ 1177571 h 1380309"/>
              <a:gd name="connsiteX1049" fmla="*/ 4483551 w 6990240"/>
              <a:gd name="connsiteY1049" fmla="*/ 1192620 h 1380309"/>
              <a:gd name="connsiteX1050" fmla="*/ 4407333 w 6990240"/>
              <a:gd name="connsiteY1050" fmla="*/ 1207669 h 1380309"/>
              <a:gd name="connsiteX1051" fmla="*/ 4366076 w 6990240"/>
              <a:gd name="connsiteY1051" fmla="*/ 1261067 h 1380309"/>
              <a:gd name="connsiteX1052" fmla="*/ 4432104 w 6990240"/>
              <a:gd name="connsiteY1052" fmla="*/ 1304756 h 1380309"/>
              <a:gd name="connsiteX1053" fmla="*/ 4486451 w 6990240"/>
              <a:gd name="connsiteY1053" fmla="*/ 1268834 h 1380309"/>
              <a:gd name="connsiteX1054" fmla="*/ 4518512 w 6990240"/>
              <a:gd name="connsiteY1054" fmla="*/ 1302814 h 1380309"/>
              <a:gd name="connsiteX1055" fmla="*/ 4552479 w 6990240"/>
              <a:gd name="connsiteY1055" fmla="*/ 1263495 h 1380309"/>
              <a:gd name="connsiteX1056" fmla="*/ 4483551 w 6990240"/>
              <a:gd name="connsiteY1056" fmla="*/ 1242622 h 1380309"/>
              <a:gd name="connsiteX1057" fmla="*/ 4435004 w 6990240"/>
              <a:gd name="connsiteY1057" fmla="*/ 1296016 h 1380309"/>
              <a:gd name="connsiteX1058" fmla="*/ 4398096 w 6990240"/>
              <a:gd name="connsiteY1058" fmla="*/ 1260583 h 1380309"/>
              <a:gd name="connsiteX1059" fmla="*/ 4483551 w 6990240"/>
              <a:gd name="connsiteY1059" fmla="*/ 1201360 h 1380309"/>
              <a:gd name="connsiteX1060" fmla="*/ 4709265 w 6990240"/>
              <a:gd name="connsiteY1060" fmla="*/ 1143107 h 1380309"/>
              <a:gd name="connsiteX1061" fmla="*/ 4679151 w 6990240"/>
              <a:gd name="connsiteY1061" fmla="*/ 1117864 h 1380309"/>
              <a:gd name="connsiteX1062" fmla="*/ 4628201 w 6990240"/>
              <a:gd name="connsiteY1062" fmla="*/ 1163496 h 1380309"/>
              <a:gd name="connsiteX1063" fmla="*/ 4628201 w 6990240"/>
              <a:gd name="connsiteY1063" fmla="*/ 1117864 h 1380309"/>
              <a:gd name="connsiteX1064" fmla="*/ 4570912 w 6990240"/>
              <a:gd name="connsiteY1064" fmla="*/ 1122719 h 1380309"/>
              <a:gd name="connsiteX1065" fmla="*/ 4570912 w 6990240"/>
              <a:gd name="connsiteY1065" fmla="*/ 1135340 h 1380309"/>
              <a:gd name="connsiteX1066" fmla="*/ 4602974 w 6990240"/>
              <a:gd name="connsiteY1066" fmla="*/ 1158641 h 1380309"/>
              <a:gd name="connsiteX1067" fmla="*/ 4602974 w 6990240"/>
              <a:gd name="connsiteY1067" fmla="*/ 1268834 h 1380309"/>
              <a:gd name="connsiteX1068" fmla="*/ 4570912 w 6990240"/>
              <a:gd name="connsiteY1068" fmla="*/ 1287765 h 1380309"/>
              <a:gd name="connsiteX1069" fmla="*/ 4570912 w 6990240"/>
              <a:gd name="connsiteY1069" fmla="*/ 1300386 h 1380309"/>
              <a:gd name="connsiteX1070" fmla="*/ 4618010 w 6990240"/>
              <a:gd name="connsiteY1070" fmla="*/ 1298928 h 1380309"/>
              <a:gd name="connsiteX1071" fmla="*/ 4670452 w 6990240"/>
              <a:gd name="connsiteY1071" fmla="*/ 1300386 h 1380309"/>
              <a:gd name="connsiteX1072" fmla="*/ 4670452 w 6990240"/>
              <a:gd name="connsiteY1072" fmla="*/ 1287765 h 1380309"/>
              <a:gd name="connsiteX1073" fmla="*/ 4661712 w 6990240"/>
              <a:gd name="connsiteY1073" fmla="*/ 1287765 h 1380309"/>
              <a:gd name="connsiteX1074" fmla="*/ 4630147 w 6990240"/>
              <a:gd name="connsiteY1074" fmla="*/ 1268350 h 1380309"/>
              <a:gd name="connsiteX1075" fmla="*/ 4630147 w 6990240"/>
              <a:gd name="connsiteY1075" fmla="*/ 1204757 h 1380309"/>
              <a:gd name="connsiteX1076" fmla="*/ 4679151 w 6990240"/>
              <a:gd name="connsiteY1076" fmla="*/ 1127089 h 1380309"/>
              <a:gd name="connsiteX1077" fmla="*/ 4683542 w 6990240"/>
              <a:gd name="connsiteY1077" fmla="*/ 1127574 h 1380309"/>
              <a:gd name="connsiteX1078" fmla="*/ 4673849 w 6990240"/>
              <a:gd name="connsiteY1078" fmla="*/ 1143592 h 1380309"/>
              <a:gd name="connsiteX1079" fmla="*/ 4691785 w 6990240"/>
              <a:gd name="connsiteY1079" fmla="*/ 1161553 h 1380309"/>
              <a:gd name="connsiteX1080" fmla="*/ 4709265 w 6990240"/>
              <a:gd name="connsiteY1080" fmla="*/ 1143107 h 1380309"/>
              <a:gd name="connsiteX1081" fmla="*/ 4892396 w 6990240"/>
              <a:gd name="connsiteY1081" fmla="*/ 1251358 h 1380309"/>
              <a:gd name="connsiteX1082" fmla="*/ 4887053 w 6990240"/>
              <a:gd name="connsiteY1082" fmla="*/ 1246503 h 1380309"/>
              <a:gd name="connsiteX1083" fmla="*/ 4881709 w 6990240"/>
              <a:gd name="connsiteY1083" fmla="*/ 1252327 h 1380309"/>
              <a:gd name="connsiteX1084" fmla="*/ 4825871 w 6990240"/>
              <a:gd name="connsiteY1084" fmla="*/ 1294562 h 1380309"/>
              <a:gd name="connsiteX1085" fmla="*/ 4779270 w 6990240"/>
              <a:gd name="connsiteY1085" fmla="*/ 1266892 h 1380309"/>
              <a:gd name="connsiteX1086" fmla="*/ 4766677 w 6990240"/>
              <a:gd name="connsiteY1086" fmla="*/ 1205242 h 1380309"/>
              <a:gd name="connsiteX1087" fmla="*/ 4882206 w 6990240"/>
              <a:gd name="connsiteY1087" fmla="*/ 1205242 h 1380309"/>
              <a:gd name="connsiteX1088" fmla="*/ 4892396 w 6990240"/>
              <a:gd name="connsiteY1088" fmla="*/ 1196506 h 1380309"/>
              <a:gd name="connsiteX1089" fmla="*/ 4818622 w 6990240"/>
              <a:gd name="connsiteY1089" fmla="*/ 1115437 h 1380309"/>
              <a:gd name="connsiteX1090" fmla="*/ 4732669 w 6990240"/>
              <a:gd name="connsiteY1090" fmla="*/ 1209612 h 1380309"/>
              <a:gd name="connsiteX1091" fmla="*/ 4823469 w 6990240"/>
              <a:gd name="connsiteY1091" fmla="*/ 1304756 h 1380309"/>
              <a:gd name="connsiteX1092" fmla="*/ 4892396 w 6990240"/>
              <a:gd name="connsiteY1092" fmla="*/ 1251358 h 1380309"/>
              <a:gd name="connsiteX1093" fmla="*/ 4865223 w 6990240"/>
              <a:gd name="connsiteY1093" fmla="*/ 1196506 h 1380309"/>
              <a:gd name="connsiteX1094" fmla="*/ 4767133 w 6990240"/>
              <a:gd name="connsiteY1094" fmla="*/ 1196506 h 1380309"/>
              <a:gd name="connsiteX1095" fmla="*/ 4818622 w 6990240"/>
              <a:gd name="connsiteY1095" fmla="*/ 1124661 h 1380309"/>
              <a:gd name="connsiteX1096" fmla="*/ 4865223 w 6990240"/>
              <a:gd name="connsiteY1096" fmla="*/ 1196506 h 1380309"/>
              <a:gd name="connsiteX1097" fmla="*/ 5125152 w 6990240"/>
              <a:gd name="connsiteY1097" fmla="*/ 1300386 h 1380309"/>
              <a:gd name="connsiteX1098" fmla="*/ 5125152 w 6990240"/>
              <a:gd name="connsiteY1098" fmla="*/ 1287765 h 1380309"/>
              <a:gd name="connsiteX1099" fmla="*/ 5092635 w 6990240"/>
              <a:gd name="connsiteY1099" fmla="*/ 1275143 h 1380309"/>
              <a:gd name="connsiteX1100" fmla="*/ 5092635 w 6990240"/>
              <a:gd name="connsiteY1100" fmla="*/ 1196506 h 1380309"/>
              <a:gd name="connsiteX1101" fmla="*/ 5080001 w 6990240"/>
              <a:gd name="connsiteY1101" fmla="*/ 1133398 h 1380309"/>
              <a:gd name="connsiteX1102" fmla="*/ 5036797 w 6990240"/>
              <a:gd name="connsiteY1102" fmla="*/ 1117864 h 1380309"/>
              <a:gd name="connsiteX1103" fmla="*/ 4975657 w 6990240"/>
              <a:gd name="connsiteY1103" fmla="*/ 1161553 h 1380309"/>
              <a:gd name="connsiteX1104" fmla="*/ 4975657 w 6990240"/>
              <a:gd name="connsiteY1104" fmla="*/ 1117864 h 1380309"/>
              <a:gd name="connsiteX1105" fmla="*/ 4917374 w 6990240"/>
              <a:gd name="connsiteY1105" fmla="*/ 1122719 h 1380309"/>
              <a:gd name="connsiteX1106" fmla="*/ 4917374 w 6990240"/>
              <a:gd name="connsiteY1106" fmla="*/ 1135340 h 1380309"/>
              <a:gd name="connsiteX1107" fmla="*/ 4949933 w 6990240"/>
              <a:gd name="connsiteY1107" fmla="*/ 1158641 h 1380309"/>
              <a:gd name="connsiteX1108" fmla="*/ 4949933 w 6990240"/>
              <a:gd name="connsiteY1108" fmla="*/ 1268834 h 1380309"/>
              <a:gd name="connsiteX1109" fmla="*/ 4917374 w 6990240"/>
              <a:gd name="connsiteY1109" fmla="*/ 1287765 h 1380309"/>
              <a:gd name="connsiteX1110" fmla="*/ 4917374 w 6990240"/>
              <a:gd name="connsiteY1110" fmla="*/ 1300386 h 1380309"/>
              <a:gd name="connsiteX1111" fmla="*/ 4963975 w 6990240"/>
              <a:gd name="connsiteY1111" fmla="*/ 1298928 h 1380309"/>
              <a:gd name="connsiteX1112" fmla="*/ 5010120 w 6990240"/>
              <a:gd name="connsiteY1112" fmla="*/ 1300386 h 1380309"/>
              <a:gd name="connsiteX1113" fmla="*/ 5010120 w 6990240"/>
              <a:gd name="connsiteY1113" fmla="*/ 1287765 h 1380309"/>
              <a:gd name="connsiteX1114" fmla="*/ 4978059 w 6990240"/>
              <a:gd name="connsiteY1114" fmla="*/ 1268834 h 1380309"/>
              <a:gd name="connsiteX1115" fmla="*/ 4978059 w 6990240"/>
              <a:gd name="connsiteY1115" fmla="*/ 1193105 h 1380309"/>
              <a:gd name="connsiteX1116" fmla="*/ 5033898 w 6990240"/>
              <a:gd name="connsiteY1116" fmla="*/ 1127089 h 1380309"/>
              <a:gd name="connsiteX1117" fmla="*/ 5064468 w 6990240"/>
              <a:gd name="connsiteY1117" fmla="*/ 1172720 h 1380309"/>
              <a:gd name="connsiteX1118" fmla="*/ 5064468 w 6990240"/>
              <a:gd name="connsiteY1118" fmla="*/ 1268834 h 1380309"/>
              <a:gd name="connsiteX1119" fmla="*/ 5032448 w 6990240"/>
              <a:gd name="connsiteY1119" fmla="*/ 1287765 h 1380309"/>
              <a:gd name="connsiteX1120" fmla="*/ 5032448 w 6990240"/>
              <a:gd name="connsiteY1120" fmla="*/ 1300386 h 1380309"/>
              <a:gd name="connsiteX1121" fmla="*/ 5079048 w 6990240"/>
              <a:gd name="connsiteY1121" fmla="*/ 1298928 h 1380309"/>
              <a:gd name="connsiteX1122" fmla="*/ 5259487 w 6990240"/>
              <a:gd name="connsiteY1122" fmla="*/ 1249415 h 1380309"/>
              <a:gd name="connsiteX1123" fmla="*/ 5259487 w 6990240"/>
              <a:gd name="connsiteY1123" fmla="*/ 1225630 h 1380309"/>
              <a:gd name="connsiteX1124" fmla="*/ 5249297 w 6990240"/>
              <a:gd name="connsiteY1124" fmla="*/ 1225630 h 1380309"/>
              <a:gd name="connsiteX1125" fmla="*/ 5249297 w 6990240"/>
              <a:gd name="connsiteY1125" fmla="*/ 1248446 h 1380309"/>
              <a:gd name="connsiteX1126" fmla="*/ 5221627 w 6990240"/>
              <a:gd name="connsiteY1126" fmla="*/ 1294562 h 1380309"/>
              <a:gd name="connsiteX1127" fmla="*/ 5193956 w 6990240"/>
              <a:gd name="connsiteY1127" fmla="*/ 1249900 h 1380309"/>
              <a:gd name="connsiteX1128" fmla="*/ 5193956 w 6990240"/>
              <a:gd name="connsiteY1128" fmla="*/ 1135340 h 1380309"/>
              <a:gd name="connsiteX1129" fmla="*/ 5253191 w 6990240"/>
              <a:gd name="connsiteY1129" fmla="*/ 1135340 h 1380309"/>
              <a:gd name="connsiteX1130" fmla="*/ 5253191 w 6990240"/>
              <a:gd name="connsiteY1130" fmla="*/ 1122719 h 1380309"/>
              <a:gd name="connsiteX1131" fmla="*/ 5193956 w 6990240"/>
              <a:gd name="connsiteY1131" fmla="*/ 1122719 h 1380309"/>
              <a:gd name="connsiteX1132" fmla="*/ 5193956 w 6990240"/>
              <a:gd name="connsiteY1132" fmla="*/ 1046509 h 1380309"/>
              <a:gd name="connsiteX1133" fmla="*/ 5183766 w 6990240"/>
              <a:gd name="connsiteY1133" fmla="*/ 1046509 h 1380309"/>
              <a:gd name="connsiteX1134" fmla="*/ 5130372 w 6990240"/>
              <a:gd name="connsiteY1134" fmla="*/ 1126120 h 1380309"/>
              <a:gd name="connsiteX1135" fmla="*/ 5130372 w 6990240"/>
              <a:gd name="connsiteY1135" fmla="*/ 1135340 h 1380309"/>
              <a:gd name="connsiteX1136" fmla="*/ 5165333 w 6990240"/>
              <a:gd name="connsiteY1136" fmla="*/ 1135340 h 1380309"/>
              <a:gd name="connsiteX1137" fmla="*/ 5165333 w 6990240"/>
              <a:gd name="connsiteY1137" fmla="*/ 1249415 h 1380309"/>
              <a:gd name="connsiteX1138" fmla="*/ 5218727 w 6990240"/>
              <a:gd name="connsiteY1138" fmla="*/ 1304756 h 1380309"/>
              <a:gd name="connsiteX1139" fmla="*/ 5259487 w 6990240"/>
              <a:gd name="connsiteY1139" fmla="*/ 1249415 h 1380309"/>
              <a:gd name="connsiteX1140" fmla="*/ 5504049 w 6990240"/>
              <a:gd name="connsiteY1140" fmla="*/ 1300386 h 1380309"/>
              <a:gd name="connsiteX1141" fmla="*/ 5504049 w 6990240"/>
              <a:gd name="connsiteY1141" fmla="*/ 1287765 h 1380309"/>
              <a:gd name="connsiteX1142" fmla="*/ 5471490 w 6990240"/>
              <a:gd name="connsiteY1142" fmla="*/ 1275143 h 1380309"/>
              <a:gd name="connsiteX1143" fmla="*/ 5471490 w 6990240"/>
              <a:gd name="connsiteY1143" fmla="*/ 1196506 h 1380309"/>
              <a:gd name="connsiteX1144" fmla="*/ 5458898 w 6990240"/>
              <a:gd name="connsiteY1144" fmla="*/ 1133398 h 1380309"/>
              <a:gd name="connsiteX1145" fmla="*/ 5415694 w 6990240"/>
              <a:gd name="connsiteY1145" fmla="*/ 1117864 h 1380309"/>
              <a:gd name="connsiteX1146" fmla="*/ 5355962 w 6990240"/>
              <a:gd name="connsiteY1146" fmla="*/ 1157671 h 1380309"/>
              <a:gd name="connsiteX1147" fmla="*/ 5355962 w 6990240"/>
              <a:gd name="connsiteY1147" fmla="*/ 1013983 h 1380309"/>
              <a:gd name="connsiteX1148" fmla="*/ 5296271 w 6990240"/>
              <a:gd name="connsiteY1148" fmla="*/ 1018353 h 1380309"/>
              <a:gd name="connsiteX1149" fmla="*/ 5296271 w 6990240"/>
              <a:gd name="connsiteY1149" fmla="*/ 1031460 h 1380309"/>
              <a:gd name="connsiteX1150" fmla="*/ 5328788 w 6990240"/>
              <a:gd name="connsiteY1150" fmla="*/ 1054275 h 1380309"/>
              <a:gd name="connsiteX1151" fmla="*/ 5328788 w 6990240"/>
              <a:gd name="connsiteY1151" fmla="*/ 1268834 h 1380309"/>
              <a:gd name="connsiteX1152" fmla="*/ 5296271 w 6990240"/>
              <a:gd name="connsiteY1152" fmla="*/ 1287765 h 1380309"/>
              <a:gd name="connsiteX1153" fmla="*/ 5296271 w 6990240"/>
              <a:gd name="connsiteY1153" fmla="*/ 1300386 h 1380309"/>
              <a:gd name="connsiteX1154" fmla="*/ 5342871 w 6990240"/>
              <a:gd name="connsiteY1154" fmla="*/ 1298928 h 1380309"/>
              <a:gd name="connsiteX1155" fmla="*/ 5388976 w 6990240"/>
              <a:gd name="connsiteY1155" fmla="*/ 1300386 h 1380309"/>
              <a:gd name="connsiteX1156" fmla="*/ 5388976 w 6990240"/>
              <a:gd name="connsiteY1156" fmla="*/ 1287765 h 1380309"/>
              <a:gd name="connsiteX1157" fmla="*/ 5356956 w 6990240"/>
              <a:gd name="connsiteY1157" fmla="*/ 1268834 h 1380309"/>
              <a:gd name="connsiteX1158" fmla="*/ 5356956 w 6990240"/>
              <a:gd name="connsiteY1158" fmla="*/ 1193105 h 1380309"/>
              <a:gd name="connsiteX1159" fmla="*/ 5412753 w 6990240"/>
              <a:gd name="connsiteY1159" fmla="*/ 1127089 h 1380309"/>
              <a:gd name="connsiteX1160" fmla="*/ 5443364 w 6990240"/>
              <a:gd name="connsiteY1160" fmla="*/ 1172720 h 1380309"/>
              <a:gd name="connsiteX1161" fmla="*/ 5443364 w 6990240"/>
              <a:gd name="connsiteY1161" fmla="*/ 1268834 h 1380309"/>
              <a:gd name="connsiteX1162" fmla="*/ 5411303 w 6990240"/>
              <a:gd name="connsiteY1162" fmla="*/ 1287765 h 1380309"/>
              <a:gd name="connsiteX1163" fmla="*/ 5411303 w 6990240"/>
              <a:gd name="connsiteY1163" fmla="*/ 1300386 h 1380309"/>
              <a:gd name="connsiteX1164" fmla="*/ 5457904 w 6990240"/>
              <a:gd name="connsiteY1164" fmla="*/ 1298928 h 1380309"/>
              <a:gd name="connsiteX1165" fmla="*/ 5683990 w 6990240"/>
              <a:gd name="connsiteY1165" fmla="*/ 1251358 h 1380309"/>
              <a:gd name="connsiteX1166" fmla="*/ 5678647 w 6990240"/>
              <a:gd name="connsiteY1166" fmla="*/ 1246503 h 1380309"/>
              <a:gd name="connsiteX1167" fmla="*/ 5673303 w 6990240"/>
              <a:gd name="connsiteY1167" fmla="*/ 1252327 h 1380309"/>
              <a:gd name="connsiteX1168" fmla="*/ 5617506 w 6990240"/>
              <a:gd name="connsiteY1168" fmla="*/ 1294562 h 1380309"/>
              <a:gd name="connsiteX1169" fmla="*/ 5570905 w 6990240"/>
              <a:gd name="connsiteY1169" fmla="*/ 1266892 h 1380309"/>
              <a:gd name="connsiteX1170" fmla="*/ 5558272 w 6990240"/>
              <a:gd name="connsiteY1170" fmla="*/ 1205242 h 1380309"/>
              <a:gd name="connsiteX1171" fmla="*/ 5673801 w 6990240"/>
              <a:gd name="connsiteY1171" fmla="*/ 1205242 h 1380309"/>
              <a:gd name="connsiteX1172" fmla="*/ 5683990 w 6990240"/>
              <a:gd name="connsiteY1172" fmla="*/ 1196506 h 1380309"/>
              <a:gd name="connsiteX1173" fmla="*/ 5610216 w 6990240"/>
              <a:gd name="connsiteY1173" fmla="*/ 1115437 h 1380309"/>
              <a:gd name="connsiteX1174" fmla="*/ 5524304 w 6990240"/>
              <a:gd name="connsiteY1174" fmla="*/ 1209612 h 1380309"/>
              <a:gd name="connsiteX1175" fmla="*/ 5615062 w 6990240"/>
              <a:gd name="connsiteY1175" fmla="*/ 1304756 h 1380309"/>
              <a:gd name="connsiteX1176" fmla="*/ 5683990 w 6990240"/>
              <a:gd name="connsiteY1176" fmla="*/ 1251358 h 1380309"/>
              <a:gd name="connsiteX1177" fmla="*/ 5656817 w 6990240"/>
              <a:gd name="connsiteY1177" fmla="*/ 1196506 h 1380309"/>
              <a:gd name="connsiteX1178" fmla="*/ 5558768 w 6990240"/>
              <a:gd name="connsiteY1178" fmla="*/ 1196506 h 1380309"/>
              <a:gd name="connsiteX1179" fmla="*/ 5610216 w 6990240"/>
              <a:gd name="connsiteY1179" fmla="*/ 1124661 h 1380309"/>
              <a:gd name="connsiteX1180" fmla="*/ 5656817 w 6990240"/>
              <a:gd name="connsiteY1180" fmla="*/ 1196506 h 1380309"/>
              <a:gd name="connsiteX1181" fmla="*/ 5844298 w 6990240"/>
              <a:gd name="connsiteY1181" fmla="*/ 1247472 h 1380309"/>
              <a:gd name="connsiteX1182" fmla="*/ 5826858 w 6990240"/>
              <a:gd name="connsiteY1182" fmla="*/ 1208154 h 1380309"/>
              <a:gd name="connsiteX1183" fmla="*/ 5779761 w 6990240"/>
              <a:gd name="connsiteY1183" fmla="*/ 1188739 h 1380309"/>
              <a:gd name="connsiteX1184" fmla="*/ 5729265 w 6990240"/>
              <a:gd name="connsiteY1184" fmla="*/ 1154759 h 1380309"/>
              <a:gd name="connsiteX1185" fmla="*/ 5775370 w 6990240"/>
              <a:gd name="connsiteY1185" fmla="*/ 1123203 h 1380309"/>
              <a:gd name="connsiteX1186" fmla="*/ 5823917 w 6990240"/>
              <a:gd name="connsiteY1186" fmla="*/ 1173205 h 1380309"/>
              <a:gd name="connsiteX1187" fmla="*/ 5828764 w 6990240"/>
              <a:gd name="connsiteY1187" fmla="*/ 1177086 h 1380309"/>
              <a:gd name="connsiteX1188" fmla="*/ 5834107 w 6990240"/>
              <a:gd name="connsiteY1188" fmla="*/ 1166892 h 1380309"/>
              <a:gd name="connsiteX1189" fmla="*/ 5834107 w 6990240"/>
              <a:gd name="connsiteY1189" fmla="*/ 1125631 h 1380309"/>
              <a:gd name="connsiteX1190" fmla="*/ 5829261 w 6990240"/>
              <a:gd name="connsiteY1190" fmla="*/ 1115437 h 1380309"/>
              <a:gd name="connsiteX1191" fmla="*/ 5821017 w 6990240"/>
              <a:gd name="connsiteY1191" fmla="*/ 1120291 h 1380309"/>
              <a:gd name="connsiteX1192" fmla="*/ 5814225 w 6990240"/>
              <a:gd name="connsiteY1192" fmla="*/ 1127089 h 1380309"/>
              <a:gd name="connsiteX1193" fmla="*/ 5775370 w 6990240"/>
              <a:gd name="connsiteY1193" fmla="*/ 1115437 h 1380309"/>
              <a:gd name="connsiteX1194" fmla="*/ 5709383 w 6990240"/>
              <a:gd name="connsiteY1194" fmla="*/ 1166408 h 1380309"/>
              <a:gd name="connsiteX1195" fmla="*/ 5727319 w 6990240"/>
              <a:gd name="connsiteY1195" fmla="*/ 1201360 h 1380309"/>
              <a:gd name="connsiteX1196" fmla="*/ 5781707 w 6990240"/>
              <a:gd name="connsiteY1196" fmla="*/ 1220291 h 1380309"/>
              <a:gd name="connsiteX1197" fmla="*/ 5824414 w 6990240"/>
              <a:gd name="connsiteY1197" fmla="*/ 1258155 h 1380309"/>
              <a:gd name="connsiteX1198" fmla="*/ 5777813 w 6990240"/>
              <a:gd name="connsiteY1198" fmla="*/ 1296016 h 1380309"/>
              <a:gd name="connsiteX1199" fmla="*/ 5720525 w 6990240"/>
              <a:gd name="connsiteY1199" fmla="*/ 1237282 h 1380309"/>
              <a:gd name="connsiteX1200" fmla="*/ 5714685 w 6990240"/>
              <a:gd name="connsiteY1200" fmla="*/ 1230000 h 1380309"/>
              <a:gd name="connsiteX1201" fmla="*/ 5709383 w 6990240"/>
              <a:gd name="connsiteY1201" fmla="*/ 1240679 h 1380309"/>
              <a:gd name="connsiteX1202" fmla="*/ 5709383 w 6990240"/>
              <a:gd name="connsiteY1202" fmla="*/ 1295047 h 1380309"/>
              <a:gd name="connsiteX1203" fmla="*/ 5713732 w 6990240"/>
              <a:gd name="connsiteY1203" fmla="*/ 1304756 h 1380309"/>
              <a:gd name="connsiteX1204" fmla="*/ 5724419 w 6990240"/>
              <a:gd name="connsiteY1204" fmla="*/ 1296501 h 1380309"/>
              <a:gd name="connsiteX1205" fmla="*/ 5732662 w 6990240"/>
              <a:gd name="connsiteY1205" fmla="*/ 1287280 h 1380309"/>
              <a:gd name="connsiteX1206" fmla="*/ 5777813 w 6990240"/>
              <a:gd name="connsiteY1206" fmla="*/ 1304756 h 1380309"/>
              <a:gd name="connsiteX1207" fmla="*/ 5844298 w 6990240"/>
              <a:gd name="connsiteY1207" fmla="*/ 1247472 h 1380309"/>
              <a:gd name="connsiteX1208" fmla="*/ 5960323 w 6990240"/>
              <a:gd name="connsiteY1208" fmla="*/ 1300386 h 1380309"/>
              <a:gd name="connsiteX1209" fmla="*/ 5960323 w 6990240"/>
              <a:gd name="connsiteY1209" fmla="*/ 1287765 h 1380309"/>
              <a:gd name="connsiteX1210" fmla="*/ 5931203 w 6990240"/>
              <a:gd name="connsiteY1210" fmla="*/ 1269319 h 1380309"/>
              <a:gd name="connsiteX1211" fmla="*/ 5931203 w 6990240"/>
              <a:gd name="connsiteY1211" fmla="*/ 1117864 h 1380309"/>
              <a:gd name="connsiteX1212" fmla="*/ 5873459 w 6990240"/>
              <a:gd name="connsiteY1212" fmla="*/ 1122719 h 1380309"/>
              <a:gd name="connsiteX1213" fmla="*/ 5873459 w 6990240"/>
              <a:gd name="connsiteY1213" fmla="*/ 1135340 h 1380309"/>
              <a:gd name="connsiteX1214" fmla="*/ 5904030 w 6990240"/>
              <a:gd name="connsiteY1214" fmla="*/ 1158156 h 1380309"/>
              <a:gd name="connsiteX1215" fmla="*/ 5904030 w 6990240"/>
              <a:gd name="connsiteY1215" fmla="*/ 1268834 h 1380309"/>
              <a:gd name="connsiteX1216" fmla="*/ 5871968 w 6990240"/>
              <a:gd name="connsiteY1216" fmla="*/ 1287765 h 1380309"/>
              <a:gd name="connsiteX1217" fmla="*/ 5871968 w 6990240"/>
              <a:gd name="connsiteY1217" fmla="*/ 1300386 h 1380309"/>
              <a:gd name="connsiteX1218" fmla="*/ 5917616 w 6990240"/>
              <a:gd name="connsiteY1218" fmla="*/ 1298928 h 1380309"/>
              <a:gd name="connsiteX1219" fmla="*/ 5960323 w 6990240"/>
              <a:gd name="connsiteY1219" fmla="*/ 1300386 h 1380309"/>
              <a:gd name="connsiteX1220" fmla="*/ 5937499 w 6990240"/>
              <a:gd name="connsiteY1220" fmla="*/ 1051363 h 1380309"/>
              <a:gd name="connsiteX1221" fmla="*/ 5915669 w 6990240"/>
              <a:gd name="connsiteY1221" fmla="*/ 1029517 h 1380309"/>
              <a:gd name="connsiteX1222" fmla="*/ 5893342 w 6990240"/>
              <a:gd name="connsiteY1222" fmla="*/ 1051363 h 1380309"/>
              <a:gd name="connsiteX1223" fmla="*/ 5915172 w 6990240"/>
              <a:gd name="connsiteY1223" fmla="*/ 1073206 h 1380309"/>
              <a:gd name="connsiteX1224" fmla="*/ 5937499 w 6990240"/>
              <a:gd name="connsiteY1224" fmla="*/ 1051363 h 1380309"/>
              <a:gd name="connsiteX1225" fmla="*/ 6121749 w 6990240"/>
              <a:gd name="connsiteY1225" fmla="*/ 1247472 h 1380309"/>
              <a:gd name="connsiteX1226" fmla="*/ 6104268 w 6990240"/>
              <a:gd name="connsiteY1226" fmla="*/ 1208154 h 1380309"/>
              <a:gd name="connsiteX1227" fmla="*/ 6057170 w 6990240"/>
              <a:gd name="connsiteY1227" fmla="*/ 1188739 h 1380309"/>
              <a:gd name="connsiteX1228" fmla="*/ 6006676 w 6990240"/>
              <a:gd name="connsiteY1228" fmla="*/ 1154759 h 1380309"/>
              <a:gd name="connsiteX1229" fmla="*/ 6052821 w 6990240"/>
              <a:gd name="connsiteY1229" fmla="*/ 1123203 h 1380309"/>
              <a:gd name="connsiteX1230" fmla="*/ 6101327 w 6990240"/>
              <a:gd name="connsiteY1230" fmla="*/ 1173205 h 1380309"/>
              <a:gd name="connsiteX1231" fmla="*/ 6106215 w 6990240"/>
              <a:gd name="connsiteY1231" fmla="*/ 1177086 h 1380309"/>
              <a:gd name="connsiteX1232" fmla="*/ 6111559 w 6990240"/>
              <a:gd name="connsiteY1232" fmla="*/ 1166892 h 1380309"/>
              <a:gd name="connsiteX1233" fmla="*/ 6111559 w 6990240"/>
              <a:gd name="connsiteY1233" fmla="*/ 1125631 h 1380309"/>
              <a:gd name="connsiteX1234" fmla="*/ 6106671 w 6990240"/>
              <a:gd name="connsiteY1234" fmla="*/ 1115437 h 1380309"/>
              <a:gd name="connsiteX1235" fmla="*/ 6098428 w 6990240"/>
              <a:gd name="connsiteY1235" fmla="*/ 1120291 h 1380309"/>
              <a:gd name="connsiteX1236" fmla="*/ 6091634 w 6990240"/>
              <a:gd name="connsiteY1236" fmla="*/ 1127089 h 1380309"/>
              <a:gd name="connsiteX1237" fmla="*/ 6052821 w 6990240"/>
              <a:gd name="connsiteY1237" fmla="*/ 1115437 h 1380309"/>
              <a:gd name="connsiteX1238" fmla="*/ 5986793 w 6990240"/>
              <a:gd name="connsiteY1238" fmla="*/ 1166408 h 1380309"/>
              <a:gd name="connsiteX1239" fmla="*/ 6004729 w 6990240"/>
              <a:gd name="connsiteY1239" fmla="*/ 1201360 h 1380309"/>
              <a:gd name="connsiteX1240" fmla="*/ 6059117 w 6990240"/>
              <a:gd name="connsiteY1240" fmla="*/ 1220291 h 1380309"/>
              <a:gd name="connsiteX1241" fmla="*/ 6101824 w 6990240"/>
              <a:gd name="connsiteY1241" fmla="*/ 1258155 h 1380309"/>
              <a:gd name="connsiteX1242" fmla="*/ 6055223 w 6990240"/>
              <a:gd name="connsiteY1242" fmla="*/ 1296016 h 1380309"/>
              <a:gd name="connsiteX1243" fmla="*/ 5997936 w 6990240"/>
              <a:gd name="connsiteY1243" fmla="*/ 1237282 h 1380309"/>
              <a:gd name="connsiteX1244" fmla="*/ 5992136 w 6990240"/>
              <a:gd name="connsiteY1244" fmla="*/ 1230000 h 1380309"/>
              <a:gd name="connsiteX1245" fmla="*/ 5986793 w 6990240"/>
              <a:gd name="connsiteY1245" fmla="*/ 1240679 h 1380309"/>
              <a:gd name="connsiteX1246" fmla="*/ 5986793 w 6990240"/>
              <a:gd name="connsiteY1246" fmla="*/ 1295047 h 1380309"/>
              <a:gd name="connsiteX1247" fmla="*/ 5991142 w 6990240"/>
              <a:gd name="connsiteY1247" fmla="*/ 1304756 h 1380309"/>
              <a:gd name="connsiteX1248" fmla="*/ 6001829 w 6990240"/>
              <a:gd name="connsiteY1248" fmla="*/ 1296501 h 1380309"/>
              <a:gd name="connsiteX1249" fmla="*/ 6010072 w 6990240"/>
              <a:gd name="connsiteY1249" fmla="*/ 1287280 h 1380309"/>
              <a:gd name="connsiteX1250" fmla="*/ 6055223 w 6990240"/>
              <a:gd name="connsiteY1250" fmla="*/ 1304756 h 1380309"/>
              <a:gd name="connsiteX1251" fmla="*/ 6121749 w 6990240"/>
              <a:gd name="connsiteY1251" fmla="*/ 1247472 h 138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Lst>
            <a:rect l="l" t="t" r="r" b="b"/>
            <a:pathLst>
              <a:path w="6990240" h="1380309">
                <a:moveTo>
                  <a:pt x="286065" y="206478"/>
                </a:moveTo>
                <a:cubicBezTo>
                  <a:pt x="286065" y="198226"/>
                  <a:pt x="278298" y="198226"/>
                  <a:pt x="272473" y="198226"/>
                </a:cubicBezTo>
                <a:lnTo>
                  <a:pt x="157427" y="198226"/>
                </a:lnTo>
                <a:lnTo>
                  <a:pt x="157427" y="82694"/>
                </a:lnTo>
                <a:cubicBezTo>
                  <a:pt x="157427" y="77355"/>
                  <a:pt x="157427" y="69103"/>
                  <a:pt x="149174" y="69103"/>
                </a:cubicBezTo>
                <a:cubicBezTo>
                  <a:pt x="140923" y="69103"/>
                  <a:pt x="140923" y="77355"/>
                  <a:pt x="140923" y="82694"/>
                </a:cubicBezTo>
                <a:lnTo>
                  <a:pt x="140923" y="198226"/>
                </a:lnTo>
                <a:lnTo>
                  <a:pt x="25391" y="198226"/>
                </a:lnTo>
                <a:cubicBezTo>
                  <a:pt x="19566" y="198226"/>
                  <a:pt x="11799" y="198226"/>
                  <a:pt x="11799" y="206478"/>
                </a:cubicBezTo>
                <a:cubicBezTo>
                  <a:pt x="11799" y="214730"/>
                  <a:pt x="19566" y="214730"/>
                  <a:pt x="25391" y="214730"/>
                </a:cubicBezTo>
                <a:lnTo>
                  <a:pt x="140923" y="214730"/>
                </a:lnTo>
                <a:lnTo>
                  <a:pt x="140923" y="330747"/>
                </a:lnTo>
                <a:cubicBezTo>
                  <a:pt x="140923" y="336087"/>
                  <a:pt x="140923" y="344339"/>
                  <a:pt x="149174" y="344339"/>
                </a:cubicBezTo>
                <a:cubicBezTo>
                  <a:pt x="157427" y="344339"/>
                  <a:pt x="157427" y="336087"/>
                  <a:pt x="157427" y="330747"/>
                </a:cubicBezTo>
                <a:lnTo>
                  <a:pt x="157427" y="214730"/>
                </a:lnTo>
                <a:lnTo>
                  <a:pt x="272473" y="214730"/>
                </a:lnTo>
                <a:cubicBezTo>
                  <a:pt x="278298" y="214730"/>
                  <a:pt x="286065" y="214730"/>
                  <a:pt x="286065" y="206478"/>
                </a:cubicBezTo>
                <a:close/>
                <a:moveTo>
                  <a:pt x="646736" y="220556"/>
                </a:moveTo>
                <a:cubicBezTo>
                  <a:pt x="646736" y="168129"/>
                  <a:pt x="606448" y="127354"/>
                  <a:pt x="560331" y="127354"/>
                </a:cubicBezTo>
                <a:cubicBezTo>
                  <a:pt x="528291" y="127354"/>
                  <a:pt x="510819" y="145800"/>
                  <a:pt x="502563" y="154538"/>
                </a:cubicBezTo>
                <a:lnTo>
                  <a:pt x="502563" y="127354"/>
                </a:lnTo>
                <a:lnTo>
                  <a:pt x="443345" y="132208"/>
                </a:lnTo>
                <a:lnTo>
                  <a:pt x="443345" y="144829"/>
                </a:lnTo>
                <a:cubicBezTo>
                  <a:pt x="472469" y="144829"/>
                  <a:pt x="475381" y="147256"/>
                  <a:pt x="475381" y="165217"/>
                </a:cubicBezTo>
                <a:lnTo>
                  <a:pt x="475381" y="358416"/>
                </a:lnTo>
                <a:cubicBezTo>
                  <a:pt x="475381" y="377348"/>
                  <a:pt x="471011" y="377348"/>
                  <a:pt x="443345" y="377348"/>
                </a:cubicBezTo>
                <a:lnTo>
                  <a:pt x="443345" y="389969"/>
                </a:lnTo>
                <a:lnTo>
                  <a:pt x="489457" y="388513"/>
                </a:lnTo>
                <a:lnTo>
                  <a:pt x="536058" y="389969"/>
                </a:lnTo>
                <a:lnTo>
                  <a:pt x="536058" y="377348"/>
                </a:lnTo>
                <a:cubicBezTo>
                  <a:pt x="508391" y="377348"/>
                  <a:pt x="504021" y="377348"/>
                  <a:pt x="504021" y="358416"/>
                </a:cubicBezTo>
                <a:lnTo>
                  <a:pt x="504021" y="285603"/>
                </a:lnTo>
                <a:cubicBezTo>
                  <a:pt x="505964" y="291913"/>
                  <a:pt x="523436" y="314243"/>
                  <a:pt x="554503" y="314243"/>
                </a:cubicBezTo>
                <a:cubicBezTo>
                  <a:pt x="603532" y="314243"/>
                  <a:pt x="646736" y="273952"/>
                  <a:pt x="646736" y="220556"/>
                </a:cubicBezTo>
                <a:close/>
                <a:moveTo>
                  <a:pt x="612272" y="220556"/>
                </a:moveTo>
                <a:cubicBezTo>
                  <a:pt x="612272" y="270554"/>
                  <a:pt x="583632" y="305505"/>
                  <a:pt x="553049" y="305505"/>
                </a:cubicBezTo>
                <a:cubicBezTo>
                  <a:pt x="536546" y="305505"/>
                  <a:pt x="521013" y="297253"/>
                  <a:pt x="509845" y="280263"/>
                </a:cubicBezTo>
                <a:cubicBezTo>
                  <a:pt x="504021" y="271525"/>
                  <a:pt x="504021" y="271040"/>
                  <a:pt x="504021" y="262788"/>
                </a:cubicBezTo>
                <a:lnTo>
                  <a:pt x="504021" y="171042"/>
                </a:lnTo>
                <a:cubicBezTo>
                  <a:pt x="515669" y="149683"/>
                  <a:pt x="536058" y="138033"/>
                  <a:pt x="556931" y="138033"/>
                </a:cubicBezTo>
                <a:cubicBezTo>
                  <a:pt x="587029" y="138033"/>
                  <a:pt x="612272" y="173955"/>
                  <a:pt x="612272" y="220556"/>
                </a:cubicBezTo>
                <a:close/>
                <a:moveTo>
                  <a:pt x="1070514" y="318126"/>
                </a:moveTo>
                <a:cubicBezTo>
                  <a:pt x="1070514" y="313757"/>
                  <a:pt x="1067602" y="311330"/>
                  <a:pt x="1062747" y="308903"/>
                </a:cubicBezTo>
                <a:lnTo>
                  <a:pt x="846246" y="206478"/>
                </a:lnTo>
                <a:lnTo>
                  <a:pt x="1062747" y="104539"/>
                </a:lnTo>
                <a:cubicBezTo>
                  <a:pt x="1067602" y="102111"/>
                  <a:pt x="1070514" y="99684"/>
                  <a:pt x="1070514" y="95315"/>
                </a:cubicBezTo>
                <a:cubicBezTo>
                  <a:pt x="1070514" y="90947"/>
                  <a:pt x="1066628" y="87063"/>
                  <a:pt x="1062263" y="87063"/>
                </a:cubicBezTo>
                <a:cubicBezTo>
                  <a:pt x="1060804" y="87063"/>
                  <a:pt x="1060320" y="87063"/>
                  <a:pt x="1054980" y="89976"/>
                </a:cubicBezTo>
                <a:lnTo>
                  <a:pt x="826346" y="197741"/>
                </a:lnTo>
                <a:cubicBezTo>
                  <a:pt x="821491" y="199682"/>
                  <a:pt x="818579" y="201624"/>
                  <a:pt x="818579" y="206478"/>
                </a:cubicBezTo>
                <a:cubicBezTo>
                  <a:pt x="818579" y="211818"/>
                  <a:pt x="821491" y="213760"/>
                  <a:pt x="826346" y="215701"/>
                </a:cubicBezTo>
                <a:lnTo>
                  <a:pt x="1054980" y="323466"/>
                </a:lnTo>
                <a:cubicBezTo>
                  <a:pt x="1060320" y="326378"/>
                  <a:pt x="1060804" y="326378"/>
                  <a:pt x="1062263" y="326378"/>
                </a:cubicBezTo>
                <a:cubicBezTo>
                  <a:pt x="1066628" y="326378"/>
                  <a:pt x="1070514" y="322495"/>
                  <a:pt x="1070514" y="318126"/>
                </a:cubicBezTo>
                <a:close/>
                <a:moveTo>
                  <a:pt x="1417473" y="177838"/>
                </a:moveTo>
                <a:cubicBezTo>
                  <a:pt x="1417473" y="144829"/>
                  <a:pt x="1415530" y="111820"/>
                  <a:pt x="1400966" y="81238"/>
                </a:cubicBezTo>
                <a:cubicBezTo>
                  <a:pt x="1382036" y="41433"/>
                  <a:pt x="1348056" y="35123"/>
                  <a:pt x="1331065" y="35123"/>
                </a:cubicBezTo>
                <a:cubicBezTo>
                  <a:pt x="1306310" y="35123"/>
                  <a:pt x="1275728" y="45802"/>
                  <a:pt x="1259221" y="84151"/>
                </a:cubicBezTo>
                <a:cubicBezTo>
                  <a:pt x="1245630" y="112791"/>
                  <a:pt x="1243687" y="144829"/>
                  <a:pt x="1243687" y="177838"/>
                </a:cubicBezTo>
                <a:cubicBezTo>
                  <a:pt x="1243687" y="208905"/>
                  <a:pt x="1245630" y="245797"/>
                  <a:pt x="1262137" y="277350"/>
                </a:cubicBezTo>
                <a:cubicBezTo>
                  <a:pt x="1280098" y="310845"/>
                  <a:pt x="1310192" y="319097"/>
                  <a:pt x="1330580" y="319097"/>
                </a:cubicBezTo>
                <a:cubicBezTo>
                  <a:pt x="1352911" y="319097"/>
                  <a:pt x="1383979" y="310359"/>
                  <a:pt x="1402424" y="271040"/>
                </a:cubicBezTo>
                <a:cubicBezTo>
                  <a:pt x="1415530" y="242400"/>
                  <a:pt x="1417473" y="210362"/>
                  <a:pt x="1417473" y="177838"/>
                </a:cubicBezTo>
                <a:close/>
                <a:moveTo>
                  <a:pt x="1383005" y="172984"/>
                </a:moveTo>
                <a:cubicBezTo>
                  <a:pt x="1383005" y="204051"/>
                  <a:pt x="1383005" y="231720"/>
                  <a:pt x="1378639" y="258419"/>
                </a:cubicBezTo>
                <a:cubicBezTo>
                  <a:pt x="1372326" y="297253"/>
                  <a:pt x="1349026" y="309874"/>
                  <a:pt x="1330580" y="309874"/>
                </a:cubicBezTo>
                <a:cubicBezTo>
                  <a:pt x="1314562" y="309874"/>
                  <a:pt x="1289803" y="299680"/>
                  <a:pt x="1282521" y="259875"/>
                </a:cubicBezTo>
                <a:cubicBezTo>
                  <a:pt x="1278155" y="235118"/>
                  <a:pt x="1278155" y="197255"/>
                  <a:pt x="1278155" y="172984"/>
                </a:cubicBezTo>
                <a:cubicBezTo>
                  <a:pt x="1278155" y="146285"/>
                  <a:pt x="1278155" y="119101"/>
                  <a:pt x="1281552" y="96772"/>
                </a:cubicBezTo>
                <a:cubicBezTo>
                  <a:pt x="1289319" y="47744"/>
                  <a:pt x="1319901" y="44346"/>
                  <a:pt x="1330580" y="44346"/>
                </a:cubicBezTo>
                <a:cubicBezTo>
                  <a:pt x="1344171" y="44346"/>
                  <a:pt x="1371357" y="51627"/>
                  <a:pt x="1379124" y="92403"/>
                </a:cubicBezTo>
                <a:cubicBezTo>
                  <a:pt x="1383005" y="115703"/>
                  <a:pt x="1383005" y="146771"/>
                  <a:pt x="1383005" y="172984"/>
                </a:cubicBezTo>
                <a:close/>
                <a:moveTo>
                  <a:pt x="1513222" y="288030"/>
                </a:moveTo>
                <a:cubicBezTo>
                  <a:pt x="1513222" y="275894"/>
                  <a:pt x="1503513" y="266185"/>
                  <a:pt x="1491376" y="266185"/>
                </a:cubicBezTo>
                <a:cubicBezTo>
                  <a:pt x="1479728" y="266185"/>
                  <a:pt x="1469534" y="275894"/>
                  <a:pt x="1469534" y="288030"/>
                </a:cubicBezTo>
                <a:cubicBezTo>
                  <a:pt x="1469534" y="300165"/>
                  <a:pt x="1479728" y="309874"/>
                  <a:pt x="1491376" y="309874"/>
                </a:cubicBezTo>
                <a:cubicBezTo>
                  <a:pt x="1503513" y="309874"/>
                  <a:pt x="1513222" y="300165"/>
                  <a:pt x="1513222" y="288030"/>
                </a:cubicBezTo>
                <a:close/>
                <a:moveTo>
                  <a:pt x="1721593" y="309874"/>
                </a:moveTo>
                <a:lnTo>
                  <a:pt x="1721593" y="297253"/>
                </a:lnTo>
                <a:lnTo>
                  <a:pt x="1708482" y="297253"/>
                </a:lnTo>
                <a:cubicBezTo>
                  <a:pt x="1671106" y="297253"/>
                  <a:pt x="1670137" y="292399"/>
                  <a:pt x="1670137" y="277350"/>
                </a:cubicBezTo>
                <a:lnTo>
                  <a:pt x="1670137" y="45802"/>
                </a:lnTo>
                <a:cubicBezTo>
                  <a:pt x="1670137" y="36093"/>
                  <a:pt x="1670137" y="35123"/>
                  <a:pt x="1660427" y="35123"/>
                </a:cubicBezTo>
                <a:cubicBezTo>
                  <a:pt x="1635184" y="61336"/>
                  <a:pt x="1598778" y="61336"/>
                  <a:pt x="1585671" y="61336"/>
                </a:cubicBezTo>
                <a:lnTo>
                  <a:pt x="1585671" y="74442"/>
                </a:lnTo>
                <a:cubicBezTo>
                  <a:pt x="1593923" y="74442"/>
                  <a:pt x="1618197" y="74442"/>
                  <a:pt x="1639554" y="63763"/>
                </a:cubicBezTo>
                <a:lnTo>
                  <a:pt x="1639554" y="277350"/>
                </a:lnTo>
                <a:cubicBezTo>
                  <a:pt x="1639554" y="291913"/>
                  <a:pt x="1638096" y="297253"/>
                  <a:pt x="1601205" y="297253"/>
                </a:cubicBezTo>
                <a:lnTo>
                  <a:pt x="1588099" y="297253"/>
                </a:lnTo>
                <a:lnTo>
                  <a:pt x="1588099" y="309874"/>
                </a:lnTo>
                <a:cubicBezTo>
                  <a:pt x="1602663" y="308418"/>
                  <a:pt x="1638096" y="308418"/>
                  <a:pt x="1654603" y="308418"/>
                </a:cubicBezTo>
                <a:cubicBezTo>
                  <a:pt x="1671106" y="308418"/>
                  <a:pt x="1707028" y="308418"/>
                  <a:pt x="1721593" y="309874"/>
                </a:cubicBezTo>
                <a:close/>
                <a:moveTo>
                  <a:pt x="1839064" y="309388"/>
                </a:moveTo>
                <a:cubicBezTo>
                  <a:pt x="1839064" y="283175"/>
                  <a:pt x="1828870" y="266185"/>
                  <a:pt x="1812367" y="266185"/>
                </a:cubicBezTo>
                <a:cubicBezTo>
                  <a:pt x="1797803" y="266185"/>
                  <a:pt x="1790521" y="277350"/>
                  <a:pt x="1790521" y="288030"/>
                </a:cubicBezTo>
                <a:cubicBezTo>
                  <a:pt x="1790521" y="298709"/>
                  <a:pt x="1797803" y="309874"/>
                  <a:pt x="1812367" y="309874"/>
                </a:cubicBezTo>
                <a:cubicBezTo>
                  <a:pt x="1818676" y="309874"/>
                  <a:pt x="1824500" y="307447"/>
                  <a:pt x="1828870" y="303078"/>
                </a:cubicBezTo>
                <a:cubicBezTo>
                  <a:pt x="1829839" y="336087"/>
                  <a:pt x="1818191" y="360844"/>
                  <a:pt x="1800230" y="380261"/>
                </a:cubicBezTo>
                <a:cubicBezTo>
                  <a:pt x="1797803" y="382688"/>
                  <a:pt x="1797318" y="383173"/>
                  <a:pt x="1797318" y="385115"/>
                </a:cubicBezTo>
                <a:cubicBezTo>
                  <a:pt x="1797318" y="388028"/>
                  <a:pt x="1799261" y="389484"/>
                  <a:pt x="1801200" y="389484"/>
                </a:cubicBezTo>
                <a:cubicBezTo>
                  <a:pt x="1806054" y="389484"/>
                  <a:pt x="1839064" y="356960"/>
                  <a:pt x="1839064" y="309388"/>
                </a:cubicBezTo>
                <a:close/>
                <a:moveTo>
                  <a:pt x="2174491" y="127839"/>
                </a:moveTo>
                <a:cubicBezTo>
                  <a:pt x="2174491" y="123470"/>
                  <a:pt x="2173037" y="120072"/>
                  <a:pt x="2165755" y="116674"/>
                </a:cubicBezTo>
                <a:lnTo>
                  <a:pt x="2107506" y="89491"/>
                </a:lnTo>
                <a:lnTo>
                  <a:pt x="2164786" y="62307"/>
                </a:lnTo>
                <a:cubicBezTo>
                  <a:pt x="2173037" y="58423"/>
                  <a:pt x="2174491" y="55510"/>
                  <a:pt x="2174491" y="50656"/>
                </a:cubicBezTo>
                <a:cubicBezTo>
                  <a:pt x="2174491" y="45317"/>
                  <a:pt x="2170125" y="39006"/>
                  <a:pt x="2163328" y="39006"/>
                </a:cubicBezTo>
                <a:cubicBezTo>
                  <a:pt x="2160416" y="39006"/>
                  <a:pt x="2159446" y="39006"/>
                  <a:pt x="2148768" y="47259"/>
                </a:cubicBezTo>
                <a:lnTo>
                  <a:pt x="2103136" y="80753"/>
                </a:lnTo>
                <a:lnTo>
                  <a:pt x="2109445" y="10851"/>
                </a:lnTo>
                <a:cubicBezTo>
                  <a:pt x="2109445" y="4541"/>
                  <a:pt x="2104105" y="172"/>
                  <a:pt x="2098766" y="172"/>
                </a:cubicBezTo>
                <a:cubicBezTo>
                  <a:pt x="2091973" y="172"/>
                  <a:pt x="2087602" y="5512"/>
                  <a:pt x="2087602" y="10851"/>
                </a:cubicBezTo>
                <a:lnTo>
                  <a:pt x="2093426" y="80753"/>
                </a:lnTo>
                <a:lnTo>
                  <a:pt x="2042455" y="43860"/>
                </a:lnTo>
                <a:cubicBezTo>
                  <a:pt x="2036631" y="39006"/>
                  <a:pt x="2035662" y="39006"/>
                  <a:pt x="2033235" y="39006"/>
                </a:cubicBezTo>
                <a:cubicBezTo>
                  <a:pt x="2026922" y="39006"/>
                  <a:pt x="2022071" y="45317"/>
                  <a:pt x="2022071" y="50656"/>
                </a:cubicBezTo>
                <a:cubicBezTo>
                  <a:pt x="2022071" y="55510"/>
                  <a:pt x="2024010" y="58423"/>
                  <a:pt x="2030807" y="61821"/>
                </a:cubicBezTo>
                <a:lnTo>
                  <a:pt x="2089056" y="89005"/>
                </a:lnTo>
                <a:lnTo>
                  <a:pt x="2031777" y="116189"/>
                </a:lnTo>
                <a:cubicBezTo>
                  <a:pt x="2024010" y="120072"/>
                  <a:pt x="2022071" y="122985"/>
                  <a:pt x="2022071" y="127839"/>
                </a:cubicBezTo>
                <a:cubicBezTo>
                  <a:pt x="2022071" y="127839"/>
                  <a:pt x="2022071" y="139489"/>
                  <a:pt x="2035662" y="139489"/>
                </a:cubicBezTo>
                <a:lnTo>
                  <a:pt x="2093426" y="97743"/>
                </a:lnTo>
                <a:lnTo>
                  <a:pt x="2087602" y="168129"/>
                </a:lnTo>
                <a:cubicBezTo>
                  <a:pt x="2087602" y="173955"/>
                  <a:pt x="2092942" y="178323"/>
                  <a:pt x="2098281" y="178323"/>
                </a:cubicBezTo>
                <a:cubicBezTo>
                  <a:pt x="2104590" y="178323"/>
                  <a:pt x="2109445" y="173469"/>
                  <a:pt x="2109445" y="168129"/>
                </a:cubicBezTo>
                <a:lnTo>
                  <a:pt x="2103136" y="97743"/>
                </a:lnTo>
                <a:lnTo>
                  <a:pt x="2156534" y="137062"/>
                </a:lnTo>
                <a:cubicBezTo>
                  <a:pt x="2158958" y="138033"/>
                  <a:pt x="2159931" y="139489"/>
                  <a:pt x="2163328" y="139489"/>
                </a:cubicBezTo>
                <a:cubicBezTo>
                  <a:pt x="2170125" y="139489"/>
                  <a:pt x="2174491" y="133179"/>
                  <a:pt x="2174491" y="127839"/>
                </a:cubicBezTo>
                <a:close/>
                <a:moveTo>
                  <a:pt x="2539291" y="220556"/>
                </a:moveTo>
                <a:cubicBezTo>
                  <a:pt x="2539291" y="168129"/>
                  <a:pt x="2498999" y="127354"/>
                  <a:pt x="2452887" y="127354"/>
                </a:cubicBezTo>
                <a:cubicBezTo>
                  <a:pt x="2420846" y="127354"/>
                  <a:pt x="2403370" y="145800"/>
                  <a:pt x="2395119" y="154538"/>
                </a:cubicBezTo>
                <a:lnTo>
                  <a:pt x="2395119" y="127354"/>
                </a:lnTo>
                <a:lnTo>
                  <a:pt x="2335896" y="132208"/>
                </a:lnTo>
                <a:lnTo>
                  <a:pt x="2335896" y="144829"/>
                </a:lnTo>
                <a:cubicBezTo>
                  <a:pt x="2365025" y="144829"/>
                  <a:pt x="2367937" y="147256"/>
                  <a:pt x="2367937" y="165217"/>
                </a:cubicBezTo>
                <a:lnTo>
                  <a:pt x="2367937" y="358416"/>
                </a:lnTo>
                <a:cubicBezTo>
                  <a:pt x="2367937" y="377348"/>
                  <a:pt x="2363567" y="377348"/>
                  <a:pt x="2335896" y="377348"/>
                </a:cubicBezTo>
                <a:lnTo>
                  <a:pt x="2335896" y="389969"/>
                </a:lnTo>
                <a:lnTo>
                  <a:pt x="2382012" y="388513"/>
                </a:lnTo>
                <a:lnTo>
                  <a:pt x="2428613" y="389969"/>
                </a:lnTo>
                <a:lnTo>
                  <a:pt x="2428613" y="377348"/>
                </a:lnTo>
                <a:cubicBezTo>
                  <a:pt x="2400943" y="377348"/>
                  <a:pt x="2396577" y="377348"/>
                  <a:pt x="2396577" y="358416"/>
                </a:cubicBezTo>
                <a:lnTo>
                  <a:pt x="2396577" y="285603"/>
                </a:lnTo>
                <a:cubicBezTo>
                  <a:pt x="2398515" y="291913"/>
                  <a:pt x="2415992" y="314243"/>
                  <a:pt x="2447059" y="314243"/>
                </a:cubicBezTo>
                <a:cubicBezTo>
                  <a:pt x="2496087" y="314243"/>
                  <a:pt x="2539291" y="273952"/>
                  <a:pt x="2539291" y="220556"/>
                </a:cubicBezTo>
                <a:close/>
                <a:moveTo>
                  <a:pt x="2504827" y="220556"/>
                </a:moveTo>
                <a:cubicBezTo>
                  <a:pt x="2504827" y="270554"/>
                  <a:pt x="2476188" y="305505"/>
                  <a:pt x="2445605" y="305505"/>
                </a:cubicBezTo>
                <a:cubicBezTo>
                  <a:pt x="2429098" y="305505"/>
                  <a:pt x="2413564" y="297253"/>
                  <a:pt x="2402401" y="280263"/>
                </a:cubicBezTo>
                <a:cubicBezTo>
                  <a:pt x="2396577" y="271525"/>
                  <a:pt x="2396577" y="271040"/>
                  <a:pt x="2396577" y="262788"/>
                </a:cubicBezTo>
                <a:lnTo>
                  <a:pt x="2396577" y="171042"/>
                </a:lnTo>
                <a:cubicBezTo>
                  <a:pt x="2408225" y="149683"/>
                  <a:pt x="2428613" y="138033"/>
                  <a:pt x="2449486" y="138033"/>
                </a:cubicBezTo>
                <a:cubicBezTo>
                  <a:pt x="2479584" y="138033"/>
                  <a:pt x="2504827" y="173955"/>
                  <a:pt x="2504827" y="220556"/>
                </a:cubicBezTo>
                <a:close/>
                <a:moveTo>
                  <a:pt x="2962581" y="318126"/>
                </a:moveTo>
                <a:cubicBezTo>
                  <a:pt x="2962581" y="313757"/>
                  <a:pt x="2959669" y="311330"/>
                  <a:pt x="2954814" y="308903"/>
                </a:cubicBezTo>
                <a:lnTo>
                  <a:pt x="2738317" y="206478"/>
                </a:lnTo>
                <a:lnTo>
                  <a:pt x="2954814" y="104539"/>
                </a:lnTo>
                <a:cubicBezTo>
                  <a:pt x="2959669" y="102111"/>
                  <a:pt x="2962581" y="99684"/>
                  <a:pt x="2962581" y="95315"/>
                </a:cubicBezTo>
                <a:cubicBezTo>
                  <a:pt x="2962581" y="90947"/>
                  <a:pt x="2958699" y="87063"/>
                  <a:pt x="2954329" y="87063"/>
                </a:cubicBezTo>
                <a:cubicBezTo>
                  <a:pt x="2952875" y="87063"/>
                  <a:pt x="2952387" y="87063"/>
                  <a:pt x="2947047" y="89976"/>
                </a:cubicBezTo>
                <a:lnTo>
                  <a:pt x="2718413" y="197741"/>
                </a:lnTo>
                <a:cubicBezTo>
                  <a:pt x="2713558" y="199682"/>
                  <a:pt x="2710646" y="201624"/>
                  <a:pt x="2710646" y="206478"/>
                </a:cubicBezTo>
                <a:cubicBezTo>
                  <a:pt x="2710646" y="211818"/>
                  <a:pt x="2713558" y="213760"/>
                  <a:pt x="2718413" y="215701"/>
                </a:cubicBezTo>
                <a:lnTo>
                  <a:pt x="2947047" y="323466"/>
                </a:lnTo>
                <a:cubicBezTo>
                  <a:pt x="2952387" y="326378"/>
                  <a:pt x="2952875" y="326378"/>
                  <a:pt x="2954329" y="326378"/>
                </a:cubicBezTo>
                <a:cubicBezTo>
                  <a:pt x="2958699" y="326378"/>
                  <a:pt x="2962581" y="322495"/>
                  <a:pt x="2962581" y="318126"/>
                </a:cubicBezTo>
                <a:close/>
                <a:moveTo>
                  <a:pt x="3309660" y="177838"/>
                </a:moveTo>
                <a:cubicBezTo>
                  <a:pt x="3309660" y="144829"/>
                  <a:pt x="3307722" y="111820"/>
                  <a:pt x="3293157" y="81238"/>
                </a:cubicBezTo>
                <a:cubicBezTo>
                  <a:pt x="3274227" y="41433"/>
                  <a:pt x="3240247" y="35123"/>
                  <a:pt x="3223256" y="35123"/>
                </a:cubicBezTo>
                <a:cubicBezTo>
                  <a:pt x="3198501" y="35123"/>
                  <a:pt x="3167919" y="45802"/>
                  <a:pt x="3151412" y="84151"/>
                </a:cubicBezTo>
                <a:cubicBezTo>
                  <a:pt x="3137821" y="112791"/>
                  <a:pt x="3135878" y="144829"/>
                  <a:pt x="3135878" y="177838"/>
                </a:cubicBezTo>
                <a:cubicBezTo>
                  <a:pt x="3135878" y="208905"/>
                  <a:pt x="3137821" y="245797"/>
                  <a:pt x="3154324" y="277350"/>
                </a:cubicBezTo>
                <a:cubicBezTo>
                  <a:pt x="3172285" y="310845"/>
                  <a:pt x="3202383" y="319097"/>
                  <a:pt x="3222771" y="319097"/>
                </a:cubicBezTo>
                <a:cubicBezTo>
                  <a:pt x="3245102" y="319097"/>
                  <a:pt x="3276170" y="310359"/>
                  <a:pt x="3294615" y="271040"/>
                </a:cubicBezTo>
                <a:cubicBezTo>
                  <a:pt x="3307722" y="242400"/>
                  <a:pt x="3309660" y="210362"/>
                  <a:pt x="3309660" y="177838"/>
                </a:cubicBezTo>
                <a:close/>
                <a:moveTo>
                  <a:pt x="3275196" y="172984"/>
                </a:moveTo>
                <a:cubicBezTo>
                  <a:pt x="3275196" y="204051"/>
                  <a:pt x="3275196" y="231720"/>
                  <a:pt x="3270826" y="258419"/>
                </a:cubicBezTo>
                <a:cubicBezTo>
                  <a:pt x="3264517" y="297253"/>
                  <a:pt x="3241217" y="309874"/>
                  <a:pt x="3222771" y="309874"/>
                </a:cubicBezTo>
                <a:cubicBezTo>
                  <a:pt x="3206753" y="309874"/>
                  <a:pt x="3181994" y="299680"/>
                  <a:pt x="3174712" y="259875"/>
                </a:cubicBezTo>
                <a:cubicBezTo>
                  <a:pt x="3170346" y="235118"/>
                  <a:pt x="3170346" y="197255"/>
                  <a:pt x="3170346" y="172984"/>
                </a:cubicBezTo>
                <a:cubicBezTo>
                  <a:pt x="3170346" y="146285"/>
                  <a:pt x="3170346" y="119101"/>
                  <a:pt x="3173743" y="96772"/>
                </a:cubicBezTo>
                <a:cubicBezTo>
                  <a:pt x="3181510" y="47744"/>
                  <a:pt x="3212092" y="44346"/>
                  <a:pt x="3222771" y="44346"/>
                </a:cubicBezTo>
                <a:cubicBezTo>
                  <a:pt x="3236362" y="44346"/>
                  <a:pt x="3263548" y="51627"/>
                  <a:pt x="3271315" y="92403"/>
                </a:cubicBezTo>
                <a:cubicBezTo>
                  <a:pt x="3275196" y="115703"/>
                  <a:pt x="3275196" y="146771"/>
                  <a:pt x="3275196" y="172984"/>
                </a:cubicBezTo>
                <a:close/>
                <a:moveTo>
                  <a:pt x="3405289" y="288030"/>
                </a:moveTo>
                <a:cubicBezTo>
                  <a:pt x="3405289" y="275894"/>
                  <a:pt x="3395584" y="266185"/>
                  <a:pt x="3383447" y="266185"/>
                </a:cubicBezTo>
                <a:cubicBezTo>
                  <a:pt x="3371795" y="266185"/>
                  <a:pt x="3361605" y="275894"/>
                  <a:pt x="3361605" y="288030"/>
                </a:cubicBezTo>
                <a:cubicBezTo>
                  <a:pt x="3361605" y="300165"/>
                  <a:pt x="3371795" y="309874"/>
                  <a:pt x="3383447" y="309874"/>
                </a:cubicBezTo>
                <a:cubicBezTo>
                  <a:pt x="3395584" y="309874"/>
                  <a:pt x="3405289" y="300165"/>
                  <a:pt x="3405289" y="288030"/>
                </a:cubicBezTo>
                <a:close/>
                <a:moveTo>
                  <a:pt x="3630771" y="177838"/>
                </a:moveTo>
                <a:cubicBezTo>
                  <a:pt x="3630771" y="144829"/>
                  <a:pt x="3628829" y="111820"/>
                  <a:pt x="3614268" y="81238"/>
                </a:cubicBezTo>
                <a:cubicBezTo>
                  <a:pt x="3595334" y="41433"/>
                  <a:pt x="3561355" y="35123"/>
                  <a:pt x="3544367" y="35123"/>
                </a:cubicBezTo>
                <a:cubicBezTo>
                  <a:pt x="3519609" y="35123"/>
                  <a:pt x="3489026" y="45802"/>
                  <a:pt x="3472523" y="84151"/>
                </a:cubicBezTo>
                <a:cubicBezTo>
                  <a:pt x="3458932" y="112791"/>
                  <a:pt x="3456989" y="144829"/>
                  <a:pt x="3456989" y="177838"/>
                </a:cubicBezTo>
                <a:cubicBezTo>
                  <a:pt x="3456989" y="208905"/>
                  <a:pt x="3458932" y="245797"/>
                  <a:pt x="3475435" y="277350"/>
                </a:cubicBezTo>
                <a:cubicBezTo>
                  <a:pt x="3493396" y="310845"/>
                  <a:pt x="3523494" y="319097"/>
                  <a:pt x="3543878" y="319097"/>
                </a:cubicBezTo>
                <a:cubicBezTo>
                  <a:pt x="3566209" y="319097"/>
                  <a:pt x="3597277" y="310359"/>
                  <a:pt x="3615722" y="271040"/>
                </a:cubicBezTo>
                <a:cubicBezTo>
                  <a:pt x="3628829" y="242400"/>
                  <a:pt x="3630771" y="210362"/>
                  <a:pt x="3630771" y="177838"/>
                </a:cubicBezTo>
                <a:close/>
                <a:moveTo>
                  <a:pt x="3596307" y="172984"/>
                </a:moveTo>
                <a:cubicBezTo>
                  <a:pt x="3596307" y="204051"/>
                  <a:pt x="3596307" y="231720"/>
                  <a:pt x="3591937" y="258419"/>
                </a:cubicBezTo>
                <a:cubicBezTo>
                  <a:pt x="3585629" y="297253"/>
                  <a:pt x="3562328" y="309874"/>
                  <a:pt x="3543878" y="309874"/>
                </a:cubicBezTo>
                <a:cubicBezTo>
                  <a:pt x="3527860" y="309874"/>
                  <a:pt x="3503106" y="299680"/>
                  <a:pt x="3495823" y="259875"/>
                </a:cubicBezTo>
                <a:cubicBezTo>
                  <a:pt x="3491453" y="235118"/>
                  <a:pt x="3491453" y="197255"/>
                  <a:pt x="3491453" y="172984"/>
                </a:cubicBezTo>
                <a:cubicBezTo>
                  <a:pt x="3491453" y="146285"/>
                  <a:pt x="3491453" y="119101"/>
                  <a:pt x="3494850" y="96772"/>
                </a:cubicBezTo>
                <a:cubicBezTo>
                  <a:pt x="3502617" y="47744"/>
                  <a:pt x="3533199" y="44346"/>
                  <a:pt x="3543878" y="44346"/>
                </a:cubicBezTo>
                <a:cubicBezTo>
                  <a:pt x="3557473" y="44346"/>
                  <a:pt x="3584655" y="51627"/>
                  <a:pt x="3592422" y="92403"/>
                </a:cubicBezTo>
                <a:cubicBezTo>
                  <a:pt x="3596307" y="115703"/>
                  <a:pt x="3596307" y="146771"/>
                  <a:pt x="3596307" y="172984"/>
                </a:cubicBezTo>
                <a:close/>
                <a:moveTo>
                  <a:pt x="3832709" y="226866"/>
                </a:moveTo>
                <a:cubicBezTo>
                  <a:pt x="3832709" y="177838"/>
                  <a:pt x="3798729" y="136577"/>
                  <a:pt x="3754071" y="136577"/>
                </a:cubicBezTo>
                <a:cubicBezTo>
                  <a:pt x="3734167" y="136577"/>
                  <a:pt x="3716691" y="143373"/>
                  <a:pt x="3701642" y="157450"/>
                </a:cubicBezTo>
                <a:lnTo>
                  <a:pt x="3701642" y="77355"/>
                </a:lnTo>
                <a:cubicBezTo>
                  <a:pt x="3709898" y="79782"/>
                  <a:pt x="3723488" y="82694"/>
                  <a:pt x="3736595" y="82694"/>
                </a:cubicBezTo>
                <a:cubicBezTo>
                  <a:pt x="3787566" y="82694"/>
                  <a:pt x="3816690" y="44831"/>
                  <a:pt x="3816690" y="39492"/>
                </a:cubicBezTo>
                <a:cubicBezTo>
                  <a:pt x="3816690" y="37064"/>
                  <a:pt x="3815232" y="35123"/>
                  <a:pt x="3812320" y="35123"/>
                </a:cubicBezTo>
                <a:cubicBezTo>
                  <a:pt x="3812320" y="35123"/>
                  <a:pt x="3810862" y="35123"/>
                  <a:pt x="3808923" y="36093"/>
                </a:cubicBezTo>
                <a:cubicBezTo>
                  <a:pt x="3800672" y="39977"/>
                  <a:pt x="3780768" y="48229"/>
                  <a:pt x="3753098" y="48229"/>
                </a:cubicBezTo>
                <a:cubicBezTo>
                  <a:pt x="3736595" y="48229"/>
                  <a:pt x="3717665" y="45317"/>
                  <a:pt x="3698245" y="36579"/>
                </a:cubicBezTo>
                <a:cubicBezTo>
                  <a:pt x="3694849" y="35608"/>
                  <a:pt x="3692906" y="35608"/>
                  <a:pt x="3692906" y="35608"/>
                </a:cubicBezTo>
                <a:cubicBezTo>
                  <a:pt x="3689024" y="35608"/>
                  <a:pt x="3689024" y="39006"/>
                  <a:pt x="3689024" y="45317"/>
                </a:cubicBezTo>
                <a:lnTo>
                  <a:pt x="3689024" y="167644"/>
                </a:lnTo>
                <a:cubicBezTo>
                  <a:pt x="3689024" y="174926"/>
                  <a:pt x="3689024" y="178323"/>
                  <a:pt x="3694849" y="178323"/>
                </a:cubicBezTo>
                <a:cubicBezTo>
                  <a:pt x="3697760" y="178323"/>
                  <a:pt x="3698245" y="176867"/>
                  <a:pt x="3700188" y="174440"/>
                </a:cubicBezTo>
                <a:cubicBezTo>
                  <a:pt x="3704558" y="168129"/>
                  <a:pt x="3720092" y="145800"/>
                  <a:pt x="3753098" y="145800"/>
                </a:cubicBezTo>
                <a:cubicBezTo>
                  <a:pt x="3774944" y="145800"/>
                  <a:pt x="3785138" y="164731"/>
                  <a:pt x="3788535" y="172013"/>
                </a:cubicBezTo>
                <a:cubicBezTo>
                  <a:pt x="3794844" y="187546"/>
                  <a:pt x="3795817" y="203565"/>
                  <a:pt x="3795817" y="223953"/>
                </a:cubicBezTo>
                <a:cubicBezTo>
                  <a:pt x="3795817" y="238516"/>
                  <a:pt x="3795817" y="263273"/>
                  <a:pt x="3786108" y="280748"/>
                </a:cubicBezTo>
                <a:cubicBezTo>
                  <a:pt x="3775913" y="296767"/>
                  <a:pt x="3760865" y="307447"/>
                  <a:pt x="3741934" y="307447"/>
                </a:cubicBezTo>
                <a:cubicBezTo>
                  <a:pt x="3711836" y="307447"/>
                  <a:pt x="3688051" y="285603"/>
                  <a:pt x="3681258" y="261331"/>
                </a:cubicBezTo>
                <a:cubicBezTo>
                  <a:pt x="3682227" y="261817"/>
                  <a:pt x="3683681" y="261817"/>
                  <a:pt x="3688051" y="261817"/>
                </a:cubicBezTo>
                <a:cubicBezTo>
                  <a:pt x="3701642" y="261817"/>
                  <a:pt x="3708924" y="251623"/>
                  <a:pt x="3708924" y="241914"/>
                </a:cubicBezTo>
                <a:cubicBezTo>
                  <a:pt x="3708924" y="231720"/>
                  <a:pt x="3701642" y="221526"/>
                  <a:pt x="3688051" y="221526"/>
                </a:cubicBezTo>
                <a:cubicBezTo>
                  <a:pt x="3682227" y="221526"/>
                  <a:pt x="3668147" y="224439"/>
                  <a:pt x="3668147" y="243370"/>
                </a:cubicBezTo>
                <a:cubicBezTo>
                  <a:pt x="3668147" y="278807"/>
                  <a:pt x="3696303" y="319097"/>
                  <a:pt x="3742419" y="319097"/>
                </a:cubicBezTo>
                <a:cubicBezTo>
                  <a:pt x="3790478" y="319097"/>
                  <a:pt x="3832709" y="279292"/>
                  <a:pt x="3832709" y="226866"/>
                </a:cubicBezTo>
                <a:close/>
                <a:moveTo>
                  <a:pt x="3937562" y="309388"/>
                </a:moveTo>
                <a:cubicBezTo>
                  <a:pt x="3937562" y="283175"/>
                  <a:pt x="3927369" y="266185"/>
                  <a:pt x="3910861" y="266185"/>
                </a:cubicBezTo>
                <a:cubicBezTo>
                  <a:pt x="3896301" y="266185"/>
                  <a:pt x="3889019" y="277350"/>
                  <a:pt x="3889019" y="288030"/>
                </a:cubicBezTo>
                <a:cubicBezTo>
                  <a:pt x="3889019" y="298709"/>
                  <a:pt x="3896301" y="309874"/>
                  <a:pt x="3910861" y="309874"/>
                </a:cubicBezTo>
                <a:cubicBezTo>
                  <a:pt x="3917174" y="309874"/>
                  <a:pt x="3922998" y="307447"/>
                  <a:pt x="3927369" y="303078"/>
                </a:cubicBezTo>
                <a:cubicBezTo>
                  <a:pt x="3928338" y="336087"/>
                  <a:pt x="3916685" y="360844"/>
                  <a:pt x="3898728" y="380261"/>
                </a:cubicBezTo>
                <a:cubicBezTo>
                  <a:pt x="3896301" y="382688"/>
                  <a:pt x="3895812" y="383173"/>
                  <a:pt x="3895812" y="385115"/>
                </a:cubicBezTo>
                <a:cubicBezTo>
                  <a:pt x="3895812" y="388028"/>
                  <a:pt x="3897755" y="389484"/>
                  <a:pt x="3899698" y="389484"/>
                </a:cubicBezTo>
                <a:cubicBezTo>
                  <a:pt x="3904553" y="389484"/>
                  <a:pt x="3937562" y="356960"/>
                  <a:pt x="3937562" y="309388"/>
                </a:cubicBezTo>
                <a:close/>
                <a:moveTo>
                  <a:pt x="4272874" y="127839"/>
                </a:moveTo>
                <a:cubicBezTo>
                  <a:pt x="4272874" y="123470"/>
                  <a:pt x="4271424" y="120072"/>
                  <a:pt x="4264134" y="116674"/>
                </a:cubicBezTo>
                <a:lnTo>
                  <a:pt x="4205893" y="89491"/>
                </a:lnTo>
                <a:lnTo>
                  <a:pt x="4263181" y="62307"/>
                </a:lnTo>
                <a:cubicBezTo>
                  <a:pt x="4271424" y="58423"/>
                  <a:pt x="4272874" y="55510"/>
                  <a:pt x="4272874" y="50656"/>
                </a:cubicBezTo>
                <a:cubicBezTo>
                  <a:pt x="4272874" y="45317"/>
                  <a:pt x="4268483" y="39006"/>
                  <a:pt x="4261690" y="39006"/>
                </a:cubicBezTo>
                <a:cubicBezTo>
                  <a:pt x="4258790" y="39006"/>
                  <a:pt x="4257837" y="39006"/>
                  <a:pt x="4247150" y="47259"/>
                </a:cubicBezTo>
                <a:lnTo>
                  <a:pt x="4201502" y="80753"/>
                </a:lnTo>
                <a:lnTo>
                  <a:pt x="4207840" y="10851"/>
                </a:lnTo>
                <a:cubicBezTo>
                  <a:pt x="4207840" y="4541"/>
                  <a:pt x="4202496" y="172"/>
                  <a:pt x="4197152" y="172"/>
                </a:cubicBezTo>
                <a:cubicBezTo>
                  <a:pt x="4190359" y="172"/>
                  <a:pt x="4185968" y="5512"/>
                  <a:pt x="4185968" y="10851"/>
                </a:cubicBezTo>
                <a:lnTo>
                  <a:pt x="4191809" y="80753"/>
                </a:lnTo>
                <a:lnTo>
                  <a:pt x="4140817" y="43860"/>
                </a:lnTo>
                <a:cubicBezTo>
                  <a:pt x="4135018" y="39006"/>
                  <a:pt x="4134024" y="39006"/>
                  <a:pt x="4131621" y="39006"/>
                </a:cubicBezTo>
                <a:cubicBezTo>
                  <a:pt x="4125300" y="39006"/>
                  <a:pt x="4120445" y="45317"/>
                  <a:pt x="4120445" y="50656"/>
                </a:cubicBezTo>
                <a:cubicBezTo>
                  <a:pt x="4120445" y="55510"/>
                  <a:pt x="4122388" y="58423"/>
                  <a:pt x="4129181" y="61821"/>
                </a:cubicBezTo>
                <a:lnTo>
                  <a:pt x="4187418" y="89005"/>
                </a:lnTo>
                <a:lnTo>
                  <a:pt x="4130155" y="116189"/>
                </a:lnTo>
                <a:cubicBezTo>
                  <a:pt x="4122388" y="120072"/>
                  <a:pt x="4120445" y="122985"/>
                  <a:pt x="4120445" y="127839"/>
                </a:cubicBezTo>
                <a:cubicBezTo>
                  <a:pt x="4120445" y="127839"/>
                  <a:pt x="4120445" y="139489"/>
                  <a:pt x="4134024" y="139489"/>
                </a:cubicBezTo>
                <a:lnTo>
                  <a:pt x="4191809" y="97743"/>
                </a:lnTo>
                <a:lnTo>
                  <a:pt x="4185968" y="168129"/>
                </a:lnTo>
                <a:cubicBezTo>
                  <a:pt x="4185968" y="173955"/>
                  <a:pt x="4191312" y="178323"/>
                  <a:pt x="4196656" y="178323"/>
                </a:cubicBezTo>
                <a:cubicBezTo>
                  <a:pt x="4202952" y="178323"/>
                  <a:pt x="4207840" y="173469"/>
                  <a:pt x="4207840" y="168129"/>
                </a:cubicBezTo>
                <a:lnTo>
                  <a:pt x="4201502" y="97743"/>
                </a:lnTo>
                <a:lnTo>
                  <a:pt x="4254896" y="137062"/>
                </a:lnTo>
                <a:cubicBezTo>
                  <a:pt x="4257340" y="138033"/>
                  <a:pt x="4258293" y="139489"/>
                  <a:pt x="4261690" y="139489"/>
                </a:cubicBezTo>
                <a:cubicBezTo>
                  <a:pt x="4268483" y="139489"/>
                  <a:pt x="4272874" y="133179"/>
                  <a:pt x="4272874" y="127839"/>
                </a:cubicBezTo>
                <a:close/>
                <a:moveTo>
                  <a:pt x="4479285" y="127839"/>
                </a:moveTo>
                <a:cubicBezTo>
                  <a:pt x="4479285" y="123470"/>
                  <a:pt x="4477835" y="120072"/>
                  <a:pt x="4470545" y="116674"/>
                </a:cubicBezTo>
                <a:lnTo>
                  <a:pt x="4412304" y="89491"/>
                </a:lnTo>
                <a:lnTo>
                  <a:pt x="4469592" y="62307"/>
                </a:lnTo>
                <a:cubicBezTo>
                  <a:pt x="4477835" y="58423"/>
                  <a:pt x="4479285" y="55510"/>
                  <a:pt x="4479285" y="50656"/>
                </a:cubicBezTo>
                <a:cubicBezTo>
                  <a:pt x="4479285" y="45317"/>
                  <a:pt x="4474935" y="39006"/>
                  <a:pt x="4468142" y="39006"/>
                </a:cubicBezTo>
                <a:cubicBezTo>
                  <a:pt x="4465201" y="39006"/>
                  <a:pt x="4464248" y="39006"/>
                  <a:pt x="4453561" y="47259"/>
                </a:cubicBezTo>
                <a:lnTo>
                  <a:pt x="4407954" y="80753"/>
                </a:lnTo>
                <a:lnTo>
                  <a:pt x="4414251" y="10851"/>
                </a:lnTo>
                <a:cubicBezTo>
                  <a:pt x="4414251" y="4541"/>
                  <a:pt x="4408907" y="172"/>
                  <a:pt x="4403563" y="172"/>
                </a:cubicBezTo>
                <a:cubicBezTo>
                  <a:pt x="4396770" y="172"/>
                  <a:pt x="4392421" y="5512"/>
                  <a:pt x="4392421" y="10851"/>
                </a:cubicBezTo>
                <a:lnTo>
                  <a:pt x="4398220" y="80753"/>
                </a:lnTo>
                <a:lnTo>
                  <a:pt x="4347269" y="43860"/>
                </a:lnTo>
                <a:cubicBezTo>
                  <a:pt x="4341429" y="39006"/>
                  <a:pt x="4340476" y="39006"/>
                  <a:pt x="4338032" y="39006"/>
                </a:cubicBezTo>
                <a:cubicBezTo>
                  <a:pt x="4331736" y="39006"/>
                  <a:pt x="4326889" y="45317"/>
                  <a:pt x="4326889" y="50656"/>
                </a:cubicBezTo>
                <a:cubicBezTo>
                  <a:pt x="4326889" y="55510"/>
                  <a:pt x="4328795" y="58423"/>
                  <a:pt x="4335630" y="61821"/>
                </a:cubicBezTo>
                <a:lnTo>
                  <a:pt x="4393870" y="89005"/>
                </a:lnTo>
                <a:lnTo>
                  <a:pt x="4336582" y="116189"/>
                </a:lnTo>
                <a:cubicBezTo>
                  <a:pt x="4328795" y="120072"/>
                  <a:pt x="4326889" y="122985"/>
                  <a:pt x="4326889" y="127839"/>
                </a:cubicBezTo>
                <a:cubicBezTo>
                  <a:pt x="4326889" y="127839"/>
                  <a:pt x="4326889" y="139489"/>
                  <a:pt x="4340476" y="139489"/>
                </a:cubicBezTo>
                <a:lnTo>
                  <a:pt x="4398220" y="97743"/>
                </a:lnTo>
                <a:lnTo>
                  <a:pt x="4392421" y="168129"/>
                </a:lnTo>
                <a:cubicBezTo>
                  <a:pt x="4392421" y="173955"/>
                  <a:pt x="4397764" y="178323"/>
                  <a:pt x="4403066" y="178323"/>
                </a:cubicBezTo>
                <a:cubicBezTo>
                  <a:pt x="4409404" y="178323"/>
                  <a:pt x="4414251" y="173469"/>
                  <a:pt x="4414251" y="168129"/>
                </a:cubicBezTo>
                <a:lnTo>
                  <a:pt x="4407954" y="97743"/>
                </a:lnTo>
                <a:lnTo>
                  <a:pt x="4461349" y="137062"/>
                </a:lnTo>
                <a:cubicBezTo>
                  <a:pt x="4463751" y="138033"/>
                  <a:pt x="4464745" y="139489"/>
                  <a:pt x="4468142" y="139489"/>
                </a:cubicBezTo>
                <a:cubicBezTo>
                  <a:pt x="4474935" y="139489"/>
                  <a:pt x="4479285" y="133179"/>
                  <a:pt x="4479285" y="127839"/>
                </a:cubicBezTo>
                <a:close/>
                <a:moveTo>
                  <a:pt x="4844097" y="220556"/>
                </a:moveTo>
                <a:cubicBezTo>
                  <a:pt x="4844097" y="168129"/>
                  <a:pt x="4803793" y="127354"/>
                  <a:pt x="4757689" y="127354"/>
                </a:cubicBezTo>
                <a:cubicBezTo>
                  <a:pt x="4725669" y="127354"/>
                  <a:pt x="4708188" y="145800"/>
                  <a:pt x="4699904" y="154538"/>
                </a:cubicBezTo>
                <a:lnTo>
                  <a:pt x="4699904" y="127354"/>
                </a:lnTo>
                <a:lnTo>
                  <a:pt x="4640710" y="132208"/>
                </a:lnTo>
                <a:lnTo>
                  <a:pt x="4640710" y="144829"/>
                </a:lnTo>
                <a:cubicBezTo>
                  <a:pt x="4669831" y="144829"/>
                  <a:pt x="4672730" y="147256"/>
                  <a:pt x="4672730" y="165217"/>
                </a:cubicBezTo>
                <a:lnTo>
                  <a:pt x="4672730" y="358416"/>
                </a:lnTo>
                <a:cubicBezTo>
                  <a:pt x="4672730" y="377348"/>
                  <a:pt x="4668381" y="377348"/>
                  <a:pt x="4640710" y="377348"/>
                </a:cubicBezTo>
                <a:lnTo>
                  <a:pt x="4640710" y="389969"/>
                </a:lnTo>
                <a:lnTo>
                  <a:pt x="4686814" y="388513"/>
                </a:lnTo>
                <a:lnTo>
                  <a:pt x="4733415" y="389969"/>
                </a:lnTo>
                <a:lnTo>
                  <a:pt x="4733415" y="377348"/>
                </a:lnTo>
                <a:cubicBezTo>
                  <a:pt x="4705744" y="377348"/>
                  <a:pt x="4701395" y="377348"/>
                  <a:pt x="4701395" y="358416"/>
                </a:cubicBezTo>
                <a:lnTo>
                  <a:pt x="4701395" y="285603"/>
                </a:lnTo>
                <a:cubicBezTo>
                  <a:pt x="4703342" y="291913"/>
                  <a:pt x="4720781" y="314243"/>
                  <a:pt x="4751848" y="314243"/>
                </a:cubicBezTo>
                <a:cubicBezTo>
                  <a:pt x="4800893" y="314243"/>
                  <a:pt x="4844097" y="273952"/>
                  <a:pt x="4844097" y="220556"/>
                </a:cubicBezTo>
                <a:close/>
                <a:moveTo>
                  <a:pt x="4809633" y="220556"/>
                </a:moveTo>
                <a:cubicBezTo>
                  <a:pt x="4809633" y="270554"/>
                  <a:pt x="4780968" y="305505"/>
                  <a:pt x="4750398" y="305505"/>
                </a:cubicBezTo>
                <a:cubicBezTo>
                  <a:pt x="4733912" y="305505"/>
                  <a:pt x="4718378" y="297253"/>
                  <a:pt x="4707194" y="280263"/>
                </a:cubicBezTo>
                <a:cubicBezTo>
                  <a:pt x="4701395" y="271525"/>
                  <a:pt x="4701395" y="271040"/>
                  <a:pt x="4701395" y="262788"/>
                </a:cubicBezTo>
                <a:lnTo>
                  <a:pt x="4701395" y="171042"/>
                </a:lnTo>
                <a:cubicBezTo>
                  <a:pt x="4713035" y="149683"/>
                  <a:pt x="4733415" y="138033"/>
                  <a:pt x="4754292" y="138033"/>
                </a:cubicBezTo>
                <a:cubicBezTo>
                  <a:pt x="4784407" y="138033"/>
                  <a:pt x="4809633" y="173955"/>
                  <a:pt x="4809633" y="220556"/>
                </a:cubicBezTo>
                <a:close/>
                <a:moveTo>
                  <a:pt x="5267523" y="318126"/>
                </a:moveTo>
                <a:cubicBezTo>
                  <a:pt x="5267523" y="313757"/>
                  <a:pt x="5264582" y="311330"/>
                  <a:pt x="5259736" y="308903"/>
                </a:cubicBezTo>
                <a:lnTo>
                  <a:pt x="5043259" y="206478"/>
                </a:lnTo>
                <a:lnTo>
                  <a:pt x="5259736" y="104539"/>
                </a:lnTo>
                <a:cubicBezTo>
                  <a:pt x="5264582" y="102111"/>
                  <a:pt x="5267523" y="99684"/>
                  <a:pt x="5267523" y="95315"/>
                </a:cubicBezTo>
                <a:cubicBezTo>
                  <a:pt x="5267523" y="90947"/>
                  <a:pt x="5263629" y="87063"/>
                  <a:pt x="5259239" y="87063"/>
                </a:cubicBezTo>
                <a:cubicBezTo>
                  <a:pt x="5257789" y="87063"/>
                  <a:pt x="5257292" y="87063"/>
                  <a:pt x="5251990" y="89976"/>
                </a:cubicBezTo>
                <a:lnTo>
                  <a:pt x="5023334" y="197741"/>
                </a:lnTo>
                <a:cubicBezTo>
                  <a:pt x="5018488" y="199682"/>
                  <a:pt x="5015588" y="201624"/>
                  <a:pt x="5015588" y="206478"/>
                </a:cubicBezTo>
                <a:cubicBezTo>
                  <a:pt x="5015588" y="211818"/>
                  <a:pt x="5018488" y="213760"/>
                  <a:pt x="5023334" y="215701"/>
                </a:cubicBezTo>
                <a:lnTo>
                  <a:pt x="5251990" y="323466"/>
                </a:lnTo>
                <a:cubicBezTo>
                  <a:pt x="5257333" y="326378"/>
                  <a:pt x="5257789" y="326378"/>
                  <a:pt x="5259239" y="326378"/>
                </a:cubicBezTo>
                <a:cubicBezTo>
                  <a:pt x="5263629" y="326378"/>
                  <a:pt x="5267523" y="322495"/>
                  <a:pt x="5267523" y="318126"/>
                </a:cubicBezTo>
                <a:close/>
                <a:moveTo>
                  <a:pt x="5614482" y="177838"/>
                </a:moveTo>
                <a:cubicBezTo>
                  <a:pt x="5614482" y="144829"/>
                  <a:pt x="5612536" y="111820"/>
                  <a:pt x="5597955" y="81238"/>
                </a:cubicBezTo>
                <a:cubicBezTo>
                  <a:pt x="5579024" y="41433"/>
                  <a:pt x="5545058" y="35123"/>
                  <a:pt x="5528074" y="35123"/>
                </a:cubicBezTo>
                <a:cubicBezTo>
                  <a:pt x="5503303" y="35123"/>
                  <a:pt x="5472733" y="45802"/>
                  <a:pt x="5456205" y="84151"/>
                </a:cubicBezTo>
                <a:cubicBezTo>
                  <a:pt x="5442618" y="112791"/>
                  <a:pt x="5440672" y="144829"/>
                  <a:pt x="5440672" y="177838"/>
                </a:cubicBezTo>
                <a:cubicBezTo>
                  <a:pt x="5440672" y="208905"/>
                  <a:pt x="5442618" y="245797"/>
                  <a:pt x="5459146" y="277350"/>
                </a:cubicBezTo>
                <a:cubicBezTo>
                  <a:pt x="5477082" y="310845"/>
                  <a:pt x="5507197" y="319097"/>
                  <a:pt x="5527577" y="319097"/>
                </a:cubicBezTo>
                <a:cubicBezTo>
                  <a:pt x="5549904" y="319097"/>
                  <a:pt x="5580971" y="310359"/>
                  <a:pt x="5599405" y="271040"/>
                </a:cubicBezTo>
                <a:cubicBezTo>
                  <a:pt x="5612536" y="242400"/>
                  <a:pt x="5614482" y="210362"/>
                  <a:pt x="5614482" y="177838"/>
                </a:cubicBezTo>
                <a:close/>
                <a:moveTo>
                  <a:pt x="5580019" y="172984"/>
                </a:moveTo>
                <a:cubicBezTo>
                  <a:pt x="5580019" y="204051"/>
                  <a:pt x="5580019" y="231720"/>
                  <a:pt x="5575628" y="258419"/>
                </a:cubicBezTo>
                <a:cubicBezTo>
                  <a:pt x="5569332" y="297253"/>
                  <a:pt x="5546010" y="309874"/>
                  <a:pt x="5527577" y="309874"/>
                </a:cubicBezTo>
                <a:cubicBezTo>
                  <a:pt x="5511546" y="309874"/>
                  <a:pt x="5486817" y="299680"/>
                  <a:pt x="5479526" y="259875"/>
                </a:cubicBezTo>
                <a:cubicBezTo>
                  <a:pt x="5475136" y="235118"/>
                  <a:pt x="5475136" y="197255"/>
                  <a:pt x="5475136" y="172984"/>
                </a:cubicBezTo>
                <a:cubicBezTo>
                  <a:pt x="5475136" y="146285"/>
                  <a:pt x="5475136" y="119101"/>
                  <a:pt x="5478532" y="96772"/>
                </a:cubicBezTo>
                <a:cubicBezTo>
                  <a:pt x="5486320" y="47744"/>
                  <a:pt x="5516890" y="44346"/>
                  <a:pt x="5527577" y="44346"/>
                </a:cubicBezTo>
                <a:cubicBezTo>
                  <a:pt x="5541164" y="44346"/>
                  <a:pt x="5568337" y="51627"/>
                  <a:pt x="5576125" y="92403"/>
                </a:cubicBezTo>
                <a:cubicBezTo>
                  <a:pt x="5579977" y="115703"/>
                  <a:pt x="5579977" y="146771"/>
                  <a:pt x="5579977" y="172984"/>
                </a:cubicBezTo>
                <a:close/>
                <a:moveTo>
                  <a:pt x="5710211" y="288030"/>
                </a:moveTo>
                <a:cubicBezTo>
                  <a:pt x="5710211" y="275894"/>
                  <a:pt x="5700518" y="266185"/>
                  <a:pt x="5688381" y="266185"/>
                </a:cubicBezTo>
                <a:cubicBezTo>
                  <a:pt x="5676742" y="266185"/>
                  <a:pt x="5666510" y="275894"/>
                  <a:pt x="5666510" y="288030"/>
                </a:cubicBezTo>
                <a:cubicBezTo>
                  <a:pt x="5666510" y="300165"/>
                  <a:pt x="5676742" y="309874"/>
                  <a:pt x="5688381" y="309874"/>
                </a:cubicBezTo>
                <a:cubicBezTo>
                  <a:pt x="5700518" y="309874"/>
                  <a:pt x="5710211" y="300165"/>
                  <a:pt x="5710211" y="288030"/>
                </a:cubicBezTo>
                <a:close/>
                <a:moveTo>
                  <a:pt x="5935594" y="177838"/>
                </a:moveTo>
                <a:cubicBezTo>
                  <a:pt x="5935594" y="144829"/>
                  <a:pt x="5933647" y="111820"/>
                  <a:pt x="5919066" y="81238"/>
                </a:cubicBezTo>
                <a:cubicBezTo>
                  <a:pt x="5900135" y="41433"/>
                  <a:pt x="5866169" y="35123"/>
                  <a:pt x="5849185" y="35123"/>
                </a:cubicBezTo>
                <a:cubicBezTo>
                  <a:pt x="5824414" y="35123"/>
                  <a:pt x="5793844" y="45802"/>
                  <a:pt x="5777316" y="84151"/>
                </a:cubicBezTo>
                <a:cubicBezTo>
                  <a:pt x="5763729" y="112791"/>
                  <a:pt x="5761783" y="144829"/>
                  <a:pt x="5761783" y="177838"/>
                </a:cubicBezTo>
                <a:cubicBezTo>
                  <a:pt x="5761783" y="208905"/>
                  <a:pt x="5763729" y="245797"/>
                  <a:pt x="5780257" y="277350"/>
                </a:cubicBezTo>
                <a:cubicBezTo>
                  <a:pt x="5798193" y="310845"/>
                  <a:pt x="5828308" y="319097"/>
                  <a:pt x="5848689" y="319097"/>
                </a:cubicBezTo>
                <a:cubicBezTo>
                  <a:pt x="5871015" y="319097"/>
                  <a:pt x="5902082" y="310359"/>
                  <a:pt x="5920516" y="271040"/>
                </a:cubicBezTo>
                <a:cubicBezTo>
                  <a:pt x="5933647" y="242400"/>
                  <a:pt x="5935594" y="210362"/>
                  <a:pt x="5935594" y="177838"/>
                </a:cubicBezTo>
                <a:close/>
                <a:moveTo>
                  <a:pt x="5901089" y="172984"/>
                </a:moveTo>
                <a:cubicBezTo>
                  <a:pt x="5901089" y="204051"/>
                  <a:pt x="5901089" y="231720"/>
                  <a:pt x="5896739" y="258419"/>
                </a:cubicBezTo>
                <a:cubicBezTo>
                  <a:pt x="5890443" y="297253"/>
                  <a:pt x="5867121" y="309874"/>
                  <a:pt x="5848689" y="309874"/>
                </a:cubicBezTo>
                <a:cubicBezTo>
                  <a:pt x="5832657" y="309874"/>
                  <a:pt x="5807887" y="299680"/>
                  <a:pt x="5800638" y="259875"/>
                </a:cubicBezTo>
                <a:cubicBezTo>
                  <a:pt x="5796247" y="235118"/>
                  <a:pt x="5796247" y="197255"/>
                  <a:pt x="5796247" y="172984"/>
                </a:cubicBezTo>
                <a:cubicBezTo>
                  <a:pt x="5796247" y="146285"/>
                  <a:pt x="5796247" y="119101"/>
                  <a:pt x="5799643" y="96772"/>
                </a:cubicBezTo>
                <a:cubicBezTo>
                  <a:pt x="5807431" y="47744"/>
                  <a:pt x="5838001" y="44346"/>
                  <a:pt x="5848689" y="44346"/>
                </a:cubicBezTo>
                <a:cubicBezTo>
                  <a:pt x="5862275" y="44346"/>
                  <a:pt x="5889448" y="51627"/>
                  <a:pt x="5897236" y="92403"/>
                </a:cubicBezTo>
                <a:cubicBezTo>
                  <a:pt x="5901089" y="115703"/>
                  <a:pt x="5901089" y="146771"/>
                  <a:pt x="5901089" y="172984"/>
                </a:cubicBezTo>
                <a:close/>
                <a:moveTo>
                  <a:pt x="6124897" y="309874"/>
                </a:moveTo>
                <a:lnTo>
                  <a:pt x="6124897" y="297253"/>
                </a:lnTo>
                <a:lnTo>
                  <a:pt x="6111766" y="297253"/>
                </a:lnTo>
                <a:cubicBezTo>
                  <a:pt x="6074402" y="297253"/>
                  <a:pt x="6073450" y="292399"/>
                  <a:pt x="6073450" y="277350"/>
                </a:cubicBezTo>
                <a:lnTo>
                  <a:pt x="6073450" y="45802"/>
                </a:lnTo>
                <a:cubicBezTo>
                  <a:pt x="6073450" y="36093"/>
                  <a:pt x="6073450" y="35123"/>
                  <a:pt x="6063715" y="35123"/>
                </a:cubicBezTo>
                <a:cubicBezTo>
                  <a:pt x="6038488" y="61336"/>
                  <a:pt x="6002077" y="61336"/>
                  <a:pt x="5988988" y="61336"/>
                </a:cubicBezTo>
                <a:lnTo>
                  <a:pt x="5988988" y="74442"/>
                </a:lnTo>
                <a:cubicBezTo>
                  <a:pt x="5997231" y="74442"/>
                  <a:pt x="6021505" y="74442"/>
                  <a:pt x="6042838" y="63763"/>
                </a:cubicBezTo>
                <a:lnTo>
                  <a:pt x="6042838" y="277350"/>
                </a:lnTo>
                <a:cubicBezTo>
                  <a:pt x="6042838" y="291913"/>
                  <a:pt x="6041388" y="297253"/>
                  <a:pt x="6004522" y="297253"/>
                </a:cubicBezTo>
                <a:lnTo>
                  <a:pt x="5991390" y="297253"/>
                </a:lnTo>
                <a:lnTo>
                  <a:pt x="5991390" y="309874"/>
                </a:lnTo>
                <a:cubicBezTo>
                  <a:pt x="6005972" y="308418"/>
                  <a:pt x="6041388" y="308418"/>
                  <a:pt x="6057916" y="308418"/>
                </a:cubicBezTo>
                <a:cubicBezTo>
                  <a:pt x="6074402" y="308418"/>
                  <a:pt x="6110316" y="308418"/>
                  <a:pt x="6124897" y="309874"/>
                </a:cubicBezTo>
                <a:close/>
                <a:moveTo>
                  <a:pt x="6242373" y="309388"/>
                </a:moveTo>
                <a:cubicBezTo>
                  <a:pt x="6242373" y="283175"/>
                  <a:pt x="6232183" y="266185"/>
                  <a:pt x="6215655" y="266185"/>
                </a:cubicBezTo>
                <a:cubicBezTo>
                  <a:pt x="6201115" y="266185"/>
                  <a:pt x="6193824" y="277350"/>
                  <a:pt x="6193824" y="288030"/>
                </a:cubicBezTo>
                <a:cubicBezTo>
                  <a:pt x="6193824" y="298709"/>
                  <a:pt x="6201115" y="309874"/>
                  <a:pt x="6215655" y="309874"/>
                </a:cubicBezTo>
                <a:cubicBezTo>
                  <a:pt x="6221992" y="309874"/>
                  <a:pt x="6227792" y="307447"/>
                  <a:pt x="6232183" y="303078"/>
                </a:cubicBezTo>
                <a:cubicBezTo>
                  <a:pt x="6233135" y="336087"/>
                  <a:pt x="6221496" y="360844"/>
                  <a:pt x="6203518" y="380261"/>
                </a:cubicBezTo>
                <a:cubicBezTo>
                  <a:pt x="6201115" y="382688"/>
                  <a:pt x="6200618" y="383173"/>
                  <a:pt x="6200618" y="385115"/>
                </a:cubicBezTo>
                <a:cubicBezTo>
                  <a:pt x="6200618" y="388028"/>
                  <a:pt x="6202565" y="389484"/>
                  <a:pt x="6204512" y="389484"/>
                </a:cubicBezTo>
                <a:cubicBezTo>
                  <a:pt x="6209358" y="389484"/>
                  <a:pt x="6242373" y="356960"/>
                  <a:pt x="6242373" y="309388"/>
                </a:cubicBezTo>
                <a:close/>
                <a:moveTo>
                  <a:pt x="6577775" y="127839"/>
                </a:moveTo>
                <a:cubicBezTo>
                  <a:pt x="6577775" y="123470"/>
                  <a:pt x="6576325" y="120072"/>
                  <a:pt x="6569035" y="116674"/>
                </a:cubicBezTo>
                <a:lnTo>
                  <a:pt x="6510794" y="89491"/>
                </a:lnTo>
                <a:lnTo>
                  <a:pt x="6568082" y="62307"/>
                </a:lnTo>
                <a:cubicBezTo>
                  <a:pt x="6576325" y="58423"/>
                  <a:pt x="6577775" y="55510"/>
                  <a:pt x="6577775" y="50656"/>
                </a:cubicBezTo>
                <a:cubicBezTo>
                  <a:pt x="6577775" y="45317"/>
                  <a:pt x="6573425" y="39006"/>
                  <a:pt x="6566632" y="39006"/>
                </a:cubicBezTo>
                <a:cubicBezTo>
                  <a:pt x="6563732" y="39006"/>
                  <a:pt x="6562738" y="39006"/>
                  <a:pt x="6552051" y="47259"/>
                </a:cubicBezTo>
                <a:lnTo>
                  <a:pt x="6506445" y="80753"/>
                </a:lnTo>
                <a:lnTo>
                  <a:pt x="6512741" y="10851"/>
                </a:lnTo>
                <a:cubicBezTo>
                  <a:pt x="6512741" y="4541"/>
                  <a:pt x="6507397" y="172"/>
                  <a:pt x="6502054" y="172"/>
                </a:cubicBezTo>
                <a:cubicBezTo>
                  <a:pt x="6495260" y="172"/>
                  <a:pt x="6490911" y="5512"/>
                  <a:pt x="6490911" y="10851"/>
                </a:cubicBezTo>
                <a:lnTo>
                  <a:pt x="6496710" y="80753"/>
                </a:lnTo>
                <a:lnTo>
                  <a:pt x="6445759" y="43860"/>
                </a:lnTo>
                <a:cubicBezTo>
                  <a:pt x="6439919" y="39006"/>
                  <a:pt x="6438967" y="39006"/>
                  <a:pt x="6436522" y="39006"/>
                </a:cubicBezTo>
                <a:cubicBezTo>
                  <a:pt x="6430226" y="39006"/>
                  <a:pt x="6425380" y="45317"/>
                  <a:pt x="6425380" y="50656"/>
                </a:cubicBezTo>
                <a:cubicBezTo>
                  <a:pt x="6425380" y="55510"/>
                  <a:pt x="6427326" y="58423"/>
                  <a:pt x="6434120" y="61821"/>
                </a:cubicBezTo>
                <a:lnTo>
                  <a:pt x="6492360" y="89005"/>
                </a:lnTo>
                <a:lnTo>
                  <a:pt x="6435072" y="116189"/>
                </a:lnTo>
                <a:cubicBezTo>
                  <a:pt x="6427326" y="120072"/>
                  <a:pt x="6425380" y="122985"/>
                  <a:pt x="6425380" y="127839"/>
                </a:cubicBezTo>
                <a:cubicBezTo>
                  <a:pt x="6425380" y="127839"/>
                  <a:pt x="6425380" y="139489"/>
                  <a:pt x="6438967" y="139489"/>
                </a:cubicBezTo>
                <a:lnTo>
                  <a:pt x="6496710" y="97743"/>
                </a:lnTo>
                <a:lnTo>
                  <a:pt x="6490911" y="168129"/>
                </a:lnTo>
                <a:cubicBezTo>
                  <a:pt x="6490911" y="173955"/>
                  <a:pt x="6496254" y="178323"/>
                  <a:pt x="6501598" y="178323"/>
                </a:cubicBezTo>
                <a:cubicBezTo>
                  <a:pt x="6507894" y="178323"/>
                  <a:pt x="6512741" y="173469"/>
                  <a:pt x="6512741" y="168129"/>
                </a:cubicBezTo>
                <a:lnTo>
                  <a:pt x="6506445" y="97743"/>
                </a:lnTo>
                <a:lnTo>
                  <a:pt x="6559839" y="137062"/>
                </a:lnTo>
                <a:cubicBezTo>
                  <a:pt x="6562241" y="138033"/>
                  <a:pt x="6563236" y="139489"/>
                  <a:pt x="6566632" y="139489"/>
                </a:cubicBezTo>
                <a:cubicBezTo>
                  <a:pt x="6573425" y="139489"/>
                  <a:pt x="6577775" y="133179"/>
                  <a:pt x="6577775" y="127839"/>
                </a:cubicBezTo>
                <a:close/>
                <a:moveTo>
                  <a:pt x="6784102" y="127839"/>
                </a:moveTo>
                <a:cubicBezTo>
                  <a:pt x="6784102" y="123470"/>
                  <a:pt x="6782653" y="120072"/>
                  <a:pt x="6775362" y="116674"/>
                </a:cubicBezTo>
                <a:lnTo>
                  <a:pt x="6717122" y="89491"/>
                </a:lnTo>
                <a:lnTo>
                  <a:pt x="6774410" y="62307"/>
                </a:lnTo>
                <a:cubicBezTo>
                  <a:pt x="6782653" y="58423"/>
                  <a:pt x="6784102" y="55510"/>
                  <a:pt x="6784102" y="50656"/>
                </a:cubicBezTo>
                <a:cubicBezTo>
                  <a:pt x="6784102" y="45317"/>
                  <a:pt x="6779712" y="39006"/>
                  <a:pt x="6772919" y="39006"/>
                </a:cubicBezTo>
                <a:cubicBezTo>
                  <a:pt x="6770019" y="39006"/>
                  <a:pt x="6769066" y="39006"/>
                  <a:pt x="6758379" y="47259"/>
                </a:cubicBezTo>
                <a:lnTo>
                  <a:pt x="6712731" y="80753"/>
                </a:lnTo>
                <a:lnTo>
                  <a:pt x="6719069" y="10851"/>
                </a:lnTo>
                <a:cubicBezTo>
                  <a:pt x="6719069" y="4541"/>
                  <a:pt x="6713725" y="172"/>
                  <a:pt x="6708382" y="172"/>
                </a:cubicBezTo>
                <a:cubicBezTo>
                  <a:pt x="6701588" y="172"/>
                  <a:pt x="6697197" y="5512"/>
                  <a:pt x="6697197" y="10851"/>
                </a:cubicBezTo>
                <a:lnTo>
                  <a:pt x="6703038" y="80753"/>
                </a:lnTo>
                <a:lnTo>
                  <a:pt x="6652046" y="43860"/>
                </a:lnTo>
                <a:cubicBezTo>
                  <a:pt x="6646247" y="39006"/>
                  <a:pt x="6645253" y="39006"/>
                  <a:pt x="6642850" y="39006"/>
                </a:cubicBezTo>
                <a:cubicBezTo>
                  <a:pt x="6636513" y="39006"/>
                  <a:pt x="6631666" y="45317"/>
                  <a:pt x="6631666" y="50656"/>
                </a:cubicBezTo>
                <a:cubicBezTo>
                  <a:pt x="6631666" y="55510"/>
                  <a:pt x="6633613" y="58423"/>
                  <a:pt x="6640406" y="61821"/>
                </a:cubicBezTo>
                <a:lnTo>
                  <a:pt x="6698647" y="89005"/>
                </a:lnTo>
                <a:lnTo>
                  <a:pt x="6641401" y="116189"/>
                </a:lnTo>
                <a:cubicBezTo>
                  <a:pt x="6633613" y="120072"/>
                  <a:pt x="6631666" y="122985"/>
                  <a:pt x="6631666" y="127839"/>
                </a:cubicBezTo>
                <a:cubicBezTo>
                  <a:pt x="6631666" y="127839"/>
                  <a:pt x="6631666" y="139489"/>
                  <a:pt x="6645253" y="139489"/>
                </a:cubicBezTo>
                <a:lnTo>
                  <a:pt x="6703038" y="97743"/>
                </a:lnTo>
                <a:lnTo>
                  <a:pt x="6697197" y="168129"/>
                </a:lnTo>
                <a:cubicBezTo>
                  <a:pt x="6697197" y="173955"/>
                  <a:pt x="6702541" y="178323"/>
                  <a:pt x="6707884" y="178323"/>
                </a:cubicBezTo>
                <a:cubicBezTo>
                  <a:pt x="6714181" y="178323"/>
                  <a:pt x="6719069" y="173469"/>
                  <a:pt x="6719069" y="168129"/>
                </a:cubicBezTo>
                <a:lnTo>
                  <a:pt x="6712731" y="97743"/>
                </a:lnTo>
                <a:lnTo>
                  <a:pt x="6766125" y="137062"/>
                </a:lnTo>
                <a:cubicBezTo>
                  <a:pt x="6768569" y="138033"/>
                  <a:pt x="6769522" y="139489"/>
                  <a:pt x="6772919" y="139489"/>
                </a:cubicBezTo>
                <a:cubicBezTo>
                  <a:pt x="6779712" y="139489"/>
                  <a:pt x="6784102" y="133179"/>
                  <a:pt x="6784102" y="127839"/>
                </a:cubicBezTo>
                <a:close/>
                <a:moveTo>
                  <a:pt x="6990390" y="127839"/>
                </a:moveTo>
                <a:cubicBezTo>
                  <a:pt x="6990390" y="123470"/>
                  <a:pt x="6988940" y="120072"/>
                  <a:pt x="6981649" y="116674"/>
                </a:cubicBezTo>
                <a:lnTo>
                  <a:pt x="6923408" y="89491"/>
                </a:lnTo>
                <a:lnTo>
                  <a:pt x="6980696" y="62307"/>
                </a:lnTo>
                <a:cubicBezTo>
                  <a:pt x="6988940" y="58423"/>
                  <a:pt x="6990390" y="55510"/>
                  <a:pt x="6990390" y="50656"/>
                </a:cubicBezTo>
                <a:cubicBezTo>
                  <a:pt x="6990390" y="45317"/>
                  <a:pt x="6986040" y="39006"/>
                  <a:pt x="6979247" y="39006"/>
                </a:cubicBezTo>
                <a:cubicBezTo>
                  <a:pt x="6976347" y="39006"/>
                  <a:pt x="6975353" y="39006"/>
                  <a:pt x="6964666" y="47259"/>
                </a:cubicBezTo>
                <a:lnTo>
                  <a:pt x="6919059" y="80753"/>
                </a:lnTo>
                <a:lnTo>
                  <a:pt x="6925355" y="10851"/>
                </a:lnTo>
                <a:cubicBezTo>
                  <a:pt x="6925355" y="4541"/>
                  <a:pt x="6920012" y="172"/>
                  <a:pt x="6914668" y="172"/>
                </a:cubicBezTo>
                <a:cubicBezTo>
                  <a:pt x="6907875" y="172"/>
                  <a:pt x="6903525" y="5512"/>
                  <a:pt x="6903525" y="10851"/>
                </a:cubicBezTo>
                <a:lnTo>
                  <a:pt x="6909325" y="80753"/>
                </a:lnTo>
                <a:lnTo>
                  <a:pt x="6858375" y="43860"/>
                </a:lnTo>
                <a:cubicBezTo>
                  <a:pt x="6852534" y="39006"/>
                  <a:pt x="6851581" y="39006"/>
                  <a:pt x="6849137" y="39006"/>
                </a:cubicBezTo>
                <a:cubicBezTo>
                  <a:pt x="6842841" y="39006"/>
                  <a:pt x="6837994" y="45317"/>
                  <a:pt x="6837994" y="50656"/>
                </a:cubicBezTo>
                <a:cubicBezTo>
                  <a:pt x="6837994" y="55510"/>
                  <a:pt x="6839941" y="58423"/>
                  <a:pt x="6846734" y="61821"/>
                </a:cubicBezTo>
                <a:lnTo>
                  <a:pt x="6904975" y="89005"/>
                </a:lnTo>
                <a:lnTo>
                  <a:pt x="6847687" y="116189"/>
                </a:lnTo>
                <a:cubicBezTo>
                  <a:pt x="6839941" y="120072"/>
                  <a:pt x="6837994" y="122985"/>
                  <a:pt x="6837994" y="127839"/>
                </a:cubicBezTo>
                <a:cubicBezTo>
                  <a:pt x="6837994" y="127839"/>
                  <a:pt x="6837994" y="139489"/>
                  <a:pt x="6851581" y="139489"/>
                </a:cubicBezTo>
                <a:lnTo>
                  <a:pt x="6909325" y="97743"/>
                </a:lnTo>
                <a:lnTo>
                  <a:pt x="6903525" y="168129"/>
                </a:lnTo>
                <a:cubicBezTo>
                  <a:pt x="6903525" y="173955"/>
                  <a:pt x="6908869" y="178323"/>
                  <a:pt x="6914212" y="178323"/>
                </a:cubicBezTo>
                <a:cubicBezTo>
                  <a:pt x="6920509" y="178323"/>
                  <a:pt x="6925355" y="173469"/>
                  <a:pt x="6925355" y="168129"/>
                </a:cubicBezTo>
                <a:lnTo>
                  <a:pt x="6919059" y="97743"/>
                </a:lnTo>
                <a:lnTo>
                  <a:pt x="6972453" y="137062"/>
                </a:lnTo>
                <a:cubicBezTo>
                  <a:pt x="6974856" y="138033"/>
                  <a:pt x="6975850" y="139489"/>
                  <a:pt x="6979247" y="139489"/>
                </a:cubicBezTo>
                <a:cubicBezTo>
                  <a:pt x="6986040" y="139489"/>
                  <a:pt x="6990390" y="133179"/>
                  <a:pt x="6990390" y="127839"/>
                </a:cubicBezTo>
                <a:close/>
                <a:moveTo>
                  <a:pt x="203542" y="715811"/>
                </a:moveTo>
                <a:cubicBezTo>
                  <a:pt x="203542" y="663385"/>
                  <a:pt x="163252" y="622609"/>
                  <a:pt x="117137" y="622609"/>
                </a:cubicBezTo>
                <a:cubicBezTo>
                  <a:pt x="85098" y="622609"/>
                  <a:pt x="67623" y="641056"/>
                  <a:pt x="59371" y="649793"/>
                </a:cubicBezTo>
                <a:lnTo>
                  <a:pt x="59371" y="622609"/>
                </a:lnTo>
                <a:lnTo>
                  <a:pt x="149" y="627464"/>
                </a:lnTo>
                <a:lnTo>
                  <a:pt x="149" y="640085"/>
                </a:lnTo>
                <a:cubicBezTo>
                  <a:pt x="29274" y="640085"/>
                  <a:pt x="32187" y="642512"/>
                  <a:pt x="32187" y="660473"/>
                </a:cubicBezTo>
                <a:lnTo>
                  <a:pt x="32187" y="853672"/>
                </a:lnTo>
                <a:cubicBezTo>
                  <a:pt x="32187" y="872602"/>
                  <a:pt x="27818" y="872602"/>
                  <a:pt x="149" y="872602"/>
                </a:cubicBezTo>
                <a:lnTo>
                  <a:pt x="149" y="885224"/>
                </a:lnTo>
                <a:lnTo>
                  <a:pt x="46264" y="883770"/>
                </a:lnTo>
                <a:lnTo>
                  <a:pt x="92865" y="885224"/>
                </a:lnTo>
                <a:lnTo>
                  <a:pt x="92865" y="872602"/>
                </a:lnTo>
                <a:cubicBezTo>
                  <a:pt x="65196" y="872602"/>
                  <a:pt x="60827" y="872602"/>
                  <a:pt x="60827" y="853672"/>
                </a:cubicBezTo>
                <a:lnTo>
                  <a:pt x="60827" y="780859"/>
                </a:lnTo>
                <a:cubicBezTo>
                  <a:pt x="62769" y="787167"/>
                  <a:pt x="80244" y="809499"/>
                  <a:pt x="111311" y="809499"/>
                </a:cubicBezTo>
                <a:cubicBezTo>
                  <a:pt x="160339" y="809499"/>
                  <a:pt x="203542" y="769206"/>
                  <a:pt x="203542" y="715811"/>
                </a:cubicBezTo>
                <a:close/>
                <a:moveTo>
                  <a:pt x="169077" y="715811"/>
                </a:moveTo>
                <a:cubicBezTo>
                  <a:pt x="169077" y="765810"/>
                  <a:pt x="140437" y="800762"/>
                  <a:pt x="109855" y="800762"/>
                </a:cubicBezTo>
                <a:cubicBezTo>
                  <a:pt x="93351" y="800762"/>
                  <a:pt x="77817" y="792507"/>
                  <a:pt x="66652" y="775519"/>
                </a:cubicBezTo>
                <a:cubicBezTo>
                  <a:pt x="60827" y="766783"/>
                  <a:pt x="60827" y="766294"/>
                  <a:pt x="60827" y="758043"/>
                </a:cubicBezTo>
                <a:lnTo>
                  <a:pt x="60827" y="666298"/>
                </a:lnTo>
                <a:cubicBezTo>
                  <a:pt x="72477" y="644939"/>
                  <a:pt x="92865" y="633289"/>
                  <a:pt x="113739" y="633289"/>
                </a:cubicBezTo>
                <a:cubicBezTo>
                  <a:pt x="143835" y="633289"/>
                  <a:pt x="169077" y="669210"/>
                  <a:pt x="169077" y="715811"/>
                </a:cubicBezTo>
                <a:close/>
                <a:moveTo>
                  <a:pt x="641276" y="813384"/>
                </a:moveTo>
                <a:cubicBezTo>
                  <a:pt x="641276" y="809014"/>
                  <a:pt x="638364" y="806586"/>
                  <a:pt x="633509" y="804159"/>
                </a:cubicBezTo>
                <a:lnTo>
                  <a:pt x="417008" y="701734"/>
                </a:lnTo>
                <a:lnTo>
                  <a:pt x="633509" y="599794"/>
                </a:lnTo>
                <a:cubicBezTo>
                  <a:pt x="638364" y="597368"/>
                  <a:pt x="641276" y="594941"/>
                  <a:pt x="641276" y="590572"/>
                </a:cubicBezTo>
                <a:cubicBezTo>
                  <a:pt x="641276" y="586203"/>
                  <a:pt x="637391" y="582319"/>
                  <a:pt x="633025" y="582319"/>
                </a:cubicBezTo>
                <a:cubicBezTo>
                  <a:pt x="631567" y="582319"/>
                  <a:pt x="631082" y="582319"/>
                  <a:pt x="625743" y="585232"/>
                </a:cubicBezTo>
                <a:lnTo>
                  <a:pt x="397106" y="692996"/>
                </a:lnTo>
                <a:cubicBezTo>
                  <a:pt x="392252" y="694938"/>
                  <a:pt x="389339" y="696880"/>
                  <a:pt x="389339" y="701734"/>
                </a:cubicBezTo>
                <a:cubicBezTo>
                  <a:pt x="389339" y="707074"/>
                  <a:pt x="392252" y="709015"/>
                  <a:pt x="397106" y="710957"/>
                </a:cubicBezTo>
                <a:lnTo>
                  <a:pt x="625743" y="818723"/>
                </a:lnTo>
                <a:cubicBezTo>
                  <a:pt x="631082" y="821635"/>
                  <a:pt x="631567" y="821635"/>
                  <a:pt x="633025" y="821635"/>
                </a:cubicBezTo>
                <a:cubicBezTo>
                  <a:pt x="637391" y="821635"/>
                  <a:pt x="641276" y="817750"/>
                  <a:pt x="641276" y="813384"/>
                </a:cubicBezTo>
                <a:close/>
                <a:moveTo>
                  <a:pt x="1003160" y="673094"/>
                </a:moveTo>
                <a:cubicBezTo>
                  <a:pt x="1003160" y="640085"/>
                  <a:pt x="1001217" y="607076"/>
                  <a:pt x="986657" y="576494"/>
                </a:cubicBezTo>
                <a:cubicBezTo>
                  <a:pt x="967723" y="536689"/>
                  <a:pt x="933743" y="530379"/>
                  <a:pt x="916756" y="530379"/>
                </a:cubicBezTo>
                <a:cubicBezTo>
                  <a:pt x="891997" y="530379"/>
                  <a:pt x="861415" y="541058"/>
                  <a:pt x="844912" y="579407"/>
                </a:cubicBezTo>
                <a:cubicBezTo>
                  <a:pt x="831321" y="608047"/>
                  <a:pt x="829378" y="640085"/>
                  <a:pt x="829378" y="673094"/>
                </a:cubicBezTo>
                <a:cubicBezTo>
                  <a:pt x="829378" y="704161"/>
                  <a:pt x="831321" y="741055"/>
                  <a:pt x="847824" y="772607"/>
                </a:cubicBezTo>
                <a:cubicBezTo>
                  <a:pt x="865785" y="806102"/>
                  <a:pt x="895883" y="814353"/>
                  <a:pt x="916267" y="814353"/>
                </a:cubicBezTo>
                <a:cubicBezTo>
                  <a:pt x="938598" y="814353"/>
                  <a:pt x="969665" y="805617"/>
                  <a:pt x="988111" y="766294"/>
                </a:cubicBezTo>
                <a:cubicBezTo>
                  <a:pt x="1001217" y="737654"/>
                  <a:pt x="1003160" y="705617"/>
                  <a:pt x="1003160" y="673094"/>
                </a:cubicBezTo>
                <a:close/>
                <a:moveTo>
                  <a:pt x="968696" y="668240"/>
                </a:moveTo>
                <a:cubicBezTo>
                  <a:pt x="968696" y="699307"/>
                  <a:pt x="968696" y="726976"/>
                  <a:pt x="964326" y="753673"/>
                </a:cubicBezTo>
                <a:cubicBezTo>
                  <a:pt x="958017" y="792507"/>
                  <a:pt x="934717" y="805128"/>
                  <a:pt x="916267" y="805128"/>
                </a:cubicBezTo>
                <a:cubicBezTo>
                  <a:pt x="900249" y="805128"/>
                  <a:pt x="875494" y="794934"/>
                  <a:pt x="868212" y="755131"/>
                </a:cubicBezTo>
                <a:cubicBezTo>
                  <a:pt x="863842" y="730372"/>
                  <a:pt x="863842" y="692511"/>
                  <a:pt x="863842" y="668240"/>
                </a:cubicBezTo>
                <a:cubicBezTo>
                  <a:pt x="863842" y="641541"/>
                  <a:pt x="863842" y="614358"/>
                  <a:pt x="867243" y="592028"/>
                </a:cubicBezTo>
                <a:cubicBezTo>
                  <a:pt x="875010" y="543000"/>
                  <a:pt x="905588" y="539602"/>
                  <a:pt x="916267" y="539602"/>
                </a:cubicBezTo>
                <a:cubicBezTo>
                  <a:pt x="929862" y="539602"/>
                  <a:pt x="957044" y="546883"/>
                  <a:pt x="964811" y="587659"/>
                </a:cubicBezTo>
                <a:cubicBezTo>
                  <a:pt x="968696" y="610959"/>
                  <a:pt x="968696" y="642027"/>
                  <a:pt x="968696" y="668240"/>
                </a:cubicBezTo>
                <a:close/>
                <a:moveTo>
                  <a:pt x="1098909" y="783286"/>
                </a:moveTo>
                <a:cubicBezTo>
                  <a:pt x="1098909" y="771149"/>
                  <a:pt x="1089204" y="761440"/>
                  <a:pt x="1077067" y="761440"/>
                </a:cubicBezTo>
                <a:cubicBezTo>
                  <a:pt x="1065415" y="761440"/>
                  <a:pt x="1055221" y="771149"/>
                  <a:pt x="1055221" y="783286"/>
                </a:cubicBezTo>
                <a:cubicBezTo>
                  <a:pt x="1055221" y="795423"/>
                  <a:pt x="1065415" y="805128"/>
                  <a:pt x="1077067" y="805128"/>
                </a:cubicBezTo>
                <a:cubicBezTo>
                  <a:pt x="1089204" y="805128"/>
                  <a:pt x="1098909" y="795423"/>
                  <a:pt x="1098909" y="783286"/>
                </a:cubicBezTo>
                <a:close/>
                <a:moveTo>
                  <a:pt x="1324271" y="673094"/>
                </a:moveTo>
                <a:cubicBezTo>
                  <a:pt x="1324271" y="640085"/>
                  <a:pt x="1322329" y="607076"/>
                  <a:pt x="1307764" y="576494"/>
                </a:cubicBezTo>
                <a:cubicBezTo>
                  <a:pt x="1288834" y="536689"/>
                  <a:pt x="1254855" y="530379"/>
                  <a:pt x="1237863" y="530379"/>
                </a:cubicBezTo>
                <a:cubicBezTo>
                  <a:pt x="1213109" y="530379"/>
                  <a:pt x="1182526" y="541058"/>
                  <a:pt x="1166019" y="579407"/>
                </a:cubicBezTo>
                <a:cubicBezTo>
                  <a:pt x="1152428" y="608047"/>
                  <a:pt x="1150485" y="640085"/>
                  <a:pt x="1150485" y="673094"/>
                </a:cubicBezTo>
                <a:cubicBezTo>
                  <a:pt x="1150485" y="704161"/>
                  <a:pt x="1152428" y="741055"/>
                  <a:pt x="1168935" y="772607"/>
                </a:cubicBezTo>
                <a:cubicBezTo>
                  <a:pt x="1186896" y="806102"/>
                  <a:pt x="1216990" y="814353"/>
                  <a:pt x="1237378" y="814353"/>
                </a:cubicBezTo>
                <a:cubicBezTo>
                  <a:pt x="1259709" y="814353"/>
                  <a:pt x="1290777" y="805617"/>
                  <a:pt x="1309222" y="766294"/>
                </a:cubicBezTo>
                <a:cubicBezTo>
                  <a:pt x="1322329" y="737654"/>
                  <a:pt x="1324271" y="705617"/>
                  <a:pt x="1324271" y="673094"/>
                </a:cubicBezTo>
                <a:close/>
                <a:moveTo>
                  <a:pt x="1289803" y="668240"/>
                </a:moveTo>
                <a:cubicBezTo>
                  <a:pt x="1289803" y="699307"/>
                  <a:pt x="1289803" y="726976"/>
                  <a:pt x="1285437" y="753673"/>
                </a:cubicBezTo>
                <a:cubicBezTo>
                  <a:pt x="1279124" y="792507"/>
                  <a:pt x="1255824" y="805128"/>
                  <a:pt x="1237378" y="805128"/>
                </a:cubicBezTo>
                <a:cubicBezTo>
                  <a:pt x="1221360" y="805128"/>
                  <a:pt x="1196602" y="794934"/>
                  <a:pt x="1189319" y="755131"/>
                </a:cubicBezTo>
                <a:cubicBezTo>
                  <a:pt x="1184953" y="730372"/>
                  <a:pt x="1184953" y="692511"/>
                  <a:pt x="1184953" y="668240"/>
                </a:cubicBezTo>
                <a:cubicBezTo>
                  <a:pt x="1184953" y="641541"/>
                  <a:pt x="1184953" y="614358"/>
                  <a:pt x="1188350" y="592028"/>
                </a:cubicBezTo>
                <a:cubicBezTo>
                  <a:pt x="1196117" y="543000"/>
                  <a:pt x="1226699" y="539602"/>
                  <a:pt x="1237378" y="539602"/>
                </a:cubicBezTo>
                <a:cubicBezTo>
                  <a:pt x="1250969" y="539602"/>
                  <a:pt x="1278155" y="546883"/>
                  <a:pt x="1285922" y="587659"/>
                </a:cubicBezTo>
                <a:cubicBezTo>
                  <a:pt x="1289803" y="610959"/>
                  <a:pt x="1289803" y="642027"/>
                  <a:pt x="1289803" y="668240"/>
                </a:cubicBezTo>
                <a:close/>
                <a:moveTo>
                  <a:pt x="1530575" y="673094"/>
                </a:moveTo>
                <a:cubicBezTo>
                  <a:pt x="1530575" y="640085"/>
                  <a:pt x="1528636" y="607076"/>
                  <a:pt x="1514072" y="576494"/>
                </a:cubicBezTo>
                <a:cubicBezTo>
                  <a:pt x="1495141" y="536689"/>
                  <a:pt x="1461158" y="530379"/>
                  <a:pt x="1444170" y="530379"/>
                </a:cubicBezTo>
                <a:cubicBezTo>
                  <a:pt x="1419412" y="530379"/>
                  <a:pt x="1388833" y="541058"/>
                  <a:pt x="1372326" y="579407"/>
                </a:cubicBezTo>
                <a:cubicBezTo>
                  <a:pt x="1358735" y="608047"/>
                  <a:pt x="1356793" y="640085"/>
                  <a:pt x="1356793" y="673094"/>
                </a:cubicBezTo>
                <a:cubicBezTo>
                  <a:pt x="1356793" y="704161"/>
                  <a:pt x="1358735" y="741055"/>
                  <a:pt x="1375238" y="772607"/>
                </a:cubicBezTo>
                <a:cubicBezTo>
                  <a:pt x="1393199" y="806102"/>
                  <a:pt x="1423297" y="814353"/>
                  <a:pt x="1443686" y="814353"/>
                </a:cubicBezTo>
                <a:cubicBezTo>
                  <a:pt x="1466013" y="814353"/>
                  <a:pt x="1497080" y="805617"/>
                  <a:pt x="1515526" y="766294"/>
                </a:cubicBezTo>
                <a:cubicBezTo>
                  <a:pt x="1528636" y="737654"/>
                  <a:pt x="1530575" y="705617"/>
                  <a:pt x="1530575" y="673094"/>
                </a:cubicBezTo>
                <a:close/>
                <a:moveTo>
                  <a:pt x="1496111" y="668240"/>
                </a:moveTo>
                <a:cubicBezTo>
                  <a:pt x="1496111" y="699307"/>
                  <a:pt x="1496111" y="726976"/>
                  <a:pt x="1491740" y="753673"/>
                </a:cubicBezTo>
                <a:cubicBezTo>
                  <a:pt x="1485432" y="792507"/>
                  <a:pt x="1462131" y="805128"/>
                  <a:pt x="1443686" y="805128"/>
                </a:cubicBezTo>
                <a:cubicBezTo>
                  <a:pt x="1427667" y="805128"/>
                  <a:pt x="1402909" y="794934"/>
                  <a:pt x="1395627" y="755131"/>
                </a:cubicBezTo>
                <a:cubicBezTo>
                  <a:pt x="1391256" y="730372"/>
                  <a:pt x="1391256" y="692511"/>
                  <a:pt x="1391256" y="668240"/>
                </a:cubicBezTo>
                <a:cubicBezTo>
                  <a:pt x="1391256" y="641541"/>
                  <a:pt x="1391256" y="614358"/>
                  <a:pt x="1394657" y="592028"/>
                </a:cubicBezTo>
                <a:cubicBezTo>
                  <a:pt x="1402424" y="543000"/>
                  <a:pt x="1433007" y="539602"/>
                  <a:pt x="1443686" y="539602"/>
                </a:cubicBezTo>
                <a:cubicBezTo>
                  <a:pt x="1457277" y="539602"/>
                  <a:pt x="1484458" y="546883"/>
                  <a:pt x="1492225" y="587659"/>
                </a:cubicBezTo>
                <a:cubicBezTo>
                  <a:pt x="1496111" y="610959"/>
                  <a:pt x="1496111" y="642027"/>
                  <a:pt x="1496111" y="668240"/>
                </a:cubicBezTo>
                <a:close/>
                <a:moveTo>
                  <a:pt x="1720014" y="805128"/>
                </a:moveTo>
                <a:lnTo>
                  <a:pt x="1720014" y="792507"/>
                </a:lnTo>
                <a:lnTo>
                  <a:pt x="1706908" y="792507"/>
                </a:lnTo>
                <a:cubicBezTo>
                  <a:pt x="1669528" y="792507"/>
                  <a:pt x="1668559" y="787656"/>
                  <a:pt x="1668559" y="772607"/>
                </a:cubicBezTo>
                <a:lnTo>
                  <a:pt x="1668559" y="541058"/>
                </a:lnTo>
                <a:cubicBezTo>
                  <a:pt x="1668559" y="531350"/>
                  <a:pt x="1668559" y="530379"/>
                  <a:pt x="1658849" y="530379"/>
                </a:cubicBezTo>
                <a:cubicBezTo>
                  <a:pt x="1633606" y="556592"/>
                  <a:pt x="1597199" y="556592"/>
                  <a:pt x="1584093" y="556592"/>
                </a:cubicBezTo>
                <a:lnTo>
                  <a:pt x="1584093" y="569698"/>
                </a:lnTo>
                <a:cubicBezTo>
                  <a:pt x="1592345" y="569698"/>
                  <a:pt x="1616619" y="569698"/>
                  <a:pt x="1637976" y="559019"/>
                </a:cubicBezTo>
                <a:lnTo>
                  <a:pt x="1637976" y="772607"/>
                </a:lnTo>
                <a:cubicBezTo>
                  <a:pt x="1637976" y="787167"/>
                  <a:pt x="1636518" y="792507"/>
                  <a:pt x="1599627" y="792507"/>
                </a:cubicBezTo>
                <a:lnTo>
                  <a:pt x="1586521" y="792507"/>
                </a:lnTo>
                <a:lnTo>
                  <a:pt x="1586521" y="805128"/>
                </a:lnTo>
                <a:cubicBezTo>
                  <a:pt x="1601085" y="803674"/>
                  <a:pt x="1636518" y="803674"/>
                  <a:pt x="1653025" y="803674"/>
                </a:cubicBezTo>
                <a:cubicBezTo>
                  <a:pt x="1669528" y="803674"/>
                  <a:pt x="1705450" y="803674"/>
                  <a:pt x="1720014" y="805128"/>
                </a:cubicBezTo>
                <a:close/>
                <a:moveTo>
                  <a:pt x="194319" y="1223687"/>
                </a:moveTo>
                <a:cubicBezTo>
                  <a:pt x="194319" y="1182426"/>
                  <a:pt x="167136" y="1148447"/>
                  <a:pt x="132670" y="1140195"/>
                </a:cubicBezTo>
                <a:lnTo>
                  <a:pt x="79759" y="1127574"/>
                </a:lnTo>
                <a:cubicBezTo>
                  <a:pt x="54031" y="1121265"/>
                  <a:pt x="38012" y="1098934"/>
                  <a:pt x="38012" y="1075149"/>
                </a:cubicBezTo>
                <a:cubicBezTo>
                  <a:pt x="38012" y="1046024"/>
                  <a:pt x="60342" y="1021265"/>
                  <a:pt x="92380" y="1021265"/>
                </a:cubicBezTo>
                <a:cubicBezTo>
                  <a:pt x="161310" y="1021265"/>
                  <a:pt x="170533" y="1088739"/>
                  <a:pt x="172960" y="1107185"/>
                </a:cubicBezTo>
                <a:cubicBezTo>
                  <a:pt x="173446" y="1109612"/>
                  <a:pt x="173446" y="1112040"/>
                  <a:pt x="177815" y="1112040"/>
                </a:cubicBezTo>
                <a:cubicBezTo>
                  <a:pt x="183155" y="1112040"/>
                  <a:pt x="183155" y="1110097"/>
                  <a:pt x="183155" y="1102330"/>
                </a:cubicBezTo>
                <a:lnTo>
                  <a:pt x="183155" y="1019323"/>
                </a:lnTo>
                <a:cubicBezTo>
                  <a:pt x="183155" y="1012529"/>
                  <a:pt x="183155" y="1009617"/>
                  <a:pt x="178786" y="1009617"/>
                </a:cubicBezTo>
                <a:cubicBezTo>
                  <a:pt x="175873" y="1009617"/>
                  <a:pt x="175388" y="1010102"/>
                  <a:pt x="172475" y="1014957"/>
                </a:cubicBezTo>
                <a:lnTo>
                  <a:pt x="157912" y="1038257"/>
                </a:lnTo>
                <a:cubicBezTo>
                  <a:pt x="145777" y="1026605"/>
                  <a:pt x="128787" y="1009617"/>
                  <a:pt x="91894" y="1009617"/>
                </a:cubicBezTo>
                <a:cubicBezTo>
                  <a:pt x="46264" y="1009617"/>
                  <a:pt x="11799" y="1046024"/>
                  <a:pt x="11799" y="1089713"/>
                </a:cubicBezTo>
                <a:cubicBezTo>
                  <a:pt x="11799" y="1123692"/>
                  <a:pt x="33643" y="1153786"/>
                  <a:pt x="65681" y="1164954"/>
                </a:cubicBezTo>
                <a:cubicBezTo>
                  <a:pt x="70050" y="1166892"/>
                  <a:pt x="91409" y="1171747"/>
                  <a:pt x="120049" y="1178545"/>
                </a:cubicBezTo>
                <a:cubicBezTo>
                  <a:pt x="131214" y="1181457"/>
                  <a:pt x="143835" y="1184369"/>
                  <a:pt x="155000" y="1199902"/>
                </a:cubicBezTo>
                <a:cubicBezTo>
                  <a:pt x="163738" y="1210581"/>
                  <a:pt x="168106" y="1224172"/>
                  <a:pt x="168106" y="1237767"/>
                </a:cubicBezTo>
                <a:cubicBezTo>
                  <a:pt x="168106" y="1266892"/>
                  <a:pt x="147233" y="1296501"/>
                  <a:pt x="112768" y="1296501"/>
                </a:cubicBezTo>
                <a:cubicBezTo>
                  <a:pt x="100632" y="1296501"/>
                  <a:pt x="69565" y="1294562"/>
                  <a:pt x="47720" y="1274174"/>
                </a:cubicBezTo>
                <a:cubicBezTo>
                  <a:pt x="23449" y="1252327"/>
                  <a:pt x="22478" y="1225630"/>
                  <a:pt x="21993" y="1211066"/>
                </a:cubicBezTo>
                <a:cubicBezTo>
                  <a:pt x="21508" y="1206700"/>
                  <a:pt x="18110" y="1206700"/>
                  <a:pt x="17139" y="1206700"/>
                </a:cubicBezTo>
                <a:cubicBezTo>
                  <a:pt x="11799" y="1206700"/>
                  <a:pt x="11799" y="1209612"/>
                  <a:pt x="11799" y="1216894"/>
                </a:cubicBezTo>
                <a:lnTo>
                  <a:pt x="11799" y="1299417"/>
                </a:lnTo>
                <a:cubicBezTo>
                  <a:pt x="11799" y="1306695"/>
                  <a:pt x="11799" y="1309607"/>
                  <a:pt x="16168" y="1309607"/>
                </a:cubicBezTo>
                <a:cubicBezTo>
                  <a:pt x="19080" y="1309607"/>
                  <a:pt x="19566" y="1308638"/>
                  <a:pt x="22478" y="1304268"/>
                </a:cubicBezTo>
                <a:cubicBezTo>
                  <a:pt x="22478" y="1304268"/>
                  <a:pt x="23449" y="1302329"/>
                  <a:pt x="37041" y="1280482"/>
                </a:cubicBezTo>
                <a:cubicBezTo>
                  <a:pt x="50148" y="1294562"/>
                  <a:pt x="76361" y="1309607"/>
                  <a:pt x="113253" y="1309607"/>
                </a:cubicBezTo>
                <a:cubicBezTo>
                  <a:pt x="161310" y="1309607"/>
                  <a:pt x="194319" y="1268834"/>
                  <a:pt x="194319" y="1223687"/>
                </a:cubicBezTo>
                <a:close/>
                <a:moveTo>
                  <a:pt x="354752" y="1249415"/>
                </a:moveTo>
                <a:lnTo>
                  <a:pt x="354752" y="1225630"/>
                </a:lnTo>
                <a:lnTo>
                  <a:pt x="344559" y="1225630"/>
                </a:lnTo>
                <a:lnTo>
                  <a:pt x="344559" y="1248446"/>
                </a:lnTo>
                <a:cubicBezTo>
                  <a:pt x="344559" y="1279028"/>
                  <a:pt x="331937" y="1294562"/>
                  <a:pt x="316889" y="1294562"/>
                </a:cubicBezTo>
                <a:cubicBezTo>
                  <a:pt x="289220" y="1294562"/>
                  <a:pt x="289220" y="1257182"/>
                  <a:pt x="289220" y="1249900"/>
                </a:cubicBezTo>
                <a:lnTo>
                  <a:pt x="289220" y="1135340"/>
                </a:lnTo>
                <a:lnTo>
                  <a:pt x="348442" y="1135340"/>
                </a:lnTo>
                <a:lnTo>
                  <a:pt x="348442" y="1122719"/>
                </a:lnTo>
                <a:lnTo>
                  <a:pt x="289220" y="1122719"/>
                </a:lnTo>
                <a:lnTo>
                  <a:pt x="289220" y="1046509"/>
                </a:lnTo>
                <a:lnTo>
                  <a:pt x="279026" y="1046509"/>
                </a:lnTo>
                <a:cubicBezTo>
                  <a:pt x="278541" y="1080488"/>
                  <a:pt x="265919" y="1124661"/>
                  <a:pt x="225629" y="1126120"/>
                </a:cubicBezTo>
                <a:lnTo>
                  <a:pt x="225629" y="1135340"/>
                </a:lnTo>
                <a:lnTo>
                  <a:pt x="260580" y="1135340"/>
                </a:lnTo>
                <a:lnTo>
                  <a:pt x="260580" y="1249415"/>
                </a:lnTo>
                <a:cubicBezTo>
                  <a:pt x="260580" y="1299902"/>
                  <a:pt x="298929" y="1304756"/>
                  <a:pt x="313977" y="1304756"/>
                </a:cubicBezTo>
                <a:cubicBezTo>
                  <a:pt x="343102" y="1304756"/>
                  <a:pt x="354752" y="1275628"/>
                  <a:pt x="354752" y="1249415"/>
                </a:cubicBezTo>
                <a:close/>
                <a:moveTo>
                  <a:pt x="577928" y="1263495"/>
                </a:moveTo>
                <a:lnTo>
                  <a:pt x="577928" y="1240679"/>
                </a:lnTo>
                <a:lnTo>
                  <a:pt x="567249" y="1240679"/>
                </a:lnTo>
                <a:lnTo>
                  <a:pt x="567249" y="1263495"/>
                </a:lnTo>
                <a:cubicBezTo>
                  <a:pt x="567249" y="1287765"/>
                  <a:pt x="557055" y="1290192"/>
                  <a:pt x="552685" y="1290192"/>
                </a:cubicBezTo>
                <a:cubicBezTo>
                  <a:pt x="539094" y="1290192"/>
                  <a:pt x="537151" y="1271262"/>
                  <a:pt x="537151" y="1269319"/>
                </a:cubicBezTo>
                <a:lnTo>
                  <a:pt x="537151" y="1186796"/>
                </a:lnTo>
                <a:cubicBezTo>
                  <a:pt x="537151" y="1169804"/>
                  <a:pt x="537151" y="1153301"/>
                  <a:pt x="522587" y="1138252"/>
                </a:cubicBezTo>
                <a:cubicBezTo>
                  <a:pt x="506569" y="1122234"/>
                  <a:pt x="485695" y="1115437"/>
                  <a:pt x="465792" y="1115437"/>
                </a:cubicBezTo>
                <a:cubicBezTo>
                  <a:pt x="432301" y="1115437"/>
                  <a:pt x="403657" y="1134856"/>
                  <a:pt x="403657" y="1162037"/>
                </a:cubicBezTo>
                <a:cubicBezTo>
                  <a:pt x="403657" y="1174659"/>
                  <a:pt x="411913" y="1181457"/>
                  <a:pt x="422592" y="1181457"/>
                </a:cubicBezTo>
                <a:cubicBezTo>
                  <a:pt x="434240" y="1181457"/>
                  <a:pt x="441522" y="1173205"/>
                  <a:pt x="441522" y="1162526"/>
                </a:cubicBezTo>
                <a:cubicBezTo>
                  <a:pt x="441522" y="1157671"/>
                  <a:pt x="439579" y="1144081"/>
                  <a:pt x="420649" y="1143592"/>
                </a:cubicBezTo>
                <a:cubicBezTo>
                  <a:pt x="431812" y="1129032"/>
                  <a:pt x="451716" y="1124661"/>
                  <a:pt x="465307" y="1124661"/>
                </a:cubicBezTo>
                <a:cubicBezTo>
                  <a:pt x="485211" y="1124661"/>
                  <a:pt x="508996" y="1140680"/>
                  <a:pt x="508996" y="1177571"/>
                </a:cubicBezTo>
                <a:lnTo>
                  <a:pt x="508996" y="1192620"/>
                </a:lnTo>
                <a:cubicBezTo>
                  <a:pt x="487638" y="1194078"/>
                  <a:pt x="458998" y="1195047"/>
                  <a:pt x="432786" y="1207669"/>
                </a:cubicBezTo>
                <a:cubicBezTo>
                  <a:pt x="401717" y="1221749"/>
                  <a:pt x="391524" y="1243106"/>
                  <a:pt x="391524" y="1261067"/>
                </a:cubicBezTo>
                <a:cubicBezTo>
                  <a:pt x="391524" y="1294562"/>
                  <a:pt x="431812" y="1304756"/>
                  <a:pt x="457540" y="1304756"/>
                </a:cubicBezTo>
                <a:cubicBezTo>
                  <a:pt x="484726" y="1304756"/>
                  <a:pt x="503657" y="1288249"/>
                  <a:pt x="511908" y="1268834"/>
                </a:cubicBezTo>
                <a:cubicBezTo>
                  <a:pt x="513366" y="1285337"/>
                  <a:pt x="524530" y="1302814"/>
                  <a:pt x="543949" y="1302814"/>
                </a:cubicBezTo>
                <a:cubicBezTo>
                  <a:pt x="552685" y="1302814"/>
                  <a:pt x="577928" y="1296989"/>
                  <a:pt x="577928" y="1263495"/>
                </a:cubicBezTo>
                <a:close/>
                <a:moveTo>
                  <a:pt x="508996" y="1242622"/>
                </a:moveTo>
                <a:cubicBezTo>
                  <a:pt x="508996" y="1281940"/>
                  <a:pt x="478902" y="1296016"/>
                  <a:pt x="460452" y="1296016"/>
                </a:cubicBezTo>
                <a:cubicBezTo>
                  <a:pt x="440553" y="1296016"/>
                  <a:pt x="423561" y="1281456"/>
                  <a:pt x="423561" y="1260583"/>
                </a:cubicBezTo>
                <a:cubicBezTo>
                  <a:pt x="423561" y="1238252"/>
                  <a:pt x="440553" y="1203788"/>
                  <a:pt x="508996" y="1201360"/>
                </a:cubicBezTo>
                <a:close/>
                <a:moveTo>
                  <a:pt x="805593" y="1300386"/>
                </a:moveTo>
                <a:lnTo>
                  <a:pt x="805593" y="1287765"/>
                </a:lnTo>
                <a:cubicBezTo>
                  <a:pt x="784231" y="1287765"/>
                  <a:pt x="773552" y="1287765"/>
                  <a:pt x="773068" y="1275143"/>
                </a:cubicBezTo>
                <a:lnTo>
                  <a:pt x="773068" y="1196506"/>
                </a:lnTo>
                <a:cubicBezTo>
                  <a:pt x="773068" y="1161068"/>
                  <a:pt x="773068" y="1147962"/>
                  <a:pt x="760446" y="1133398"/>
                </a:cubicBezTo>
                <a:cubicBezTo>
                  <a:pt x="754622" y="1126120"/>
                  <a:pt x="741031" y="1117864"/>
                  <a:pt x="717246" y="1117864"/>
                </a:cubicBezTo>
                <a:cubicBezTo>
                  <a:pt x="687148" y="1117864"/>
                  <a:pt x="667729" y="1135825"/>
                  <a:pt x="656081" y="1161553"/>
                </a:cubicBezTo>
                <a:lnTo>
                  <a:pt x="656081" y="1117864"/>
                </a:lnTo>
                <a:lnTo>
                  <a:pt x="597828" y="1122719"/>
                </a:lnTo>
                <a:lnTo>
                  <a:pt x="597828" y="1135340"/>
                </a:lnTo>
                <a:cubicBezTo>
                  <a:pt x="626956" y="1135340"/>
                  <a:pt x="630353" y="1138252"/>
                  <a:pt x="630353" y="1158641"/>
                </a:cubicBezTo>
                <a:lnTo>
                  <a:pt x="630353" y="1268834"/>
                </a:lnTo>
                <a:cubicBezTo>
                  <a:pt x="630353" y="1287765"/>
                  <a:pt x="625498" y="1287765"/>
                  <a:pt x="597828" y="1287765"/>
                </a:cubicBezTo>
                <a:lnTo>
                  <a:pt x="597828" y="1300386"/>
                </a:lnTo>
                <a:lnTo>
                  <a:pt x="644428" y="1298928"/>
                </a:lnTo>
                <a:lnTo>
                  <a:pt x="690545" y="1300386"/>
                </a:lnTo>
                <a:lnTo>
                  <a:pt x="690545" y="1287765"/>
                </a:lnTo>
                <a:cubicBezTo>
                  <a:pt x="663363" y="1287765"/>
                  <a:pt x="658508" y="1287765"/>
                  <a:pt x="658508" y="1268834"/>
                </a:cubicBezTo>
                <a:lnTo>
                  <a:pt x="658508" y="1193105"/>
                </a:lnTo>
                <a:cubicBezTo>
                  <a:pt x="658508" y="1150389"/>
                  <a:pt x="688117" y="1127089"/>
                  <a:pt x="714330" y="1127089"/>
                </a:cubicBezTo>
                <a:cubicBezTo>
                  <a:pt x="740058" y="1127089"/>
                  <a:pt x="744912" y="1149420"/>
                  <a:pt x="744912" y="1172720"/>
                </a:cubicBezTo>
                <a:lnTo>
                  <a:pt x="744912" y="1268834"/>
                </a:lnTo>
                <a:cubicBezTo>
                  <a:pt x="744912" y="1287765"/>
                  <a:pt x="740058" y="1287765"/>
                  <a:pt x="712876" y="1287765"/>
                </a:cubicBezTo>
                <a:lnTo>
                  <a:pt x="712876" y="1300386"/>
                </a:lnTo>
                <a:lnTo>
                  <a:pt x="759477" y="1298928"/>
                </a:lnTo>
                <a:close/>
                <a:moveTo>
                  <a:pt x="1031680" y="1300386"/>
                </a:moveTo>
                <a:lnTo>
                  <a:pt x="1031680" y="1287765"/>
                </a:lnTo>
                <a:cubicBezTo>
                  <a:pt x="1002555" y="1287765"/>
                  <a:pt x="999639" y="1284853"/>
                  <a:pt x="999639" y="1264464"/>
                </a:cubicBezTo>
                <a:lnTo>
                  <a:pt x="999639" y="1013983"/>
                </a:lnTo>
                <a:lnTo>
                  <a:pt x="939932" y="1018353"/>
                </a:lnTo>
                <a:lnTo>
                  <a:pt x="939932" y="1031460"/>
                </a:lnTo>
                <a:cubicBezTo>
                  <a:pt x="969061" y="1031460"/>
                  <a:pt x="972457" y="1034372"/>
                  <a:pt x="972457" y="1054275"/>
                </a:cubicBezTo>
                <a:lnTo>
                  <a:pt x="972457" y="1143592"/>
                </a:lnTo>
                <a:cubicBezTo>
                  <a:pt x="960320" y="1128547"/>
                  <a:pt x="942359" y="1117864"/>
                  <a:pt x="920032" y="1117864"/>
                </a:cubicBezTo>
                <a:cubicBezTo>
                  <a:pt x="871489" y="1117864"/>
                  <a:pt x="828285" y="1158641"/>
                  <a:pt x="828285" y="1211555"/>
                </a:cubicBezTo>
                <a:cubicBezTo>
                  <a:pt x="828285" y="1263979"/>
                  <a:pt x="868577" y="1304756"/>
                  <a:pt x="915662" y="1304756"/>
                </a:cubicBezTo>
                <a:cubicBezTo>
                  <a:pt x="942359" y="1304756"/>
                  <a:pt x="960805" y="1290677"/>
                  <a:pt x="970999" y="1277570"/>
                </a:cubicBezTo>
                <a:lnTo>
                  <a:pt x="970999" y="1304756"/>
                </a:lnTo>
                <a:close/>
                <a:moveTo>
                  <a:pt x="970999" y="1251843"/>
                </a:moveTo>
                <a:cubicBezTo>
                  <a:pt x="970999" y="1259125"/>
                  <a:pt x="970999" y="1260094"/>
                  <a:pt x="966633" y="1266892"/>
                </a:cubicBezTo>
                <a:cubicBezTo>
                  <a:pt x="954012" y="1286795"/>
                  <a:pt x="935566" y="1296016"/>
                  <a:pt x="917605" y="1296016"/>
                </a:cubicBezTo>
                <a:cubicBezTo>
                  <a:pt x="899159" y="1296016"/>
                  <a:pt x="884595" y="1285337"/>
                  <a:pt x="874401" y="1269319"/>
                </a:cubicBezTo>
                <a:cubicBezTo>
                  <a:pt x="863722" y="1252327"/>
                  <a:pt x="862264" y="1229027"/>
                  <a:pt x="862264" y="1212039"/>
                </a:cubicBezTo>
                <a:cubicBezTo>
                  <a:pt x="862264" y="1196990"/>
                  <a:pt x="863237" y="1172232"/>
                  <a:pt x="875370" y="1153301"/>
                </a:cubicBezTo>
                <a:cubicBezTo>
                  <a:pt x="884110" y="1140680"/>
                  <a:pt x="899644" y="1127089"/>
                  <a:pt x="921971" y="1127089"/>
                </a:cubicBezTo>
                <a:cubicBezTo>
                  <a:pt x="936535" y="1127089"/>
                  <a:pt x="953527" y="1133398"/>
                  <a:pt x="966633" y="1151847"/>
                </a:cubicBezTo>
                <a:cubicBezTo>
                  <a:pt x="970999" y="1158641"/>
                  <a:pt x="970999" y="1159614"/>
                  <a:pt x="970999" y="1166892"/>
                </a:cubicBezTo>
                <a:close/>
                <a:moveTo>
                  <a:pt x="1243202" y="1263495"/>
                </a:moveTo>
                <a:lnTo>
                  <a:pt x="1243202" y="1240679"/>
                </a:lnTo>
                <a:lnTo>
                  <a:pt x="1232524" y="1240679"/>
                </a:lnTo>
                <a:lnTo>
                  <a:pt x="1232524" y="1263495"/>
                </a:lnTo>
                <a:cubicBezTo>
                  <a:pt x="1232524" y="1287765"/>
                  <a:pt x="1222329" y="1290192"/>
                  <a:pt x="1217963" y="1290192"/>
                </a:cubicBezTo>
                <a:cubicBezTo>
                  <a:pt x="1204368" y="1290192"/>
                  <a:pt x="1202430" y="1271262"/>
                  <a:pt x="1202430" y="1269319"/>
                </a:cubicBezTo>
                <a:lnTo>
                  <a:pt x="1202430" y="1186796"/>
                </a:lnTo>
                <a:cubicBezTo>
                  <a:pt x="1202430" y="1169804"/>
                  <a:pt x="1202430" y="1153301"/>
                  <a:pt x="1187865" y="1138252"/>
                </a:cubicBezTo>
                <a:cubicBezTo>
                  <a:pt x="1171847" y="1122234"/>
                  <a:pt x="1150974" y="1115437"/>
                  <a:pt x="1131070" y="1115437"/>
                </a:cubicBezTo>
                <a:cubicBezTo>
                  <a:pt x="1097576" y="1115437"/>
                  <a:pt x="1068936" y="1134856"/>
                  <a:pt x="1068936" y="1162037"/>
                </a:cubicBezTo>
                <a:cubicBezTo>
                  <a:pt x="1068936" y="1174659"/>
                  <a:pt x="1077187" y="1181457"/>
                  <a:pt x="1087866" y="1181457"/>
                </a:cubicBezTo>
                <a:cubicBezTo>
                  <a:pt x="1099518" y="1181457"/>
                  <a:pt x="1106801" y="1173205"/>
                  <a:pt x="1106801" y="1162526"/>
                </a:cubicBezTo>
                <a:cubicBezTo>
                  <a:pt x="1106801" y="1157671"/>
                  <a:pt x="1104858" y="1144081"/>
                  <a:pt x="1085927" y="1143592"/>
                </a:cubicBezTo>
                <a:cubicBezTo>
                  <a:pt x="1097091" y="1129032"/>
                  <a:pt x="1116995" y="1124661"/>
                  <a:pt x="1130586" y="1124661"/>
                </a:cubicBezTo>
                <a:cubicBezTo>
                  <a:pt x="1150485" y="1124661"/>
                  <a:pt x="1174274" y="1140680"/>
                  <a:pt x="1174274" y="1177571"/>
                </a:cubicBezTo>
                <a:lnTo>
                  <a:pt x="1174274" y="1192620"/>
                </a:lnTo>
                <a:cubicBezTo>
                  <a:pt x="1152913" y="1194078"/>
                  <a:pt x="1124273" y="1195047"/>
                  <a:pt x="1098060" y="1207669"/>
                </a:cubicBezTo>
                <a:cubicBezTo>
                  <a:pt x="1066993" y="1221749"/>
                  <a:pt x="1056799" y="1243106"/>
                  <a:pt x="1056799" y="1261067"/>
                </a:cubicBezTo>
                <a:cubicBezTo>
                  <a:pt x="1056799" y="1294562"/>
                  <a:pt x="1097091" y="1304756"/>
                  <a:pt x="1122819" y="1304756"/>
                </a:cubicBezTo>
                <a:cubicBezTo>
                  <a:pt x="1150001" y="1304756"/>
                  <a:pt x="1168935" y="1288249"/>
                  <a:pt x="1177187" y="1268834"/>
                </a:cubicBezTo>
                <a:cubicBezTo>
                  <a:pt x="1178640" y="1285337"/>
                  <a:pt x="1189808" y="1302814"/>
                  <a:pt x="1209223" y="1302814"/>
                </a:cubicBezTo>
                <a:cubicBezTo>
                  <a:pt x="1217963" y="1302814"/>
                  <a:pt x="1243202" y="1296989"/>
                  <a:pt x="1243202" y="1263495"/>
                </a:cubicBezTo>
                <a:close/>
                <a:moveTo>
                  <a:pt x="1174274" y="1242622"/>
                </a:moveTo>
                <a:cubicBezTo>
                  <a:pt x="1174274" y="1281940"/>
                  <a:pt x="1144177" y="1296016"/>
                  <a:pt x="1125731" y="1296016"/>
                </a:cubicBezTo>
                <a:cubicBezTo>
                  <a:pt x="1105827" y="1296016"/>
                  <a:pt x="1088839" y="1281456"/>
                  <a:pt x="1088839" y="1260583"/>
                </a:cubicBezTo>
                <a:cubicBezTo>
                  <a:pt x="1088839" y="1238252"/>
                  <a:pt x="1105827" y="1203788"/>
                  <a:pt x="1174274" y="1201360"/>
                </a:cubicBezTo>
                <a:close/>
                <a:moveTo>
                  <a:pt x="1399997" y="1143107"/>
                </a:moveTo>
                <a:cubicBezTo>
                  <a:pt x="1399997" y="1130001"/>
                  <a:pt x="1387375" y="1117864"/>
                  <a:pt x="1369899" y="1117864"/>
                </a:cubicBezTo>
                <a:cubicBezTo>
                  <a:pt x="1339316" y="1117864"/>
                  <a:pt x="1324756" y="1145535"/>
                  <a:pt x="1318932" y="1163496"/>
                </a:cubicBezTo>
                <a:lnTo>
                  <a:pt x="1318932" y="1117864"/>
                </a:lnTo>
                <a:lnTo>
                  <a:pt x="1261648" y="1122719"/>
                </a:lnTo>
                <a:lnTo>
                  <a:pt x="1261648" y="1135340"/>
                </a:lnTo>
                <a:cubicBezTo>
                  <a:pt x="1290288" y="1135340"/>
                  <a:pt x="1293689" y="1138252"/>
                  <a:pt x="1293689" y="1158641"/>
                </a:cubicBezTo>
                <a:lnTo>
                  <a:pt x="1293689" y="1268834"/>
                </a:lnTo>
                <a:cubicBezTo>
                  <a:pt x="1293689" y="1287765"/>
                  <a:pt x="1289319" y="1287765"/>
                  <a:pt x="1261648" y="1287765"/>
                </a:cubicBezTo>
                <a:lnTo>
                  <a:pt x="1261648" y="1300386"/>
                </a:lnTo>
                <a:lnTo>
                  <a:pt x="1308738" y="1298928"/>
                </a:lnTo>
                <a:cubicBezTo>
                  <a:pt x="1325241" y="1298928"/>
                  <a:pt x="1344656" y="1298928"/>
                  <a:pt x="1361163" y="1300386"/>
                </a:cubicBezTo>
                <a:lnTo>
                  <a:pt x="1361163" y="1287765"/>
                </a:lnTo>
                <a:lnTo>
                  <a:pt x="1352422" y="1287765"/>
                </a:lnTo>
                <a:cubicBezTo>
                  <a:pt x="1321844" y="1287765"/>
                  <a:pt x="1320871" y="1282910"/>
                  <a:pt x="1320871" y="1268350"/>
                </a:cubicBezTo>
                <a:lnTo>
                  <a:pt x="1320871" y="1204757"/>
                </a:lnTo>
                <a:cubicBezTo>
                  <a:pt x="1320871" y="1163980"/>
                  <a:pt x="1338347" y="1127089"/>
                  <a:pt x="1369899" y="1127089"/>
                </a:cubicBezTo>
                <a:cubicBezTo>
                  <a:pt x="1372326" y="1127089"/>
                  <a:pt x="1373300" y="1127089"/>
                  <a:pt x="1374269" y="1127574"/>
                </a:cubicBezTo>
                <a:cubicBezTo>
                  <a:pt x="1372811" y="1128058"/>
                  <a:pt x="1364559" y="1132913"/>
                  <a:pt x="1364559" y="1143592"/>
                </a:cubicBezTo>
                <a:cubicBezTo>
                  <a:pt x="1364559" y="1155244"/>
                  <a:pt x="1373300" y="1161553"/>
                  <a:pt x="1382520" y="1161553"/>
                </a:cubicBezTo>
                <a:cubicBezTo>
                  <a:pt x="1389803" y="1161553"/>
                  <a:pt x="1399997" y="1156213"/>
                  <a:pt x="1399997" y="1143107"/>
                </a:cubicBezTo>
                <a:close/>
                <a:moveTo>
                  <a:pt x="1629240" y="1300386"/>
                </a:moveTo>
                <a:lnTo>
                  <a:pt x="1629240" y="1287765"/>
                </a:lnTo>
                <a:cubicBezTo>
                  <a:pt x="1600111" y="1287765"/>
                  <a:pt x="1597199" y="1284853"/>
                  <a:pt x="1597199" y="1264464"/>
                </a:cubicBezTo>
                <a:lnTo>
                  <a:pt x="1597199" y="1013983"/>
                </a:lnTo>
                <a:lnTo>
                  <a:pt x="1537492" y="1018353"/>
                </a:lnTo>
                <a:lnTo>
                  <a:pt x="1537492" y="1031460"/>
                </a:lnTo>
                <a:cubicBezTo>
                  <a:pt x="1566617" y="1031460"/>
                  <a:pt x="1570018" y="1034372"/>
                  <a:pt x="1570018" y="1054275"/>
                </a:cubicBezTo>
                <a:lnTo>
                  <a:pt x="1570018" y="1143592"/>
                </a:lnTo>
                <a:cubicBezTo>
                  <a:pt x="1557881" y="1128547"/>
                  <a:pt x="1539920" y="1117864"/>
                  <a:pt x="1517588" y="1117864"/>
                </a:cubicBezTo>
                <a:cubicBezTo>
                  <a:pt x="1469049" y="1117864"/>
                  <a:pt x="1425845" y="1158641"/>
                  <a:pt x="1425845" y="1211555"/>
                </a:cubicBezTo>
                <a:cubicBezTo>
                  <a:pt x="1425845" y="1263979"/>
                  <a:pt x="1466137" y="1304756"/>
                  <a:pt x="1513222" y="1304756"/>
                </a:cubicBezTo>
                <a:cubicBezTo>
                  <a:pt x="1539920" y="1304756"/>
                  <a:pt x="1558365" y="1290677"/>
                  <a:pt x="1568559" y="1277570"/>
                </a:cubicBezTo>
                <a:lnTo>
                  <a:pt x="1568559" y="1304756"/>
                </a:lnTo>
                <a:close/>
                <a:moveTo>
                  <a:pt x="1568559" y="1251843"/>
                </a:moveTo>
                <a:cubicBezTo>
                  <a:pt x="1568559" y="1259125"/>
                  <a:pt x="1568559" y="1260094"/>
                  <a:pt x="1564189" y="1266892"/>
                </a:cubicBezTo>
                <a:cubicBezTo>
                  <a:pt x="1551572" y="1286795"/>
                  <a:pt x="1533122" y="1296016"/>
                  <a:pt x="1515165" y="1296016"/>
                </a:cubicBezTo>
                <a:cubicBezTo>
                  <a:pt x="1496715" y="1296016"/>
                  <a:pt x="1482155" y="1285337"/>
                  <a:pt x="1471961" y="1269319"/>
                </a:cubicBezTo>
                <a:cubicBezTo>
                  <a:pt x="1461282" y="1252327"/>
                  <a:pt x="1459824" y="1229027"/>
                  <a:pt x="1459824" y="1212039"/>
                </a:cubicBezTo>
                <a:cubicBezTo>
                  <a:pt x="1459824" y="1196990"/>
                  <a:pt x="1460798" y="1172232"/>
                  <a:pt x="1472930" y="1153301"/>
                </a:cubicBezTo>
                <a:cubicBezTo>
                  <a:pt x="1481671" y="1140680"/>
                  <a:pt x="1497204" y="1127089"/>
                  <a:pt x="1519531" y="1127089"/>
                </a:cubicBezTo>
                <a:cubicBezTo>
                  <a:pt x="1534096" y="1127089"/>
                  <a:pt x="1551083" y="1133398"/>
                  <a:pt x="1564189" y="1151847"/>
                </a:cubicBezTo>
                <a:cubicBezTo>
                  <a:pt x="1568559" y="1158641"/>
                  <a:pt x="1568559" y="1159614"/>
                  <a:pt x="1568559" y="1166892"/>
                </a:cubicBezTo>
                <a:close/>
                <a:moveTo>
                  <a:pt x="1949618" y="1251358"/>
                </a:moveTo>
                <a:cubicBezTo>
                  <a:pt x="1949618" y="1246988"/>
                  <a:pt x="1946221" y="1246503"/>
                  <a:pt x="1944279" y="1246503"/>
                </a:cubicBezTo>
                <a:cubicBezTo>
                  <a:pt x="1940397" y="1246503"/>
                  <a:pt x="1939424" y="1248930"/>
                  <a:pt x="1938939" y="1252327"/>
                </a:cubicBezTo>
                <a:cubicBezTo>
                  <a:pt x="1924379" y="1294562"/>
                  <a:pt x="1886999" y="1294562"/>
                  <a:pt x="1883118" y="1294562"/>
                </a:cubicBezTo>
                <a:cubicBezTo>
                  <a:pt x="1862245" y="1294562"/>
                  <a:pt x="1845738" y="1282425"/>
                  <a:pt x="1836517" y="1266892"/>
                </a:cubicBezTo>
                <a:cubicBezTo>
                  <a:pt x="1823895" y="1246988"/>
                  <a:pt x="1823895" y="1219806"/>
                  <a:pt x="1823895" y="1205242"/>
                </a:cubicBezTo>
                <a:lnTo>
                  <a:pt x="1939424" y="1205242"/>
                </a:lnTo>
                <a:cubicBezTo>
                  <a:pt x="1948164" y="1205242"/>
                  <a:pt x="1949618" y="1205242"/>
                  <a:pt x="1949618" y="1196506"/>
                </a:cubicBezTo>
                <a:cubicBezTo>
                  <a:pt x="1949618" y="1155729"/>
                  <a:pt x="1927291" y="1115437"/>
                  <a:pt x="1875836" y="1115437"/>
                </a:cubicBezTo>
                <a:cubicBezTo>
                  <a:pt x="1827776" y="1115437"/>
                  <a:pt x="1789916" y="1158156"/>
                  <a:pt x="1789916" y="1209612"/>
                </a:cubicBezTo>
                <a:cubicBezTo>
                  <a:pt x="1789916" y="1264949"/>
                  <a:pt x="1833116" y="1304756"/>
                  <a:pt x="1880690" y="1304756"/>
                </a:cubicBezTo>
                <a:cubicBezTo>
                  <a:pt x="1931172" y="1304756"/>
                  <a:pt x="1949618" y="1259125"/>
                  <a:pt x="1949618" y="1251358"/>
                </a:cubicBezTo>
                <a:close/>
                <a:moveTo>
                  <a:pt x="1922436" y="1196506"/>
                </a:moveTo>
                <a:lnTo>
                  <a:pt x="1824380" y="1196506"/>
                </a:lnTo>
                <a:cubicBezTo>
                  <a:pt x="1826807" y="1134856"/>
                  <a:pt x="1861756" y="1124661"/>
                  <a:pt x="1875836" y="1124661"/>
                </a:cubicBezTo>
                <a:cubicBezTo>
                  <a:pt x="1918066" y="1124661"/>
                  <a:pt x="1922436" y="1180487"/>
                  <a:pt x="1922436" y="1196506"/>
                </a:cubicBezTo>
                <a:close/>
                <a:moveTo>
                  <a:pt x="2111508" y="1143107"/>
                </a:moveTo>
                <a:cubicBezTo>
                  <a:pt x="2111508" y="1130001"/>
                  <a:pt x="2098890" y="1117864"/>
                  <a:pt x="2081414" y="1117864"/>
                </a:cubicBezTo>
                <a:cubicBezTo>
                  <a:pt x="2050831" y="1117864"/>
                  <a:pt x="2036267" y="1145535"/>
                  <a:pt x="2030443" y="1163496"/>
                </a:cubicBezTo>
                <a:lnTo>
                  <a:pt x="2030443" y="1117864"/>
                </a:lnTo>
                <a:lnTo>
                  <a:pt x="1973163" y="1122719"/>
                </a:lnTo>
                <a:lnTo>
                  <a:pt x="1973163" y="1135340"/>
                </a:lnTo>
                <a:cubicBezTo>
                  <a:pt x="2001803" y="1135340"/>
                  <a:pt x="2005199" y="1138252"/>
                  <a:pt x="2005199" y="1158641"/>
                </a:cubicBezTo>
                <a:lnTo>
                  <a:pt x="2005199" y="1268834"/>
                </a:lnTo>
                <a:cubicBezTo>
                  <a:pt x="2005199" y="1287765"/>
                  <a:pt x="2000833" y="1287765"/>
                  <a:pt x="1973163" y="1287765"/>
                </a:cubicBezTo>
                <a:lnTo>
                  <a:pt x="1973163" y="1300386"/>
                </a:lnTo>
                <a:lnTo>
                  <a:pt x="2020248" y="1298928"/>
                </a:lnTo>
                <a:cubicBezTo>
                  <a:pt x="2036756" y="1298928"/>
                  <a:pt x="2056170" y="1298928"/>
                  <a:pt x="2072674" y="1300386"/>
                </a:cubicBezTo>
                <a:lnTo>
                  <a:pt x="2072674" y="1287765"/>
                </a:lnTo>
                <a:lnTo>
                  <a:pt x="2063937" y="1287765"/>
                </a:lnTo>
                <a:cubicBezTo>
                  <a:pt x="2033355" y="1287765"/>
                  <a:pt x="2032385" y="1282910"/>
                  <a:pt x="2032385" y="1268350"/>
                </a:cubicBezTo>
                <a:lnTo>
                  <a:pt x="2032385" y="1204757"/>
                </a:lnTo>
                <a:cubicBezTo>
                  <a:pt x="2032385" y="1163980"/>
                  <a:pt x="2049862" y="1127089"/>
                  <a:pt x="2081414" y="1127089"/>
                </a:cubicBezTo>
                <a:cubicBezTo>
                  <a:pt x="2083841" y="1127089"/>
                  <a:pt x="2084810" y="1127089"/>
                  <a:pt x="2085780" y="1127574"/>
                </a:cubicBezTo>
                <a:cubicBezTo>
                  <a:pt x="2084326" y="1128058"/>
                  <a:pt x="2076074" y="1132913"/>
                  <a:pt x="2076074" y="1143592"/>
                </a:cubicBezTo>
                <a:cubicBezTo>
                  <a:pt x="2076074" y="1155244"/>
                  <a:pt x="2084810" y="1161553"/>
                  <a:pt x="2094035" y="1161553"/>
                </a:cubicBezTo>
                <a:cubicBezTo>
                  <a:pt x="2101313" y="1161553"/>
                  <a:pt x="2111508" y="1156213"/>
                  <a:pt x="2111508" y="1143107"/>
                </a:cubicBezTo>
                <a:close/>
                <a:moveTo>
                  <a:pt x="2273277" y="1143107"/>
                </a:moveTo>
                <a:cubicBezTo>
                  <a:pt x="2273277" y="1130001"/>
                  <a:pt x="2260655" y="1117864"/>
                  <a:pt x="2243183" y="1117864"/>
                </a:cubicBezTo>
                <a:cubicBezTo>
                  <a:pt x="2212600" y="1117864"/>
                  <a:pt x="2198036" y="1145535"/>
                  <a:pt x="2192212" y="1163496"/>
                </a:cubicBezTo>
                <a:lnTo>
                  <a:pt x="2192212" y="1117864"/>
                </a:lnTo>
                <a:lnTo>
                  <a:pt x="2134932" y="1122719"/>
                </a:lnTo>
                <a:lnTo>
                  <a:pt x="2134932" y="1135340"/>
                </a:lnTo>
                <a:cubicBezTo>
                  <a:pt x="2163572" y="1135340"/>
                  <a:pt x="2166969" y="1138252"/>
                  <a:pt x="2166969" y="1158641"/>
                </a:cubicBezTo>
                <a:lnTo>
                  <a:pt x="2166969" y="1268834"/>
                </a:lnTo>
                <a:cubicBezTo>
                  <a:pt x="2166969" y="1287765"/>
                  <a:pt x="2162599" y="1287765"/>
                  <a:pt x="2134932" y="1287765"/>
                </a:cubicBezTo>
                <a:lnTo>
                  <a:pt x="2134932" y="1300386"/>
                </a:lnTo>
                <a:lnTo>
                  <a:pt x="2182018" y="1298928"/>
                </a:lnTo>
                <a:cubicBezTo>
                  <a:pt x="2198521" y="1298928"/>
                  <a:pt x="2217940" y="1298928"/>
                  <a:pt x="2234443" y="1300386"/>
                </a:cubicBezTo>
                <a:lnTo>
                  <a:pt x="2234443" y="1287765"/>
                </a:lnTo>
                <a:lnTo>
                  <a:pt x="2225707" y="1287765"/>
                </a:lnTo>
                <a:cubicBezTo>
                  <a:pt x="2195124" y="1287765"/>
                  <a:pt x="2194155" y="1282910"/>
                  <a:pt x="2194155" y="1268350"/>
                </a:cubicBezTo>
                <a:lnTo>
                  <a:pt x="2194155" y="1204757"/>
                </a:lnTo>
                <a:cubicBezTo>
                  <a:pt x="2194155" y="1163980"/>
                  <a:pt x="2211627" y="1127089"/>
                  <a:pt x="2243183" y="1127089"/>
                </a:cubicBezTo>
                <a:cubicBezTo>
                  <a:pt x="2245606" y="1127089"/>
                  <a:pt x="2246580" y="1127089"/>
                  <a:pt x="2247549" y="1127574"/>
                </a:cubicBezTo>
                <a:cubicBezTo>
                  <a:pt x="2246095" y="1128058"/>
                  <a:pt x="2237839" y="1132913"/>
                  <a:pt x="2237839" y="1143592"/>
                </a:cubicBezTo>
                <a:cubicBezTo>
                  <a:pt x="2237839" y="1155244"/>
                  <a:pt x="2246580" y="1161553"/>
                  <a:pt x="2255801" y="1161553"/>
                </a:cubicBezTo>
                <a:cubicBezTo>
                  <a:pt x="2263083" y="1161553"/>
                  <a:pt x="2273277" y="1156213"/>
                  <a:pt x="2273277" y="1143107"/>
                </a:cubicBezTo>
                <a:close/>
                <a:moveTo>
                  <a:pt x="2479220" y="1212039"/>
                </a:moveTo>
                <a:cubicBezTo>
                  <a:pt x="2479220" y="1159125"/>
                  <a:pt x="2437958" y="1115437"/>
                  <a:pt x="2388445" y="1115437"/>
                </a:cubicBezTo>
                <a:cubicBezTo>
                  <a:pt x="2336505" y="1115437"/>
                  <a:pt x="2296698" y="1160584"/>
                  <a:pt x="2296698" y="1212039"/>
                </a:cubicBezTo>
                <a:cubicBezTo>
                  <a:pt x="2296698" y="1265433"/>
                  <a:pt x="2339417" y="1304756"/>
                  <a:pt x="2387961" y="1304756"/>
                </a:cubicBezTo>
                <a:cubicBezTo>
                  <a:pt x="2437958" y="1304756"/>
                  <a:pt x="2479220" y="1264464"/>
                  <a:pt x="2479220" y="1212039"/>
                </a:cubicBezTo>
                <a:close/>
                <a:moveTo>
                  <a:pt x="2445240" y="1208638"/>
                </a:moveTo>
                <a:cubicBezTo>
                  <a:pt x="2445240" y="1223687"/>
                  <a:pt x="2445240" y="1246018"/>
                  <a:pt x="2436016" y="1263979"/>
                </a:cubicBezTo>
                <a:cubicBezTo>
                  <a:pt x="2426795" y="1282425"/>
                  <a:pt x="2408834" y="1294562"/>
                  <a:pt x="2388445" y="1294562"/>
                </a:cubicBezTo>
                <a:cubicBezTo>
                  <a:pt x="2370484" y="1294562"/>
                  <a:pt x="2352523" y="1285822"/>
                  <a:pt x="2341360" y="1266892"/>
                </a:cubicBezTo>
                <a:cubicBezTo>
                  <a:pt x="2330681" y="1248930"/>
                  <a:pt x="2330681" y="1223687"/>
                  <a:pt x="2330681" y="1208638"/>
                </a:cubicBezTo>
                <a:cubicBezTo>
                  <a:pt x="2330681" y="1192620"/>
                  <a:pt x="2330681" y="1170293"/>
                  <a:pt x="2340871" y="1152332"/>
                </a:cubicBezTo>
                <a:cubicBezTo>
                  <a:pt x="2352039" y="1133398"/>
                  <a:pt x="2371454" y="1124661"/>
                  <a:pt x="2387961" y="1124661"/>
                </a:cubicBezTo>
                <a:cubicBezTo>
                  <a:pt x="2405922" y="1124661"/>
                  <a:pt x="2423883" y="1133886"/>
                  <a:pt x="2434562" y="1151359"/>
                </a:cubicBezTo>
                <a:cubicBezTo>
                  <a:pt x="2445240" y="1169320"/>
                  <a:pt x="2445240" y="1193105"/>
                  <a:pt x="2445240" y="1208638"/>
                </a:cubicBezTo>
                <a:close/>
                <a:moveTo>
                  <a:pt x="2641353" y="1143107"/>
                </a:moveTo>
                <a:cubicBezTo>
                  <a:pt x="2641353" y="1130001"/>
                  <a:pt x="2628732" y="1117864"/>
                  <a:pt x="2611256" y="1117864"/>
                </a:cubicBezTo>
                <a:cubicBezTo>
                  <a:pt x="2580673" y="1117864"/>
                  <a:pt x="2566109" y="1145535"/>
                  <a:pt x="2560285" y="1163496"/>
                </a:cubicBezTo>
                <a:lnTo>
                  <a:pt x="2560285" y="1117864"/>
                </a:lnTo>
                <a:lnTo>
                  <a:pt x="2503005" y="1122719"/>
                </a:lnTo>
                <a:lnTo>
                  <a:pt x="2503005" y="1135340"/>
                </a:lnTo>
                <a:cubicBezTo>
                  <a:pt x="2531645" y="1135340"/>
                  <a:pt x="2535041" y="1138252"/>
                  <a:pt x="2535041" y="1158641"/>
                </a:cubicBezTo>
                <a:lnTo>
                  <a:pt x="2535041" y="1268834"/>
                </a:lnTo>
                <a:cubicBezTo>
                  <a:pt x="2535041" y="1287765"/>
                  <a:pt x="2530675" y="1287765"/>
                  <a:pt x="2503005" y="1287765"/>
                </a:cubicBezTo>
                <a:lnTo>
                  <a:pt x="2503005" y="1300386"/>
                </a:lnTo>
                <a:lnTo>
                  <a:pt x="2550090" y="1298928"/>
                </a:lnTo>
                <a:cubicBezTo>
                  <a:pt x="2566597" y="1298928"/>
                  <a:pt x="2586012" y="1298928"/>
                  <a:pt x="2602520" y="1300386"/>
                </a:cubicBezTo>
                <a:lnTo>
                  <a:pt x="2602520" y="1287765"/>
                </a:lnTo>
                <a:lnTo>
                  <a:pt x="2593779" y="1287765"/>
                </a:lnTo>
                <a:cubicBezTo>
                  <a:pt x="2563197" y="1287765"/>
                  <a:pt x="2562227" y="1282910"/>
                  <a:pt x="2562227" y="1268350"/>
                </a:cubicBezTo>
                <a:lnTo>
                  <a:pt x="2562227" y="1204757"/>
                </a:lnTo>
                <a:cubicBezTo>
                  <a:pt x="2562227" y="1163980"/>
                  <a:pt x="2579704" y="1127089"/>
                  <a:pt x="2611256" y="1127089"/>
                </a:cubicBezTo>
                <a:cubicBezTo>
                  <a:pt x="2613683" y="1127089"/>
                  <a:pt x="2614652" y="1127089"/>
                  <a:pt x="2615626" y="1127574"/>
                </a:cubicBezTo>
                <a:cubicBezTo>
                  <a:pt x="2614168" y="1128058"/>
                  <a:pt x="2605916" y="1132913"/>
                  <a:pt x="2605916" y="1143592"/>
                </a:cubicBezTo>
                <a:cubicBezTo>
                  <a:pt x="2605916" y="1155244"/>
                  <a:pt x="2614652" y="1161553"/>
                  <a:pt x="2623877" y="1161553"/>
                </a:cubicBezTo>
                <a:cubicBezTo>
                  <a:pt x="2631159" y="1161553"/>
                  <a:pt x="2641353" y="1156213"/>
                  <a:pt x="2641353" y="1143107"/>
                </a:cubicBezTo>
                <a:close/>
                <a:moveTo>
                  <a:pt x="2801665" y="1247472"/>
                </a:moveTo>
                <a:cubicBezTo>
                  <a:pt x="2801665" y="1225630"/>
                  <a:pt x="2789528" y="1213493"/>
                  <a:pt x="2784188" y="1208154"/>
                </a:cubicBezTo>
                <a:cubicBezTo>
                  <a:pt x="2770597" y="1195047"/>
                  <a:pt x="2754579" y="1191651"/>
                  <a:pt x="2737103" y="1188739"/>
                </a:cubicBezTo>
                <a:cubicBezTo>
                  <a:pt x="2714287" y="1183884"/>
                  <a:pt x="2686617" y="1178545"/>
                  <a:pt x="2686617" y="1154759"/>
                </a:cubicBezTo>
                <a:cubicBezTo>
                  <a:pt x="2686617" y="1140195"/>
                  <a:pt x="2697295" y="1123203"/>
                  <a:pt x="2732733" y="1123203"/>
                </a:cubicBezTo>
                <a:cubicBezTo>
                  <a:pt x="2778364" y="1123203"/>
                  <a:pt x="2780307" y="1160584"/>
                  <a:pt x="2781276" y="1173205"/>
                </a:cubicBezTo>
                <a:cubicBezTo>
                  <a:pt x="2781276" y="1177086"/>
                  <a:pt x="2786131" y="1177086"/>
                  <a:pt x="2786131" y="1177086"/>
                </a:cubicBezTo>
                <a:cubicBezTo>
                  <a:pt x="2791470" y="1177086"/>
                  <a:pt x="2791470" y="1175148"/>
                  <a:pt x="2791470" y="1166892"/>
                </a:cubicBezTo>
                <a:lnTo>
                  <a:pt x="2791470" y="1125631"/>
                </a:lnTo>
                <a:cubicBezTo>
                  <a:pt x="2791470" y="1118353"/>
                  <a:pt x="2791470" y="1115437"/>
                  <a:pt x="2786616" y="1115437"/>
                </a:cubicBezTo>
                <a:cubicBezTo>
                  <a:pt x="2784673" y="1115437"/>
                  <a:pt x="2783704" y="1115437"/>
                  <a:pt x="2778364" y="1120291"/>
                </a:cubicBezTo>
                <a:cubicBezTo>
                  <a:pt x="2777391" y="1122234"/>
                  <a:pt x="2773025" y="1125631"/>
                  <a:pt x="2771567" y="1127089"/>
                </a:cubicBezTo>
                <a:cubicBezTo>
                  <a:pt x="2756033" y="1115437"/>
                  <a:pt x="2739046" y="1115437"/>
                  <a:pt x="2732733" y="1115437"/>
                </a:cubicBezTo>
                <a:cubicBezTo>
                  <a:pt x="2682251" y="1115437"/>
                  <a:pt x="2666717" y="1143107"/>
                  <a:pt x="2666717" y="1166408"/>
                </a:cubicBezTo>
                <a:cubicBezTo>
                  <a:pt x="2666717" y="1180487"/>
                  <a:pt x="2673510" y="1192135"/>
                  <a:pt x="2684678" y="1201360"/>
                </a:cubicBezTo>
                <a:cubicBezTo>
                  <a:pt x="2697784" y="1212039"/>
                  <a:pt x="2709432" y="1214467"/>
                  <a:pt x="2739046" y="1220291"/>
                </a:cubicBezTo>
                <a:cubicBezTo>
                  <a:pt x="2748266" y="1221749"/>
                  <a:pt x="2781761" y="1228542"/>
                  <a:pt x="2781761" y="1258155"/>
                </a:cubicBezTo>
                <a:cubicBezTo>
                  <a:pt x="2781761" y="1279513"/>
                  <a:pt x="2767197" y="1296016"/>
                  <a:pt x="2735160" y="1296016"/>
                </a:cubicBezTo>
                <a:cubicBezTo>
                  <a:pt x="2700696" y="1296016"/>
                  <a:pt x="2685647" y="1272231"/>
                  <a:pt x="2677880" y="1237282"/>
                </a:cubicBezTo>
                <a:cubicBezTo>
                  <a:pt x="2676422" y="1231939"/>
                  <a:pt x="2676422" y="1230000"/>
                  <a:pt x="2672056" y="1230000"/>
                </a:cubicBezTo>
                <a:cubicBezTo>
                  <a:pt x="2666717" y="1230000"/>
                  <a:pt x="2666717" y="1232912"/>
                  <a:pt x="2666717" y="1240679"/>
                </a:cubicBezTo>
                <a:lnTo>
                  <a:pt x="2666717" y="1295047"/>
                </a:lnTo>
                <a:cubicBezTo>
                  <a:pt x="2666717" y="1301840"/>
                  <a:pt x="2666717" y="1304756"/>
                  <a:pt x="2671083" y="1304756"/>
                </a:cubicBezTo>
                <a:cubicBezTo>
                  <a:pt x="2673510" y="1304756"/>
                  <a:pt x="2673995" y="1304756"/>
                  <a:pt x="2681762" y="1296501"/>
                </a:cubicBezTo>
                <a:cubicBezTo>
                  <a:pt x="2682251" y="1296016"/>
                  <a:pt x="2682251" y="1295047"/>
                  <a:pt x="2690017" y="1287280"/>
                </a:cubicBezTo>
                <a:cubicBezTo>
                  <a:pt x="2707978" y="1304756"/>
                  <a:pt x="2726424" y="1304756"/>
                  <a:pt x="2735160" y="1304756"/>
                </a:cubicBezTo>
                <a:cubicBezTo>
                  <a:pt x="2782730" y="1304756"/>
                  <a:pt x="2801665" y="1277086"/>
                  <a:pt x="2801665" y="1247472"/>
                </a:cubicBezTo>
                <a:close/>
                <a:moveTo>
                  <a:pt x="3152626" y="1263495"/>
                </a:moveTo>
                <a:lnTo>
                  <a:pt x="3152626" y="1240679"/>
                </a:lnTo>
                <a:lnTo>
                  <a:pt x="3141946" y="1240679"/>
                </a:lnTo>
                <a:lnTo>
                  <a:pt x="3141946" y="1263495"/>
                </a:lnTo>
                <a:cubicBezTo>
                  <a:pt x="3141946" y="1287765"/>
                  <a:pt x="3131753" y="1290192"/>
                  <a:pt x="3127387" y="1290192"/>
                </a:cubicBezTo>
                <a:cubicBezTo>
                  <a:pt x="3113791" y="1290192"/>
                  <a:pt x="3111853" y="1271262"/>
                  <a:pt x="3111853" y="1269319"/>
                </a:cubicBezTo>
                <a:lnTo>
                  <a:pt x="3111853" y="1186796"/>
                </a:lnTo>
                <a:cubicBezTo>
                  <a:pt x="3111853" y="1169804"/>
                  <a:pt x="3111853" y="1153301"/>
                  <a:pt x="3097289" y="1138252"/>
                </a:cubicBezTo>
                <a:cubicBezTo>
                  <a:pt x="3081270" y="1122234"/>
                  <a:pt x="3060397" y="1115437"/>
                  <a:pt x="3040493" y="1115437"/>
                </a:cubicBezTo>
                <a:cubicBezTo>
                  <a:pt x="3006999" y="1115437"/>
                  <a:pt x="2978359" y="1134856"/>
                  <a:pt x="2978359" y="1162037"/>
                </a:cubicBezTo>
                <a:cubicBezTo>
                  <a:pt x="2978359" y="1174659"/>
                  <a:pt x="2986610" y="1181457"/>
                  <a:pt x="2997289" y="1181457"/>
                </a:cubicBezTo>
                <a:cubicBezTo>
                  <a:pt x="3008941" y="1181457"/>
                  <a:pt x="3016224" y="1173205"/>
                  <a:pt x="3016224" y="1162526"/>
                </a:cubicBezTo>
                <a:cubicBezTo>
                  <a:pt x="3016224" y="1157671"/>
                  <a:pt x="3014281" y="1144081"/>
                  <a:pt x="2995351" y="1143592"/>
                </a:cubicBezTo>
                <a:cubicBezTo>
                  <a:pt x="3006514" y="1129032"/>
                  <a:pt x="3026418" y="1124661"/>
                  <a:pt x="3040009" y="1124661"/>
                </a:cubicBezTo>
                <a:cubicBezTo>
                  <a:pt x="3059912" y="1124661"/>
                  <a:pt x="3083698" y="1140680"/>
                  <a:pt x="3083698" y="1177571"/>
                </a:cubicBezTo>
                <a:lnTo>
                  <a:pt x="3083698" y="1192620"/>
                </a:lnTo>
                <a:cubicBezTo>
                  <a:pt x="3062336" y="1194078"/>
                  <a:pt x="3033696" y="1195047"/>
                  <a:pt x="3007483" y="1207669"/>
                </a:cubicBezTo>
                <a:cubicBezTo>
                  <a:pt x="2976416" y="1221749"/>
                  <a:pt x="2966222" y="1243106"/>
                  <a:pt x="2966222" y="1261067"/>
                </a:cubicBezTo>
                <a:cubicBezTo>
                  <a:pt x="2966222" y="1294562"/>
                  <a:pt x="3006514" y="1304756"/>
                  <a:pt x="3032242" y="1304756"/>
                </a:cubicBezTo>
                <a:cubicBezTo>
                  <a:pt x="3059424" y="1304756"/>
                  <a:pt x="3078358" y="1288249"/>
                  <a:pt x="3086609" y="1268834"/>
                </a:cubicBezTo>
                <a:cubicBezTo>
                  <a:pt x="3088064" y="1285337"/>
                  <a:pt x="3099231" y="1302814"/>
                  <a:pt x="3118646" y="1302814"/>
                </a:cubicBezTo>
                <a:cubicBezTo>
                  <a:pt x="3127387" y="1302814"/>
                  <a:pt x="3152626" y="1296989"/>
                  <a:pt x="3152626" y="1263495"/>
                </a:cubicBezTo>
                <a:close/>
                <a:moveTo>
                  <a:pt x="3083698" y="1242622"/>
                </a:moveTo>
                <a:cubicBezTo>
                  <a:pt x="3083698" y="1281940"/>
                  <a:pt x="3053600" y="1296016"/>
                  <a:pt x="3035154" y="1296016"/>
                </a:cubicBezTo>
                <a:cubicBezTo>
                  <a:pt x="3015250" y="1296016"/>
                  <a:pt x="2998263" y="1281456"/>
                  <a:pt x="2998263" y="1260583"/>
                </a:cubicBezTo>
                <a:cubicBezTo>
                  <a:pt x="2998263" y="1238252"/>
                  <a:pt x="3015250" y="1203788"/>
                  <a:pt x="3083698" y="1201360"/>
                </a:cubicBezTo>
                <a:close/>
                <a:moveTo>
                  <a:pt x="3309540" y="1143107"/>
                </a:moveTo>
                <a:cubicBezTo>
                  <a:pt x="3309540" y="1130001"/>
                  <a:pt x="3296918" y="1117864"/>
                  <a:pt x="3279446" y="1117864"/>
                </a:cubicBezTo>
                <a:cubicBezTo>
                  <a:pt x="3248863" y="1117864"/>
                  <a:pt x="3234299" y="1145535"/>
                  <a:pt x="3228475" y="1163496"/>
                </a:cubicBezTo>
                <a:lnTo>
                  <a:pt x="3228475" y="1117864"/>
                </a:lnTo>
                <a:lnTo>
                  <a:pt x="3171195" y="1122719"/>
                </a:lnTo>
                <a:lnTo>
                  <a:pt x="3171195" y="1135340"/>
                </a:lnTo>
                <a:cubicBezTo>
                  <a:pt x="3199835" y="1135340"/>
                  <a:pt x="3203232" y="1138252"/>
                  <a:pt x="3203232" y="1158641"/>
                </a:cubicBezTo>
                <a:lnTo>
                  <a:pt x="3203232" y="1268834"/>
                </a:lnTo>
                <a:cubicBezTo>
                  <a:pt x="3203232" y="1287765"/>
                  <a:pt x="3198862" y="1287765"/>
                  <a:pt x="3171195" y="1287765"/>
                </a:cubicBezTo>
                <a:lnTo>
                  <a:pt x="3171195" y="1300386"/>
                </a:lnTo>
                <a:lnTo>
                  <a:pt x="3218281" y="1298928"/>
                </a:lnTo>
                <a:cubicBezTo>
                  <a:pt x="3234784" y="1298928"/>
                  <a:pt x="3254203" y="1298928"/>
                  <a:pt x="3270706" y="1300386"/>
                </a:cubicBezTo>
                <a:lnTo>
                  <a:pt x="3270706" y="1287765"/>
                </a:lnTo>
                <a:lnTo>
                  <a:pt x="3261970" y="1287765"/>
                </a:lnTo>
                <a:cubicBezTo>
                  <a:pt x="3231387" y="1287765"/>
                  <a:pt x="3230418" y="1282910"/>
                  <a:pt x="3230418" y="1268350"/>
                </a:cubicBezTo>
                <a:lnTo>
                  <a:pt x="3230418" y="1204757"/>
                </a:lnTo>
                <a:cubicBezTo>
                  <a:pt x="3230418" y="1163980"/>
                  <a:pt x="3247890" y="1127089"/>
                  <a:pt x="3279446" y="1127089"/>
                </a:cubicBezTo>
                <a:cubicBezTo>
                  <a:pt x="3281870" y="1127089"/>
                  <a:pt x="3282843" y="1127089"/>
                  <a:pt x="3283812" y="1127574"/>
                </a:cubicBezTo>
                <a:cubicBezTo>
                  <a:pt x="3282358" y="1128058"/>
                  <a:pt x="3274103" y="1132913"/>
                  <a:pt x="3274103" y="1143592"/>
                </a:cubicBezTo>
                <a:cubicBezTo>
                  <a:pt x="3274103" y="1155244"/>
                  <a:pt x="3282843" y="1161553"/>
                  <a:pt x="3292064" y="1161553"/>
                </a:cubicBezTo>
                <a:cubicBezTo>
                  <a:pt x="3299346" y="1161553"/>
                  <a:pt x="3309540" y="1156213"/>
                  <a:pt x="3309540" y="1143107"/>
                </a:cubicBezTo>
                <a:close/>
                <a:moveTo>
                  <a:pt x="3492667" y="1251358"/>
                </a:moveTo>
                <a:cubicBezTo>
                  <a:pt x="3492667" y="1246988"/>
                  <a:pt x="3489270" y="1246503"/>
                  <a:pt x="3487328" y="1246503"/>
                </a:cubicBezTo>
                <a:cubicBezTo>
                  <a:pt x="3483446" y="1246503"/>
                  <a:pt x="3482473" y="1248930"/>
                  <a:pt x="3481988" y="1252327"/>
                </a:cubicBezTo>
                <a:cubicBezTo>
                  <a:pt x="3467424" y="1294562"/>
                  <a:pt x="3430048" y="1294562"/>
                  <a:pt x="3426162" y="1294562"/>
                </a:cubicBezTo>
                <a:cubicBezTo>
                  <a:pt x="3405289" y="1294562"/>
                  <a:pt x="3388786" y="1282425"/>
                  <a:pt x="3379562" y="1266892"/>
                </a:cubicBezTo>
                <a:cubicBezTo>
                  <a:pt x="3366944" y="1246988"/>
                  <a:pt x="3366944" y="1219806"/>
                  <a:pt x="3366944" y="1205242"/>
                </a:cubicBezTo>
                <a:lnTo>
                  <a:pt x="3482473" y="1205242"/>
                </a:lnTo>
                <a:cubicBezTo>
                  <a:pt x="3491213" y="1205242"/>
                  <a:pt x="3492667" y="1205242"/>
                  <a:pt x="3492667" y="1196506"/>
                </a:cubicBezTo>
                <a:cubicBezTo>
                  <a:pt x="3492667" y="1155729"/>
                  <a:pt x="3470340" y="1115437"/>
                  <a:pt x="3418884" y="1115437"/>
                </a:cubicBezTo>
                <a:cubicBezTo>
                  <a:pt x="3370825" y="1115437"/>
                  <a:pt x="3332961" y="1158156"/>
                  <a:pt x="3332961" y="1209612"/>
                </a:cubicBezTo>
                <a:cubicBezTo>
                  <a:pt x="3332961" y="1264949"/>
                  <a:pt x="3376165" y="1304756"/>
                  <a:pt x="3423739" y="1304756"/>
                </a:cubicBezTo>
                <a:cubicBezTo>
                  <a:pt x="3474221" y="1304756"/>
                  <a:pt x="3492667" y="1259125"/>
                  <a:pt x="3492667" y="1251358"/>
                </a:cubicBezTo>
                <a:close/>
                <a:moveTo>
                  <a:pt x="3465485" y="1196506"/>
                </a:moveTo>
                <a:lnTo>
                  <a:pt x="3367429" y="1196506"/>
                </a:lnTo>
                <a:cubicBezTo>
                  <a:pt x="3369856" y="1134856"/>
                  <a:pt x="3404805" y="1124661"/>
                  <a:pt x="3418884" y="1124661"/>
                </a:cubicBezTo>
                <a:cubicBezTo>
                  <a:pt x="3461115" y="1124661"/>
                  <a:pt x="3465485" y="1180487"/>
                  <a:pt x="3465485" y="1196506"/>
                </a:cubicBezTo>
                <a:close/>
                <a:moveTo>
                  <a:pt x="3743877" y="1300386"/>
                </a:moveTo>
                <a:lnTo>
                  <a:pt x="3743877" y="1287765"/>
                </a:lnTo>
                <a:cubicBezTo>
                  <a:pt x="3716691" y="1287765"/>
                  <a:pt x="3714748" y="1285337"/>
                  <a:pt x="3714748" y="1269319"/>
                </a:cubicBezTo>
                <a:lnTo>
                  <a:pt x="3714748" y="1117864"/>
                </a:lnTo>
                <a:lnTo>
                  <a:pt x="3656984" y="1122719"/>
                </a:lnTo>
                <a:lnTo>
                  <a:pt x="3656984" y="1135340"/>
                </a:lnTo>
                <a:cubicBezTo>
                  <a:pt x="3684170" y="1135340"/>
                  <a:pt x="3687567" y="1137768"/>
                  <a:pt x="3687567" y="1158156"/>
                </a:cubicBezTo>
                <a:lnTo>
                  <a:pt x="3687567" y="1268834"/>
                </a:lnTo>
                <a:cubicBezTo>
                  <a:pt x="3687567" y="1287765"/>
                  <a:pt x="3683196" y="1287765"/>
                  <a:pt x="3655530" y="1287765"/>
                </a:cubicBezTo>
                <a:lnTo>
                  <a:pt x="3655530" y="1300386"/>
                </a:lnTo>
                <a:lnTo>
                  <a:pt x="3701157" y="1298928"/>
                </a:lnTo>
                <a:cubicBezTo>
                  <a:pt x="3715237" y="1298928"/>
                  <a:pt x="3729797" y="1299902"/>
                  <a:pt x="3743877" y="1300386"/>
                </a:cubicBezTo>
                <a:close/>
                <a:moveTo>
                  <a:pt x="3721061" y="1051363"/>
                </a:moveTo>
                <a:cubicBezTo>
                  <a:pt x="3721061" y="1040196"/>
                  <a:pt x="3711836" y="1029517"/>
                  <a:pt x="3699215" y="1029517"/>
                </a:cubicBezTo>
                <a:cubicBezTo>
                  <a:pt x="3685139" y="1029517"/>
                  <a:pt x="3676887" y="1040685"/>
                  <a:pt x="3676887" y="1051363"/>
                </a:cubicBezTo>
                <a:cubicBezTo>
                  <a:pt x="3676887" y="1062527"/>
                  <a:pt x="3686597" y="1073206"/>
                  <a:pt x="3698730" y="1073206"/>
                </a:cubicBezTo>
                <a:cubicBezTo>
                  <a:pt x="3712810" y="1073206"/>
                  <a:pt x="3721061" y="1061558"/>
                  <a:pt x="3721061" y="1051363"/>
                </a:cubicBezTo>
                <a:close/>
                <a:moveTo>
                  <a:pt x="3977486" y="1300386"/>
                </a:moveTo>
                <a:lnTo>
                  <a:pt x="3977486" y="1287765"/>
                </a:lnTo>
                <a:cubicBezTo>
                  <a:pt x="3956128" y="1287765"/>
                  <a:pt x="3945450" y="1287765"/>
                  <a:pt x="3944965" y="1275143"/>
                </a:cubicBezTo>
                <a:lnTo>
                  <a:pt x="3944965" y="1196506"/>
                </a:lnTo>
                <a:cubicBezTo>
                  <a:pt x="3944965" y="1161068"/>
                  <a:pt x="3944965" y="1147962"/>
                  <a:pt x="3932343" y="1133398"/>
                </a:cubicBezTo>
                <a:cubicBezTo>
                  <a:pt x="3926515" y="1126120"/>
                  <a:pt x="3912924" y="1117864"/>
                  <a:pt x="3889139" y="1117864"/>
                </a:cubicBezTo>
                <a:cubicBezTo>
                  <a:pt x="3859041" y="1117864"/>
                  <a:pt x="3839626" y="1135825"/>
                  <a:pt x="3827974" y="1161553"/>
                </a:cubicBezTo>
                <a:lnTo>
                  <a:pt x="3827974" y="1117864"/>
                </a:lnTo>
                <a:lnTo>
                  <a:pt x="3769725" y="1122719"/>
                </a:lnTo>
                <a:lnTo>
                  <a:pt x="3769725" y="1135340"/>
                </a:lnTo>
                <a:cubicBezTo>
                  <a:pt x="3798849" y="1135340"/>
                  <a:pt x="3802246" y="1138252"/>
                  <a:pt x="3802246" y="1158641"/>
                </a:cubicBezTo>
                <a:lnTo>
                  <a:pt x="3802246" y="1268834"/>
                </a:lnTo>
                <a:cubicBezTo>
                  <a:pt x="3802246" y="1287765"/>
                  <a:pt x="3797395" y="1287765"/>
                  <a:pt x="3769725" y="1287765"/>
                </a:cubicBezTo>
                <a:lnTo>
                  <a:pt x="3769725" y="1300386"/>
                </a:lnTo>
                <a:lnTo>
                  <a:pt x="3816326" y="1298928"/>
                </a:lnTo>
                <a:lnTo>
                  <a:pt x="3862442" y="1300386"/>
                </a:lnTo>
                <a:lnTo>
                  <a:pt x="3862442" y="1287765"/>
                </a:lnTo>
                <a:cubicBezTo>
                  <a:pt x="3835256" y="1287765"/>
                  <a:pt x="3830401" y="1287765"/>
                  <a:pt x="3830401" y="1268834"/>
                </a:cubicBezTo>
                <a:lnTo>
                  <a:pt x="3830401" y="1193105"/>
                </a:lnTo>
                <a:cubicBezTo>
                  <a:pt x="3830401" y="1150389"/>
                  <a:pt x="3860015" y="1127089"/>
                  <a:pt x="3886227" y="1127089"/>
                </a:cubicBezTo>
                <a:cubicBezTo>
                  <a:pt x="3911955" y="1127089"/>
                  <a:pt x="3916810" y="1149420"/>
                  <a:pt x="3916810" y="1172720"/>
                </a:cubicBezTo>
                <a:lnTo>
                  <a:pt x="3916810" y="1268834"/>
                </a:lnTo>
                <a:cubicBezTo>
                  <a:pt x="3916810" y="1287765"/>
                  <a:pt x="3911955" y="1287765"/>
                  <a:pt x="3884769" y="1287765"/>
                </a:cubicBezTo>
                <a:lnTo>
                  <a:pt x="3884769" y="1300386"/>
                </a:lnTo>
                <a:lnTo>
                  <a:pt x="3931370" y="1298928"/>
                </a:lnTo>
                <a:close/>
                <a:moveTo>
                  <a:pt x="4338529" y="1211066"/>
                </a:moveTo>
                <a:cubicBezTo>
                  <a:pt x="4338529" y="1158641"/>
                  <a:pt x="4298225" y="1117864"/>
                  <a:pt x="4252121" y="1117864"/>
                </a:cubicBezTo>
                <a:cubicBezTo>
                  <a:pt x="4220059" y="1117864"/>
                  <a:pt x="4202620" y="1136314"/>
                  <a:pt x="4194336" y="1145050"/>
                </a:cubicBezTo>
                <a:lnTo>
                  <a:pt x="4194336" y="1117864"/>
                </a:lnTo>
                <a:lnTo>
                  <a:pt x="4135142" y="1122719"/>
                </a:lnTo>
                <a:lnTo>
                  <a:pt x="4135142" y="1135340"/>
                </a:lnTo>
                <a:cubicBezTo>
                  <a:pt x="4164262" y="1135340"/>
                  <a:pt x="4167162" y="1137768"/>
                  <a:pt x="4167162" y="1155729"/>
                </a:cubicBezTo>
                <a:lnTo>
                  <a:pt x="4167162" y="1348930"/>
                </a:lnTo>
                <a:cubicBezTo>
                  <a:pt x="4167162" y="1367860"/>
                  <a:pt x="4162813" y="1367860"/>
                  <a:pt x="4135142" y="1367860"/>
                </a:cubicBezTo>
                <a:lnTo>
                  <a:pt x="4135142" y="1380482"/>
                </a:lnTo>
                <a:lnTo>
                  <a:pt x="4181246" y="1379024"/>
                </a:lnTo>
                <a:lnTo>
                  <a:pt x="4227847" y="1380482"/>
                </a:lnTo>
                <a:lnTo>
                  <a:pt x="4227847" y="1367860"/>
                </a:lnTo>
                <a:cubicBezTo>
                  <a:pt x="4200176" y="1367860"/>
                  <a:pt x="4195827" y="1367860"/>
                  <a:pt x="4195827" y="1348930"/>
                </a:cubicBezTo>
                <a:lnTo>
                  <a:pt x="4195827" y="1276116"/>
                </a:lnTo>
                <a:cubicBezTo>
                  <a:pt x="4197732" y="1282425"/>
                  <a:pt x="4215213" y="1304756"/>
                  <a:pt x="4246280" y="1304756"/>
                </a:cubicBezTo>
                <a:cubicBezTo>
                  <a:pt x="4295325" y="1304756"/>
                  <a:pt x="4338529" y="1264464"/>
                  <a:pt x="4338529" y="1211066"/>
                </a:cubicBezTo>
                <a:close/>
                <a:moveTo>
                  <a:pt x="4304065" y="1211066"/>
                </a:moveTo>
                <a:cubicBezTo>
                  <a:pt x="4304065" y="1261067"/>
                  <a:pt x="4275400" y="1296016"/>
                  <a:pt x="4244830" y="1296016"/>
                </a:cubicBezTo>
                <a:cubicBezTo>
                  <a:pt x="4228344" y="1296016"/>
                  <a:pt x="4212811" y="1287765"/>
                  <a:pt x="4201626" y="1270773"/>
                </a:cubicBezTo>
                <a:cubicBezTo>
                  <a:pt x="4195827" y="1262037"/>
                  <a:pt x="4195827" y="1261552"/>
                  <a:pt x="4195827" y="1253301"/>
                </a:cubicBezTo>
                <a:lnTo>
                  <a:pt x="4195827" y="1161553"/>
                </a:lnTo>
                <a:cubicBezTo>
                  <a:pt x="4207467" y="1140195"/>
                  <a:pt x="4227847" y="1128547"/>
                  <a:pt x="4248724" y="1128547"/>
                </a:cubicBezTo>
                <a:cubicBezTo>
                  <a:pt x="4278797" y="1128547"/>
                  <a:pt x="4304065" y="1164465"/>
                  <a:pt x="4304065" y="1211066"/>
                </a:cubicBezTo>
                <a:close/>
                <a:moveTo>
                  <a:pt x="4552479" y="1263495"/>
                </a:moveTo>
                <a:lnTo>
                  <a:pt x="4552479" y="1240679"/>
                </a:lnTo>
                <a:lnTo>
                  <a:pt x="4541792" y="1240679"/>
                </a:lnTo>
                <a:lnTo>
                  <a:pt x="4541792" y="1263495"/>
                </a:lnTo>
                <a:cubicBezTo>
                  <a:pt x="4541792" y="1287765"/>
                  <a:pt x="4531602" y="1290192"/>
                  <a:pt x="4527252" y="1290192"/>
                </a:cubicBezTo>
                <a:cubicBezTo>
                  <a:pt x="4513624" y="1290192"/>
                  <a:pt x="4511719" y="1271262"/>
                  <a:pt x="4511719" y="1269319"/>
                </a:cubicBezTo>
                <a:lnTo>
                  <a:pt x="4511719" y="1186796"/>
                </a:lnTo>
                <a:cubicBezTo>
                  <a:pt x="4511719" y="1169804"/>
                  <a:pt x="4511719" y="1153301"/>
                  <a:pt x="4497138" y="1138252"/>
                </a:cubicBezTo>
                <a:cubicBezTo>
                  <a:pt x="4481107" y="1122234"/>
                  <a:pt x="4460230" y="1115437"/>
                  <a:pt x="4440347" y="1115437"/>
                </a:cubicBezTo>
                <a:cubicBezTo>
                  <a:pt x="4406836" y="1115437"/>
                  <a:pt x="4378212" y="1134856"/>
                  <a:pt x="4378212" y="1162037"/>
                </a:cubicBezTo>
                <a:cubicBezTo>
                  <a:pt x="4378212" y="1174659"/>
                  <a:pt x="4386456" y="1181457"/>
                  <a:pt x="4397143" y="1181457"/>
                </a:cubicBezTo>
                <a:cubicBezTo>
                  <a:pt x="4408783" y="1181457"/>
                  <a:pt x="4416073" y="1173205"/>
                  <a:pt x="4416073" y="1162526"/>
                </a:cubicBezTo>
                <a:cubicBezTo>
                  <a:pt x="4416073" y="1157671"/>
                  <a:pt x="4414126" y="1144081"/>
                  <a:pt x="4395196" y="1143592"/>
                </a:cubicBezTo>
                <a:cubicBezTo>
                  <a:pt x="4406380" y="1129032"/>
                  <a:pt x="4426263" y="1124661"/>
                  <a:pt x="4439850" y="1124661"/>
                </a:cubicBezTo>
                <a:cubicBezTo>
                  <a:pt x="4459774" y="1124661"/>
                  <a:pt x="4483551" y="1140680"/>
                  <a:pt x="4483551" y="1177571"/>
                </a:cubicBezTo>
                <a:lnTo>
                  <a:pt x="4483551" y="1192620"/>
                </a:lnTo>
                <a:cubicBezTo>
                  <a:pt x="4462177" y="1194078"/>
                  <a:pt x="4433554" y="1195047"/>
                  <a:pt x="4407333" y="1207669"/>
                </a:cubicBezTo>
                <a:cubicBezTo>
                  <a:pt x="4376266" y="1221749"/>
                  <a:pt x="4366076" y="1243106"/>
                  <a:pt x="4366076" y="1261067"/>
                </a:cubicBezTo>
                <a:cubicBezTo>
                  <a:pt x="4366076" y="1294562"/>
                  <a:pt x="4406380" y="1304756"/>
                  <a:pt x="4432104" y="1304756"/>
                </a:cubicBezTo>
                <a:cubicBezTo>
                  <a:pt x="4459277" y="1304756"/>
                  <a:pt x="4478208" y="1288249"/>
                  <a:pt x="4486451" y="1268834"/>
                </a:cubicBezTo>
                <a:cubicBezTo>
                  <a:pt x="4487901" y="1285337"/>
                  <a:pt x="4499085" y="1302814"/>
                  <a:pt x="4518512" y="1302814"/>
                </a:cubicBezTo>
                <a:cubicBezTo>
                  <a:pt x="4527252" y="1302814"/>
                  <a:pt x="4552479" y="1296989"/>
                  <a:pt x="4552479" y="1263495"/>
                </a:cubicBezTo>
                <a:close/>
                <a:moveTo>
                  <a:pt x="4483551" y="1242622"/>
                </a:moveTo>
                <a:cubicBezTo>
                  <a:pt x="4483551" y="1281940"/>
                  <a:pt x="4453437" y="1296016"/>
                  <a:pt x="4435004" y="1296016"/>
                </a:cubicBezTo>
                <a:cubicBezTo>
                  <a:pt x="4415079" y="1296016"/>
                  <a:pt x="4398096" y="1281456"/>
                  <a:pt x="4398096" y="1260583"/>
                </a:cubicBezTo>
                <a:cubicBezTo>
                  <a:pt x="4398096" y="1238252"/>
                  <a:pt x="4415079" y="1203788"/>
                  <a:pt x="4483551" y="1201360"/>
                </a:cubicBezTo>
                <a:close/>
                <a:moveTo>
                  <a:pt x="4709265" y="1143107"/>
                </a:moveTo>
                <a:cubicBezTo>
                  <a:pt x="4709265" y="1130001"/>
                  <a:pt x="4696631" y="1117864"/>
                  <a:pt x="4679151" y="1117864"/>
                </a:cubicBezTo>
                <a:cubicBezTo>
                  <a:pt x="4648581" y="1117864"/>
                  <a:pt x="4634041" y="1145535"/>
                  <a:pt x="4628201" y="1163496"/>
                </a:cubicBezTo>
                <a:lnTo>
                  <a:pt x="4628201" y="1117864"/>
                </a:lnTo>
                <a:lnTo>
                  <a:pt x="4570912" y="1122719"/>
                </a:lnTo>
                <a:lnTo>
                  <a:pt x="4570912" y="1135340"/>
                </a:lnTo>
                <a:cubicBezTo>
                  <a:pt x="4599577" y="1135340"/>
                  <a:pt x="4602974" y="1138252"/>
                  <a:pt x="4602974" y="1158641"/>
                </a:cubicBezTo>
                <a:lnTo>
                  <a:pt x="4602974" y="1268834"/>
                </a:lnTo>
                <a:cubicBezTo>
                  <a:pt x="4602974" y="1287765"/>
                  <a:pt x="4598583" y="1287765"/>
                  <a:pt x="4570912" y="1287765"/>
                </a:cubicBezTo>
                <a:lnTo>
                  <a:pt x="4570912" y="1300386"/>
                </a:lnTo>
                <a:lnTo>
                  <a:pt x="4618010" y="1298928"/>
                </a:lnTo>
                <a:cubicBezTo>
                  <a:pt x="4634497" y="1298928"/>
                  <a:pt x="4653924" y="1298928"/>
                  <a:pt x="4670452" y="1300386"/>
                </a:cubicBezTo>
                <a:lnTo>
                  <a:pt x="4670452" y="1287765"/>
                </a:lnTo>
                <a:lnTo>
                  <a:pt x="4661712" y="1287765"/>
                </a:lnTo>
                <a:cubicBezTo>
                  <a:pt x="4631100" y="1287765"/>
                  <a:pt x="4630147" y="1282910"/>
                  <a:pt x="4630147" y="1268350"/>
                </a:cubicBezTo>
                <a:lnTo>
                  <a:pt x="4630147" y="1204757"/>
                </a:lnTo>
                <a:cubicBezTo>
                  <a:pt x="4630147" y="1163980"/>
                  <a:pt x="4647628" y="1127089"/>
                  <a:pt x="4679151" y="1127089"/>
                </a:cubicBezTo>
                <a:cubicBezTo>
                  <a:pt x="4681595" y="1127089"/>
                  <a:pt x="4682547" y="1127089"/>
                  <a:pt x="4683542" y="1127574"/>
                </a:cubicBezTo>
                <a:cubicBezTo>
                  <a:pt x="4682092" y="1128058"/>
                  <a:pt x="4673849" y="1132913"/>
                  <a:pt x="4673849" y="1143592"/>
                </a:cubicBezTo>
                <a:cubicBezTo>
                  <a:pt x="4673849" y="1155244"/>
                  <a:pt x="4682589" y="1161553"/>
                  <a:pt x="4691785" y="1161553"/>
                </a:cubicBezTo>
                <a:cubicBezTo>
                  <a:pt x="4699075" y="1161553"/>
                  <a:pt x="4709265" y="1156213"/>
                  <a:pt x="4709265" y="1143107"/>
                </a:cubicBezTo>
                <a:close/>
                <a:moveTo>
                  <a:pt x="4892396" y="1251358"/>
                </a:moveTo>
                <a:cubicBezTo>
                  <a:pt x="4892396" y="1246988"/>
                  <a:pt x="4889000" y="1246503"/>
                  <a:pt x="4887053" y="1246503"/>
                </a:cubicBezTo>
                <a:cubicBezTo>
                  <a:pt x="4883159" y="1246503"/>
                  <a:pt x="4882206" y="1248930"/>
                  <a:pt x="4881709" y="1252327"/>
                </a:cubicBezTo>
                <a:cubicBezTo>
                  <a:pt x="4867170" y="1294562"/>
                  <a:pt x="4829765" y="1294562"/>
                  <a:pt x="4825871" y="1294562"/>
                </a:cubicBezTo>
                <a:cubicBezTo>
                  <a:pt x="4805035" y="1294562"/>
                  <a:pt x="4788507" y="1282425"/>
                  <a:pt x="4779270" y="1266892"/>
                </a:cubicBezTo>
                <a:cubicBezTo>
                  <a:pt x="4766677" y="1246988"/>
                  <a:pt x="4766677" y="1219806"/>
                  <a:pt x="4766677" y="1205242"/>
                </a:cubicBezTo>
                <a:lnTo>
                  <a:pt x="4882206" y="1205242"/>
                </a:lnTo>
                <a:cubicBezTo>
                  <a:pt x="4890947" y="1205242"/>
                  <a:pt x="4892396" y="1205242"/>
                  <a:pt x="4892396" y="1196506"/>
                </a:cubicBezTo>
                <a:cubicBezTo>
                  <a:pt x="4892396" y="1155729"/>
                  <a:pt x="4870069" y="1115437"/>
                  <a:pt x="4818622" y="1115437"/>
                </a:cubicBezTo>
                <a:cubicBezTo>
                  <a:pt x="4770571" y="1115437"/>
                  <a:pt x="4732669" y="1158156"/>
                  <a:pt x="4732669" y="1209612"/>
                </a:cubicBezTo>
                <a:cubicBezTo>
                  <a:pt x="4732669" y="1264949"/>
                  <a:pt x="4775873" y="1304756"/>
                  <a:pt x="4823469" y="1304756"/>
                </a:cubicBezTo>
                <a:cubicBezTo>
                  <a:pt x="4873963" y="1304756"/>
                  <a:pt x="4892396" y="1259125"/>
                  <a:pt x="4892396" y="1251358"/>
                </a:cubicBezTo>
                <a:close/>
                <a:moveTo>
                  <a:pt x="4865223" y="1196506"/>
                </a:moveTo>
                <a:lnTo>
                  <a:pt x="4767133" y="1196506"/>
                </a:lnTo>
                <a:cubicBezTo>
                  <a:pt x="4769577" y="1134856"/>
                  <a:pt x="4804538" y="1124661"/>
                  <a:pt x="4818622" y="1124661"/>
                </a:cubicBezTo>
                <a:cubicBezTo>
                  <a:pt x="4860832" y="1124661"/>
                  <a:pt x="4865223" y="1180487"/>
                  <a:pt x="4865223" y="1196506"/>
                </a:cubicBezTo>
                <a:close/>
                <a:moveTo>
                  <a:pt x="5125152" y="1300386"/>
                </a:moveTo>
                <a:lnTo>
                  <a:pt x="5125152" y="1287765"/>
                </a:lnTo>
                <a:cubicBezTo>
                  <a:pt x="5103778" y="1287765"/>
                  <a:pt x="5093132" y="1287765"/>
                  <a:pt x="5092635" y="1275143"/>
                </a:cubicBezTo>
                <a:lnTo>
                  <a:pt x="5092635" y="1196506"/>
                </a:lnTo>
                <a:cubicBezTo>
                  <a:pt x="5092635" y="1161068"/>
                  <a:pt x="5092635" y="1147962"/>
                  <a:pt x="5080001" y="1133398"/>
                </a:cubicBezTo>
                <a:cubicBezTo>
                  <a:pt x="5074202" y="1126120"/>
                  <a:pt x="5060574" y="1117864"/>
                  <a:pt x="5036797" y="1117864"/>
                </a:cubicBezTo>
                <a:cubicBezTo>
                  <a:pt x="5006724" y="1117864"/>
                  <a:pt x="4987297" y="1135825"/>
                  <a:pt x="4975657" y="1161553"/>
                </a:cubicBezTo>
                <a:lnTo>
                  <a:pt x="4975657" y="1117864"/>
                </a:lnTo>
                <a:lnTo>
                  <a:pt x="4917374" y="1122719"/>
                </a:lnTo>
                <a:lnTo>
                  <a:pt x="4917374" y="1135340"/>
                </a:lnTo>
                <a:cubicBezTo>
                  <a:pt x="4946536" y="1135340"/>
                  <a:pt x="4949933" y="1138252"/>
                  <a:pt x="4949933" y="1158641"/>
                </a:cubicBezTo>
                <a:lnTo>
                  <a:pt x="4949933" y="1268834"/>
                </a:lnTo>
                <a:cubicBezTo>
                  <a:pt x="4949933" y="1287765"/>
                  <a:pt x="4945045" y="1287765"/>
                  <a:pt x="4917374" y="1287765"/>
                </a:cubicBezTo>
                <a:lnTo>
                  <a:pt x="4917374" y="1300386"/>
                </a:lnTo>
                <a:lnTo>
                  <a:pt x="4963975" y="1298928"/>
                </a:lnTo>
                <a:lnTo>
                  <a:pt x="5010120" y="1300386"/>
                </a:lnTo>
                <a:lnTo>
                  <a:pt x="5010120" y="1287765"/>
                </a:lnTo>
                <a:cubicBezTo>
                  <a:pt x="4982906" y="1287765"/>
                  <a:pt x="4978059" y="1287765"/>
                  <a:pt x="4978059" y="1268834"/>
                </a:cubicBezTo>
                <a:lnTo>
                  <a:pt x="4978059" y="1193105"/>
                </a:lnTo>
                <a:cubicBezTo>
                  <a:pt x="4978059" y="1150389"/>
                  <a:pt x="5007677" y="1127089"/>
                  <a:pt x="5033898" y="1127089"/>
                </a:cubicBezTo>
                <a:cubicBezTo>
                  <a:pt x="5059621" y="1127089"/>
                  <a:pt x="5064468" y="1149420"/>
                  <a:pt x="5064468" y="1172720"/>
                </a:cubicBezTo>
                <a:lnTo>
                  <a:pt x="5064468" y="1268834"/>
                </a:lnTo>
                <a:cubicBezTo>
                  <a:pt x="5064468" y="1287765"/>
                  <a:pt x="5059621" y="1287765"/>
                  <a:pt x="5032448" y="1287765"/>
                </a:cubicBezTo>
                <a:lnTo>
                  <a:pt x="5032448" y="1300386"/>
                </a:lnTo>
                <a:lnTo>
                  <a:pt x="5079048" y="1298928"/>
                </a:lnTo>
                <a:close/>
                <a:moveTo>
                  <a:pt x="5259487" y="1249415"/>
                </a:moveTo>
                <a:lnTo>
                  <a:pt x="5259487" y="1225630"/>
                </a:lnTo>
                <a:lnTo>
                  <a:pt x="5249297" y="1225630"/>
                </a:lnTo>
                <a:lnTo>
                  <a:pt x="5249297" y="1248446"/>
                </a:lnTo>
                <a:cubicBezTo>
                  <a:pt x="5249297" y="1279028"/>
                  <a:pt x="5236663" y="1294562"/>
                  <a:pt x="5221627" y="1294562"/>
                </a:cubicBezTo>
                <a:cubicBezTo>
                  <a:pt x="5193956" y="1294562"/>
                  <a:pt x="5193956" y="1257182"/>
                  <a:pt x="5193956" y="1249900"/>
                </a:cubicBezTo>
                <a:lnTo>
                  <a:pt x="5193956" y="1135340"/>
                </a:lnTo>
                <a:lnTo>
                  <a:pt x="5253191" y="1135340"/>
                </a:lnTo>
                <a:lnTo>
                  <a:pt x="5253191" y="1122719"/>
                </a:lnTo>
                <a:lnTo>
                  <a:pt x="5193956" y="1122719"/>
                </a:lnTo>
                <a:lnTo>
                  <a:pt x="5193956" y="1046509"/>
                </a:lnTo>
                <a:lnTo>
                  <a:pt x="5183766" y="1046509"/>
                </a:lnTo>
                <a:cubicBezTo>
                  <a:pt x="5183269" y="1080488"/>
                  <a:pt x="5170676" y="1124661"/>
                  <a:pt x="5130372" y="1126120"/>
                </a:cubicBezTo>
                <a:lnTo>
                  <a:pt x="5130372" y="1135340"/>
                </a:lnTo>
                <a:lnTo>
                  <a:pt x="5165333" y="1135340"/>
                </a:lnTo>
                <a:lnTo>
                  <a:pt x="5165333" y="1249415"/>
                </a:lnTo>
                <a:cubicBezTo>
                  <a:pt x="5165333" y="1299902"/>
                  <a:pt x="5203690" y="1304756"/>
                  <a:pt x="5218727" y="1304756"/>
                </a:cubicBezTo>
                <a:cubicBezTo>
                  <a:pt x="5247847" y="1304756"/>
                  <a:pt x="5259487" y="1275628"/>
                  <a:pt x="5259487" y="1249415"/>
                </a:cubicBezTo>
                <a:close/>
                <a:moveTo>
                  <a:pt x="5504049" y="1300386"/>
                </a:moveTo>
                <a:lnTo>
                  <a:pt x="5504049" y="1287765"/>
                </a:lnTo>
                <a:cubicBezTo>
                  <a:pt x="5482674" y="1287765"/>
                  <a:pt x="5471987" y="1287765"/>
                  <a:pt x="5471490" y="1275143"/>
                </a:cubicBezTo>
                <a:lnTo>
                  <a:pt x="5471490" y="1196506"/>
                </a:lnTo>
                <a:cubicBezTo>
                  <a:pt x="5471490" y="1161068"/>
                  <a:pt x="5471490" y="1147962"/>
                  <a:pt x="5458898" y="1133398"/>
                </a:cubicBezTo>
                <a:cubicBezTo>
                  <a:pt x="5453057" y="1126120"/>
                  <a:pt x="5439470" y="1117864"/>
                  <a:pt x="5415694" y="1117864"/>
                </a:cubicBezTo>
                <a:cubicBezTo>
                  <a:pt x="5380732" y="1117864"/>
                  <a:pt x="5362755" y="1142623"/>
                  <a:pt x="5355962" y="1157671"/>
                </a:cubicBezTo>
                <a:lnTo>
                  <a:pt x="5355962" y="1013983"/>
                </a:lnTo>
                <a:lnTo>
                  <a:pt x="5296271" y="1018353"/>
                </a:lnTo>
                <a:lnTo>
                  <a:pt x="5296271" y="1031460"/>
                </a:lnTo>
                <a:cubicBezTo>
                  <a:pt x="5325391" y="1031460"/>
                  <a:pt x="5328788" y="1034372"/>
                  <a:pt x="5328788" y="1054275"/>
                </a:cubicBezTo>
                <a:lnTo>
                  <a:pt x="5328788" y="1268834"/>
                </a:lnTo>
                <a:cubicBezTo>
                  <a:pt x="5328788" y="1287765"/>
                  <a:pt x="5323941" y="1287765"/>
                  <a:pt x="5296271" y="1287765"/>
                </a:cubicBezTo>
                <a:lnTo>
                  <a:pt x="5296271" y="1300386"/>
                </a:lnTo>
                <a:lnTo>
                  <a:pt x="5342871" y="1298928"/>
                </a:lnTo>
                <a:lnTo>
                  <a:pt x="5388976" y="1300386"/>
                </a:lnTo>
                <a:lnTo>
                  <a:pt x="5388976" y="1287765"/>
                </a:lnTo>
                <a:cubicBezTo>
                  <a:pt x="5361802" y="1287765"/>
                  <a:pt x="5356956" y="1287765"/>
                  <a:pt x="5356956" y="1268834"/>
                </a:cubicBezTo>
                <a:lnTo>
                  <a:pt x="5356956" y="1193105"/>
                </a:lnTo>
                <a:cubicBezTo>
                  <a:pt x="5356956" y="1150389"/>
                  <a:pt x="5386573" y="1127089"/>
                  <a:pt x="5412753" y="1127089"/>
                </a:cubicBezTo>
                <a:cubicBezTo>
                  <a:pt x="5438517" y="1127089"/>
                  <a:pt x="5443364" y="1149420"/>
                  <a:pt x="5443364" y="1172720"/>
                </a:cubicBezTo>
                <a:lnTo>
                  <a:pt x="5443364" y="1268834"/>
                </a:lnTo>
                <a:cubicBezTo>
                  <a:pt x="5443364" y="1287765"/>
                  <a:pt x="5438517" y="1287765"/>
                  <a:pt x="5411303" y="1287765"/>
                </a:cubicBezTo>
                <a:lnTo>
                  <a:pt x="5411303" y="1300386"/>
                </a:lnTo>
                <a:lnTo>
                  <a:pt x="5457904" y="1298928"/>
                </a:lnTo>
                <a:close/>
                <a:moveTo>
                  <a:pt x="5683990" y="1251358"/>
                </a:moveTo>
                <a:cubicBezTo>
                  <a:pt x="5683990" y="1246988"/>
                  <a:pt x="5680593" y="1246503"/>
                  <a:pt x="5678647" y="1246503"/>
                </a:cubicBezTo>
                <a:cubicBezTo>
                  <a:pt x="5674794" y="1246503"/>
                  <a:pt x="5673801" y="1248930"/>
                  <a:pt x="5673303" y="1252327"/>
                </a:cubicBezTo>
                <a:cubicBezTo>
                  <a:pt x="5658764" y="1294562"/>
                  <a:pt x="5621400" y="1294562"/>
                  <a:pt x="5617506" y="1294562"/>
                </a:cubicBezTo>
                <a:cubicBezTo>
                  <a:pt x="5596629" y="1294562"/>
                  <a:pt x="5580101" y="1282425"/>
                  <a:pt x="5570905" y="1266892"/>
                </a:cubicBezTo>
                <a:cubicBezTo>
                  <a:pt x="5558272" y="1246988"/>
                  <a:pt x="5558272" y="1219806"/>
                  <a:pt x="5558272" y="1205242"/>
                </a:cubicBezTo>
                <a:lnTo>
                  <a:pt x="5673801" y="1205242"/>
                </a:lnTo>
                <a:cubicBezTo>
                  <a:pt x="5682541" y="1205242"/>
                  <a:pt x="5683990" y="1205242"/>
                  <a:pt x="5683990" y="1196506"/>
                </a:cubicBezTo>
                <a:cubicBezTo>
                  <a:pt x="5683990" y="1155729"/>
                  <a:pt x="5661663" y="1115437"/>
                  <a:pt x="5610216" y="1115437"/>
                </a:cubicBezTo>
                <a:cubicBezTo>
                  <a:pt x="5562165" y="1115437"/>
                  <a:pt x="5524304" y="1158156"/>
                  <a:pt x="5524304" y="1209612"/>
                </a:cubicBezTo>
                <a:cubicBezTo>
                  <a:pt x="5524304" y="1264949"/>
                  <a:pt x="5567509" y="1304756"/>
                  <a:pt x="5615062" y="1304756"/>
                </a:cubicBezTo>
                <a:cubicBezTo>
                  <a:pt x="5665557" y="1304756"/>
                  <a:pt x="5683990" y="1259125"/>
                  <a:pt x="5683990" y="1251358"/>
                </a:cubicBezTo>
                <a:close/>
                <a:moveTo>
                  <a:pt x="5656817" y="1196506"/>
                </a:moveTo>
                <a:lnTo>
                  <a:pt x="5558768" y="1196506"/>
                </a:lnTo>
                <a:cubicBezTo>
                  <a:pt x="5561171" y="1134856"/>
                  <a:pt x="5596132" y="1124661"/>
                  <a:pt x="5610216" y="1124661"/>
                </a:cubicBezTo>
                <a:cubicBezTo>
                  <a:pt x="5652467" y="1124661"/>
                  <a:pt x="5656817" y="1180487"/>
                  <a:pt x="5656817" y="1196506"/>
                </a:cubicBezTo>
                <a:close/>
                <a:moveTo>
                  <a:pt x="5844298" y="1247472"/>
                </a:moveTo>
                <a:cubicBezTo>
                  <a:pt x="5844298" y="1225630"/>
                  <a:pt x="5832161" y="1213493"/>
                  <a:pt x="5826858" y="1208154"/>
                </a:cubicBezTo>
                <a:cubicBezTo>
                  <a:pt x="5813230" y="1195047"/>
                  <a:pt x="5797241" y="1191651"/>
                  <a:pt x="5779761" y="1188739"/>
                </a:cubicBezTo>
                <a:cubicBezTo>
                  <a:pt x="5756936" y="1183884"/>
                  <a:pt x="5729265" y="1178545"/>
                  <a:pt x="5729265" y="1154759"/>
                </a:cubicBezTo>
                <a:cubicBezTo>
                  <a:pt x="5729265" y="1140195"/>
                  <a:pt x="5739953" y="1123203"/>
                  <a:pt x="5775370" y="1123203"/>
                </a:cubicBezTo>
                <a:cubicBezTo>
                  <a:pt x="5821017" y="1123203"/>
                  <a:pt x="5822965" y="1160584"/>
                  <a:pt x="5823917" y="1173205"/>
                </a:cubicBezTo>
                <a:cubicBezTo>
                  <a:pt x="5823917" y="1177086"/>
                  <a:pt x="5828764" y="1177086"/>
                  <a:pt x="5828764" y="1177086"/>
                </a:cubicBezTo>
                <a:cubicBezTo>
                  <a:pt x="5834107" y="1177086"/>
                  <a:pt x="5834107" y="1175148"/>
                  <a:pt x="5834107" y="1166892"/>
                </a:cubicBezTo>
                <a:lnTo>
                  <a:pt x="5834107" y="1125631"/>
                </a:lnTo>
                <a:cubicBezTo>
                  <a:pt x="5834107" y="1118353"/>
                  <a:pt x="5834107" y="1115437"/>
                  <a:pt x="5829261" y="1115437"/>
                </a:cubicBezTo>
                <a:cubicBezTo>
                  <a:pt x="5827314" y="1115437"/>
                  <a:pt x="5826361" y="1115437"/>
                  <a:pt x="5821017" y="1120291"/>
                </a:cubicBezTo>
                <a:cubicBezTo>
                  <a:pt x="5820024" y="1122234"/>
                  <a:pt x="5815674" y="1125631"/>
                  <a:pt x="5814225" y="1127089"/>
                </a:cubicBezTo>
                <a:cubicBezTo>
                  <a:pt x="5798691" y="1115437"/>
                  <a:pt x="5781707" y="1115437"/>
                  <a:pt x="5775370" y="1115437"/>
                </a:cubicBezTo>
                <a:cubicBezTo>
                  <a:pt x="5724916" y="1115437"/>
                  <a:pt x="5709383" y="1143107"/>
                  <a:pt x="5709383" y="1166408"/>
                </a:cubicBezTo>
                <a:cubicBezTo>
                  <a:pt x="5709383" y="1180487"/>
                  <a:pt x="5716176" y="1192135"/>
                  <a:pt x="5727319" y="1201360"/>
                </a:cubicBezTo>
                <a:cubicBezTo>
                  <a:pt x="5740450" y="1212039"/>
                  <a:pt x="5752090" y="1214467"/>
                  <a:pt x="5781707" y="1220291"/>
                </a:cubicBezTo>
                <a:cubicBezTo>
                  <a:pt x="5790903" y="1221749"/>
                  <a:pt x="5824414" y="1228542"/>
                  <a:pt x="5824414" y="1258155"/>
                </a:cubicBezTo>
                <a:cubicBezTo>
                  <a:pt x="5824414" y="1279513"/>
                  <a:pt x="5809834" y="1296016"/>
                  <a:pt x="5777813" y="1296016"/>
                </a:cubicBezTo>
                <a:cubicBezTo>
                  <a:pt x="5743349" y="1296016"/>
                  <a:pt x="5728313" y="1272231"/>
                  <a:pt x="5720525" y="1237282"/>
                </a:cubicBezTo>
                <a:cubicBezTo>
                  <a:pt x="5719075" y="1231939"/>
                  <a:pt x="5719075" y="1230000"/>
                  <a:pt x="5714685" y="1230000"/>
                </a:cubicBezTo>
                <a:cubicBezTo>
                  <a:pt x="5709383" y="1230000"/>
                  <a:pt x="5709383" y="1232912"/>
                  <a:pt x="5709383" y="1240679"/>
                </a:cubicBezTo>
                <a:lnTo>
                  <a:pt x="5709383" y="1295047"/>
                </a:lnTo>
                <a:cubicBezTo>
                  <a:pt x="5709383" y="1301840"/>
                  <a:pt x="5709383" y="1304756"/>
                  <a:pt x="5713732" y="1304756"/>
                </a:cubicBezTo>
                <a:cubicBezTo>
                  <a:pt x="5716176" y="1304756"/>
                  <a:pt x="5716632" y="1304756"/>
                  <a:pt x="5724419" y="1296501"/>
                </a:cubicBezTo>
                <a:cubicBezTo>
                  <a:pt x="5724916" y="1296016"/>
                  <a:pt x="5724916" y="1295047"/>
                  <a:pt x="5732662" y="1287280"/>
                </a:cubicBezTo>
                <a:cubicBezTo>
                  <a:pt x="5750640" y="1304756"/>
                  <a:pt x="5769073" y="1304756"/>
                  <a:pt x="5777813" y="1304756"/>
                </a:cubicBezTo>
                <a:cubicBezTo>
                  <a:pt x="5825367" y="1304756"/>
                  <a:pt x="5844298" y="1277086"/>
                  <a:pt x="5844298" y="1247472"/>
                </a:cubicBezTo>
                <a:close/>
                <a:moveTo>
                  <a:pt x="5960323" y="1300386"/>
                </a:moveTo>
                <a:lnTo>
                  <a:pt x="5960323" y="1287765"/>
                </a:lnTo>
                <a:cubicBezTo>
                  <a:pt x="5933149" y="1287765"/>
                  <a:pt x="5931203" y="1285337"/>
                  <a:pt x="5931203" y="1269319"/>
                </a:cubicBezTo>
                <a:lnTo>
                  <a:pt x="5931203" y="1117864"/>
                </a:lnTo>
                <a:lnTo>
                  <a:pt x="5873459" y="1122719"/>
                </a:lnTo>
                <a:lnTo>
                  <a:pt x="5873459" y="1135340"/>
                </a:lnTo>
                <a:cubicBezTo>
                  <a:pt x="5900633" y="1135340"/>
                  <a:pt x="5904030" y="1137768"/>
                  <a:pt x="5904030" y="1158156"/>
                </a:cubicBezTo>
                <a:lnTo>
                  <a:pt x="5904030" y="1268834"/>
                </a:lnTo>
                <a:cubicBezTo>
                  <a:pt x="5904030" y="1287765"/>
                  <a:pt x="5899639" y="1287765"/>
                  <a:pt x="5871968" y="1287765"/>
                </a:cubicBezTo>
                <a:lnTo>
                  <a:pt x="5871968" y="1300386"/>
                </a:lnTo>
                <a:lnTo>
                  <a:pt x="5917616" y="1298928"/>
                </a:lnTo>
                <a:cubicBezTo>
                  <a:pt x="5931700" y="1298928"/>
                  <a:pt x="5946240" y="1299902"/>
                  <a:pt x="5960323" y="1300386"/>
                </a:cubicBezTo>
                <a:close/>
                <a:moveTo>
                  <a:pt x="5937499" y="1051363"/>
                </a:moveTo>
                <a:cubicBezTo>
                  <a:pt x="5937499" y="1040196"/>
                  <a:pt x="5928303" y="1029517"/>
                  <a:pt x="5915669" y="1029517"/>
                </a:cubicBezTo>
                <a:cubicBezTo>
                  <a:pt x="5901585" y="1029517"/>
                  <a:pt x="5893342" y="1040685"/>
                  <a:pt x="5893342" y="1051363"/>
                </a:cubicBezTo>
                <a:cubicBezTo>
                  <a:pt x="5893342" y="1062527"/>
                  <a:pt x="5903035" y="1073206"/>
                  <a:pt x="5915172" y="1073206"/>
                </a:cubicBezTo>
                <a:cubicBezTo>
                  <a:pt x="5929256" y="1073206"/>
                  <a:pt x="5937499" y="1061558"/>
                  <a:pt x="5937499" y="1051363"/>
                </a:cubicBezTo>
                <a:close/>
                <a:moveTo>
                  <a:pt x="6121749" y="1247472"/>
                </a:moveTo>
                <a:cubicBezTo>
                  <a:pt x="6121749" y="1225630"/>
                  <a:pt x="6109612" y="1213493"/>
                  <a:pt x="6104268" y="1208154"/>
                </a:cubicBezTo>
                <a:cubicBezTo>
                  <a:pt x="6090682" y="1195047"/>
                  <a:pt x="6074651" y="1191651"/>
                  <a:pt x="6057170" y="1188739"/>
                </a:cubicBezTo>
                <a:cubicBezTo>
                  <a:pt x="6034346" y="1183884"/>
                  <a:pt x="6006676" y="1178545"/>
                  <a:pt x="6006676" y="1154759"/>
                </a:cubicBezTo>
                <a:cubicBezTo>
                  <a:pt x="6006676" y="1140195"/>
                  <a:pt x="6017363" y="1123203"/>
                  <a:pt x="6052821" y="1123203"/>
                </a:cubicBezTo>
                <a:cubicBezTo>
                  <a:pt x="6098428" y="1123203"/>
                  <a:pt x="6100374" y="1160584"/>
                  <a:pt x="6101327" y="1173205"/>
                </a:cubicBezTo>
                <a:cubicBezTo>
                  <a:pt x="6101327" y="1177086"/>
                  <a:pt x="6106215" y="1177086"/>
                  <a:pt x="6106215" y="1177086"/>
                </a:cubicBezTo>
                <a:cubicBezTo>
                  <a:pt x="6111559" y="1177086"/>
                  <a:pt x="6111559" y="1175148"/>
                  <a:pt x="6111559" y="1166892"/>
                </a:cubicBezTo>
                <a:lnTo>
                  <a:pt x="6111559" y="1125631"/>
                </a:lnTo>
                <a:cubicBezTo>
                  <a:pt x="6111559" y="1118353"/>
                  <a:pt x="6111559" y="1115437"/>
                  <a:pt x="6106671" y="1115437"/>
                </a:cubicBezTo>
                <a:cubicBezTo>
                  <a:pt x="6104724" y="1115437"/>
                  <a:pt x="6103771" y="1115437"/>
                  <a:pt x="6098428" y="1120291"/>
                </a:cubicBezTo>
                <a:cubicBezTo>
                  <a:pt x="6097475" y="1122234"/>
                  <a:pt x="6093084" y="1125631"/>
                  <a:pt x="6091634" y="1127089"/>
                </a:cubicBezTo>
                <a:cubicBezTo>
                  <a:pt x="6076100" y="1115437"/>
                  <a:pt x="6059117" y="1115437"/>
                  <a:pt x="6052821" y="1115437"/>
                </a:cubicBezTo>
                <a:cubicBezTo>
                  <a:pt x="6002326" y="1115437"/>
                  <a:pt x="5986793" y="1143107"/>
                  <a:pt x="5986793" y="1166408"/>
                </a:cubicBezTo>
                <a:cubicBezTo>
                  <a:pt x="5986793" y="1180487"/>
                  <a:pt x="5993586" y="1192135"/>
                  <a:pt x="6004729" y="1201360"/>
                </a:cubicBezTo>
                <a:cubicBezTo>
                  <a:pt x="6017860" y="1212039"/>
                  <a:pt x="6029500" y="1214467"/>
                  <a:pt x="6059117" y="1220291"/>
                </a:cubicBezTo>
                <a:cubicBezTo>
                  <a:pt x="6068355" y="1221749"/>
                  <a:pt x="6101824" y="1228542"/>
                  <a:pt x="6101824" y="1258155"/>
                </a:cubicBezTo>
                <a:cubicBezTo>
                  <a:pt x="6101824" y="1279513"/>
                  <a:pt x="6087285" y="1296016"/>
                  <a:pt x="6055223" y="1296016"/>
                </a:cubicBezTo>
                <a:cubicBezTo>
                  <a:pt x="6020759" y="1296016"/>
                  <a:pt x="6005723" y="1272231"/>
                  <a:pt x="5997936" y="1237282"/>
                </a:cubicBezTo>
                <a:cubicBezTo>
                  <a:pt x="5996486" y="1231939"/>
                  <a:pt x="5996486" y="1230000"/>
                  <a:pt x="5992136" y="1230000"/>
                </a:cubicBezTo>
                <a:cubicBezTo>
                  <a:pt x="5986793" y="1230000"/>
                  <a:pt x="5986793" y="1232912"/>
                  <a:pt x="5986793" y="1240679"/>
                </a:cubicBezTo>
                <a:lnTo>
                  <a:pt x="5986793" y="1295047"/>
                </a:lnTo>
                <a:cubicBezTo>
                  <a:pt x="5986793" y="1301840"/>
                  <a:pt x="5986793" y="1304756"/>
                  <a:pt x="5991142" y="1304756"/>
                </a:cubicBezTo>
                <a:cubicBezTo>
                  <a:pt x="5993586" y="1304756"/>
                  <a:pt x="5994083" y="1304756"/>
                  <a:pt x="6001829" y="1296501"/>
                </a:cubicBezTo>
                <a:cubicBezTo>
                  <a:pt x="6002326" y="1296016"/>
                  <a:pt x="6002326" y="1295047"/>
                  <a:pt x="6010072" y="1287280"/>
                </a:cubicBezTo>
                <a:cubicBezTo>
                  <a:pt x="6028050" y="1304756"/>
                  <a:pt x="6046483" y="1304756"/>
                  <a:pt x="6055223" y="1304756"/>
                </a:cubicBezTo>
                <a:cubicBezTo>
                  <a:pt x="6102818" y="1304756"/>
                  <a:pt x="6121749" y="1277086"/>
                  <a:pt x="6121749" y="1247472"/>
                </a:cubicBezTo>
                <a:close/>
              </a:path>
            </a:pathLst>
          </a:custGeom>
          <a:solidFill>
            <a:srgbClr val="000000"/>
          </a:solidFill>
          <a:ln w="41400" cap="flat">
            <a:noFill/>
            <a:prstDash val="solid"/>
            <a:miter/>
          </a:ln>
        </p:spPr>
        <p:txBody>
          <a:bodyPr rtlCol="0" anchor="ctr"/>
          <a:lstStyle/>
          <a:p>
            <a:endParaRPr lang="en-US" dirty="0"/>
          </a:p>
        </p:txBody>
      </p:sp>
    </p:spTree>
    <p:extLst>
      <p:ext uri="{BB962C8B-B14F-4D97-AF65-F5344CB8AC3E}">
        <p14:creationId xmlns:p14="http://schemas.microsoft.com/office/powerpoint/2010/main" val="3635435054"/>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A3C227-1EC6-F3A2-BD8E-0F11C4728DD6}"/>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BFC19269-B6D7-E083-9860-880187A864BE}"/>
              </a:ext>
            </a:extLst>
          </p:cNvPr>
          <p:cNvSpPr>
            <a:spLocks noGrp="1"/>
          </p:cNvSpPr>
          <p:nvPr>
            <p:ph type="body" sz="quarter" idx="18"/>
          </p:nvPr>
        </p:nvSpPr>
        <p:spPr/>
        <p:txBody>
          <a:bodyPr/>
          <a:lstStyle/>
          <a:p>
            <a:r>
              <a:rPr lang="en-US" dirty="0"/>
              <a:t>Before-After (editable)</a:t>
            </a:r>
          </a:p>
        </p:txBody>
      </p:sp>
      <p:graphicFrame>
        <p:nvGraphicFramePr>
          <p:cNvPr id="6" name="Table 5">
            <a:extLst>
              <a:ext uri="{FF2B5EF4-FFF2-40B4-BE49-F238E27FC236}">
                <a16:creationId xmlns:a16="http://schemas.microsoft.com/office/drawing/2014/main" id="{7D8729F7-65DB-98A6-BD48-56AEDE5AE7E9}"/>
              </a:ext>
            </a:extLst>
          </p:cNvPr>
          <p:cNvGraphicFramePr>
            <a:graphicFrameLocks noGrp="1"/>
          </p:cNvGraphicFramePr>
          <p:nvPr>
            <p:extLst>
              <p:ext uri="{D42A27DB-BD31-4B8C-83A1-F6EECF244321}">
                <p14:modId xmlns:p14="http://schemas.microsoft.com/office/powerpoint/2010/main" val="3494061396"/>
              </p:ext>
            </p:extLst>
          </p:nvPr>
        </p:nvGraphicFramePr>
        <p:xfrm>
          <a:off x="5391077" y="1711441"/>
          <a:ext cx="7505846" cy="7788529"/>
        </p:xfrm>
        <a:graphic>
          <a:graphicData uri="http://schemas.openxmlformats.org/drawingml/2006/table">
            <a:tbl>
              <a:tblPr firstRow="1" bandRow="1"/>
              <a:tblGrid>
                <a:gridCol w="3496976">
                  <a:extLst>
                    <a:ext uri="{9D8B030D-6E8A-4147-A177-3AD203B41FA5}">
                      <a16:colId xmlns:a16="http://schemas.microsoft.com/office/drawing/2014/main" val="588846995"/>
                    </a:ext>
                  </a:extLst>
                </a:gridCol>
                <a:gridCol w="4008870">
                  <a:extLst>
                    <a:ext uri="{9D8B030D-6E8A-4147-A177-3AD203B41FA5}">
                      <a16:colId xmlns:a16="http://schemas.microsoft.com/office/drawing/2014/main" val="3016661022"/>
                    </a:ext>
                  </a:extLst>
                </a:gridCol>
              </a:tblGrid>
              <a:tr h="641223">
                <a:tc gridSpan="2">
                  <a:txBody>
                    <a:bodyPr/>
                    <a:lstStyle/>
                    <a:p>
                      <a:pPr marL="0" marR="0" algn="ctr" fontAlgn="ctr">
                        <a:spcBef>
                          <a:spcPts val="500"/>
                        </a:spcBef>
                        <a:spcAft>
                          <a:spcPts val="500"/>
                        </a:spcAft>
                        <a:buNone/>
                      </a:pPr>
                      <a:r>
                        <a:rPr lang="en-US" sz="3600" b="0" i="0" u="none" strike="noStrike" dirty="0">
                          <a:effectLst/>
                          <a:latin typeface="Arial" panose="020B0604020202020204" pitchFamily="34" charset="0"/>
                        </a:rPr>
                        <a:t>Table 1: Before-After Results</a:t>
                      </a: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hMerge="1">
                  <a:txBody>
                    <a:bodyPr/>
                    <a:lstStyle/>
                    <a:p>
                      <a:pPr marL="0" marR="0" algn="l" fontAlgn="ctr">
                        <a:spcBef>
                          <a:spcPts val="500"/>
                        </a:spcBef>
                        <a:spcAft>
                          <a:spcPts val="500"/>
                        </a:spcAft>
                        <a:buNone/>
                      </a:pPr>
                      <a:endParaRPr lang="en-US" sz="5400" b="0" i="0" u="none" strike="noStrike" dirty="0">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892129709"/>
                  </a:ext>
                </a:extLst>
              </a:tr>
              <a:tr h="641223">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dirty="0">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Before-After</a:t>
                      </a:r>
                      <a:endParaRPr lang="en-US" sz="5400" b="0" i="0" u="none" strike="noStrike" dirty="0">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248811051"/>
                  </a:ext>
                </a:extLst>
              </a:tr>
              <a:tr h="114414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Before vs. After Effect</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-664.9***</a:t>
                      </a:r>
                      <a:endParaRPr lang="en-US" sz="5400" b="0" i="0" u="none" strike="noStrike" dirty="0">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1175324364"/>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(23.002)</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3072362670"/>
                  </a:ext>
                </a:extLst>
              </a:tr>
              <a:tr h="641223">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(Intercept)</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1448.969***</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3816410340"/>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(14.596)</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73794494"/>
                  </a:ext>
                </a:extLst>
              </a:tr>
              <a:tr h="641223">
                <a:tc>
                  <a:txBody>
                    <a:bodyPr/>
                    <a:lstStyle/>
                    <a:p>
                      <a:pPr marL="0" marR="0" algn="l" fontAlgn="ctr">
                        <a:spcBef>
                          <a:spcPts val="500"/>
                        </a:spcBef>
                        <a:spcAft>
                          <a:spcPts val="500"/>
                        </a:spcAft>
                        <a:buNone/>
                      </a:pPr>
                      <a:r>
                        <a:rPr lang="en-US" sz="3300" b="0" i="0" u="none" strike="noStrike" dirty="0" err="1">
                          <a:solidFill>
                            <a:srgbClr val="000000"/>
                          </a:solidFill>
                          <a:effectLst/>
                          <a:latin typeface="Arial" panose="020B0604020202020204" pitchFamily="34" charset="0"/>
                          <a:ea typeface="Arial" panose="020B0604020202020204" pitchFamily="34" charset="0"/>
                          <a:cs typeface="Times New Roman" panose="02020603050405020304" pitchFamily="18" charset="0"/>
                        </a:rPr>
                        <a:t>Num.Obs</a:t>
                      </a: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5928</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807414052"/>
                  </a:ext>
                </a:extLst>
              </a:tr>
              <a:tr h="1389888">
                <a:tc gridSpan="2">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p &lt; 0.1, * p &lt; 0.05, ** p &lt; 0.01, </a:t>
                      </a:r>
                    </a:p>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p &lt; 0.001</a:t>
                      </a:r>
                      <a:endParaRPr lang="en-US" sz="5400" b="0" i="0" u="none" strike="noStrike" dirty="0">
                        <a:effectLst/>
                        <a:latin typeface="Arial" panose="020B0604020202020204" pitchFamily="34" charset="0"/>
                      </a:endParaRPr>
                    </a:p>
                  </a:txBody>
                  <a:tcPr marL="274320" marR="274320" marT="137160" marB="137160">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640336591"/>
                  </a:ext>
                </a:extLst>
              </a:tr>
              <a:tr h="1389888">
                <a:tc gridSpan="2">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Standard errors are in parentheses</a:t>
                      </a:r>
                      <a:endParaRPr lang="en-US" sz="5400" b="0" i="0" u="none" strike="noStrike" dirty="0">
                        <a:effectLst/>
                        <a:latin typeface="Arial" panose="020B0604020202020204" pitchFamily="34" charset="0"/>
                      </a:endParaRPr>
                    </a:p>
                  </a:txBody>
                  <a:tcPr marL="274320" marR="274320" marT="137160" marB="137160">
                    <a:lnL>
                      <a:noFill/>
                    </a:lnL>
                    <a:lnR>
                      <a:noFill/>
                    </a:lnR>
                    <a:lnT>
                      <a:noFill/>
                    </a:lnT>
                    <a:lnB>
                      <a:noFill/>
                    </a:lnB>
                    <a:noFill/>
                  </a:tcPr>
                </a:tc>
                <a:tc hMerge="1">
                  <a:txBody>
                    <a:bodyPr/>
                    <a:lstStyle/>
                    <a:p>
                      <a:endParaRPr lang="en-US"/>
                    </a:p>
                  </a:txBody>
                  <a:tcPr/>
                </a:tc>
                <a:extLst>
                  <a:ext uri="{0D108BD9-81ED-4DB2-BD59-A6C34878D82A}">
                    <a16:rowId xmlns:a16="http://schemas.microsoft.com/office/drawing/2014/main" val="1951306535"/>
                  </a:ext>
                </a:extLst>
              </a:tr>
            </a:tbl>
          </a:graphicData>
        </a:graphic>
      </p:graphicFrame>
    </p:spTree>
    <p:extLst>
      <p:ext uri="{BB962C8B-B14F-4D97-AF65-F5344CB8AC3E}">
        <p14:creationId xmlns:p14="http://schemas.microsoft.com/office/powerpoint/2010/main" val="1676877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72DCC-4095-13E1-B036-D26C83A59CB2}"/>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E32A2BB-893F-C73A-1A45-EACA51E72E6C}"/>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7146E267-C078-CBCB-576C-88DF53A38B6B}"/>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158161C6-8340-E756-F84E-6D850BC0AECE}"/>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47FADD80-D0CF-75AA-A703-19635A15D627}"/>
              </a:ext>
            </a:extLst>
          </p:cNvPr>
          <p:cNvSpPr>
            <a:spLocks noGrp="1"/>
          </p:cNvSpPr>
          <p:nvPr>
            <p:ph type="body" sz="quarter" idx="18"/>
          </p:nvPr>
        </p:nvSpPr>
        <p:spPr/>
        <p:txBody>
          <a:bodyPr/>
          <a:lstStyle/>
          <a:p>
            <a:r>
              <a:rPr lang="en-US" dirty="0"/>
              <a:t>Enrolled vs. Not Enrolled in Treat Neighborhoods</a:t>
            </a:r>
          </a:p>
        </p:txBody>
      </p:sp>
      <p:pic>
        <p:nvPicPr>
          <p:cNvPr id="4" name="Picture 3">
            <a:extLst>
              <a:ext uri="{FF2B5EF4-FFF2-40B4-BE49-F238E27FC236}">
                <a16:creationId xmlns:a16="http://schemas.microsoft.com/office/drawing/2014/main" id="{159D2F34-F703-E4B5-34F8-41F08EEC905A}"/>
              </a:ext>
            </a:extLst>
          </p:cNvPr>
          <p:cNvPicPr>
            <a:picLocks noChangeAspect="1"/>
          </p:cNvPicPr>
          <p:nvPr/>
        </p:nvPicPr>
        <p:blipFill>
          <a:blip r:embed="rId4"/>
          <a:srcRect l="39402" t="1972" r="3036" b="20070"/>
          <a:stretch>
            <a:fillRect/>
          </a:stretch>
        </p:blipFill>
        <p:spPr>
          <a:xfrm>
            <a:off x="2161931" y="2133050"/>
            <a:ext cx="2581347" cy="2529675"/>
          </a:xfrm>
          <a:prstGeom prst="rect">
            <a:avLst/>
          </a:prstGeom>
        </p:spPr>
      </p:pic>
      <p:graphicFrame>
        <p:nvGraphicFramePr>
          <p:cNvPr id="6" name="Table 5">
            <a:extLst>
              <a:ext uri="{FF2B5EF4-FFF2-40B4-BE49-F238E27FC236}">
                <a16:creationId xmlns:a16="http://schemas.microsoft.com/office/drawing/2014/main" id="{E8F4A136-2171-C229-8E1E-FAD7975AC13E}"/>
              </a:ext>
            </a:extLst>
          </p:cNvPr>
          <p:cNvGraphicFramePr>
            <a:graphicFrameLocks noGrp="1"/>
          </p:cNvGraphicFramePr>
          <p:nvPr>
            <p:extLst>
              <p:ext uri="{D42A27DB-BD31-4B8C-83A1-F6EECF244321}">
                <p14:modId xmlns:p14="http://schemas.microsoft.com/office/powerpoint/2010/main" val="2113748845"/>
              </p:ext>
            </p:extLst>
          </p:nvPr>
        </p:nvGraphicFramePr>
        <p:xfrm>
          <a:off x="12801600" y="1826595"/>
          <a:ext cx="4776950" cy="7151700"/>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610852">
                <a:tc>
                  <a:txBody>
                    <a:bodyPr/>
                    <a:lstStyle/>
                    <a:p>
                      <a:pPr algn="ctr"/>
                      <a:r>
                        <a:rPr lang="en-US" sz="2400" b="1" dirty="0">
                          <a:solidFill>
                            <a:schemeClr val="bg2"/>
                          </a:solidFill>
                        </a:rPr>
                        <a:t>Total businesses in the Emirate</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9,913</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815113971"/>
                  </a:ext>
                </a:extLst>
              </a:tr>
              <a:tr h="1964998">
                <a:tc>
                  <a:txBody>
                    <a:bodyPr/>
                    <a:lstStyle/>
                    <a:p>
                      <a:pPr algn="ctr"/>
                      <a:r>
                        <a:rPr lang="en-US" sz="2400" b="1" dirty="0">
                          <a:solidFill>
                            <a:schemeClr val="bg2"/>
                          </a:solidFill>
                        </a:rPr>
                        <a:t>Total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4,959</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677125133"/>
                  </a:ext>
                </a:extLst>
              </a:tr>
              <a:tr h="1964998">
                <a:tc>
                  <a:txBody>
                    <a:bodyPr/>
                    <a:lstStyle/>
                    <a:p>
                      <a:pPr algn="ctr"/>
                      <a:r>
                        <a:rPr lang="en-US" sz="2400" b="1" dirty="0">
                          <a:solidFill>
                            <a:schemeClr val="bg2"/>
                          </a:solidFill>
                        </a:rPr>
                        <a:t>Total eligible businesses in treatment neighborhoods (</a:t>
                      </a:r>
                      <a:r>
                        <a:rPr lang="en-US" sz="2400" b="1" dirty="0" err="1">
                          <a:solidFill>
                            <a:schemeClr val="bg2"/>
                          </a:solidFill>
                        </a:rPr>
                        <a:t>enrolled</a:t>
                      </a:r>
                      <a:r>
                        <a:rPr lang="en-US" sz="2400" b="1" dirty="0">
                          <a:solidFill>
                            <a:schemeClr val="bg2"/>
                          </a:solidFill>
                        </a:rPr>
                        <a:t>)</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r h="1610852">
                <a:tc>
                  <a:txBody>
                    <a:bodyPr/>
                    <a:lstStyle/>
                    <a:p>
                      <a:pPr algn="ctr"/>
                      <a:r>
                        <a:rPr lang="en-US" sz="2400" b="1" dirty="0">
                          <a:solidFill>
                            <a:schemeClr val="bg2"/>
                          </a:solidFill>
                        </a:rPr>
                        <a:t>Total businesses that are ineligible in treatment neighborhoods </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1,995</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013030751"/>
                  </a:ext>
                </a:extLst>
              </a:tr>
            </a:tbl>
          </a:graphicData>
        </a:graphic>
      </p:graphicFrame>
      <p:sp>
        <p:nvSpPr>
          <p:cNvPr id="8" name="TextBox 7">
            <a:extLst>
              <a:ext uri="{FF2B5EF4-FFF2-40B4-BE49-F238E27FC236}">
                <a16:creationId xmlns:a16="http://schemas.microsoft.com/office/drawing/2014/main" id="{6A3239C8-159C-2961-A302-3B82F8FE2A82}"/>
              </a:ext>
            </a:extLst>
          </p:cNvPr>
          <p:cNvSpPr txBox="1"/>
          <p:nvPr/>
        </p:nvSpPr>
        <p:spPr>
          <a:xfrm>
            <a:off x="3974390" y="5537803"/>
            <a:ext cx="2066544" cy="707886"/>
          </a:xfrm>
          <a:prstGeom prst="rect">
            <a:avLst/>
          </a:prstGeom>
          <a:noFill/>
        </p:spPr>
        <p:txBody>
          <a:bodyPr wrap="square" rtlCol="0">
            <a:spAutoFit/>
          </a:bodyPr>
          <a:lstStyle/>
          <a:p>
            <a:r>
              <a:rPr lang="en-US" sz="2000" b="1" dirty="0"/>
              <a:t>Control Neighborhoods</a:t>
            </a:r>
          </a:p>
        </p:txBody>
      </p:sp>
      <p:sp>
        <p:nvSpPr>
          <p:cNvPr id="9" name="TextBox 8">
            <a:extLst>
              <a:ext uri="{FF2B5EF4-FFF2-40B4-BE49-F238E27FC236}">
                <a16:creationId xmlns:a16="http://schemas.microsoft.com/office/drawing/2014/main" id="{CCD7915C-2E16-8EBB-1FA8-399491546014}"/>
              </a:ext>
            </a:extLst>
          </p:cNvPr>
          <p:cNvSpPr txBox="1"/>
          <p:nvPr/>
        </p:nvSpPr>
        <p:spPr>
          <a:xfrm>
            <a:off x="3971758" y="6409804"/>
            <a:ext cx="2066544" cy="707886"/>
          </a:xfrm>
          <a:prstGeom prst="rect">
            <a:avLst/>
          </a:prstGeom>
          <a:noFill/>
        </p:spPr>
        <p:txBody>
          <a:bodyPr wrap="square" rtlCol="0">
            <a:spAutoFit/>
          </a:bodyPr>
          <a:lstStyle/>
          <a:p>
            <a:r>
              <a:rPr lang="en-US" sz="2000" b="1" dirty="0"/>
              <a:t>Treatment Neighborhoods</a:t>
            </a:r>
          </a:p>
        </p:txBody>
      </p:sp>
      <p:sp>
        <p:nvSpPr>
          <p:cNvPr id="10" name="Oval 9">
            <a:extLst>
              <a:ext uri="{FF2B5EF4-FFF2-40B4-BE49-F238E27FC236}">
                <a16:creationId xmlns:a16="http://schemas.microsoft.com/office/drawing/2014/main" id="{4CBB0546-EE7B-EDE4-B689-3FE61289610D}"/>
              </a:ext>
            </a:extLst>
          </p:cNvPr>
          <p:cNvSpPr/>
          <p:nvPr/>
        </p:nvSpPr>
        <p:spPr>
          <a:xfrm>
            <a:off x="1655377" y="5702744"/>
            <a:ext cx="731520" cy="457200"/>
          </a:xfrm>
          <a:prstGeom prst="ellipse">
            <a:avLst/>
          </a:prstGeom>
          <a:solidFill>
            <a:srgbClr val="EE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E70AF87-700C-F030-01EF-32A83B5CD0F2}"/>
              </a:ext>
            </a:extLst>
          </p:cNvPr>
          <p:cNvSpPr/>
          <p:nvPr/>
        </p:nvSpPr>
        <p:spPr>
          <a:xfrm>
            <a:off x="1671143" y="6472877"/>
            <a:ext cx="731520" cy="457200"/>
          </a:xfrm>
          <a:prstGeom prst="ellipse">
            <a:avLst/>
          </a:prstGeom>
          <a:solidFill>
            <a:srgbClr val="1B8E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3A6D99D-4B6B-4FB1-D7C0-49461F21E495}"/>
              </a:ext>
            </a:extLst>
          </p:cNvPr>
          <p:cNvSpPr/>
          <p:nvPr/>
        </p:nvSpPr>
        <p:spPr>
          <a:xfrm>
            <a:off x="1476063" y="7282824"/>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20A0EC9-28B4-24EB-09C5-7053A79A11B5}"/>
              </a:ext>
            </a:extLst>
          </p:cNvPr>
          <p:cNvSpPr/>
          <p:nvPr/>
        </p:nvSpPr>
        <p:spPr>
          <a:xfrm>
            <a:off x="1503623" y="8387621"/>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City outline">
            <a:extLst>
              <a:ext uri="{FF2B5EF4-FFF2-40B4-BE49-F238E27FC236}">
                <a16:creationId xmlns:a16="http://schemas.microsoft.com/office/drawing/2014/main" id="{6FF45197-F2DF-4058-6754-0AC8F7D573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83088" y="8343431"/>
            <a:ext cx="914400" cy="914400"/>
          </a:xfrm>
          <a:prstGeom prst="rect">
            <a:avLst/>
          </a:prstGeom>
        </p:spPr>
      </p:pic>
      <p:sp>
        <p:nvSpPr>
          <p:cNvPr id="15" name="Equals 14">
            <a:extLst>
              <a:ext uri="{FF2B5EF4-FFF2-40B4-BE49-F238E27FC236}">
                <a16:creationId xmlns:a16="http://schemas.microsoft.com/office/drawing/2014/main" id="{91F9435B-5124-78CB-FB33-BAD5C9686643}"/>
              </a:ext>
            </a:extLst>
          </p:cNvPr>
          <p:cNvSpPr/>
          <p:nvPr/>
        </p:nvSpPr>
        <p:spPr>
          <a:xfrm>
            <a:off x="3169964" y="8619395"/>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41913F71-B012-5B6B-7A23-7DFA95817F23}"/>
              </a:ext>
            </a:extLst>
          </p:cNvPr>
          <p:cNvSpPr txBox="1"/>
          <p:nvPr/>
        </p:nvSpPr>
        <p:spPr>
          <a:xfrm>
            <a:off x="3970251" y="8388372"/>
            <a:ext cx="2066544" cy="707886"/>
          </a:xfrm>
          <a:prstGeom prst="rect">
            <a:avLst/>
          </a:prstGeom>
          <a:noFill/>
        </p:spPr>
        <p:txBody>
          <a:bodyPr wrap="square" rtlCol="0">
            <a:spAutoFit/>
          </a:bodyPr>
          <a:lstStyle/>
          <a:p>
            <a:r>
              <a:rPr lang="en-US" sz="2000" b="1" dirty="0"/>
              <a:t>10 eligible businesses</a:t>
            </a:r>
          </a:p>
        </p:txBody>
      </p:sp>
      <p:pic>
        <p:nvPicPr>
          <p:cNvPr id="17" name="Graphic 16" descr="City outline">
            <a:extLst>
              <a:ext uri="{FF2B5EF4-FFF2-40B4-BE49-F238E27FC236}">
                <a16:creationId xmlns:a16="http://schemas.microsoft.com/office/drawing/2014/main" id="{BC88322B-B75A-A942-6DBB-3F423D9D3AB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7322" y="7316651"/>
            <a:ext cx="914400" cy="914400"/>
          </a:xfrm>
          <a:prstGeom prst="rect">
            <a:avLst/>
          </a:prstGeom>
        </p:spPr>
      </p:pic>
      <p:sp>
        <p:nvSpPr>
          <p:cNvPr id="18" name="Equals 17">
            <a:extLst>
              <a:ext uri="{FF2B5EF4-FFF2-40B4-BE49-F238E27FC236}">
                <a16:creationId xmlns:a16="http://schemas.microsoft.com/office/drawing/2014/main" id="{F28C674E-B5E9-0851-FD46-A82A69F1F922}"/>
              </a:ext>
            </a:extLst>
          </p:cNvPr>
          <p:cNvSpPr/>
          <p:nvPr/>
        </p:nvSpPr>
        <p:spPr>
          <a:xfrm>
            <a:off x="3167779" y="7535808"/>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9FDC3B90-BA91-36AA-F2BB-F8E95C56C133}"/>
              </a:ext>
            </a:extLst>
          </p:cNvPr>
          <p:cNvSpPr txBox="1"/>
          <p:nvPr/>
        </p:nvSpPr>
        <p:spPr>
          <a:xfrm>
            <a:off x="3999598" y="7336318"/>
            <a:ext cx="2066544" cy="707886"/>
          </a:xfrm>
          <a:prstGeom prst="rect">
            <a:avLst/>
          </a:prstGeom>
          <a:noFill/>
        </p:spPr>
        <p:txBody>
          <a:bodyPr wrap="square" rtlCol="0">
            <a:spAutoFit/>
          </a:bodyPr>
          <a:lstStyle/>
          <a:p>
            <a:r>
              <a:rPr lang="en-US" sz="2000" b="1" dirty="0"/>
              <a:t>10 ineligible businesses </a:t>
            </a:r>
          </a:p>
        </p:txBody>
      </p:sp>
      <p:sp>
        <p:nvSpPr>
          <p:cNvPr id="20" name="Equals 19">
            <a:extLst>
              <a:ext uri="{FF2B5EF4-FFF2-40B4-BE49-F238E27FC236}">
                <a16:creationId xmlns:a16="http://schemas.microsoft.com/office/drawing/2014/main" id="{E4A615F9-F499-3E40-75C0-E2CE5C63F9A5}"/>
              </a:ext>
            </a:extLst>
          </p:cNvPr>
          <p:cNvSpPr/>
          <p:nvPr/>
        </p:nvSpPr>
        <p:spPr>
          <a:xfrm>
            <a:off x="3180470" y="6596144"/>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Equals 20">
            <a:extLst>
              <a:ext uri="{FF2B5EF4-FFF2-40B4-BE49-F238E27FC236}">
                <a16:creationId xmlns:a16="http://schemas.microsoft.com/office/drawing/2014/main" id="{5A8F6836-CD1C-4064-8A0D-72BBC4EE8C41}"/>
              </a:ext>
            </a:extLst>
          </p:cNvPr>
          <p:cNvSpPr/>
          <p:nvPr/>
        </p:nvSpPr>
        <p:spPr>
          <a:xfrm>
            <a:off x="3178285" y="5717515"/>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60513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76FBB4-8B05-59F7-3248-7FF605B82334}"/>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F8F2012-0B0A-C067-212D-685E83FD428E}"/>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9EF005E6-0CCE-008C-5C45-E69CC6067E8C}"/>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0077B777-5E85-91B5-16FB-5A4DB71DB0DF}"/>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BC78A398-E02E-CFB4-B703-4234045C1398}"/>
              </a:ext>
            </a:extLst>
          </p:cNvPr>
          <p:cNvSpPr>
            <a:spLocks noGrp="1"/>
          </p:cNvSpPr>
          <p:nvPr>
            <p:ph type="body" sz="quarter" idx="18"/>
          </p:nvPr>
        </p:nvSpPr>
        <p:spPr/>
        <p:txBody>
          <a:bodyPr/>
          <a:lstStyle/>
          <a:p>
            <a:r>
              <a:rPr lang="en-US" dirty="0"/>
              <a:t>Enrolled vs. Not Enrolled in Treat Neighborhoods</a:t>
            </a:r>
          </a:p>
        </p:txBody>
      </p:sp>
      <p:pic>
        <p:nvPicPr>
          <p:cNvPr id="4" name="Picture 3">
            <a:extLst>
              <a:ext uri="{FF2B5EF4-FFF2-40B4-BE49-F238E27FC236}">
                <a16:creationId xmlns:a16="http://schemas.microsoft.com/office/drawing/2014/main" id="{E66485CF-25EF-4CB0-CBB0-BCC02312C759}"/>
              </a:ext>
            </a:extLst>
          </p:cNvPr>
          <p:cNvPicPr>
            <a:picLocks noChangeAspect="1"/>
          </p:cNvPicPr>
          <p:nvPr/>
        </p:nvPicPr>
        <p:blipFill>
          <a:blip r:embed="rId4"/>
          <a:stretch>
            <a:fillRect/>
          </a:stretch>
        </p:blipFill>
        <p:spPr>
          <a:xfrm>
            <a:off x="1795111" y="2176946"/>
            <a:ext cx="3192019" cy="2309761"/>
          </a:xfrm>
          <a:prstGeom prst="rect">
            <a:avLst/>
          </a:prstGeom>
        </p:spPr>
      </p:pic>
      <p:graphicFrame>
        <p:nvGraphicFramePr>
          <p:cNvPr id="6" name="Table 5">
            <a:extLst>
              <a:ext uri="{FF2B5EF4-FFF2-40B4-BE49-F238E27FC236}">
                <a16:creationId xmlns:a16="http://schemas.microsoft.com/office/drawing/2014/main" id="{A95C926A-20A2-D473-9C4B-72E60A4AF75E}"/>
              </a:ext>
            </a:extLst>
          </p:cNvPr>
          <p:cNvGraphicFramePr>
            <a:graphicFrameLocks noGrp="1"/>
          </p:cNvGraphicFramePr>
          <p:nvPr/>
        </p:nvGraphicFramePr>
        <p:xfrm>
          <a:off x="12801600" y="1826595"/>
          <a:ext cx="4776950" cy="7151700"/>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610852">
                <a:tc>
                  <a:txBody>
                    <a:bodyPr/>
                    <a:lstStyle/>
                    <a:p>
                      <a:pPr algn="ctr"/>
                      <a:r>
                        <a:rPr lang="en-US" sz="2400" b="1" dirty="0">
                          <a:solidFill>
                            <a:schemeClr val="bg2"/>
                          </a:solidFill>
                        </a:rPr>
                        <a:t>Total businesses in the Emirate</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9,913</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815113971"/>
                  </a:ext>
                </a:extLst>
              </a:tr>
              <a:tr h="1964998">
                <a:tc>
                  <a:txBody>
                    <a:bodyPr/>
                    <a:lstStyle/>
                    <a:p>
                      <a:pPr algn="ctr"/>
                      <a:r>
                        <a:rPr lang="en-US" sz="2400" b="1" dirty="0">
                          <a:solidFill>
                            <a:schemeClr val="bg2"/>
                          </a:solidFill>
                        </a:rPr>
                        <a:t>Total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4,959</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677125133"/>
                  </a:ext>
                </a:extLst>
              </a:tr>
              <a:tr h="1964998">
                <a:tc>
                  <a:txBody>
                    <a:bodyPr/>
                    <a:lstStyle/>
                    <a:p>
                      <a:pPr algn="ctr"/>
                      <a:r>
                        <a:rPr lang="en-US" sz="2400" b="1" dirty="0">
                          <a:solidFill>
                            <a:schemeClr val="bg2"/>
                          </a:solidFill>
                        </a:rPr>
                        <a:t>Total eligible businesses in treatment neighborhoods (</a:t>
                      </a:r>
                      <a:r>
                        <a:rPr lang="en-US" sz="2400" b="1" dirty="0" err="1">
                          <a:solidFill>
                            <a:schemeClr val="bg2"/>
                          </a:solidFill>
                        </a:rPr>
                        <a:t>enrolled</a:t>
                      </a:r>
                      <a:r>
                        <a:rPr lang="en-US" sz="2400" b="1" dirty="0">
                          <a:solidFill>
                            <a:schemeClr val="bg2"/>
                          </a:solidFill>
                        </a:rPr>
                        <a:t>)</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r h="1610852">
                <a:tc>
                  <a:txBody>
                    <a:bodyPr/>
                    <a:lstStyle/>
                    <a:p>
                      <a:pPr algn="ctr"/>
                      <a:r>
                        <a:rPr lang="en-US" sz="2400" b="1" dirty="0">
                          <a:solidFill>
                            <a:schemeClr val="bg2"/>
                          </a:solidFill>
                        </a:rPr>
                        <a:t>Total businesses that are ineligible in treatment neighborhoods </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1,995</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013030751"/>
                  </a:ext>
                </a:extLst>
              </a:tr>
            </a:tbl>
          </a:graphicData>
        </a:graphic>
      </p:graphicFrame>
      <p:sp>
        <p:nvSpPr>
          <p:cNvPr id="8" name="TextBox 7">
            <a:extLst>
              <a:ext uri="{FF2B5EF4-FFF2-40B4-BE49-F238E27FC236}">
                <a16:creationId xmlns:a16="http://schemas.microsoft.com/office/drawing/2014/main" id="{D5596739-A727-D780-A054-BBB319BE71CC}"/>
              </a:ext>
            </a:extLst>
          </p:cNvPr>
          <p:cNvSpPr txBox="1"/>
          <p:nvPr/>
        </p:nvSpPr>
        <p:spPr>
          <a:xfrm>
            <a:off x="3974390" y="5537803"/>
            <a:ext cx="2066544" cy="707886"/>
          </a:xfrm>
          <a:prstGeom prst="rect">
            <a:avLst/>
          </a:prstGeom>
          <a:noFill/>
        </p:spPr>
        <p:txBody>
          <a:bodyPr wrap="square" rtlCol="0">
            <a:spAutoFit/>
          </a:bodyPr>
          <a:lstStyle/>
          <a:p>
            <a:r>
              <a:rPr lang="en-US" sz="2000" b="1" dirty="0"/>
              <a:t>Control Neighborhoods</a:t>
            </a:r>
          </a:p>
        </p:txBody>
      </p:sp>
      <p:sp>
        <p:nvSpPr>
          <p:cNvPr id="9" name="TextBox 8">
            <a:extLst>
              <a:ext uri="{FF2B5EF4-FFF2-40B4-BE49-F238E27FC236}">
                <a16:creationId xmlns:a16="http://schemas.microsoft.com/office/drawing/2014/main" id="{23491ADE-41F0-1463-8052-2D1B39FF0260}"/>
              </a:ext>
            </a:extLst>
          </p:cNvPr>
          <p:cNvSpPr txBox="1"/>
          <p:nvPr/>
        </p:nvSpPr>
        <p:spPr>
          <a:xfrm>
            <a:off x="3971758" y="6409804"/>
            <a:ext cx="2066544" cy="707886"/>
          </a:xfrm>
          <a:prstGeom prst="rect">
            <a:avLst/>
          </a:prstGeom>
          <a:noFill/>
        </p:spPr>
        <p:txBody>
          <a:bodyPr wrap="square" rtlCol="0">
            <a:spAutoFit/>
          </a:bodyPr>
          <a:lstStyle/>
          <a:p>
            <a:r>
              <a:rPr lang="en-US" sz="2000" b="1" dirty="0"/>
              <a:t>Treatment Neighborhoods</a:t>
            </a:r>
          </a:p>
        </p:txBody>
      </p:sp>
      <p:sp>
        <p:nvSpPr>
          <p:cNvPr id="10" name="Oval 9">
            <a:extLst>
              <a:ext uri="{FF2B5EF4-FFF2-40B4-BE49-F238E27FC236}">
                <a16:creationId xmlns:a16="http://schemas.microsoft.com/office/drawing/2014/main" id="{18DF3DC1-2EDB-59DB-7009-E56933A4B8BD}"/>
              </a:ext>
            </a:extLst>
          </p:cNvPr>
          <p:cNvSpPr/>
          <p:nvPr/>
        </p:nvSpPr>
        <p:spPr>
          <a:xfrm>
            <a:off x="1655377" y="5702744"/>
            <a:ext cx="731520" cy="457200"/>
          </a:xfrm>
          <a:prstGeom prst="ellipse">
            <a:avLst/>
          </a:prstGeom>
          <a:solidFill>
            <a:srgbClr val="EE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80F4089-F897-F649-6076-23ABFC726E4F}"/>
              </a:ext>
            </a:extLst>
          </p:cNvPr>
          <p:cNvSpPr/>
          <p:nvPr/>
        </p:nvSpPr>
        <p:spPr>
          <a:xfrm>
            <a:off x="1671143" y="6472877"/>
            <a:ext cx="731520" cy="457200"/>
          </a:xfrm>
          <a:prstGeom prst="ellipse">
            <a:avLst/>
          </a:prstGeom>
          <a:solidFill>
            <a:srgbClr val="1B8E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034526B-4B13-3796-C84B-6095E348AC8E}"/>
              </a:ext>
            </a:extLst>
          </p:cNvPr>
          <p:cNvSpPr/>
          <p:nvPr/>
        </p:nvSpPr>
        <p:spPr>
          <a:xfrm>
            <a:off x="1476063" y="7282824"/>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C4F895A-BCEE-5674-89F9-F49266F2AEE6}"/>
              </a:ext>
            </a:extLst>
          </p:cNvPr>
          <p:cNvSpPr/>
          <p:nvPr/>
        </p:nvSpPr>
        <p:spPr>
          <a:xfrm>
            <a:off x="1503623" y="8387621"/>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City outline">
            <a:extLst>
              <a:ext uri="{FF2B5EF4-FFF2-40B4-BE49-F238E27FC236}">
                <a16:creationId xmlns:a16="http://schemas.microsoft.com/office/drawing/2014/main" id="{C8CE5BAB-B214-5959-F3FE-DD5A1138153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83088" y="8343431"/>
            <a:ext cx="914400" cy="914400"/>
          </a:xfrm>
          <a:prstGeom prst="rect">
            <a:avLst/>
          </a:prstGeom>
        </p:spPr>
      </p:pic>
      <p:sp>
        <p:nvSpPr>
          <p:cNvPr id="15" name="Equals 14">
            <a:extLst>
              <a:ext uri="{FF2B5EF4-FFF2-40B4-BE49-F238E27FC236}">
                <a16:creationId xmlns:a16="http://schemas.microsoft.com/office/drawing/2014/main" id="{4215A6DE-5375-C8EB-C40C-CF577F4A93FD}"/>
              </a:ext>
            </a:extLst>
          </p:cNvPr>
          <p:cNvSpPr/>
          <p:nvPr/>
        </p:nvSpPr>
        <p:spPr>
          <a:xfrm>
            <a:off x="3169964" y="8619395"/>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47265FE6-28BD-0FC6-0592-616D6DD0410A}"/>
              </a:ext>
            </a:extLst>
          </p:cNvPr>
          <p:cNvSpPr txBox="1"/>
          <p:nvPr/>
        </p:nvSpPr>
        <p:spPr>
          <a:xfrm>
            <a:off x="3970251" y="8388372"/>
            <a:ext cx="2066544" cy="707886"/>
          </a:xfrm>
          <a:prstGeom prst="rect">
            <a:avLst/>
          </a:prstGeom>
          <a:noFill/>
        </p:spPr>
        <p:txBody>
          <a:bodyPr wrap="square" rtlCol="0">
            <a:spAutoFit/>
          </a:bodyPr>
          <a:lstStyle/>
          <a:p>
            <a:r>
              <a:rPr lang="en-US" sz="2000" b="1" dirty="0"/>
              <a:t>10 eligible businesses</a:t>
            </a:r>
          </a:p>
        </p:txBody>
      </p:sp>
      <p:pic>
        <p:nvPicPr>
          <p:cNvPr id="17" name="Graphic 16" descr="City outline">
            <a:extLst>
              <a:ext uri="{FF2B5EF4-FFF2-40B4-BE49-F238E27FC236}">
                <a16:creationId xmlns:a16="http://schemas.microsoft.com/office/drawing/2014/main" id="{FA9165C0-E23D-1AFE-BDDB-92AF352642F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7322" y="7316651"/>
            <a:ext cx="914400" cy="914400"/>
          </a:xfrm>
          <a:prstGeom prst="rect">
            <a:avLst/>
          </a:prstGeom>
        </p:spPr>
      </p:pic>
      <p:sp>
        <p:nvSpPr>
          <p:cNvPr id="18" name="Equals 17">
            <a:extLst>
              <a:ext uri="{FF2B5EF4-FFF2-40B4-BE49-F238E27FC236}">
                <a16:creationId xmlns:a16="http://schemas.microsoft.com/office/drawing/2014/main" id="{90801EB8-69DE-A692-CC4D-0A3922D389AA}"/>
              </a:ext>
            </a:extLst>
          </p:cNvPr>
          <p:cNvSpPr/>
          <p:nvPr/>
        </p:nvSpPr>
        <p:spPr>
          <a:xfrm>
            <a:off x="3167779" y="7535808"/>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38508071-A3AE-5661-11C8-0D37D9CA4625}"/>
              </a:ext>
            </a:extLst>
          </p:cNvPr>
          <p:cNvSpPr txBox="1"/>
          <p:nvPr/>
        </p:nvSpPr>
        <p:spPr>
          <a:xfrm>
            <a:off x="3999598" y="7336318"/>
            <a:ext cx="2066544" cy="707886"/>
          </a:xfrm>
          <a:prstGeom prst="rect">
            <a:avLst/>
          </a:prstGeom>
          <a:noFill/>
        </p:spPr>
        <p:txBody>
          <a:bodyPr wrap="square" rtlCol="0">
            <a:spAutoFit/>
          </a:bodyPr>
          <a:lstStyle/>
          <a:p>
            <a:r>
              <a:rPr lang="en-US" sz="2000" b="1" dirty="0"/>
              <a:t>10 ineligible businesses </a:t>
            </a:r>
          </a:p>
        </p:txBody>
      </p:sp>
      <p:sp>
        <p:nvSpPr>
          <p:cNvPr id="20" name="Equals 19">
            <a:extLst>
              <a:ext uri="{FF2B5EF4-FFF2-40B4-BE49-F238E27FC236}">
                <a16:creationId xmlns:a16="http://schemas.microsoft.com/office/drawing/2014/main" id="{8FFA8E19-CA03-8CEE-C5B0-3B09F501524E}"/>
              </a:ext>
            </a:extLst>
          </p:cNvPr>
          <p:cNvSpPr/>
          <p:nvPr/>
        </p:nvSpPr>
        <p:spPr>
          <a:xfrm>
            <a:off x="3180470" y="6596144"/>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Equals 20">
            <a:extLst>
              <a:ext uri="{FF2B5EF4-FFF2-40B4-BE49-F238E27FC236}">
                <a16:creationId xmlns:a16="http://schemas.microsoft.com/office/drawing/2014/main" id="{F4565E77-02FD-772D-B5D4-936DB16001B2}"/>
              </a:ext>
            </a:extLst>
          </p:cNvPr>
          <p:cNvSpPr/>
          <p:nvPr/>
        </p:nvSpPr>
        <p:spPr>
          <a:xfrm>
            <a:off x="3178285" y="5717515"/>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74781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235AEA-106D-850D-7DB7-DF77E132D15D}"/>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6DFBC976-2C18-1BE4-B022-DEECE6154152}"/>
              </a:ext>
            </a:extLst>
          </p:cNvPr>
          <p:cNvSpPr>
            <a:spLocks noGrp="1"/>
          </p:cNvSpPr>
          <p:nvPr>
            <p:ph type="body" sz="quarter" idx="18"/>
          </p:nvPr>
        </p:nvSpPr>
        <p:spPr/>
        <p:txBody>
          <a:bodyPr/>
          <a:lstStyle/>
          <a:p>
            <a:r>
              <a:rPr lang="en-US" dirty="0"/>
              <a:t>Enrolled vs. Not Enrolled</a:t>
            </a:r>
          </a:p>
        </p:txBody>
      </p:sp>
      <p:pic>
        <p:nvPicPr>
          <p:cNvPr id="5" name="Picture 4">
            <a:extLst>
              <a:ext uri="{FF2B5EF4-FFF2-40B4-BE49-F238E27FC236}">
                <a16:creationId xmlns:a16="http://schemas.microsoft.com/office/drawing/2014/main" id="{4F8CFFE9-B763-F19E-D614-2686C94A002D}"/>
              </a:ext>
            </a:extLst>
          </p:cNvPr>
          <p:cNvPicPr>
            <a:picLocks noChangeAspect="1"/>
          </p:cNvPicPr>
          <p:nvPr/>
        </p:nvPicPr>
        <p:blipFill>
          <a:blip r:embed="rId2"/>
          <a:stretch>
            <a:fillRect/>
          </a:stretch>
        </p:blipFill>
        <p:spPr>
          <a:xfrm>
            <a:off x="5511847" y="1449258"/>
            <a:ext cx="7264306" cy="7388483"/>
          </a:xfrm>
          <a:prstGeom prst="rect">
            <a:avLst/>
          </a:prstGeom>
        </p:spPr>
      </p:pic>
    </p:spTree>
    <p:extLst>
      <p:ext uri="{BB962C8B-B14F-4D97-AF65-F5344CB8AC3E}">
        <p14:creationId xmlns:p14="http://schemas.microsoft.com/office/powerpoint/2010/main" val="21601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84E63A-E1F8-A008-2CF2-A2B91F4338DF}"/>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1ACC96E6-4D2D-5D91-9C76-DFD75220935C}"/>
              </a:ext>
            </a:extLst>
          </p:cNvPr>
          <p:cNvSpPr>
            <a:spLocks noGrp="1"/>
          </p:cNvSpPr>
          <p:nvPr>
            <p:ph type="body" sz="quarter" idx="18"/>
          </p:nvPr>
        </p:nvSpPr>
        <p:spPr/>
        <p:txBody>
          <a:bodyPr/>
          <a:lstStyle/>
          <a:p>
            <a:r>
              <a:rPr lang="en-US" dirty="0"/>
              <a:t>Enrolled vs. Not Enrolled (editable)</a:t>
            </a:r>
          </a:p>
        </p:txBody>
      </p:sp>
      <p:graphicFrame>
        <p:nvGraphicFramePr>
          <p:cNvPr id="6" name="Content Placeholder 5">
            <a:extLst>
              <a:ext uri="{FF2B5EF4-FFF2-40B4-BE49-F238E27FC236}">
                <a16:creationId xmlns:a16="http://schemas.microsoft.com/office/drawing/2014/main" id="{6D5291EC-DE9C-2C43-5FF2-9CD53CBF4901}"/>
              </a:ext>
            </a:extLst>
          </p:cNvPr>
          <p:cNvGraphicFramePr>
            <a:graphicFrameLocks/>
          </p:cNvGraphicFramePr>
          <p:nvPr>
            <p:extLst>
              <p:ext uri="{D42A27DB-BD31-4B8C-83A1-F6EECF244321}">
                <p14:modId xmlns:p14="http://schemas.microsoft.com/office/powerpoint/2010/main" val="4183464104"/>
              </p:ext>
            </p:extLst>
          </p:nvPr>
        </p:nvGraphicFramePr>
        <p:xfrm>
          <a:off x="5520288" y="2346047"/>
          <a:ext cx="7695740" cy="6094586"/>
        </p:xfrm>
        <a:graphic>
          <a:graphicData uri="http://schemas.openxmlformats.org/drawingml/2006/table">
            <a:tbl>
              <a:tblPr firstRow="1" bandRow="1"/>
              <a:tblGrid>
                <a:gridCol w="5092525">
                  <a:extLst>
                    <a:ext uri="{9D8B030D-6E8A-4147-A177-3AD203B41FA5}">
                      <a16:colId xmlns:a16="http://schemas.microsoft.com/office/drawing/2014/main" val="1592943894"/>
                    </a:ext>
                  </a:extLst>
                </a:gridCol>
                <a:gridCol w="2603215">
                  <a:extLst>
                    <a:ext uri="{9D8B030D-6E8A-4147-A177-3AD203B41FA5}">
                      <a16:colId xmlns:a16="http://schemas.microsoft.com/office/drawing/2014/main" val="3620388575"/>
                    </a:ext>
                  </a:extLst>
                </a:gridCol>
              </a:tblGrid>
              <a:tr h="573605">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500" b="0" i="0" u="none" strike="noStrike">
                        <a:effectLst/>
                        <a:latin typeface="Arial" panose="020B0604020202020204" pitchFamily="34" charset="0"/>
                      </a:endParaRPr>
                    </a:p>
                  </a:txBody>
                  <a:tcPr marL="29064" marR="29064" marT="29064"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Enrolled vs. Not Enrolled</a:t>
                      </a:r>
                      <a:endParaRPr lang="en-US" sz="5500" b="0" i="0" u="none" strike="noStrike" dirty="0">
                        <a:effectLst/>
                        <a:latin typeface="Arial" panose="020B0604020202020204" pitchFamily="34" charset="0"/>
                      </a:endParaRPr>
                    </a:p>
                  </a:txBody>
                  <a:tcPr marL="29064" marR="29064" marT="29064"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4151063268"/>
                  </a:ext>
                </a:extLst>
              </a:tr>
              <a:tr h="1076525">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Enrolled vs. Not-Enrolled Effect</a:t>
                      </a:r>
                      <a:endParaRPr lang="en-US" sz="5500" b="0" i="0" u="none" strike="noStrike">
                        <a:effectLst/>
                        <a:latin typeface="Arial" panose="020B0604020202020204" pitchFamily="34" charset="0"/>
                      </a:endParaRPr>
                    </a:p>
                  </a:txBody>
                  <a:tcPr marL="29064" marR="29064" marT="29064"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-1446.51***</a:t>
                      </a:r>
                      <a:endParaRPr lang="en-US" sz="5500" b="0" i="0" u="none" strike="noStrike" dirty="0">
                        <a:effectLst/>
                        <a:latin typeface="Arial" panose="020B0604020202020204" pitchFamily="34" charset="0"/>
                      </a:endParaRPr>
                    </a:p>
                  </a:txBody>
                  <a:tcPr marL="29064" marR="29064" marT="29064"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897134013"/>
                  </a:ext>
                </a:extLst>
              </a:tr>
              <a:tr h="573605">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500" b="0" i="0" u="none" strike="noStrike">
                        <a:effectLst/>
                        <a:latin typeface="Arial" panose="020B0604020202020204" pitchFamily="34" charset="0"/>
                      </a:endParaRPr>
                    </a:p>
                  </a:txBody>
                  <a:tcPr marL="29064" marR="29064" marT="29064"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(33.04)</a:t>
                      </a:r>
                      <a:endParaRPr lang="en-US" sz="5500" b="0" i="0" u="none" strike="noStrike" dirty="0">
                        <a:effectLst/>
                        <a:latin typeface="Arial" panose="020B0604020202020204" pitchFamily="34" charset="0"/>
                      </a:endParaRPr>
                    </a:p>
                  </a:txBody>
                  <a:tcPr marL="29064" marR="29064" marT="29064" marB="0" anchor="ctr">
                    <a:lnL>
                      <a:noFill/>
                    </a:lnL>
                    <a:lnR>
                      <a:noFill/>
                    </a:lnR>
                    <a:lnT>
                      <a:noFill/>
                    </a:lnT>
                    <a:lnB>
                      <a:noFill/>
                    </a:lnB>
                    <a:noFill/>
                  </a:tcPr>
                </a:tc>
                <a:extLst>
                  <a:ext uri="{0D108BD9-81ED-4DB2-BD59-A6C34878D82A}">
                    <a16:rowId xmlns:a16="http://schemas.microsoft.com/office/drawing/2014/main" val="2407405536"/>
                  </a:ext>
                </a:extLst>
              </a:tr>
              <a:tr h="573605">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(Intercept)</a:t>
                      </a:r>
                      <a:endParaRPr lang="en-US" sz="5500" b="0" i="0" u="none" strike="noStrike" dirty="0">
                        <a:effectLst/>
                        <a:latin typeface="Arial" panose="020B0604020202020204" pitchFamily="34" charset="0"/>
                      </a:endParaRPr>
                    </a:p>
                  </a:txBody>
                  <a:tcPr marL="29064" marR="29064" marT="29064"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2230.49***</a:t>
                      </a:r>
                      <a:endParaRPr lang="en-US" sz="5500" b="0" i="0" u="none" strike="noStrike">
                        <a:effectLst/>
                        <a:latin typeface="Arial" panose="020B0604020202020204" pitchFamily="34" charset="0"/>
                      </a:endParaRPr>
                    </a:p>
                  </a:txBody>
                  <a:tcPr marL="29064" marR="29064" marT="29064" marB="0" anchor="ctr">
                    <a:lnL>
                      <a:noFill/>
                    </a:lnL>
                    <a:lnR>
                      <a:noFill/>
                    </a:lnR>
                    <a:lnT>
                      <a:noFill/>
                    </a:lnT>
                    <a:lnB>
                      <a:noFill/>
                    </a:lnB>
                    <a:noFill/>
                  </a:tcPr>
                </a:tc>
                <a:extLst>
                  <a:ext uri="{0D108BD9-81ED-4DB2-BD59-A6C34878D82A}">
                    <a16:rowId xmlns:a16="http://schemas.microsoft.com/office/drawing/2014/main" val="1412231358"/>
                  </a:ext>
                </a:extLst>
              </a:tr>
              <a:tr h="573605">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500" b="0" i="0" u="none" strike="noStrike">
                        <a:effectLst/>
                        <a:latin typeface="Arial" panose="020B0604020202020204" pitchFamily="34" charset="0"/>
                      </a:endParaRPr>
                    </a:p>
                  </a:txBody>
                  <a:tcPr marL="29064" marR="29064" marT="29064"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(33.74)</a:t>
                      </a:r>
                      <a:endParaRPr lang="en-US" sz="5500" b="0" i="0" u="none" strike="noStrike">
                        <a:effectLst/>
                        <a:latin typeface="Arial" panose="020B0604020202020204" pitchFamily="34" charset="0"/>
                      </a:endParaRPr>
                    </a:p>
                  </a:txBody>
                  <a:tcPr marL="29064" marR="29064" marT="29064" marB="0" anchor="ctr">
                    <a:lnL>
                      <a:noFill/>
                    </a:lnL>
                    <a:lnR>
                      <a:noFill/>
                    </a:lnR>
                    <a:lnT>
                      <a:noFill/>
                    </a:lnT>
                    <a:lnB>
                      <a:noFill/>
                    </a:lnB>
                    <a:noFill/>
                  </a:tcPr>
                </a:tc>
                <a:extLst>
                  <a:ext uri="{0D108BD9-81ED-4DB2-BD59-A6C34878D82A}">
                    <a16:rowId xmlns:a16="http://schemas.microsoft.com/office/drawing/2014/main" val="3225945644"/>
                  </a:ext>
                </a:extLst>
              </a:tr>
              <a:tr h="573605">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Num.Obs.</a:t>
                      </a:r>
                      <a:endParaRPr lang="en-US" sz="5500" b="0" i="0" u="none" strike="noStrike">
                        <a:effectLst/>
                        <a:latin typeface="Arial" panose="020B0604020202020204" pitchFamily="34" charset="0"/>
                      </a:endParaRPr>
                    </a:p>
                  </a:txBody>
                  <a:tcPr marL="29064" marR="29064" marT="29064"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4959</a:t>
                      </a:r>
                      <a:endParaRPr lang="en-US" sz="5500" b="0" i="0" u="none" strike="noStrike" dirty="0">
                        <a:effectLst/>
                        <a:latin typeface="Arial" panose="020B0604020202020204" pitchFamily="34" charset="0"/>
                      </a:endParaRPr>
                    </a:p>
                  </a:txBody>
                  <a:tcPr marL="29064" marR="29064" marT="29064"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838034019"/>
                  </a:ext>
                </a:extLst>
              </a:tr>
              <a:tr h="1326478">
                <a:tc gridSpan="2">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p &lt; 0.1, * p &lt; 0.05, ** p &lt; 0.01, *** p &lt; 0.001</a:t>
                      </a:r>
                      <a:endParaRPr lang="en-US" sz="5500" b="0" i="0" u="none" strike="noStrike">
                        <a:effectLst/>
                        <a:latin typeface="Arial" panose="020B0604020202020204" pitchFamily="34" charset="0"/>
                      </a:endParaRPr>
                    </a:p>
                  </a:txBody>
                  <a:tcPr marL="279016" marR="279016" marT="139508" marB="139508">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1301001894"/>
                  </a:ext>
                </a:extLst>
              </a:tr>
              <a:tr h="823558">
                <a:tc gridSpan="2">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Standard errors are in parentheses</a:t>
                      </a:r>
                      <a:endParaRPr lang="en-US" sz="5500" b="0" i="0" u="none" strike="noStrike" dirty="0">
                        <a:effectLst/>
                        <a:latin typeface="Arial" panose="020B0604020202020204" pitchFamily="34" charset="0"/>
                      </a:endParaRPr>
                    </a:p>
                  </a:txBody>
                  <a:tcPr marL="279016" marR="279016" marT="139508" marB="139508">
                    <a:lnL>
                      <a:noFill/>
                    </a:lnL>
                    <a:lnR>
                      <a:noFill/>
                    </a:lnR>
                    <a:lnT>
                      <a:noFill/>
                    </a:lnT>
                    <a:lnB>
                      <a:noFill/>
                    </a:lnB>
                    <a:noFill/>
                  </a:tcPr>
                </a:tc>
                <a:tc hMerge="1">
                  <a:txBody>
                    <a:bodyPr/>
                    <a:lstStyle/>
                    <a:p>
                      <a:endParaRPr lang="en-US"/>
                    </a:p>
                  </a:txBody>
                  <a:tcPr/>
                </a:tc>
                <a:extLst>
                  <a:ext uri="{0D108BD9-81ED-4DB2-BD59-A6C34878D82A}">
                    <a16:rowId xmlns:a16="http://schemas.microsoft.com/office/drawing/2014/main" val="3586287057"/>
                  </a:ext>
                </a:extLst>
              </a:tr>
            </a:tbl>
          </a:graphicData>
        </a:graphic>
      </p:graphicFrame>
    </p:spTree>
    <p:extLst>
      <p:ext uri="{BB962C8B-B14F-4D97-AF65-F5344CB8AC3E}">
        <p14:creationId xmlns:p14="http://schemas.microsoft.com/office/powerpoint/2010/main" val="493526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228B-A5E8-578F-EDD7-59AA2210CCC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715EC44-CBDE-1543-E28F-2C12D93CCA8E}"/>
              </a:ext>
            </a:extLst>
          </p:cNvPr>
          <p:cNvSpPr>
            <a:spLocks noGrp="1"/>
          </p:cNvSpPr>
          <p:nvPr>
            <p:ph type="body" sz="quarter" idx="19"/>
          </p:nvPr>
        </p:nvSpPr>
        <p:spPr/>
        <p:txBody>
          <a:bodyPr/>
          <a:lstStyle/>
          <a:p>
            <a:r>
              <a:rPr lang="en-US" dirty="0"/>
              <a:t>Exercise 3: RCT</a:t>
            </a:r>
          </a:p>
        </p:txBody>
      </p:sp>
      <p:sp>
        <p:nvSpPr>
          <p:cNvPr id="3" name="Text Placeholder 2">
            <a:extLst>
              <a:ext uri="{FF2B5EF4-FFF2-40B4-BE49-F238E27FC236}">
                <a16:creationId xmlns:a16="http://schemas.microsoft.com/office/drawing/2014/main" id="{917E807B-53F9-F3E6-9916-82D8E13F0CAE}"/>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516298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95AF7-EDC2-B8DD-A133-4398DED40452}"/>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AC2138A-236F-D18F-C26F-5C63FA04B135}"/>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02344D07-C402-559D-2290-EDA1B6D87D97}"/>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40C9215F-92A0-1C30-04C6-5C92CC8C5684}"/>
              </a:ext>
            </a:extLst>
          </p:cNvPr>
          <p:cNvSpPr>
            <a:spLocks noGrp="1"/>
          </p:cNvSpPr>
          <p:nvPr>
            <p:ph type="body" sz="quarter" idx="18"/>
          </p:nvPr>
        </p:nvSpPr>
        <p:spPr/>
        <p:txBody>
          <a:bodyPr/>
          <a:lstStyle/>
          <a:p>
            <a:r>
              <a:rPr lang="en-US" dirty="0"/>
              <a:t>Compare eligible in treat vs. eligible in control (RCT)</a:t>
            </a:r>
          </a:p>
        </p:txBody>
      </p:sp>
      <p:graphicFrame>
        <p:nvGraphicFramePr>
          <p:cNvPr id="6" name="Table 5">
            <a:extLst>
              <a:ext uri="{FF2B5EF4-FFF2-40B4-BE49-F238E27FC236}">
                <a16:creationId xmlns:a16="http://schemas.microsoft.com/office/drawing/2014/main" id="{26CF2B50-D066-8DF2-D8E4-B969840DBD7F}"/>
              </a:ext>
            </a:extLst>
          </p:cNvPr>
          <p:cNvGraphicFramePr>
            <a:graphicFrameLocks noGrp="1"/>
          </p:cNvGraphicFramePr>
          <p:nvPr>
            <p:extLst>
              <p:ext uri="{D42A27DB-BD31-4B8C-83A1-F6EECF244321}">
                <p14:modId xmlns:p14="http://schemas.microsoft.com/office/powerpoint/2010/main" val="2241959945"/>
              </p:ext>
            </p:extLst>
          </p:nvPr>
        </p:nvGraphicFramePr>
        <p:xfrm>
          <a:off x="12801600" y="1826595"/>
          <a:ext cx="4776950" cy="7151700"/>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610852">
                <a:tc>
                  <a:txBody>
                    <a:bodyPr/>
                    <a:lstStyle/>
                    <a:p>
                      <a:pPr algn="ctr"/>
                      <a:r>
                        <a:rPr lang="en-US" sz="2400" b="1" dirty="0">
                          <a:solidFill>
                            <a:schemeClr val="bg2"/>
                          </a:solidFill>
                        </a:rPr>
                        <a:t>Total businesses in the Emirate</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9,913</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815113971"/>
                  </a:ext>
                </a:extLst>
              </a:tr>
              <a:tr h="1964998">
                <a:tc>
                  <a:txBody>
                    <a:bodyPr/>
                    <a:lstStyle/>
                    <a:p>
                      <a:pPr algn="ctr"/>
                      <a:r>
                        <a:rPr lang="en-US" sz="2400" b="1" dirty="0">
                          <a:solidFill>
                            <a:schemeClr val="bg2"/>
                          </a:solidFill>
                        </a:rPr>
                        <a:t>Total eligible businesses across all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5,628</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677125133"/>
                  </a:ext>
                </a:extLst>
              </a:tr>
              <a:tr h="1964998">
                <a:tc>
                  <a:txBody>
                    <a:bodyPr/>
                    <a:lstStyle/>
                    <a:p>
                      <a:pPr algn="ctr"/>
                      <a:r>
                        <a:rPr lang="en-US" sz="2400" b="1" dirty="0">
                          <a:solidFill>
                            <a:schemeClr val="bg2"/>
                          </a:solidFill>
                        </a:rPr>
                        <a:t>Total eligible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r h="1610852">
                <a:tc>
                  <a:txBody>
                    <a:bodyPr/>
                    <a:lstStyle/>
                    <a:p>
                      <a:pPr algn="ctr"/>
                      <a:r>
                        <a:rPr lang="en-US" sz="2400" b="1" dirty="0">
                          <a:solidFill>
                            <a:schemeClr val="bg2"/>
                          </a:solidFill>
                        </a:rPr>
                        <a:t>Total eligible businesses in control neighborhoods </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2,664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013030751"/>
                  </a:ext>
                </a:extLst>
              </a:tr>
            </a:tbl>
          </a:graphicData>
        </a:graphic>
      </p:graphicFrame>
      <p:sp>
        <p:nvSpPr>
          <p:cNvPr id="9" name="TextBox 8">
            <a:extLst>
              <a:ext uri="{FF2B5EF4-FFF2-40B4-BE49-F238E27FC236}">
                <a16:creationId xmlns:a16="http://schemas.microsoft.com/office/drawing/2014/main" id="{700F03B6-4265-7825-B727-257AD2D5E10A}"/>
              </a:ext>
            </a:extLst>
          </p:cNvPr>
          <p:cNvSpPr txBox="1"/>
          <p:nvPr/>
        </p:nvSpPr>
        <p:spPr>
          <a:xfrm>
            <a:off x="3954738" y="5974459"/>
            <a:ext cx="2066544" cy="1015663"/>
          </a:xfrm>
          <a:prstGeom prst="rect">
            <a:avLst/>
          </a:prstGeom>
          <a:noFill/>
        </p:spPr>
        <p:txBody>
          <a:bodyPr wrap="square" rtlCol="0">
            <a:spAutoFit/>
          </a:bodyPr>
          <a:lstStyle/>
          <a:p>
            <a:r>
              <a:rPr lang="en-US" sz="2000" b="1" dirty="0"/>
              <a:t>10 eligible businesses in control</a:t>
            </a:r>
          </a:p>
        </p:txBody>
      </p:sp>
      <p:sp>
        <p:nvSpPr>
          <p:cNvPr id="13" name="Rectangle 12">
            <a:extLst>
              <a:ext uri="{FF2B5EF4-FFF2-40B4-BE49-F238E27FC236}">
                <a16:creationId xmlns:a16="http://schemas.microsoft.com/office/drawing/2014/main" id="{A5F9C347-A209-9298-2643-6D6A16D05B5D}"/>
              </a:ext>
            </a:extLst>
          </p:cNvPr>
          <p:cNvSpPr/>
          <p:nvPr/>
        </p:nvSpPr>
        <p:spPr>
          <a:xfrm>
            <a:off x="1465581" y="7260861"/>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City outline">
            <a:extLst>
              <a:ext uri="{FF2B5EF4-FFF2-40B4-BE49-F238E27FC236}">
                <a16:creationId xmlns:a16="http://schemas.microsoft.com/office/drawing/2014/main" id="{6DA4DBEF-E1FE-37CF-6812-97311E37A48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45046" y="7216671"/>
            <a:ext cx="914400" cy="914400"/>
          </a:xfrm>
          <a:prstGeom prst="rect">
            <a:avLst/>
          </a:prstGeom>
        </p:spPr>
      </p:pic>
      <p:sp>
        <p:nvSpPr>
          <p:cNvPr id="15" name="Equals 14">
            <a:extLst>
              <a:ext uri="{FF2B5EF4-FFF2-40B4-BE49-F238E27FC236}">
                <a16:creationId xmlns:a16="http://schemas.microsoft.com/office/drawing/2014/main" id="{6972A90A-C5C2-D2FB-4DB4-D8F869668401}"/>
              </a:ext>
            </a:extLst>
          </p:cNvPr>
          <p:cNvSpPr/>
          <p:nvPr/>
        </p:nvSpPr>
        <p:spPr>
          <a:xfrm>
            <a:off x="3131922" y="7524161"/>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F39E5C77-5649-F475-E6A8-747EF26551AD}"/>
              </a:ext>
            </a:extLst>
          </p:cNvPr>
          <p:cNvSpPr txBox="1"/>
          <p:nvPr/>
        </p:nvSpPr>
        <p:spPr>
          <a:xfrm>
            <a:off x="3932209" y="7293138"/>
            <a:ext cx="2066544" cy="1015663"/>
          </a:xfrm>
          <a:prstGeom prst="rect">
            <a:avLst/>
          </a:prstGeom>
          <a:noFill/>
        </p:spPr>
        <p:txBody>
          <a:bodyPr wrap="square" rtlCol="0">
            <a:spAutoFit/>
          </a:bodyPr>
          <a:lstStyle/>
          <a:p>
            <a:r>
              <a:rPr lang="en-US" sz="2000" b="1" dirty="0"/>
              <a:t>10 eligible businesses in treatment</a:t>
            </a:r>
          </a:p>
        </p:txBody>
      </p:sp>
      <p:sp>
        <p:nvSpPr>
          <p:cNvPr id="20" name="Equals 19">
            <a:extLst>
              <a:ext uri="{FF2B5EF4-FFF2-40B4-BE49-F238E27FC236}">
                <a16:creationId xmlns:a16="http://schemas.microsoft.com/office/drawing/2014/main" id="{AAD8A678-7A8E-1E4B-EB27-13DAFAFC5B6F}"/>
              </a:ext>
            </a:extLst>
          </p:cNvPr>
          <p:cNvSpPr/>
          <p:nvPr/>
        </p:nvSpPr>
        <p:spPr>
          <a:xfrm>
            <a:off x="3163450" y="6160798"/>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Rectangle 22">
            <a:extLst>
              <a:ext uri="{FF2B5EF4-FFF2-40B4-BE49-F238E27FC236}">
                <a16:creationId xmlns:a16="http://schemas.microsoft.com/office/drawing/2014/main" id="{11E63F52-39BC-CF53-53EB-AE1F098297A5}"/>
              </a:ext>
            </a:extLst>
          </p:cNvPr>
          <p:cNvSpPr/>
          <p:nvPr/>
        </p:nvSpPr>
        <p:spPr>
          <a:xfrm>
            <a:off x="1465581" y="5929015"/>
            <a:ext cx="1097280" cy="9144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City outline">
            <a:extLst>
              <a:ext uri="{FF2B5EF4-FFF2-40B4-BE49-F238E27FC236}">
                <a16:creationId xmlns:a16="http://schemas.microsoft.com/office/drawing/2014/main" id="{E1BCB521-8487-1254-D93B-045635E88C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45046" y="5884825"/>
            <a:ext cx="914400" cy="914400"/>
          </a:xfrm>
          <a:prstGeom prst="rect">
            <a:avLst/>
          </a:prstGeom>
        </p:spPr>
      </p:pic>
      <p:pic>
        <p:nvPicPr>
          <p:cNvPr id="2" name="Picture 1">
            <a:extLst>
              <a:ext uri="{FF2B5EF4-FFF2-40B4-BE49-F238E27FC236}">
                <a16:creationId xmlns:a16="http://schemas.microsoft.com/office/drawing/2014/main" id="{0FFE1185-61B4-826E-E36A-E3C4160011B2}"/>
              </a:ext>
            </a:extLst>
          </p:cNvPr>
          <p:cNvPicPr>
            <a:picLocks noChangeAspect="1"/>
          </p:cNvPicPr>
          <p:nvPr/>
        </p:nvPicPr>
        <p:blipFill>
          <a:blip r:embed="rId6"/>
          <a:stretch>
            <a:fillRect/>
          </a:stretch>
        </p:blipFill>
        <p:spPr>
          <a:xfrm>
            <a:off x="1794706" y="2199969"/>
            <a:ext cx="3193304" cy="2313432"/>
          </a:xfrm>
          <a:prstGeom prst="rect">
            <a:avLst/>
          </a:prstGeom>
        </p:spPr>
      </p:pic>
    </p:spTree>
    <p:extLst>
      <p:ext uri="{BB962C8B-B14F-4D97-AF65-F5344CB8AC3E}">
        <p14:creationId xmlns:p14="http://schemas.microsoft.com/office/powerpoint/2010/main" val="23345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87D994-8263-1E9C-6146-2ABB2FF4744F}"/>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A2F7E03-5F2B-7B66-6FA5-C0243727EFBB}"/>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6F0227C8-9C92-1542-AEA7-7CB24C9A6C74}"/>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12A5259-06FD-302A-1689-7E5EDB1359F9}"/>
              </a:ext>
            </a:extLst>
          </p:cNvPr>
          <p:cNvSpPr>
            <a:spLocks noGrp="1"/>
          </p:cNvSpPr>
          <p:nvPr>
            <p:ph type="body" sz="quarter" idx="18"/>
          </p:nvPr>
        </p:nvSpPr>
        <p:spPr/>
        <p:txBody>
          <a:bodyPr/>
          <a:lstStyle/>
          <a:p>
            <a:r>
              <a:rPr lang="en-US" dirty="0"/>
              <a:t>Compare eligible in treat vs. eligible in control (RCT)</a:t>
            </a:r>
          </a:p>
        </p:txBody>
      </p:sp>
      <p:pic>
        <p:nvPicPr>
          <p:cNvPr id="4" name="Picture 3">
            <a:extLst>
              <a:ext uri="{FF2B5EF4-FFF2-40B4-BE49-F238E27FC236}">
                <a16:creationId xmlns:a16="http://schemas.microsoft.com/office/drawing/2014/main" id="{7B711B9F-94B1-7B12-DC70-349EBB8ABCAF}"/>
              </a:ext>
            </a:extLst>
          </p:cNvPr>
          <p:cNvPicPr>
            <a:picLocks noChangeAspect="1"/>
          </p:cNvPicPr>
          <p:nvPr/>
        </p:nvPicPr>
        <p:blipFill>
          <a:blip r:embed="rId4"/>
          <a:stretch>
            <a:fillRect/>
          </a:stretch>
        </p:blipFill>
        <p:spPr>
          <a:xfrm>
            <a:off x="1795111" y="2176946"/>
            <a:ext cx="3192019" cy="2309761"/>
          </a:xfrm>
          <a:prstGeom prst="rect">
            <a:avLst/>
          </a:prstGeom>
        </p:spPr>
      </p:pic>
      <p:graphicFrame>
        <p:nvGraphicFramePr>
          <p:cNvPr id="6" name="Table 5">
            <a:extLst>
              <a:ext uri="{FF2B5EF4-FFF2-40B4-BE49-F238E27FC236}">
                <a16:creationId xmlns:a16="http://schemas.microsoft.com/office/drawing/2014/main" id="{B087E303-5C84-9772-54FD-5AF329E1D5D8}"/>
              </a:ext>
            </a:extLst>
          </p:cNvPr>
          <p:cNvGraphicFramePr>
            <a:graphicFrameLocks noGrp="1"/>
          </p:cNvGraphicFramePr>
          <p:nvPr/>
        </p:nvGraphicFramePr>
        <p:xfrm>
          <a:off x="12801600" y="1826595"/>
          <a:ext cx="4776950" cy="7151700"/>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610852">
                <a:tc>
                  <a:txBody>
                    <a:bodyPr/>
                    <a:lstStyle/>
                    <a:p>
                      <a:pPr algn="ctr"/>
                      <a:r>
                        <a:rPr lang="en-US" sz="2400" b="1" dirty="0">
                          <a:solidFill>
                            <a:schemeClr val="bg2"/>
                          </a:solidFill>
                        </a:rPr>
                        <a:t>Total businesses in the Emirate</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9,913</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815113971"/>
                  </a:ext>
                </a:extLst>
              </a:tr>
              <a:tr h="1964998">
                <a:tc>
                  <a:txBody>
                    <a:bodyPr/>
                    <a:lstStyle/>
                    <a:p>
                      <a:pPr algn="ctr"/>
                      <a:r>
                        <a:rPr lang="en-US" sz="2400" b="1" dirty="0">
                          <a:solidFill>
                            <a:schemeClr val="bg2"/>
                          </a:solidFill>
                        </a:rPr>
                        <a:t>Total eligible businesses across all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5,628</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677125133"/>
                  </a:ext>
                </a:extLst>
              </a:tr>
              <a:tr h="1964998">
                <a:tc>
                  <a:txBody>
                    <a:bodyPr/>
                    <a:lstStyle/>
                    <a:p>
                      <a:pPr algn="ctr"/>
                      <a:r>
                        <a:rPr lang="en-US" sz="2400" b="1" dirty="0">
                          <a:solidFill>
                            <a:schemeClr val="bg2"/>
                          </a:solidFill>
                        </a:rPr>
                        <a:t>Total eligible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r h="1610852">
                <a:tc>
                  <a:txBody>
                    <a:bodyPr/>
                    <a:lstStyle/>
                    <a:p>
                      <a:pPr algn="ctr"/>
                      <a:r>
                        <a:rPr lang="en-US" sz="2400" b="1" dirty="0">
                          <a:solidFill>
                            <a:schemeClr val="bg2"/>
                          </a:solidFill>
                        </a:rPr>
                        <a:t>Total eligible businesses in control neighborhoods </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2,664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013030751"/>
                  </a:ext>
                </a:extLst>
              </a:tr>
            </a:tbl>
          </a:graphicData>
        </a:graphic>
      </p:graphicFrame>
      <p:sp>
        <p:nvSpPr>
          <p:cNvPr id="8" name="TextBox 7">
            <a:extLst>
              <a:ext uri="{FF2B5EF4-FFF2-40B4-BE49-F238E27FC236}">
                <a16:creationId xmlns:a16="http://schemas.microsoft.com/office/drawing/2014/main" id="{3124024C-CEF4-AB6B-8E07-D9B06B411F88}"/>
              </a:ext>
            </a:extLst>
          </p:cNvPr>
          <p:cNvSpPr txBox="1"/>
          <p:nvPr/>
        </p:nvSpPr>
        <p:spPr>
          <a:xfrm>
            <a:off x="3974390" y="5411675"/>
            <a:ext cx="2066544" cy="1015663"/>
          </a:xfrm>
          <a:prstGeom prst="rect">
            <a:avLst/>
          </a:prstGeom>
          <a:noFill/>
        </p:spPr>
        <p:txBody>
          <a:bodyPr wrap="square" rtlCol="0">
            <a:spAutoFit/>
          </a:bodyPr>
          <a:lstStyle/>
          <a:p>
            <a:r>
              <a:rPr lang="en-US" sz="2000" b="1" dirty="0"/>
              <a:t>10 ineligible businesses in control</a:t>
            </a:r>
          </a:p>
        </p:txBody>
      </p:sp>
      <p:sp>
        <p:nvSpPr>
          <p:cNvPr id="9" name="TextBox 8">
            <a:extLst>
              <a:ext uri="{FF2B5EF4-FFF2-40B4-BE49-F238E27FC236}">
                <a16:creationId xmlns:a16="http://schemas.microsoft.com/office/drawing/2014/main" id="{A6E4E0FB-2A2E-D8FD-C612-7EBBC00835DD}"/>
              </a:ext>
            </a:extLst>
          </p:cNvPr>
          <p:cNvSpPr txBox="1"/>
          <p:nvPr/>
        </p:nvSpPr>
        <p:spPr>
          <a:xfrm>
            <a:off x="3971758" y="6535932"/>
            <a:ext cx="2066544" cy="1015663"/>
          </a:xfrm>
          <a:prstGeom prst="rect">
            <a:avLst/>
          </a:prstGeom>
          <a:noFill/>
        </p:spPr>
        <p:txBody>
          <a:bodyPr wrap="square" rtlCol="0">
            <a:spAutoFit/>
          </a:bodyPr>
          <a:lstStyle/>
          <a:p>
            <a:r>
              <a:rPr lang="en-US" sz="2000" b="1" dirty="0"/>
              <a:t>10 eligible businesses in control</a:t>
            </a:r>
          </a:p>
        </p:txBody>
      </p:sp>
      <p:sp>
        <p:nvSpPr>
          <p:cNvPr id="12" name="Rectangle 11">
            <a:extLst>
              <a:ext uri="{FF2B5EF4-FFF2-40B4-BE49-F238E27FC236}">
                <a16:creationId xmlns:a16="http://schemas.microsoft.com/office/drawing/2014/main" id="{8FE43388-E2BD-E826-1DCE-F5876E0681A2}"/>
              </a:ext>
            </a:extLst>
          </p:cNvPr>
          <p:cNvSpPr/>
          <p:nvPr/>
        </p:nvSpPr>
        <p:spPr>
          <a:xfrm>
            <a:off x="1476063" y="7645434"/>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E14B67-7B7E-C65D-D753-30193B52A8E3}"/>
              </a:ext>
            </a:extLst>
          </p:cNvPr>
          <p:cNvSpPr/>
          <p:nvPr/>
        </p:nvSpPr>
        <p:spPr>
          <a:xfrm>
            <a:off x="1503623" y="8750231"/>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City outline">
            <a:extLst>
              <a:ext uri="{FF2B5EF4-FFF2-40B4-BE49-F238E27FC236}">
                <a16:creationId xmlns:a16="http://schemas.microsoft.com/office/drawing/2014/main" id="{DCE06301-25D9-7B03-F771-CE89298445D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83088" y="8706041"/>
            <a:ext cx="914400" cy="914400"/>
          </a:xfrm>
          <a:prstGeom prst="rect">
            <a:avLst/>
          </a:prstGeom>
        </p:spPr>
      </p:pic>
      <p:sp>
        <p:nvSpPr>
          <p:cNvPr id="15" name="Equals 14">
            <a:extLst>
              <a:ext uri="{FF2B5EF4-FFF2-40B4-BE49-F238E27FC236}">
                <a16:creationId xmlns:a16="http://schemas.microsoft.com/office/drawing/2014/main" id="{EAA8DD4D-6D8B-9F45-3031-E4CB28FCC401}"/>
              </a:ext>
            </a:extLst>
          </p:cNvPr>
          <p:cNvSpPr/>
          <p:nvPr/>
        </p:nvSpPr>
        <p:spPr>
          <a:xfrm>
            <a:off x="3169964" y="9013531"/>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0794B239-02FF-63E8-2A3B-476A903416FD}"/>
              </a:ext>
            </a:extLst>
          </p:cNvPr>
          <p:cNvSpPr txBox="1"/>
          <p:nvPr/>
        </p:nvSpPr>
        <p:spPr>
          <a:xfrm>
            <a:off x="3970251" y="8782508"/>
            <a:ext cx="2066544" cy="1015663"/>
          </a:xfrm>
          <a:prstGeom prst="rect">
            <a:avLst/>
          </a:prstGeom>
          <a:noFill/>
        </p:spPr>
        <p:txBody>
          <a:bodyPr wrap="square" rtlCol="0">
            <a:spAutoFit/>
          </a:bodyPr>
          <a:lstStyle/>
          <a:p>
            <a:r>
              <a:rPr lang="en-US" sz="2000" b="1" dirty="0"/>
              <a:t>10 eligible businesses in treatment</a:t>
            </a:r>
          </a:p>
        </p:txBody>
      </p:sp>
      <p:pic>
        <p:nvPicPr>
          <p:cNvPr id="17" name="Graphic 16" descr="City outline">
            <a:extLst>
              <a:ext uri="{FF2B5EF4-FFF2-40B4-BE49-F238E27FC236}">
                <a16:creationId xmlns:a16="http://schemas.microsoft.com/office/drawing/2014/main" id="{837D6429-3F1A-1446-F21C-9F1A4B161F3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7322" y="7679261"/>
            <a:ext cx="914400" cy="914400"/>
          </a:xfrm>
          <a:prstGeom prst="rect">
            <a:avLst/>
          </a:prstGeom>
        </p:spPr>
      </p:pic>
      <p:sp>
        <p:nvSpPr>
          <p:cNvPr id="18" name="Equals 17">
            <a:extLst>
              <a:ext uri="{FF2B5EF4-FFF2-40B4-BE49-F238E27FC236}">
                <a16:creationId xmlns:a16="http://schemas.microsoft.com/office/drawing/2014/main" id="{71F10058-7974-F024-8493-B609266E8CF9}"/>
              </a:ext>
            </a:extLst>
          </p:cNvPr>
          <p:cNvSpPr/>
          <p:nvPr/>
        </p:nvSpPr>
        <p:spPr>
          <a:xfrm>
            <a:off x="3167779" y="7898412"/>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79D7DFDA-6031-AC5C-40FD-92F1C5AE4529}"/>
              </a:ext>
            </a:extLst>
          </p:cNvPr>
          <p:cNvSpPr txBox="1"/>
          <p:nvPr/>
        </p:nvSpPr>
        <p:spPr>
          <a:xfrm>
            <a:off x="3999598" y="7698922"/>
            <a:ext cx="2066544" cy="1015663"/>
          </a:xfrm>
          <a:prstGeom prst="rect">
            <a:avLst/>
          </a:prstGeom>
          <a:noFill/>
        </p:spPr>
        <p:txBody>
          <a:bodyPr wrap="square" rtlCol="0">
            <a:spAutoFit/>
          </a:bodyPr>
          <a:lstStyle/>
          <a:p>
            <a:r>
              <a:rPr lang="en-US" sz="2000" b="1" dirty="0"/>
              <a:t>10 ineligible businesses in treatment </a:t>
            </a:r>
          </a:p>
        </p:txBody>
      </p:sp>
      <p:sp>
        <p:nvSpPr>
          <p:cNvPr id="20" name="Equals 19">
            <a:extLst>
              <a:ext uri="{FF2B5EF4-FFF2-40B4-BE49-F238E27FC236}">
                <a16:creationId xmlns:a16="http://schemas.microsoft.com/office/drawing/2014/main" id="{FFBFCDC7-53DF-4204-3C2E-2E3F550048F7}"/>
              </a:ext>
            </a:extLst>
          </p:cNvPr>
          <p:cNvSpPr/>
          <p:nvPr/>
        </p:nvSpPr>
        <p:spPr>
          <a:xfrm>
            <a:off x="3180470" y="6722271"/>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Equals 20">
            <a:extLst>
              <a:ext uri="{FF2B5EF4-FFF2-40B4-BE49-F238E27FC236}">
                <a16:creationId xmlns:a16="http://schemas.microsoft.com/office/drawing/2014/main" id="{66BC582B-1962-A64A-0BB3-482E72E14AAF}"/>
              </a:ext>
            </a:extLst>
          </p:cNvPr>
          <p:cNvSpPr/>
          <p:nvPr/>
        </p:nvSpPr>
        <p:spPr>
          <a:xfrm>
            <a:off x="3178285" y="5591387"/>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Rectangle 21">
            <a:extLst>
              <a:ext uri="{FF2B5EF4-FFF2-40B4-BE49-F238E27FC236}">
                <a16:creationId xmlns:a16="http://schemas.microsoft.com/office/drawing/2014/main" id="{6AB64FE1-93B4-21C1-C6EF-067381D93B46}"/>
              </a:ext>
            </a:extLst>
          </p:cNvPr>
          <p:cNvSpPr/>
          <p:nvPr/>
        </p:nvSpPr>
        <p:spPr>
          <a:xfrm>
            <a:off x="1455041" y="5385691"/>
            <a:ext cx="1097280" cy="9144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69BC08C-A688-7B7A-1E3E-896E272D9AF5}"/>
              </a:ext>
            </a:extLst>
          </p:cNvPr>
          <p:cNvSpPr/>
          <p:nvPr/>
        </p:nvSpPr>
        <p:spPr>
          <a:xfrm>
            <a:off x="1482601" y="6490488"/>
            <a:ext cx="1097280" cy="9144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City outline">
            <a:extLst>
              <a:ext uri="{FF2B5EF4-FFF2-40B4-BE49-F238E27FC236}">
                <a16:creationId xmlns:a16="http://schemas.microsoft.com/office/drawing/2014/main" id="{BD67F7A7-79AE-D7DC-26F3-B2A88F8B95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62066" y="6446298"/>
            <a:ext cx="914400" cy="914400"/>
          </a:xfrm>
          <a:prstGeom prst="rect">
            <a:avLst/>
          </a:prstGeom>
        </p:spPr>
      </p:pic>
      <p:pic>
        <p:nvPicPr>
          <p:cNvPr id="25" name="Graphic 24" descr="City outline">
            <a:extLst>
              <a:ext uri="{FF2B5EF4-FFF2-40B4-BE49-F238E27FC236}">
                <a16:creationId xmlns:a16="http://schemas.microsoft.com/office/drawing/2014/main" id="{CE00363E-978C-E29A-DA07-1F4582425C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46300" y="5419518"/>
            <a:ext cx="914400" cy="914400"/>
          </a:xfrm>
          <a:prstGeom prst="rect">
            <a:avLst/>
          </a:prstGeom>
        </p:spPr>
      </p:pic>
    </p:spTree>
    <p:extLst>
      <p:ext uri="{BB962C8B-B14F-4D97-AF65-F5344CB8AC3E}">
        <p14:creationId xmlns:p14="http://schemas.microsoft.com/office/powerpoint/2010/main" val="4088452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4B4374-E2AA-5DBA-C1E8-4611FBB72720}"/>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2E27C260-3E16-86B1-460A-68BA428FD9EF}"/>
              </a:ext>
            </a:extLst>
          </p:cNvPr>
          <p:cNvSpPr>
            <a:spLocks noGrp="1"/>
          </p:cNvSpPr>
          <p:nvPr>
            <p:ph type="body" sz="quarter" idx="18"/>
          </p:nvPr>
        </p:nvSpPr>
        <p:spPr/>
        <p:txBody>
          <a:bodyPr/>
          <a:lstStyle/>
          <a:p>
            <a:r>
              <a:rPr lang="en-US" dirty="0"/>
              <a:t>Randomization: Baseline Balance Checks</a:t>
            </a:r>
          </a:p>
        </p:txBody>
      </p:sp>
      <p:pic>
        <p:nvPicPr>
          <p:cNvPr id="6" name="Picture 5">
            <a:extLst>
              <a:ext uri="{FF2B5EF4-FFF2-40B4-BE49-F238E27FC236}">
                <a16:creationId xmlns:a16="http://schemas.microsoft.com/office/drawing/2014/main" id="{EAED6147-8E64-C48D-6B5D-CC3E8A990517}"/>
              </a:ext>
            </a:extLst>
          </p:cNvPr>
          <p:cNvPicPr>
            <a:picLocks noChangeAspect="1"/>
          </p:cNvPicPr>
          <p:nvPr/>
        </p:nvPicPr>
        <p:blipFill>
          <a:blip r:embed="rId2"/>
          <a:stretch>
            <a:fillRect/>
          </a:stretch>
        </p:blipFill>
        <p:spPr>
          <a:xfrm>
            <a:off x="3156676" y="1495504"/>
            <a:ext cx="11974648" cy="7295991"/>
          </a:xfrm>
          <a:prstGeom prst="rect">
            <a:avLst/>
          </a:prstGeom>
        </p:spPr>
      </p:pic>
    </p:spTree>
    <p:extLst>
      <p:ext uri="{BB962C8B-B14F-4D97-AF65-F5344CB8AC3E}">
        <p14:creationId xmlns:p14="http://schemas.microsoft.com/office/powerpoint/2010/main" val="55774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D45ED8-2036-993F-ED8D-AF412CB33563}"/>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6C3C2198-9946-B07C-4365-FEC0B44997F6}"/>
              </a:ext>
            </a:extLst>
          </p:cNvPr>
          <p:cNvSpPr>
            <a:spLocks noGrp="1"/>
          </p:cNvSpPr>
          <p:nvPr>
            <p:ph type="body" sz="quarter" idx="18"/>
          </p:nvPr>
        </p:nvSpPr>
        <p:spPr/>
        <p:txBody>
          <a:bodyPr/>
          <a:lstStyle/>
          <a:p>
            <a:r>
              <a:rPr lang="en-US" dirty="0"/>
              <a:t>Baseline Check (editable)</a:t>
            </a:r>
          </a:p>
          <a:p>
            <a:endParaRPr lang="en-US" dirty="0"/>
          </a:p>
        </p:txBody>
      </p:sp>
      <p:graphicFrame>
        <p:nvGraphicFramePr>
          <p:cNvPr id="6" name="Content Placeholder 5">
            <a:extLst>
              <a:ext uri="{FF2B5EF4-FFF2-40B4-BE49-F238E27FC236}">
                <a16:creationId xmlns:a16="http://schemas.microsoft.com/office/drawing/2014/main" id="{A7F80C6C-C63A-1AD7-8F6A-E0EFB8DEE52C}"/>
              </a:ext>
            </a:extLst>
          </p:cNvPr>
          <p:cNvGraphicFramePr>
            <a:graphicFrameLocks/>
          </p:cNvGraphicFramePr>
          <p:nvPr>
            <p:extLst>
              <p:ext uri="{D42A27DB-BD31-4B8C-83A1-F6EECF244321}">
                <p14:modId xmlns:p14="http://schemas.microsoft.com/office/powerpoint/2010/main" val="356639866"/>
              </p:ext>
            </p:extLst>
          </p:nvPr>
        </p:nvGraphicFramePr>
        <p:xfrm>
          <a:off x="1907627" y="1785450"/>
          <a:ext cx="15818899" cy="7314138"/>
        </p:xfrm>
        <a:graphic>
          <a:graphicData uri="http://schemas.openxmlformats.org/drawingml/2006/table">
            <a:tbl>
              <a:tblPr firstRow="1" bandRow="1"/>
              <a:tblGrid>
                <a:gridCol w="5473656">
                  <a:extLst>
                    <a:ext uri="{9D8B030D-6E8A-4147-A177-3AD203B41FA5}">
                      <a16:colId xmlns:a16="http://schemas.microsoft.com/office/drawing/2014/main" val="2217905170"/>
                    </a:ext>
                  </a:extLst>
                </a:gridCol>
                <a:gridCol w="2798182">
                  <a:extLst>
                    <a:ext uri="{9D8B030D-6E8A-4147-A177-3AD203B41FA5}">
                      <a16:colId xmlns:a16="http://schemas.microsoft.com/office/drawing/2014/main" val="3972289034"/>
                    </a:ext>
                  </a:extLst>
                </a:gridCol>
                <a:gridCol w="3103398">
                  <a:extLst>
                    <a:ext uri="{9D8B030D-6E8A-4147-A177-3AD203B41FA5}">
                      <a16:colId xmlns:a16="http://schemas.microsoft.com/office/drawing/2014/main" val="2757510831"/>
                    </a:ext>
                  </a:extLst>
                </a:gridCol>
                <a:gridCol w="2261937">
                  <a:extLst>
                    <a:ext uri="{9D8B030D-6E8A-4147-A177-3AD203B41FA5}">
                      <a16:colId xmlns:a16="http://schemas.microsoft.com/office/drawing/2014/main" val="1397347848"/>
                    </a:ext>
                  </a:extLst>
                </a:gridCol>
                <a:gridCol w="1376802">
                  <a:extLst>
                    <a:ext uri="{9D8B030D-6E8A-4147-A177-3AD203B41FA5}">
                      <a16:colId xmlns:a16="http://schemas.microsoft.com/office/drawing/2014/main" val="630470323"/>
                    </a:ext>
                  </a:extLst>
                </a:gridCol>
                <a:gridCol w="804924">
                  <a:extLst>
                    <a:ext uri="{9D8B030D-6E8A-4147-A177-3AD203B41FA5}">
                      <a16:colId xmlns:a16="http://schemas.microsoft.com/office/drawing/2014/main" val="40742635"/>
                    </a:ext>
                  </a:extLst>
                </a:gridCol>
              </a:tblGrid>
              <a:tr h="559675">
                <a:tc>
                  <a:txBody>
                    <a:bodyPr/>
                    <a:lstStyle/>
                    <a:p>
                      <a:pPr marL="0" marR="0" algn="l"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Variable</a:t>
                      </a:r>
                      <a:endParaRPr lang="en-GB" sz="26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2600" b="0" i="0" u="none" strike="noStrike" dirty="0">
                          <a:effectLst/>
                          <a:latin typeface="Aptos" panose="020B0004020202020204" pitchFamily="34" charset="0"/>
                        </a:rPr>
                        <a:t>Treat Mean</a:t>
                      </a: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2600" b="0" i="0" u="none" strike="noStrike" dirty="0">
                          <a:effectLst/>
                          <a:latin typeface="Aptos" panose="020B0004020202020204" pitchFamily="34" charset="0"/>
                        </a:rPr>
                        <a:t>Control Mean</a:t>
                      </a: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Diff Treat/Control</a:t>
                      </a:r>
                      <a:endParaRPr lang="en-GB" sz="26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Std. Error</a:t>
                      </a:r>
                      <a:endParaRPr lang="en-GB" sz="26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P-</a:t>
                      </a:r>
                      <a:r>
                        <a:rPr lang="en-GB" sz="2600" b="0" i="0" u="none" strike="noStrike" kern="100" dirty="0" err="1">
                          <a:solidFill>
                            <a:srgbClr val="000000"/>
                          </a:solidFill>
                          <a:effectLst/>
                          <a:latin typeface="Aptos" panose="020B0004020202020204" pitchFamily="34" charset="0"/>
                          <a:ea typeface="Arial" panose="020B0604020202020204" pitchFamily="34" charset="0"/>
                          <a:cs typeface="Arial" panose="020B0604020202020204" pitchFamily="34" charset="0"/>
                        </a:rPr>
                        <a:t>val</a:t>
                      </a:r>
                      <a:endParaRPr lang="en-GB" sz="26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152609554"/>
                  </a:ext>
                </a:extLst>
              </a:tr>
              <a:tr h="559675">
                <a:tc>
                  <a:txBody>
                    <a:bodyPr/>
                    <a:lstStyle/>
                    <a:p>
                      <a:pPr marL="0" marR="0" algn="l"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Advanced Filtration</a:t>
                      </a:r>
                      <a:endParaRPr lang="en-GB" sz="26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algn="ctr" fontAlgn="t">
                        <a:buNone/>
                      </a:pPr>
                      <a:r>
                        <a:rPr lang="en-US" sz="2600" dirty="0">
                          <a:effectLst/>
                          <a:latin typeface="Aptos" panose="020B0004020202020204" pitchFamily="34" charset="0"/>
                        </a:rPr>
                        <a:t>0.72</a:t>
                      </a:r>
                    </a:p>
                  </a:txBody>
                  <a:tcPr marL="38100" marR="38100" marT="38100" marB="38100">
                    <a:lnL>
                      <a:noFill/>
                    </a:lnL>
                    <a:lnR>
                      <a:noFill/>
                    </a:lnR>
                    <a:lnT w="19050" cap="flat" cmpd="sng" algn="ctr">
                      <a:solidFill>
                        <a:srgbClr val="666666"/>
                      </a:solidFill>
                      <a:prstDash val="solid"/>
                      <a:round/>
                      <a:headEnd type="none" w="med" len="med"/>
                      <a:tailEnd type="none" w="med" len="med"/>
                    </a:lnT>
                    <a:lnB>
                      <a:noFill/>
                    </a:lnB>
                    <a:noFill/>
                  </a:tcPr>
                </a:tc>
                <a:tc>
                  <a:txBody>
                    <a:bodyPr/>
                    <a:lstStyle/>
                    <a:p>
                      <a:pPr algn="ctr" fontAlgn="t">
                        <a:buNone/>
                      </a:pPr>
                      <a:r>
                        <a:rPr lang="en-US" sz="2600" dirty="0">
                          <a:effectLst/>
                          <a:latin typeface="Aptos" panose="020B0004020202020204" pitchFamily="34" charset="0"/>
                        </a:rPr>
                        <a:t>0.73</a:t>
                      </a:r>
                    </a:p>
                  </a:txBody>
                  <a:tcPr marL="38100" marR="38100" marT="38100" marB="38100">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26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2600" b="0" i="0" u="none" strike="noStrike">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0.28</a:t>
                      </a:r>
                      <a:endParaRPr lang="en-GB" sz="2600" b="0" i="0" u="none" strike="noStrike">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2030520742"/>
                  </a:ext>
                </a:extLst>
              </a:tr>
              <a:tr h="559675">
                <a:tc>
                  <a:txBody>
                    <a:bodyPr/>
                    <a:lstStyle/>
                    <a:p>
                      <a:pPr marL="0" marR="0" algn="l"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Deputy Age</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algn="ctr" fontAlgn="t">
                        <a:buNone/>
                      </a:pPr>
                      <a:r>
                        <a:rPr lang="en-US" sz="2600" dirty="0">
                          <a:effectLst/>
                          <a:latin typeface="Aptos" panose="020B0004020202020204" pitchFamily="34" charset="0"/>
                        </a:rPr>
                        <a:t>36.84</a:t>
                      </a:r>
                    </a:p>
                  </a:txBody>
                  <a:tcPr marL="38100" marR="38100" marT="38100" marB="38100">
                    <a:lnL>
                      <a:noFill/>
                    </a:lnL>
                    <a:lnR>
                      <a:noFill/>
                    </a:lnR>
                    <a:lnT>
                      <a:noFill/>
                    </a:lnT>
                    <a:lnB>
                      <a:noFill/>
                    </a:lnB>
                    <a:solidFill>
                      <a:srgbClr val="F7F7F7"/>
                    </a:solidFill>
                  </a:tcPr>
                </a:tc>
                <a:tc>
                  <a:txBody>
                    <a:bodyPr/>
                    <a:lstStyle/>
                    <a:p>
                      <a:pPr algn="ctr" fontAlgn="t">
                        <a:buNone/>
                      </a:pPr>
                      <a:r>
                        <a:rPr lang="en-US" sz="2600" dirty="0">
                          <a:effectLst/>
                          <a:latin typeface="Aptos" panose="020B0004020202020204" pitchFamily="34" charset="0"/>
                        </a:rPr>
                        <a:t>36.88</a:t>
                      </a:r>
                    </a:p>
                  </a:txBody>
                  <a:tcPr marL="38100" marR="38100" marT="38100" marB="38100">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-0.04</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0.31</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0.90</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extLst>
                  <a:ext uri="{0D108BD9-81ED-4DB2-BD59-A6C34878D82A}">
                    <a16:rowId xmlns:a16="http://schemas.microsoft.com/office/drawing/2014/main" val="1876052044"/>
                  </a:ext>
                </a:extLst>
              </a:tr>
              <a:tr h="559675">
                <a:tc>
                  <a:txBody>
                    <a:bodyPr/>
                    <a:lstStyle/>
                    <a:p>
                      <a:pPr marL="0" marR="0" algn="l"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Manager Age</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algn="ctr" fontAlgn="t">
                        <a:buNone/>
                      </a:pPr>
                      <a:r>
                        <a:rPr lang="en-US" sz="2600" dirty="0">
                          <a:effectLst/>
                          <a:latin typeface="Aptos" panose="020B0004020202020204" pitchFamily="34" charset="0"/>
                        </a:rPr>
                        <a:t>41.66</a:t>
                      </a:r>
                    </a:p>
                  </a:txBody>
                  <a:tcPr marL="38100" marR="38100" marT="38100" marB="38100">
                    <a:lnL>
                      <a:noFill/>
                    </a:lnL>
                    <a:lnR>
                      <a:noFill/>
                    </a:lnR>
                    <a:lnT>
                      <a:noFill/>
                    </a:lnT>
                    <a:lnB>
                      <a:noFill/>
                    </a:lnB>
                    <a:noFill/>
                  </a:tcPr>
                </a:tc>
                <a:tc>
                  <a:txBody>
                    <a:bodyPr/>
                    <a:lstStyle/>
                    <a:p>
                      <a:pPr algn="ctr" fontAlgn="t">
                        <a:buNone/>
                      </a:pPr>
                      <a:r>
                        <a:rPr lang="en-US" sz="2600" dirty="0">
                          <a:effectLst/>
                          <a:latin typeface="Aptos" panose="020B0004020202020204" pitchFamily="34" charset="0"/>
                        </a:rPr>
                        <a:t>42.29</a:t>
                      </a:r>
                    </a:p>
                  </a:txBody>
                  <a:tcPr marL="38100" marR="38100" marT="38100" marB="38100">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-0.64</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0.38</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0.09</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noFill/>
                  </a:tcPr>
                </a:tc>
                <a:extLst>
                  <a:ext uri="{0D108BD9-81ED-4DB2-BD59-A6C34878D82A}">
                    <a16:rowId xmlns:a16="http://schemas.microsoft.com/office/drawing/2014/main" val="2043646080"/>
                  </a:ext>
                </a:extLst>
              </a:tr>
              <a:tr h="559675">
                <a:tc>
                  <a:txBody>
                    <a:bodyPr/>
                    <a:lstStyle/>
                    <a:p>
                      <a:pPr marL="0" marR="0" algn="l"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Deputy Education</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algn="ctr" fontAlgn="t">
                        <a:buNone/>
                      </a:pPr>
                      <a:r>
                        <a:rPr lang="en-US" sz="2600" dirty="0">
                          <a:effectLst/>
                          <a:latin typeface="Aptos" panose="020B0004020202020204" pitchFamily="34" charset="0"/>
                        </a:rPr>
                        <a:t>2.70</a:t>
                      </a:r>
                    </a:p>
                  </a:txBody>
                  <a:tcPr marL="38100" marR="38100" marT="38100" marB="38100">
                    <a:lnL>
                      <a:noFill/>
                    </a:lnL>
                    <a:lnR>
                      <a:noFill/>
                    </a:lnR>
                    <a:lnT>
                      <a:noFill/>
                    </a:lnT>
                    <a:lnB>
                      <a:noFill/>
                    </a:lnB>
                    <a:solidFill>
                      <a:srgbClr val="F7F7F7"/>
                    </a:solidFill>
                  </a:tcPr>
                </a:tc>
                <a:tc>
                  <a:txBody>
                    <a:bodyPr/>
                    <a:lstStyle/>
                    <a:p>
                      <a:pPr algn="ctr" fontAlgn="t">
                        <a:buNone/>
                      </a:pPr>
                      <a:r>
                        <a:rPr lang="en-US" sz="2600" dirty="0">
                          <a:effectLst/>
                          <a:latin typeface="Aptos" panose="020B0004020202020204" pitchFamily="34" charset="0"/>
                        </a:rPr>
                        <a:t>2.67</a:t>
                      </a:r>
                    </a:p>
                  </a:txBody>
                  <a:tcPr marL="38100" marR="38100" marT="38100" marB="38100">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0.03</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0.07</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0.67</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extLst>
                  <a:ext uri="{0D108BD9-81ED-4DB2-BD59-A6C34878D82A}">
                    <a16:rowId xmlns:a16="http://schemas.microsoft.com/office/drawing/2014/main" val="3200725852"/>
                  </a:ext>
                </a:extLst>
              </a:tr>
              <a:tr h="559675">
                <a:tc>
                  <a:txBody>
                    <a:bodyPr/>
                    <a:lstStyle/>
                    <a:p>
                      <a:pPr marL="0" marR="0" algn="l"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Manager Education</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algn="ctr" fontAlgn="t">
                        <a:buNone/>
                      </a:pPr>
                      <a:r>
                        <a:rPr lang="en-US" sz="2600" dirty="0">
                          <a:effectLst/>
                          <a:latin typeface="Aptos" panose="020B0004020202020204" pitchFamily="34" charset="0"/>
                        </a:rPr>
                        <a:t>2.97</a:t>
                      </a:r>
                    </a:p>
                  </a:txBody>
                  <a:tcPr marL="38100" marR="38100" marT="38100" marB="38100">
                    <a:lnL>
                      <a:noFill/>
                    </a:lnL>
                    <a:lnR>
                      <a:noFill/>
                    </a:lnR>
                    <a:lnT>
                      <a:noFill/>
                    </a:lnT>
                    <a:lnB>
                      <a:noFill/>
                    </a:lnB>
                    <a:noFill/>
                  </a:tcPr>
                </a:tc>
                <a:tc>
                  <a:txBody>
                    <a:bodyPr/>
                    <a:lstStyle/>
                    <a:p>
                      <a:pPr algn="ctr" fontAlgn="t">
                        <a:buNone/>
                      </a:pPr>
                      <a:r>
                        <a:rPr lang="en-US" sz="2600" dirty="0">
                          <a:effectLst/>
                          <a:latin typeface="Aptos" panose="020B0004020202020204" pitchFamily="34" charset="0"/>
                        </a:rPr>
                        <a:t>2.81</a:t>
                      </a:r>
                    </a:p>
                  </a:txBody>
                  <a:tcPr marL="38100" marR="38100" marT="38100" marB="38100">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0.16</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0.07</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0.02</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noFill/>
                  </a:tcPr>
                </a:tc>
                <a:extLst>
                  <a:ext uri="{0D108BD9-81ED-4DB2-BD59-A6C34878D82A}">
                    <a16:rowId xmlns:a16="http://schemas.microsoft.com/office/drawing/2014/main" val="3263437281"/>
                  </a:ext>
                </a:extLst>
              </a:tr>
              <a:tr h="559675">
                <a:tc>
                  <a:txBody>
                    <a:bodyPr/>
                    <a:lstStyle/>
                    <a:p>
                      <a:pPr marL="0" marR="0" algn="l"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Business Area</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algn="ctr" fontAlgn="t">
                        <a:buNone/>
                      </a:pPr>
                      <a:r>
                        <a:rPr lang="en-US" sz="2600" dirty="0">
                          <a:effectLst/>
                          <a:latin typeface="Aptos" panose="020B0004020202020204" pitchFamily="34" charset="0"/>
                        </a:rPr>
                        <a:t>1.68</a:t>
                      </a:r>
                    </a:p>
                  </a:txBody>
                  <a:tcPr marL="38100" marR="38100" marT="38100" marB="38100">
                    <a:lnL>
                      <a:noFill/>
                    </a:lnL>
                    <a:lnR>
                      <a:noFill/>
                    </a:lnR>
                    <a:lnT>
                      <a:noFill/>
                    </a:lnT>
                    <a:lnB>
                      <a:noFill/>
                    </a:lnB>
                    <a:solidFill>
                      <a:srgbClr val="F7F7F7"/>
                    </a:solidFill>
                  </a:tcPr>
                </a:tc>
                <a:tc>
                  <a:txBody>
                    <a:bodyPr/>
                    <a:lstStyle/>
                    <a:p>
                      <a:pPr algn="ctr" fontAlgn="t">
                        <a:buNone/>
                      </a:pPr>
                      <a:r>
                        <a:rPr lang="en-US" sz="2600" dirty="0">
                          <a:effectLst/>
                          <a:latin typeface="Aptos" panose="020B0004020202020204" pitchFamily="34" charset="0"/>
                        </a:rPr>
                        <a:t>1.72</a:t>
                      </a:r>
                    </a:p>
                  </a:txBody>
                  <a:tcPr marL="38100" marR="38100" marT="38100" marB="38100">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-0.04</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0.07</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0.57</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extLst>
                  <a:ext uri="{0D108BD9-81ED-4DB2-BD59-A6C34878D82A}">
                    <a16:rowId xmlns:a16="http://schemas.microsoft.com/office/drawing/2014/main" val="1547769007"/>
                  </a:ext>
                </a:extLst>
              </a:tr>
              <a:tr h="559675">
                <a:tc>
                  <a:txBody>
                    <a:bodyPr/>
                    <a:lstStyle/>
                    <a:p>
                      <a:pPr marL="0" marR="0" algn="l"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Female Manager</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algn="ctr" fontAlgn="t">
                        <a:buNone/>
                      </a:pPr>
                      <a:r>
                        <a:rPr lang="en-US" sz="2600" dirty="0">
                          <a:effectLst/>
                          <a:latin typeface="Aptos" panose="020B0004020202020204" pitchFamily="34" charset="0"/>
                        </a:rPr>
                        <a:t>0.07</a:t>
                      </a:r>
                    </a:p>
                  </a:txBody>
                  <a:tcPr marL="38100" marR="38100" marT="38100" marB="38100">
                    <a:lnL>
                      <a:noFill/>
                    </a:lnL>
                    <a:lnR>
                      <a:noFill/>
                    </a:lnR>
                    <a:lnT>
                      <a:noFill/>
                    </a:lnT>
                    <a:lnB>
                      <a:noFill/>
                    </a:lnB>
                    <a:noFill/>
                  </a:tcPr>
                </a:tc>
                <a:tc>
                  <a:txBody>
                    <a:bodyPr/>
                    <a:lstStyle/>
                    <a:p>
                      <a:pPr algn="ctr" fontAlgn="t">
                        <a:buNone/>
                      </a:pPr>
                      <a:r>
                        <a:rPr lang="en-US" sz="2600" dirty="0">
                          <a:effectLst/>
                          <a:latin typeface="Aptos" panose="020B0004020202020204" pitchFamily="34" charset="0"/>
                        </a:rPr>
                        <a:t>0.08</a:t>
                      </a:r>
                    </a:p>
                  </a:txBody>
                  <a:tcPr marL="38100" marR="38100" marT="38100" marB="38100">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0.00</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0.56</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extLst>
                  <a:ext uri="{0D108BD9-81ED-4DB2-BD59-A6C34878D82A}">
                    <a16:rowId xmlns:a16="http://schemas.microsoft.com/office/drawing/2014/main" val="3162898623"/>
                  </a:ext>
                </a:extLst>
              </a:tr>
              <a:tr h="559675">
                <a:tc>
                  <a:txBody>
                    <a:bodyPr/>
                    <a:lstStyle/>
                    <a:p>
                      <a:pPr marL="0" marR="0" algn="l"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Foreign Owned</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algn="ctr" fontAlgn="t">
                        <a:buNone/>
                      </a:pPr>
                      <a:r>
                        <a:rPr lang="en-US" sz="2600" dirty="0">
                          <a:effectLst/>
                          <a:latin typeface="Aptos" panose="020B0004020202020204" pitchFamily="34" charset="0"/>
                        </a:rPr>
                        <a:t>0.43</a:t>
                      </a:r>
                    </a:p>
                  </a:txBody>
                  <a:tcPr marL="38100" marR="38100" marT="38100" marB="38100">
                    <a:lnL>
                      <a:noFill/>
                    </a:lnL>
                    <a:lnR>
                      <a:noFill/>
                    </a:lnR>
                    <a:lnT>
                      <a:noFill/>
                    </a:lnT>
                    <a:lnB>
                      <a:noFill/>
                    </a:lnB>
                    <a:solidFill>
                      <a:srgbClr val="F7F7F7"/>
                    </a:solidFill>
                  </a:tcPr>
                </a:tc>
                <a:tc>
                  <a:txBody>
                    <a:bodyPr/>
                    <a:lstStyle/>
                    <a:p>
                      <a:pPr algn="ctr" fontAlgn="t">
                        <a:buNone/>
                      </a:pPr>
                      <a:r>
                        <a:rPr lang="en-US" sz="2600" dirty="0">
                          <a:effectLst/>
                          <a:latin typeface="Aptos" panose="020B0004020202020204" pitchFamily="34" charset="0"/>
                        </a:rPr>
                        <a:t>0.42</a:t>
                      </a:r>
                    </a:p>
                  </a:txBody>
                  <a:tcPr marL="38100" marR="38100" marT="38100" marB="38100">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0.49</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extLst>
                  <a:ext uri="{0D108BD9-81ED-4DB2-BD59-A6C34878D82A}">
                    <a16:rowId xmlns:a16="http://schemas.microsoft.com/office/drawing/2014/main" val="162895019"/>
                  </a:ext>
                </a:extLst>
              </a:tr>
              <a:tr h="559675">
                <a:tc>
                  <a:txBody>
                    <a:bodyPr/>
                    <a:lstStyle/>
                    <a:p>
                      <a:pPr marL="0" marR="0" algn="l"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Distance from Nearest Recycling Center</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algn="ctr" fontAlgn="t">
                        <a:buNone/>
                      </a:pPr>
                      <a:r>
                        <a:rPr lang="en-US" sz="2600" dirty="0">
                          <a:effectLst/>
                          <a:latin typeface="Aptos" panose="020B0004020202020204" pitchFamily="34" charset="0"/>
                        </a:rPr>
                        <a:t>109.20</a:t>
                      </a:r>
                    </a:p>
                  </a:txBody>
                  <a:tcPr marL="38100" marR="38100" marT="38100" marB="38100">
                    <a:lnL>
                      <a:noFill/>
                    </a:lnL>
                    <a:lnR>
                      <a:noFill/>
                    </a:lnR>
                    <a:lnT>
                      <a:noFill/>
                    </a:lnT>
                    <a:lnB>
                      <a:noFill/>
                    </a:lnB>
                    <a:noFill/>
                  </a:tcPr>
                </a:tc>
                <a:tc>
                  <a:txBody>
                    <a:bodyPr/>
                    <a:lstStyle/>
                    <a:p>
                      <a:pPr algn="ctr" fontAlgn="t">
                        <a:buNone/>
                      </a:pPr>
                      <a:r>
                        <a:rPr lang="en-US" sz="2600" dirty="0">
                          <a:effectLst/>
                          <a:latin typeface="Aptos" panose="020B0004020202020204" pitchFamily="34" charset="0"/>
                        </a:rPr>
                        <a:t>106.30</a:t>
                      </a:r>
                    </a:p>
                  </a:txBody>
                  <a:tcPr marL="38100" marR="38100" marT="38100" marB="38100">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2.91</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1.13</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extLst>
                  <a:ext uri="{0D108BD9-81ED-4DB2-BD59-A6C34878D82A}">
                    <a16:rowId xmlns:a16="http://schemas.microsoft.com/office/drawing/2014/main" val="1474753340"/>
                  </a:ext>
                </a:extLst>
              </a:tr>
              <a:tr h="559675">
                <a:tc>
                  <a:txBody>
                    <a:bodyPr/>
                    <a:lstStyle/>
                    <a:p>
                      <a:pPr marL="0" marR="0" algn="l"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Staff Size</a:t>
                      </a:r>
                      <a:endParaRPr lang="en-GB" sz="26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algn="ctr" fontAlgn="t">
                        <a:buNone/>
                      </a:pPr>
                      <a:r>
                        <a:rPr lang="en-US" sz="2600" dirty="0">
                          <a:effectLst/>
                          <a:latin typeface="Aptos" panose="020B0004020202020204" pitchFamily="34" charset="0"/>
                        </a:rPr>
                        <a:t>5.77</a:t>
                      </a:r>
                    </a:p>
                  </a:txBody>
                  <a:tcPr marL="38100" marR="38100" marT="38100" marB="38100">
                    <a:lnL>
                      <a:noFill/>
                    </a:lnL>
                    <a:lnR>
                      <a:noFill/>
                    </a:lnR>
                    <a:lnT>
                      <a:noFill/>
                    </a:lnT>
                    <a:lnB>
                      <a:noFill/>
                    </a:lnB>
                    <a:solidFill>
                      <a:srgbClr val="F7F7F7"/>
                    </a:solidFill>
                  </a:tcPr>
                </a:tc>
                <a:tc>
                  <a:txBody>
                    <a:bodyPr/>
                    <a:lstStyle/>
                    <a:p>
                      <a:pPr algn="ctr" fontAlgn="t">
                        <a:buNone/>
                      </a:pPr>
                      <a:r>
                        <a:rPr lang="en-US" sz="2600" dirty="0">
                          <a:effectLst/>
                          <a:latin typeface="Aptos" panose="020B0004020202020204" pitchFamily="34" charset="0"/>
                        </a:rPr>
                        <a:t>5.71</a:t>
                      </a:r>
                    </a:p>
                  </a:txBody>
                  <a:tcPr marL="38100" marR="38100" marT="38100" marB="38100">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0.06</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0.05</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0.26</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extLst>
                  <a:ext uri="{0D108BD9-81ED-4DB2-BD59-A6C34878D82A}">
                    <a16:rowId xmlns:a16="http://schemas.microsoft.com/office/drawing/2014/main" val="696406315"/>
                  </a:ext>
                </a:extLst>
              </a:tr>
              <a:tr h="559675">
                <a:tc>
                  <a:txBody>
                    <a:bodyPr/>
                    <a:lstStyle/>
                    <a:p>
                      <a:pPr marL="0" marR="0" algn="l" fontAlgn="ctr">
                        <a:lnSpc>
                          <a:spcPct val="107000"/>
                        </a:lnSpc>
                        <a:spcBef>
                          <a:spcPts val="500"/>
                        </a:spcBef>
                        <a:spcAft>
                          <a:spcPts val="500"/>
                        </a:spcAft>
                        <a:buNone/>
                      </a:pPr>
                      <a:r>
                        <a:rPr lang="en-GB" sz="26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Water Treatment System</a:t>
                      </a:r>
                      <a:endParaRPr lang="en-GB" sz="2600" b="0" i="0" u="none" strike="noStrike">
                        <a:effectLst/>
                        <a:latin typeface="Arial" panose="020B0604020202020204" pitchFamily="34" charset="0"/>
                      </a:endParaRPr>
                    </a:p>
                  </a:txBody>
                  <a:tcPr marL="10715" marR="10715" marT="1071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algn="ctr" fontAlgn="t">
                        <a:buNone/>
                      </a:pPr>
                      <a:r>
                        <a:rPr lang="en-US" sz="2600" dirty="0">
                          <a:effectLst/>
                          <a:latin typeface="Aptos" panose="020B0004020202020204" pitchFamily="34" charset="0"/>
                        </a:rPr>
                        <a:t>0.57</a:t>
                      </a:r>
                    </a:p>
                  </a:txBody>
                  <a:tcPr marL="38100" marR="38100" marT="38100" marB="38100">
                    <a:lnL>
                      <a:noFill/>
                    </a:lnL>
                    <a:lnR>
                      <a:noFill/>
                    </a:lnR>
                    <a:lnT>
                      <a:noFill/>
                    </a:lnT>
                    <a:lnB w="19050" cap="flat" cmpd="sng" algn="ctr">
                      <a:solidFill>
                        <a:srgbClr val="666666"/>
                      </a:solidFill>
                      <a:prstDash val="solid"/>
                      <a:round/>
                      <a:headEnd type="none" w="med" len="med"/>
                      <a:tailEnd type="none" w="med" len="med"/>
                    </a:lnB>
                    <a:noFill/>
                  </a:tcPr>
                </a:tc>
                <a:tc>
                  <a:txBody>
                    <a:bodyPr/>
                    <a:lstStyle/>
                    <a:p>
                      <a:pPr algn="ctr" fontAlgn="t">
                        <a:buNone/>
                      </a:pPr>
                      <a:r>
                        <a:rPr lang="en-US" sz="2600" dirty="0">
                          <a:effectLst/>
                          <a:latin typeface="Aptos" panose="020B0004020202020204" pitchFamily="34" charset="0"/>
                        </a:rPr>
                        <a:t>0.56</a:t>
                      </a:r>
                    </a:p>
                  </a:txBody>
                  <a:tcPr marL="38100" marR="38100" marT="38100" marB="38100">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26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0.26</a:t>
                      </a:r>
                      <a:endParaRPr lang="en-GB" sz="2600" b="0" i="0" u="none" strike="noStrike" dirty="0">
                        <a:effectLst/>
                        <a:latin typeface="Arial" panose="020B0604020202020204" pitchFamily="34" charset="0"/>
                      </a:endParaRPr>
                    </a:p>
                  </a:txBody>
                  <a:tcPr marL="10715" marR="10715" marT="10715"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420223499"/>
                  </a:ext>
                </a:extLst>
              </a:tr>
            </a:tbl>
          </a:graphicData>
        </a:graphic>
      </p:graphicFrame>
    </p:spTree>
    <p:extLst>
      <p:ext uri="{BB962C8B-B14F-4D97-AF65-F5344CB8AC3E}">
        <p14:creationId xmlns:p14="http://schemas.microsoft.com/office/powerpoint/2010/main" val="207210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182315-507A-1A33-1077-F9CCAE70FCB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8254C4F-284F-5D7D-D1E7-719B836401FF}"/>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06EB7C82-1462-45C0-BF9D-CF647B9BC4AA}"/>
              </a:ext>
            </a:extLst>
          </p:cNvPr>
          <p:cNvSpPr>
            <a:spLocks noGrp="1"/>
          </p:cNvSpPr>
          <p:nvPr>
            <p:ph type="body" sz="quarter" idx="18"/>
          </p:nvPr>
        </p:nvSpPr>
        <p:spPr/>
        <p:txBody>
          <a:bodyPr/>
          <a:lstStyle/>
          <a:p>
            <a:r>
              <a:rPr lang="en-US" dirty="0"/>
              <a:t>Baseline Check (editable)</a:t>
            </a:r>
          </a:p>
          <a:p>
            <a:endParaRPr lang="en-US" dirty="0"/>
          </a:p>
        </p:txBody>
      </p:sp>
      <p:graphicFrame>
        <p:nvGraphicFramePr>
          <p:cNvPr id="6" name="Content Placeholder 5">
            <a:extLst>
              <a:ext uri="{FF2B5EF4-FFF2-40B4-BE49-F238E27FC236}">
                <a16:creationId xmlns:a16="http://schemas.microsoft.com/office/drawing/2014/main" id="{AE60BF94-90B5-507A-1100-DD2348C926D0}"/>
              </a:ext>
            </a:extLst>
          </p:cNvPr>
          <p:cNvGraphicFramePr>
            <a:graphicFrameLocks/>
          </p:cNvGraphicFramePr>
          <p:nvPr>
            <p:extLst>
              <p:ext uri="{D42A27DB-BD31-4B8C-83A1-F6EECF244321}">
                <p14:modId xmlns:p14="http://schemas.microsoft.com/office/powerpoint/2010/main" val="3520260349"/>
              </p:ext>
            </p:extLst>
          </p:nvPr>
        </p:nvGraphicFramePr>
        <p:xfrm>
          <a:off x="5597313" y="1786490"/>
          <a:ext cx="4188371" cy="4603117"/>
        </p:xfrm>
        <a:graphic>
          <a:graphicData uri="http://schemas.openxmlformats.org/drawingml/2006/table">
            <a:tbl>
              <a:tblPr firstRow="1" bandRow="1"/>
              <a:tblGrid>
                <a:gridCol w="1449260">
                  <a:extLst>
                    <a:ext uri="{9D8B030D-6E8A-4147-A177-3AD203B41FA5}">
                      <a16:colId xmlns:a16="http://schemas.microsoft.com/office/drawing/2014/main" val="2217905170"/>
                    </a:ext>
                  </a:extLst>
                </a:gridCol>
                <a:gridCol w="432498">
                  <a:extLst>
                    <a:ext uri="{9D8B030D-6E8A-4147-A177-3AD203B41FA5}">
                      <a16:colId xmlns:a16="http://schemas.microsoft.com/office/drawing/2014/main" val="3972289034"/>
                    </a:ext>
                  </a:extLst>
                </a:gridCol>
                <a:gridCol w="658083">
                  <a:extLst>
                    <a:ext uri="{9D8B030D-6E8A-4147-A177-3AD203B41FA5}">
                      <a16:colId xmlns:a16="http://schemas.microsoft.com/office/drawing/2014/main" val="2757510831"/>
                    </a:ext>
                  </a:extLst>
                </a:gridCol>
                <a:gridCol w="837560">
                  <a:extLst>
                    <a:ext uri="{9D8B030D-6E8A-4147-A177-3AD203B41FA5}">
                      <a16:colId xmlns:a16="http://schemas.microsoft.com/office/drawing/2014/main" val="1397347848"/>
                    </a:ext>
                  </a:extLst>
                </a:gridCol>
                <a:gridCol w="485252">
                  <a:extLst>
                    <a:ext uri="{9D8B030D-6E8A-4147-A177-3AD203B41FA5}">
                      <a16:colId xmlns:a16="http://schemas.microsoft.com/office/drawing/2014/main" val="630470323"/>
                    </a:ext>
                  </a:extLst>
                </a:gridCol>
                <a:gridCol w="325718">
                  <a:extLst>
                    <a:ext uri="{9D8B030D-6E8A-4147-A177-3AD203B41FA5}">
                      <a16:colId xmlns:a16="http://schemas.microsoft.com/office/drawing/2014/main" val="40742635"/>
                    </a:ext>
                  </a:extLst>
                </a:gridCol>
              </a:tblGrid>
              <a:tr h="517850">
                <a:tc>
                  <a:txBody>
                    <a:bodyPr/>
                    <a:lstStyle/>
                    <a:p>
                      <a:pPr marL="0" marR="0" algn="l"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Variable</a:t>
                      </a:r>
                      <a:endParaRPr lang="en-GB" sz="11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1100" b="0" i="0" u="none" strike="noStrike" dirty="0">
                          <a:effectLst/>
                          <a:latin typeface="Aptos" panose="020B0004020202020204" pitchFamily="34" charset="0"/>
                        </a:rPr>
                        <a:t>Treat Mean</a:t>
                      </a: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1100" b="0" i="0" u="none" strike="noStrike" dirty="0">
                          <a:effectLst/>
                          <a:latin typeface="Aptos" panose="020B0004020202020204" pitchFamily="34" charset="0"/>
                        </a:rPr>
                        <a:t>Control Mean</a:t>
                      </a: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Diff Treat/Control</a:t>
                      </a:r>
                      <a:endParaRPr lang="en-GB" sz="11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Std. Error</a:t>
                      </a:r>
                      <a:endParaRPr lang="en-GB" sz="11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P-</a:t>
                      </a:r>
                      <a:r>
                        <a:rPr lang="en-GB" sz="1100" b="0" i="0" u="none" strike="noStrike" kern="100" dirty="0" err="1">
                          <a:solidFill>
                            <a:srgbClr val="000000"/>
                          </a:solidFill>
                          <a:effectLst/>
                          <a:latin typeface="Aptos" panose="020B0004020202020204" pitchFamily="34" charset="0"/>
                          <a:ea typeface="Arial" panose="020B0604020202020204" pitchFamily="34" charset="0"/>
                          <a:cs typeface="Arial" panose="020B0604020202020204" pitchFamily="34" charset="0"/>
                        </a:rPr>
                        <a:t>val</a:t>
                      </a:r>
                      <a:endParaRPr lang="en-GB" sz="11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152609554"/>
                  </a:ext>
                </a:extLst>
              </a:tr>
              <a:tr h="345927">
                <a:tc>
                  <a:txBody>
                    <a:bodyPr/>
                    <a:lstStyle/>
                    <a:p>
                      <a:pPr marL="0" marR="0" algn="l"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Advanced Filtration</a:t>
                      </a:r>
                      <a:endParaRPr lang="en-GB" sz="11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algn="ctr" fontAlgn="t">
                        <a:buNone/>
                      </a:pPr>
                      <a:r>
                        <a:rPr lang="en-US" sz="1100" dirty="0">
                          <a:effectLst/>
                          <a:latin typeface="Aptos" panose="020B0004020202020204" pitchFamily="34" charset="0"/>
                        </a:rPr>
                        <a:t>0.72</a:t>
                      </a:r>
                    </a:p>
                  </a:txBody>
                  <a:tcPr marL="38100" marR="38100" marT="38100" marB="38100">
                    <a:lnL>
                      <a:noFill/>
                    </a:lnL>
                    <a:lnR>
                      <a:noFill/>
                    </a:lnR>
                    <a:lnT w="19050" cap="flat" cmpd="sng" algn="ctr">
                      <a:solidFill>
                        <a:srgbClr val="666666"/>
                      </a:solidFill>
                      <a:prstDash val="solid"/>
                      <a:round/>
                      <a:headEnd type="none" w="med" len="med"/>
                      <a:tailEnd type="none" w="med" len="med"/>
                    </a:lnT>
                    <a:lnB>
                      <a:noFill/>
                    </a:lnB>
                    <a:noFill/>
                  </a:tcPr>
                </a:tc>
                <a:tc>
                  <a:txBody>
                    <a:bodyPr/>
                    <a:lstStyle/>
                    <a:p>
                      <a:pPr algn="ctr" fontAlgn="t">
                        <a:buNone/>
                      </a:pPr>
                      <a:r>
                        <a:rPr lang="en-US" sz="1100" dirty="0">
                          <a:effectLst/>
                          <a:latin typeface="Aptos" panose="020B0004020202020204" pitchFamily="34" charset="0"/>
                        </a:rPr>
                        <a:t>0.73</a:t>
                      </a:r>
                    </a:p>
                  </a:txBody>
                  <a:tcPr marL="38100" marR="38100" marT="38100" marB="38100">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1100" b="0" i="0" u="none" strike="noStrike" dirty="0">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1100" b="0" i="0" u="none" strike="noStrike">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0.28</a:t>
                      </a:r>
                      <a:endParaRPr lang="en-GB" sz="1100" b="0" i="0" u="none" strike="noStrike">
                        <a:effectLst/>
                        <a:latin typeface="Arial" panose="020B0604020202020204" pitchFamily="34" charset="0"/>
                      </a:endParaRPr>
                    </a:p>
                  </a:txBody>
                  <a:tcPr marL="10715" marR="10715" marT="10715"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2030520742"/>
                  </a:ext>
                </a:extLst>
              </a:tr>
              <a:tr h="388219">
                <a:tc>
                  <a:txBody>
                    <a:bodyPr/>
                    <a:lstStyle/>
                    <a:p>
                      <a:pPr marL="0" marR="0" algn="l"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Deputy Age</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algn="ctr" fontAlgn="t">
                        <a:buNone/>
                      </a:pPr>
                      <a:r>
                        <a:rPr lang="en-US" sz="1100" dirty="0">
                          <a:effectLst/>
                          <a:latin typeface="Aptos" panose="020B0004020202020204" pitchFamily="34" charset="0"/>
                        </a:rPr>
                        <a:t>36.84</a:t>
                      </a:r>
                    </a:p>
                  </a:txBody>
                  <a:tcPr marL="38100" marR="38100" marT="38100" marB="38100">
                    <a:lnL>
                      <a:noFill/>
                    </a:lnL>
                    <a:lnR>
                      <a:noFill/>
                    </a:lnR>
                    <a:lnT>
                      <a:noFill/>
                    </a:lnT>
                    <a:lnB>
                      <a:noFill/>
                    </a:lnB>
                    <a:solidFill>
                      <a:srgbClr val="F7F7F7"/>
                    </a:solidFill>
                  </a:tcPr>
                </a:tc>
                <a:tc>
                  <a:txBody>
                    <a:bodyPr/>
                    <a:lstStyle/>
                    <a:p>
                      <a:pPr algn="ctr" fontAlgn="t">
                        <a:buNone/>
                      </a:pPr>
                      <a:r>
                        <a:rPr lang="en-US" sz="1100" dirty="0">
                          <a:effectLst/>
                          <a:latin typeface="Aptos" panose="020B0004020202020204" pitchFamily="34" charset="0"/>
                        </a:rPr>
                        <a:t>36.88</a:t>
                      </a:r>
                    </a:p>
                  </a:txBody>
                  <a:tcPr marL="38100" marR="38100" marT="38100" marB="38100">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-0.04</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0.31</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0.90</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extLst>
                  <a:ext uri="{0D108BD9-81ED-4DB2-BD59-A6C34878D82A}">
                    <a16:rowId xmlns:a16="http://schemas.microsoft.com/office/drawing/2014/main" val="1876052044"/>
                  </a:ext>
                </a:extLst>
              </a:tr>
              <a:tr h="388219">
                <a:tc>
                  <a:txBody>
                    <a:bodyPr/>
                    <a:lstStyle/>
                    <a:p>
                      <a:pPr marL="0" marR="0" algn="l"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Manager Age</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algn="ctr" fontAlgn="t">
                        <a:buNone/>
                      </a:pPr>
                      <a:r>
                        <a:rPr lang="en-US" sz="1100" dirty="0">
                          <a:effectLst/>
                          <a:latin typeface="Aptos" panose="020B0004020202020204" pitchFamily="34" charset="0"/>
                        </a:rPr>
                        <a:t>41.66</a:t>
                      </a:r>
                    </a:p>
                  </a:txBody>
                  <a:tcPr marL="38100" marR="38100" marT="38100" marB="38100">
                    <a:lnL>
                      <a:noFill/>
                    </a:lnL>
                    <a:lnR>
                      <a:noFill/>
                    </a:lnR>
                    <a:lnT>
                      <a:noFill/>
                    </a:lnT>
                    <a:lnB>
                      <a:noFill/>
                    </a:lnB>
                    <a:noFill/>
                  </a:tcPr>
                </a:tc>
                <a:tc>
                  <a:txBody>
                    <a:bodyPr/>
                    <a:lstStyle/>
                    <a:p>
                      <a:pPr algn="ctr" fontAlgn="t">
                        <a:buNone/>
                      </a:pPr>
                      <a:r>
                        <a:rPr lang="en-US" sz="1100" dirty="0">
                          <a:effectLst/>
                          <a:latin typeface="Aptos" panose="020B0004020202020204" pitchFamily="34" charset="0"/>
                        </a:rPr>
                        <a:t>42.29</a:t>
                      </a:r>
                    </a:p>
                  </a:txBody>
                  <a:tcPr marL="38100" marR="38100" marT="38100" marB="38100">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-0.64</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0.38</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0.09</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noFill/>
                  </a:tcPr>
                </a:tc>
                <a:extLst>
                  <a:ext uri="{0D108BD9-81ED-4DB2-BD59-A6C34878D82A}">
                    <a16:rowId xmlns:a16="http://schemas.microsoft.com/office/drawing/2014/main" val="2043646080"/>
                  </a:ext>
                </a:extLst>
              </a:tr>
              <a:tr h="345927">
                <a:tc>
                  <a:txBody>
                    <a:bodyPr/>
                    <a:lstStyle/>
                    <a:p>
                      <a:pPr marL="0" marR="0" algn="l"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Deputy Education</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algn="ctr" fontAlgn="t">
                        <a:buNone/>
                      </a:pPr>
                      <a:r>
                        <a:rPr lang="en-US" sz="1100" dirty="0">
                          <a:effectLst/>
                          <a:latin typeface="Aptos" panose="020B0004020202020204" pitchFamily="34" charset="0"/>
                        </a:rPr>
                        <a:t>2.70</a:t>
                      </a:r>
                    </a:p>
                  </a:txBody>
                  <a:tcPr marL="38100" marR="38100" marT="38100" marB="38100">
                    <a:lnL>
                      <a:noFill/>
                    </a:lnL>
                    <a:lnR>
                      <a:noFill/>
                    </a:lnR>
                    <a:lnT>
                      <a:noFill/>
                    </a:lnT>
                    <a:lnB>
                      <a:noFill/>
                    </a:lnB>
                    <a:solidFill>
                      <a:srgbClr val="F7F7F7"/>
                    </a:solidFill>
                  </a:tcPr>
                </a:tc>
                <a:tc>
                  <a:txBody>
                    <a:bodyPr/>
                    <a:lstStyle/>
                    <a:p>
                      <a:pPr algn="ctr" fontAlgn="t">
                        <a:buNone/>
                      </a:pPr>
                      <a:r>
                        <a:rPr lang="en-US" sz="1100" dirty="0">
                          <a:effectLst/>
                          <a:latin typeface="Aptos" panose="020B0004020202020204" pitchFamily="34" charset="0"/>
                        </a:rPr>
                        <a:t>2.67</a:t>
                      </a:r>
                    </a:p>
                  </a:txBody>
                  <a:tcPr marL="38100" marR="38100" marT="38100" marB="38100">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0.03</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0.07</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0.67</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extLst>
                  <a:ext uri="{0D108BD9-81ED-4DB2-BD59-A6C34878D82A}">
                    <a16:rowId xmlns:a16="http://schemas.microsoft.com/office/drawing/2014/main" val="3200725852"/>
                  </a:ext>
                </a:extLst>
              </a:tr>
              <a:tr h="345927">
                <a:tc>
                  <a:txBody>
                    <a:bodyPr/>
                    <a:lstStyle/>
                    <a:p>
                      <a:pPr marL="0" marR="0" algn="l"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Manager Education</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algn="ctr" fontAlgn="t">
                        <a:buNone/>
                      </a:pPr>
                      <a:r>
                        <a:rPr lang="en-US" sz="1100" dirty="0">
                          <a:effectLst/>
                          <a:latin typeface="Aptos" panose="020B0004020202020204" pitchFamily="34" charset="0"/>
                        </a:rPr>
                        <a:t>2.97</a:t>
                      </a:r>
                    </a:p>
                  </a:txBody>
                  <a:tcPr marL="38100" marR="38100" marT="38100" marB="38100">
                    <a:lnL>
                      <a:noFill/>
                    </a:lnL>
                    <a:lnR>
                      <a:noFill/>
                    </a:lnR>
                    <a:lnT>
                      <a:noFill/>
                    </a:lnT>
                    <a:lnB>
                      <a:noFill/>
                    </a:lnB>
                    <a:noFill/>
                  </a:tcPr>
                </a:tc>
                <a:tc>
                  <a:txBody>
                    <a:bodyPr/>
                    <a:lstStyle/>
                    <a:p>
                      <a:pPr algn="ctr" fontAlgn="t">
                        <a:buNone/>
                      </a:pPr>
                      <a:r>
                        <a:rPr lang="en-US" sz="1100" dirty="0">
                          <a:effectLst/>
                          <a:latin typeface="Aptos" panose="020B0004020202020204" pitchFamily="34" charset="0"/>
                        </a:rPr>
                        <a:t>2.81</a:t>
                      </a:r>
                    </a:p>
                  </a:txBody>
                  <a:tcPr marL="38100" marR="38100" marT="38100" marB="38100">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0.16</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0.07</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0.02</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noFill/>
                  </a:tcPr>
                </a:tc>
                <a:extLst>
                  <a:ext uri="{0D108BD9-81ED-4DB2-BD59-A6C34878D82A}">
                    <a16:rowId xmlns:a16="http://schemas.microsoft.com/office/drawing/2014/main" val="3263437281"/>
                  </a:ext>
                </a:extLst>
              </a:tr>
              <a:tr h="345927">
                <a:tc>
                  <a:txBody>
                    <a:bodyPr/>
                    <a:lstStyle/>
                    <a:p>
                      <a:pPr marL="0" marR="0" algn="l"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Business Area</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algn="ctr" fontAlgn="t">
                        <a:buNone/>
                      </a:pPr>
                      <a:r>
                        <a:rPr lang="en-US" sz="1100" dirty="0">
                          <a:effectLst/>
                          <a:latin typeface="Aptos" panose="020B0004020202020204" pitchFamily="34" charset="0"/>
                        </a:rPr>
                        <a:t>1.68</a:t>
                      </a:r>
                    </a:p>
                  </a:txBody>
                  <a:tcPr marL="38100" marR="38100" marT="38100" marB="38100">
                    <a:lnL>
                      <a:noFill/>
                    </a:lnL>
                    <a:lnR>
                      <a:noFill/>
                    </a:lnR>
                    <a:lnT>
                      <a:noFill/>
                    </a:lnT>
                    <a:lnB>
                      <a:noFill/>
                    </a:lnB>
                    <a:solidFill>
                      <a:srgbClr val="F7F7F7"/>
                    </a:solidFill>
                  </a:tcPr>
                </a:tc>
                <a:tc>
                  <a:txBody>
                    <a:bodyPr/>
                    <a:lstStyle/>
                    <a:p>
                      <a:pPr algn="ctr" fontAlgn="t">
                        <a:buNone/>
                      </a:pPr>
                      <a:r>
                        <a:rPr lang="en-US" sz="1100" dirty="0">
                          <a:effectLst/>
                          <a:latin typeface="Aptos" panose="020B0004020202020204" pitchFamily="34" charset="0"/>
                        </a:rPr>
                        <a:t>1.72</a:t>
                      </a:r>
                    </a:p>
                  </a:txBody>
                  <a:tcPr marL="38100" marR="38100" marT="38100" marB="38100">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-0.04</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0.07</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0.57</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extLst>
                  <a:ext uri="{0D108BD9-81ED-4DB2-BD59-A6C34878D82A}">
                    <a16:rowId xmlns:a16="http://schemas.microsoft.com/office/drawing/2014/main" val="1547769007"/>
                  </a:ext>
                </a:extLst>
              </a:tr>
              <a:tr h="345927">
                <a:tc>
                  <a:txBody>
                    <a:bodyPr/>
                    <a:lstStyle/>
                    <a:p>
                      <a:pPr marL="0" marR="0" algn="l"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Female Manager</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algn="ctr" fontAlgn="t">
                        <a:buNone/>
                      </a:pPr>
                      <a:r>
                        <a:rPr lang="en-US" sz="1100" dirty="0">
                          <a:effectLst/>
                          <a:latin typeface="Aptos" panose="020B0004020202020204" pitchFamily="34" charset="0"/>
                        </a:rPr>
                        <a:t>0.07</a:t>
                      </a:r>
                    </a:p>
                  </a:txBody>
                  <a:tcPr marL="38100" marR="38100" marT="38100" marB="38100">
                    <a:lnL>
                      <a:noFill/>
                    </a:lnL>
                    <a:lnR>
                      <a:noFill/>
                    </a:lnR>
                    <a:lnT>
                      <a:noFill/>
                    </a:lnT>
                    <a:lnB>
                      <a:noFill/>
                    </a:lnB>
                    <a:noFill/>
                  </a:tcPr>
                </a:tc>
                <a:tc>
                  <a:txBody>
                    <a:bodyPr/>
                    <a:lstStyle/>
                    <a:p>
                      <a:pPr algn="ctr" fontAlgn="t">
                        <a:buNone/>
                      </a:pPr>
                      <a:r>
                        <a:rPr lang="en-US" sz="1100" dirty="0">
                          <a:effectLst/>
                          <a:latin typeface="Aptos" panose="020B0004020202020204" pitchFamily="34" charset="0"/>
                        </a:rPr>
                        <a:t>0.08</a:t>
                      </a:r>
                    </a:p>
                  </a:txBody>
                  <a:tcPr marL="38100" marR="38100" marT="38100" marB="38100">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0.00</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0.56</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extLst>
                  <a:ext uri="{0D108BD9-81ED-4DB2-BD59-A6C34878D82A}">
                    <a16:rowId xmlns:a16="http://schemas.microsoft.com/office/drawing/2014/main" val="3162898623"/>
                  </a:ext>
                </a:extLst>
              </a:tr>
              <a:tr h="345927">
                <a:tc>
                  <a:txBody>
                    <a:bodyPr/>
                    <a:lstStyle/>
                    <a:p>
                      <a:pPr marL="0" marR="0" algn="l"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Foreign Owned</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algn="ctr" fontAlgn="t">
                        <a:buNone/>
                      </a:pPr>
                      <a:r>
                        <a:rPr lang="en-US" sz="1100" dirty="0">
                          <a:effectLst/>
                          <a:latin typeface="Aptos" panose="020B0004020202020204" pitchFamily="34" charset="0"/>
                        </a:rPr>
                        <a:t>0.43</a:t>
                      </a:r>
                    </a:p>
                  </a:txBody>
                  <a:tcPr marL="38100" marR="38100" marT="38100" marB="38100">
                    <a:lnL>
                      <a:noFill/>
                    </a:lnL>
                    <a:lnR>
                      <a:noFill/>
                    </a:lnR>
                    <a:lnT>
                      <a:noFill/>
                    </a:lnT>
                    <a:lnB>
                      <a:noFill/>
                    </a:lnB>
                    <a:solidFill>
                      <a:srgbClr val="F7F7F7"/>
                    </a:solidFill>
                  </a:tcPr>
                </a:tc>
                <a:tc>
                  <a:txBody>
                    <a:bodyPr/>
                    <a:lstStyle/>
                    <a:p>
                      <a:pPr algn="ctr" fontAlgn="t">
                        <a:buNone/>
                      </a:pPr>
                      <a:r>
                        <a:rPr lang="en-US" sz="1100" dirty="0">
                          <a:effectLst/>
                          <a:latin typeface="Aptos" panose="020B0004020202020204" pitchFamily="34" charset="0"/>
                        </a:rPr>
                        <a:t>0.42</a:t>
                      </a:r>
                    </a:p>
                  </a:txBody>
                  <a:tcPr marL="38100" marR="38100" marT="38100" marB="38100">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0.49</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extLst>
                  <a:ext uri="{0D108BD9-81ED-4DB2-BD59-A6C34878D82A}">
                    <a16:rowId xmlns:a16="http://schemas.microsoft.com/office/drawing/2014/main" val="162895019"/>
                  </a:ext>
                </a:extLst>
              </a:tr>
              <a:tr h="517850">
                <a:tc>
                  <a:txBody>
                    <a:bodyPr/>
                    <a:lstStyle/>
                    <a:p>
                      <a:pPr marL="0" marR="0" algn="l"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Distance from Nearest Recycling Center</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algn="ctr" fontAlgn="t">
                        <a:buNone/>
                      </a:pPr>
                      <a:r>
                        <a:rPr lang="en-US" sz="1100" dirty="0">
                          <a:effectLst/>
                          <a:latin typeface="Aptos" panose="020B0004020202020204" pitchFamily="34" charset="0"/>
                        </a:rPr>
                        <a:t>109.20</a:t>
                      </a:r>
                    </a:p>
                  </a:txBody>
                  <a:tcPr marL="38100" marR="38100" marT="38100" marB="38100">
                    <a:lnL>
                      <a:noFill/>
                    </a:lnL>
                    <a:lnR>
                      <a:noFill/>
                    </a:lnR>
                    <a:lnT>
                      <a:noFill/>
                    </a:lnT>
                    <a:lnB>
                      <a:noFill/>
                    </a:lnB>
                    <a:noFill/>
                  </a:tcPr>
                </a:tc>
                <a:tc>
                  <a:txBody>
                    <a:bodyPr/>
                    <a:lstStyle/>
                    <a:p>
                      <a:pPr algn="ctr" fontAlgn="t">
                        <a:buNone/>
                      </a:pPr>
                      <a:r>
                        <a:rPr lang="en-US" sz="1100" dirty="0">
                          <a:effectLst/>
                          <a:latin typeface="Aptos" panose="020B0004020202020204" pitchFamily="34" charset="0"/>
                        </a:rPr>
                        <a:t>106.30</a:t>
                      </a:r>
                    </a:p>
                  </a:txBody>
                  <a:tcPr marL="38100" marR="38100" marT="38100" marB="38100">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2.91</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1.13</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noFill/>
                  </a:tcPr>
                </a:tc>
                <a:extLst>
                  <a:ext uri="{0D108BD9-81ED-4DB2-BD59-A6C34878D82A}">
                    <a16:rowId xmlns:a16="http://schemas.microsoft.com/office/drawing/2014/main" val="1474753340"/>
                  </a:ext>
                </a:extLst>
              </a:tr>
              <a:tr h="345927">
                <a:tc>
                  <a:txBody>
                    <a:bodyPr/>
                    <a:lstStyle/>
                    <a:p>
                      <a:pPr marL="0" marR="0" algn="l"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Staff Size</a:t>
                      </a:r>
                      <a:endParaRPr lang="en-GB" sz="1100" b="0" i="0" u="none" strike="noStrike">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algn="ctr" fontAlgn="t">
                        <a:buNone/>
                      </a:pPr>
                      <a:r>
                        <a:rPr lang="en-US" sz="1100" dirty="0">
                          <a:effectLst/>
                          <a:latin typeface="Aptos" panose="020B0004020202020204" pitchFamily="34" charset="0"/>
                        </a:rPr>
                        <a:t>5.77</a:t>
                      </a:r>
                    </a:p>
                  </a:txBody>
                  <a:tcPr marL="38100" marR="38100" marT="38100" marB="38100">
                    <a:lnL>
                      <a:noFill/>
                    </a:lnL>
                    <a:lnR>
                      <a:noFill/>
                    </a:lnR>
                    <a:lnT>
                      <a:noFill/>
                    </a:lnT>
                    <a:lnB>
                      <a:noFill/>
                    </a:lnB>
                    <a:solidFill>
                      <a:srgbClr val="F7F7F7"/>
                    </a:solidFill>
                  </a:tcPr>
                </a:tc>
                <a:tc>
                  <a:txBody>
                    <a:bodyPr/>
                    <a:lstStyle/>
                    <a:p>
                      <a:pPr algn="ctr" fontAlgn="t">
                        <a:buNone/>
                      </a:pPr>
                      <a:r>
                        <a:rPr lang="en-US" sz="1100" dirty="0">
                          <a:effectLst/>
                          <a:latin typeface="Aptos" panose="020B0004020202020204" pitchFamily="34" charset="0"/>
                        </a:rPr>
                        <a:t>5.71</a:t>
                      </a:r>
                    </a:p>
                  </a:txBody>
                  <a:tcPr marL="38100" marR="38100" marT="38100" marB="38100">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0.06</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0.05</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0.26</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a:noFill/>
                    </a:lnB>
                    <a:solidFill>
                      <a:srgbClr val="F7F7F7"/>
                    </a:solidFill>
                  </a:tcPr>
                </a:tc>
                <a:extLst>
                  <a:ext uri="{0D108BD9-81ED-4DB2-BD59-A6C34878D82A}">
                    <a16:rowId xmlns:a16="http://schemas.microsoft.com/office/drawing/2014/main" val="696406315"/>
                  </a:ext>
                </a:extLst>
              </a:tr>
              <a:tr h="348602">
                <a:tc>
                  <a:txBody>
                    <a:bodyPr/>
                    <a:lstStyle/>
                    <a:p>
                      <a:pPr marL="0" marR="0" algn="l" fontAlgn="ctr">
                        <a:lnSpc>
                          <a:spcPct val="107000"/>
                        </a:lnSpc>
                        <a:spcBef>
                          <a:spcPts val="500"/>
                        </a:spcBef>
                        <a:spcAft>
                          <a:spcPts val="500"/>
                        </a:spcAft>
                        <a:buNone/>
                      </a:pPr>
                      <a:r>
                        <a:rPr lang="en-GB" sz="1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Water Treatment System</a:t>
                      </a:r>
                      <a:endParaRPr lang="en-GB" sz="1100" b="0" i="0" u="none" strike="noStrike">
                        <a:effectLst/>
                        <a:latin typeface="Arial" panose="020B0604020202020204" pitchFamily="34" charset="0"/>
                      </a:endParaRPr>
                    </a:p>
                  </a:txBody>
                  <a:tcPr marL="10715" marR="10715" marT="1071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algn="ctr" fontAlgn="t">
                        <a:buNone/>
                      </a:pPr>
                      <a:r>
                        <a:rPr lang="en-US" sz="1100" dirty="0">
                          <a:effectLst/>
                          <a:latin typeface="Aptos" panose="020B0004020202020204" pitchFamily="34" charset="0"/>
                        </a:rPr>
                        <a:t>0.57</a:t>
                      </a:r>
                    </a:p>
                  </a:txBody>
                  <a:tcPr marL="38100" marR="38100" marT="38100" marB="38100">
                    <a:lnL>
                      <a:noFill/>
                    </a:lnL>
                    <a:lnR>
                      <a:noFill/>
                    </a:lnR>
                    <a:lnT>
                      <a:noFill/>
                    </a:lnT>
                    <a:lnB w="19050" cap="flat" cmpd="sng" algn="ctr">
                      <a:solidFill>
                        <a:srgbClr val="666666"/>
                      </a:solidFill>
                      <a:prstDash val="solid"/>
                      <a:round/>
                      <a:headEnd type="none" w="med" len="med"/>
                      <a:tailEnd type="none" w="med" len="med"/>
                    </a:lnB>
                    <a:noFill/>
                  </a:tcPr>
                </a:tc>
                <a:tc>
                  <a:txBody>
                    <a:bodyPr/>
                    <a:lstStyle/>
                    <a:p>
                      <a:pPr algn="ctr" fontAlgn="t">
                        <a:buNone/>
                      </a:pPr>
                      <a:r>
                        <a:rPr lang="en-US" sz="1100" dirty="0">
                          <a:effectLst/>
                          <a:latin typeface="Aptos" panose="020B0004020202020204" pitchFamily="34" charset="0"/>
                        </a:rPr>
                        <a:t>0.56</a:t>
                      </a:r>
                    </a:p>
                  </a:txBody>
                  <a:tcPr marL="38100" marR="38100" marT="38100" marB="38100">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0.01</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lnSpc>
                          <a:spcPct val="107000"/>
                        </a:lnSpc>
                        <a:spcBef>
                          <a:spcPts val="500"/>
                        </a:spcBef>
                        <a:spcAft>
                          <a:spcPts val="500"/>
                        </a:spcAft>
                        <a:buNone/>
                      </a:pPr>
                      <a:r>
                        <a:rPr lang="en-GB" sz="1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0.26</a:t>
                      </a:r>
                      <a:endParaRPr lang="en-GB" sz="1100" b="0" i="0" u="none" strike="noStrike" dirty="0">
                        <a:effectLst/>
                        <a:latin typeface="Arial" panose="020B0604020202020204" pitchFamily="34" charset="0"/>
                      </a:endParaRPr>
                    </a:p>
                  </a:txBody>
                  <a:tcPr marL="10715" marR="10715" marT="10715"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420223499"/>
                  </a:ext>
                </a:extLst>
              </a:tr>
            </a:tbl>
          </a:graphicData>
        </a:graphic>
      </p:graphicFrame>
    </p:spTree>
    <p:extLst>
      <p:ext uri="{BB962C8B-B14F-4D97-AF65-F5344CB8AC3E}">
        <p14:creationId xmlns:p14="http://schemas.microsoft.com/office/powerpoint/2010/main" val="54679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CC2C9F-8297-9D68-8FB3-AB8F715F94A6}"/>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8DA99257-6429-A716-C36A-CF105F97AC71}"/>
              </a:ext>
            </a:extLst>
          </p:cNvPr>
          <p:cNvSpPr>
            <a:spLocks noGrp="1"/>
          </p:cNvSpPr>
          <p:nvPr>
            <p:ph type="body" sz="quarter" idx="18"/>
          </p:nvPr>
        </p:nvSpPr>
        <p:spPr/>
        <p:txBody>
          <a:bodyPr/>
          <a:lstStyle/>
          <a:p>
            <a:r>
              <a:rPr lang="en-US" dirty="0"/>
              <a:t>Randomization</a:t>
            </a:r>
          </a:p>
        </p:txBody>
      </p:sp>
      <p:pic>
        <p:nvPicPr>
          <p:cNvPr id="7" name="Picture 6">
            <a:extLst>
              <a:ext uri="{FF2B5EF4-FFF2-40B4-BE49-F238E27FC236}">
                <a16:creationId xmlns:a16="http://schemas.microsoft.com/office/drawing/2014/main" id="{DB306399-14CC-69C4-B90F-808EAD8F7676}"/>
              </a:ext>
            </a:extLst>
          </p:cNvPr>
          <p:cNvPicPr>
            <a:picLocks noChangeAspect="1"/>
          </p:cNvPicPr>
          <p:nvPr/>
        </p:nvPicPr>
        <p:blipFill>
          <a:blip r:embed="rId2"/>
          <a:stretch>
            <a:fillRect/>
          </a:stretch>
        </p:blipFill>
        <p:spPr>
          <a:xfrm>
            <a:off x="5872358" y="1485900"/>
            <a:ext cx="7048336" cy="7315200"/>
          </a:xfrm>
          <a:prstGeom prst="rect">
            <a:avLst/>
          </a:prstGeom>
        </p:spPr>
      </p:pic>
    </p:spTree>
    <p:extLst>
      <p:ext uri="{BB962C8B-B14F-4D97-AF65-F5344CB8AC3E}">
        <p14:creationId xmlns:p14="http://schemas.microsoft.com/office/powerpoint/2010/main" val="2615405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A37600C-AFF1-571E-E5FE-81933C759BB5}"/>
              </a:ext>
            </a:extLst>
          </p:cNvPr>
          <p:cNvSpPr>
            <a:spLocks noGrp="1"/>
          </p:cNvSpPr>
          <p:nvPr>
            <p:ph type="body" sz="quarter" idx="18"/>
          </p:nvPr>
        </p:nvSpPr>
        <p:spPr>
          <a:xfrm>
            <a:off x="927100" y="384175"/>
            <a:ext cx="16895104" cy="782638"/>
          </a:xfrm>
        </p:spPr>
        <p:txBody>
          <a:bodyPr>
            <a:normAutofit/>
          </a:bodyPr>
          <a:lstStyle/>
          <a:p>
            <a:pPr>
              <a:lnSpc>
                <a:spcPct val="90000"/>
              </a:lnSpc>
              <a:spcAft>
                <a:spcPts val="600"/>
              </a:spcAft>
            </a:pPr>
            <a:r>
              <a:rPr lang="en-US" sz="5000"/>
              <a:t>Randomization (editable)</a:t>
            </a:r>
          </a:p>
        </p:txBody>
      </p:sp>
      <p:sp>
        <p:nvSpPr>
          <p:cNvPr id="13" name="Text Placeholder 2">
            <a:extLst>
              <a:ext uri="{FF2B5EF4-FFF2-40B4-BE49-F238E27FC236}">
                <a16:creationId xmlns:a16="http://schemas.microsoft.com/office/drawing/2014/main" id="{8957F854-1FAC-E2A4-39E1-EEBB880F8F15}"/>
              </a:ext>
            </a:extLst>
          </p:cNvPr>
          <p:cNvSpPr>
            <a:spLocks noGrp="1"/>
          </p:cNvSpPr>
          <p:nvPr>
            <p:ph type="body" sz="quarter" idx="21"/>
          </p:nvPr>
        </p:nvSpPr>
        <p:spPr>
          <a:xfrm>
            <a:off x="927100" y="9515874"/>
            <a:ext cx="16895102" cy="612404"/>
          </a:xfrm>
        </p:spPr>
        <p:txBody>
          <a:bodyPr/>
          <a:lstStyle/>
          <a:p>
            <a:endParaRPr lang="en-US"/>
          </a:p>
        </p:txBody>
      </p:sp>
      <p:graphicFrame>
        <p:nvGraphicFramePr>
          <p:cNvPr id="8" name="Content Placeholder 7">
            <a:extLst>
              <a:ext uri="{FF2B5EF4-FFF2-40B4-BE49-F238E27FC236}">
                <a16:creationId xmlns:a16="http://schemas.microsoft.com/office/drawing/2014/main" id="{5FB1B1BC-B44D-4FA8-D577-780B4720E3DD}"/>
              </a:ext>
            </a:extLst>
          </p:cNvPr>
          <p:cNvGraphicFramePr>
            <a:graphicFrameLocks noGrp="1"/>
          </p:cNvGraphicFramePr>
          <p:nvPr>
            <p:ph sz="quarter" idx="23"/>
            <p:extLst>
              <p:ext uri="{D42A27DB-BD31-4B8C-83A1-F6EECF244321}">
                <p14:modId xmlns:p14="http://schemas.microsoft.com/office/powerpoint/2010/main" val="561364724"/>
              </p:ext>
            </p:extLst>
          </p:nvPr>
        </p:nvGraphicFramePr>
        <p:xfrm>
          <a:off x="5216963" y="2574188"/>
          <a:ext cx="8315376" cy="5534310"/>
        </p:xfrm>
        <a:graphic>
          <a:graphicData uri="http://schemas.openxmlformats.org/drawingml/2006/table">
            <a:tbl>
              <a:tblPr firstRow="1" bandRow="1"/>
              <a:tblGrid>
                <a:gridCol w="4032583">
                  <a:extLst>
                    <a:ext uri="{9D8B030D-6E8A-4147-A177-3AD203B41FA5}">
                      <a16:colId xmlns:a16="http://schemas.microsoft.com/office/drawing/2014/main" val="3959208604"/>
                    </a:ext>
                  </a:extLst>
                </a:gridCol>
                <a:gridCol w="4282793">
                  <a:extLst>
                    <a:ext uri="{9D8B030D-6E8A-4147-A177-3AD203B41FA5}">
                      <a16:colId xmlns:a16="http://schemas.microsoft.com/office/drawing/2014/main" val="3468195771"/>
                    </a:ext>
                  </a:extLst>
                </a:gridCol>
              </a:tblGrid>
              <a:tr h="634192">
                <a:tc>
                  <a:txBody>
                    <a:bodyPr/>
                    <a:lstStyle/>
                    <a:p>
                      <a:pPr marL="0" marR="0" algn="l" fontAlgn="ctr">
                        <a:lnSpc>
                          <a:spcPct val="107000"/>
                        </a:lnSpc>
                        <a:spcBef>
                          <a:spcPts val="500"/>
                        </a:spcBef>
                        <a:spcAft>
                          <a:spcPts val="500"/>
                        </a:spcAft>
                        <a:buNone/>
                      </a:pPr>
                      <a:r>
                        <a:rPr lang="en-US" sz="3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 </a:t>
                      </a:r>
                      <a:endParaRPr lang="en-US" sz="5100" b="0" i="0" u="none" strike="noStrike" dirty="0">
                        <a:effectLst/>
                        <a:latin typeface="Arial" panose="020B0604020202020204" pitchFamily="34" charset="0"/>
                      </a:endParaRPr>
                    </a:p>
                  </a:txBody>
                  <a:tcPr marL="26789" marR="26789" marT="26789"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l" fontAlgn="ctr">
                        <a:lnSpc>
                          <a:spcPct val="107000"/>
                        </a:lnSpc>
                        <a:spcBef>
                          <a:spcPts val="500"/>
                        </a:spcBef>
                        <a:spcAft>
                          <a:spcPts val="500"/>
                        </a:spcAft>
                        <a:buNone/>
                      </a:pPr>
                      <a:r>
                        <a:rPr lang="en-GB" sz="3100" b="1"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RCT</a:t>
                      </a:r>
                      <a:endParaRPr lang="en-GB" sz="5100" b="1" i="0" u="none" strike="noStrike" dirty="0">
                        <a:effectLst/>
                        <a:latin typeface="Arial" panose="020B0604020202020204" pitchFamily="34" charset="0"/>
                      </a:endParaRPr>
                    </a:p>
                  </a:txBody>
                  <a:tcPr marL="26789" marR="26789" marT="26789"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981680684"/>
                  </a:ext>
                </a:extLst>
              </a:tr>
              <a:tr h="634192">
                <a:tc>
                  <a:txBody>
                    <a:bodyPr/>
                    <a:lstStyle/>
                    <a:p>
                      <a:pPr marL="0" marR="0" algn="l" fontAlgn="ctr">
                        <a:lnSpc>
                          <a:spcPct val="107000"/>
                        </a:lnSpc>
                        <a:spcBef>
                          <a:spcPts val="500"/>
                        </a:spcBef>
                        <a:spcAft>
                          <a:spcPts val="500"/>
                        </a:spcAft>
                        <a:buNone/>
                      </a:pPr>
                      <a:r>
                        <a:rPr lang="en-GB" sz="3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RCT Effect</a:t>
                      </a:r>
                      <a:endParaRPr lang="en-GB" sz="5100" b="0" i="0" u="none" strike="noStrike">
                        <a:effectLst/>
                        <a:latin typeface="Arial" panose="020B0604020202020204" pitchFamily="34" charset="0"/>
                      </a:endParaRPr>
                    </a:p>
                  </a:txBody>
                  <a:tcPr marL="26789" marR="26789" marT="26789"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l" fontAlgn="ctr">
                        <a:lnSpc>
                          <a:spcPct val="107000"/>
                        </a:lnSpc>
                        <a:spcBef>
                          <a:spcPts val="500"/>
                        </a:spcBef>
                        <a:spcAft>
                          <a:spcPts val="500"/>
                        </a:spcAft>
                        <a:buNone/>
                      </a:pPr>
                      <a:r>
                        <a:rPr lang="en-GB" sz="3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-1014.08***</a:t>
                      </a:r>
                      <a:endParaRPr lang="en-GB" sz="5100" b="0" i="0" u="none" strike="noStrike" dirty="0">
                        <a:effectLst/>
                        <a:latin typeface="Arial" panose="020B0604020202020204" pitchFamily="34" charset="0"/>
                      </a:endParaRPr>
                    </a:p>
                  </a:txBody>
                  <a:tcPr marL="26789" marR="26789" marT="26789"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3623753595"/>
                  </a:ext>
                </a:extLst>
              </a:tr>
              <a:tr h="634192">
                <a:tc>
                  <a:txBody>
                    <a:bodyPr/>
                    <a:lstStyle/>
                    <a:p>
                      <a:pPr marL="0" marR="0" algn="l" fontAlgn="ctr">
                        <a:lnSpc>
                          <a:spcPct val="107000"/>
                        </a:lnSpc>
                        <a:spcBef>
                          <a:spcPts val="500"/>
                        </a:spcBef>
                        <a:spcAft>
                          <a:spcPts val="500"/>
                        </a:spcAft>
                        <a:buNone/>
                      </a:pPr>
                      <a:r>
                        <a:rPr lang="en-GB" sz="3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 </a:t>
                      </a:r>
                      <a:endParaRPr lang="en-GB" sz="5100" b="0" i="0" u="none" strike="noStrike">
                        <a:effectLst/>
                        <a:latin typeface="Arial" panose="020B0604020202020204" pitchFamily="34" charset="0"/>
                      </a:endParaRPr>
                    </a:p>
                  </a:txBody>
                  <a:tcPr marL="26789" marR="26789" marT="26789" marB="0" anchor="ctr">
                    <a:lnL>
                      <a:noFill/>
                    </a:lnL>
                    <a:lnR>
                      <a:noFill/>
                    </a:lnR>
                    <a:lnT>
                      <a:noFill/>
                    </a:lnT>
                    <a:lnB>
                      <a:noFill/>
                    </a:lnB>
                    <a:noFill/>
                  </a:tcPr>
                </a:tc>
                <a:tc>
                  <a:txBody>
                    <a:bodyPr/>
                    <a:lstStyle/>
                    <a:p>
                      <a:pPr marL="0" marR="0" algn="l" fontAlgn="ctr">
                        <a:lnSpc>
                          <a:spcPct val="107000"/>
                        </a:lnSpc>
                        <a:spcBef>
                          <a:spcPts val="500"/>
                        </a:spcBef>
                        <a:spcAft>
                          <a:spcPts val="500"/>
                        </a:spcAft>
                        <a:buNone/>
                      </a:pPr>
                      <a:r>
                        <a:rPr lang="en-GB" sz="3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(39.89)</a:t>
                      </a:r>
                      <a:endParaRPr lang="en-GB" sz="5100" b="0" i="0" u="none" strike="noStrike">
                        <a:effectLst/>
                        <a:latin typeface="Arial" panose="020B0604020202020204" pitchFamily="34" charset="0"/>
                      </a:endParaRPr>
                    </a:p>
                  </a:txBody>
                  <a:tcPr marL="26789" marR="26789" marT="26789" marB="0" anchor="ctr">
                    <a:lnL>
                      <a:noFill/>
                    </a:lnL>
                    <a:lnR>
                      <a:noFill/>
                    </a:lnR>
                    <a:lnT>
                      <a:noFill/>
                    </a:lnT>
                    <a:lnB>
                      <a:noFill/>
                    </a:lnB>
                    <a:noFill/>
                  </a:tcPr>
                </a:tc>
                <a:extLst>
                  <a:ext uri="{0D108BD9-81ED-4DB2-BD59-A6C34878D82A}">
                    <a16:rowId xmlns:a16="http://schemas.microsoft.com/office/drawing/2014/main" val="652783842"/>
                  </a:ext>
                </a:extLst>
              </a:tr>
              <a:tr h="634192">
                <a:tc>
                  <a:txBody>
                    <a:bodyPr/>
                    <a:lstStyle/>
                    <a:p>
                      <a:pPr marL="0" marR="0" algn="l" fontAlgn="ctr">
                        <a:lnSpc>
                          <a:spcPct val="107000"/>
                        </a:lnSpc>
                        <a:spcBef>
                          <a:spcPts val="500"/>
                        </a:spcBef>
                        <a:spcAft>
                          <a:spcPts val="500"/>
                        </a:spcAft>
                        <a:buNone/>
                      </a:pPr>
                      <a:r>
                        <a:rPr lang="en-GB" sz="3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(Intercept)</a:t>
                      </a:r>
                      <a:endParaRPr lang="en-GB" sz="5100" b="0" i="0" u="none" strike="noStrike">
                        <a:effectLst/>
                        <a:latin typeface="Arial" panose="020B0604020202020204" pitchFamily="34" charset="0"/>
                      </a:endParaRPr>
                    </a:p>
                  </a:txBody>
                  <a:tcPr marL="26789" marR="26789" marT="26789" marB="0" anchor="ctr">
                    <a:lnL>
                      <a:noFill/>
                    </a:lnL>
                    <a:lnR>
                      <a:noFill/>
                    </a:lnR>
                    <a:lnT>
                      <a:noFill/>
                    </a:lnT>
                    <a:lnB>
                      <a:noFill/>
                    </a:lnB>
                    <a:noFill/>
                  </a:tcPr>
                </a:tc>
                <a:tc>
                  <a:txBody>
                    <a:bodyPr/>
                    <a:lstStyle/>
                    <a:p>
                      <a:pPr marL="0" marR="0" algn="l" fontAlgn="ctr">
                        <a:lnSpc>
                          <a:spcPct val="107000"/>
                        </a:lnSpc>
                        <a:spcBef>
                          <a:spcPts val="500"/>
                        </a:spcBef>
                        <a:spcAft>
                          <a:spcPts val="500"/>
                        </a:spcAft>
                        <a:buNone/>
                      </a:pPr>
                      <a:r>
                        <a:rPr lang="en-GB" sz="3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1798.06***</a:t>
                      </a:r>
                      <a:endParaRPr lang="en-GB" sz="5100" b="0" i="0" u="none" strike="noStrike">
                        <a:effectLst/>
                        <a:latin typeface="Arial" panose="020B0604020202020204" pitchFamily="34" charset="0"/>
                      </a:endParaRPr>
                    </a:p>
                  </a:txBody>
                  <a:tcPr marL="26789" marR="26789" marT="26789" marB="0" anchor="ctr">
                    <a:lnL>
                      <a:noFill/>
                    </a:lnL>
                    <a:lnR>
                      <a:noFill/>
                    </a:lnR>
                    <a:lnT>
                      <a:noFill/>
                    </a:lnT>
                    <a:lnB>
                      <a:noFill/>
                    </a:lnB>
                    <a:noFill/>
                  </a:tcPr>
                </a:tc>
                <a:extLst>
                  <a:ext uri="{0D108BD9-81ED-4DB2-BD59-A6C34878D82A}">
                    <a16:rowId xmlns:a16="http://schemas.microsoft.com/office/drawing/2014/main" val="4120866673"/>
                  </a:ext>
                </a:extLst>
              </a:tr>
              <a:tr h="634192">
                <a:tc>
                  <a:txBody>
                    <a:bodyPr/>
                    <a:lstStyle/>
                    <a:p>
                      <a:pPr marL="0" marR="0" algn="l" fontAlgn="ctr">
                        <a:lnSpc>
                          <a:spcPct val="107000"/>
                        </a:lnSpc>
                        <a:spcBef>
                          <a:spcPts val="500"/>
                        </a:spcBef>
                        <a:spcAft>
                          <a:spcPts val="500"/>
                        </a:spcAft>
                        <a:buNone/>
                      </a:pPr>
                      <a:r>
                        <a:rPr lang="en-GB" sz="3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 </a:t>
                      </a:r>
                      <a:endParaRPr lang="en-GB" sz="5100" b="0" i="0" u="none" strike="noStrike">
                        <a:effectLst/>
                        <a:latin typeface="Arial" panose="020B0604020202020204" pitchFamily="34" charset="0"/>
                      </a:endParaRPr>
                    </a:p>
                  </a:txBody>
                  <a:tcPr marL="26789" marR="26789" marT="26789" marB="0" anchor="ctr">
                    <a:lnL>
                      <a:noFill/>
                    </a:lnL>
                    <a:lnR>
                      <a:noFill/>
                    </a:lnR>
                    <a:lnT>
                      <a:noFill/>
                    </a:lnT>
                    <a:lnB>
                      <a:noFill/>
                    </a:lnB>
                    <a:noFill/>
                  </a:tcPr>
                </a:tc>
                <a:tc>
                  <a:txBody>
                    <a:bodyPr/>
                    <a:lstStyle/>
                    <a:p>
                      <a:pPr marL="0" marR="0" algn="l" fontAlgn="ctr">
                        <a:lnSpc>
                          <a:spcPct val="107000"/>
                        </a:lnSpc>
                        <a:spcBef>
                          <a:spcPts val="500"/>
                        </a:spcBef>
                        <a:spcAft>
                          <a:spcPts val="500"/>
                        </a:spcAft>
                        <a:buNone/>
                      </a:pPr>
                      <a:r>
                        <a:rPr lang="en-GB" sz="3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(30.91)</a:t>
                      </a:r>
                      <a:endParaRPr lang="en-GB" sz="5100" b="0" i="0" u="none" strike="noStrike">
                        <a:effectLst/>
                        <a:latin typeface="Arial" panose="020B0604020202020204" pitchFamily="34" charset="0"/>
                      </a:endParaRPr>
                    </a:p>
                  </a:txBody>
                  <a:tcPr marL="26789" marR="26789" marT="26789" marB="0" anchor="ctr">
                    <a:lnL>
                      <a:noFill/>
                    </a:lnL>
                    <a:lnR>
                      <a:noFill/>
                    </a:lnR>
                    <a:lnT>
                      <a:noFill/>
                    </a:lnT>
                    <a:lnB>
                      <a:noFill/>
                    </a:lnB>
                    <a:noFill/>
                  </a:tcPr>
                </a:tc>
                <a:extLst>
                  <a:ext uri="{0D108BD9-81ED-4DB2-BD59-A6C34878D82A}">
                    <a16:rowId xmlns:a16="http://schemas.microsoft.com/office/drawing/2014/main" val="1117480215"/>
                  </a:ext>
                </a:extLst>
              </a:tr>
              <a:tr h="634192">
                <a:tc>
                  <a:txBody>
                    <a:bodyPr/>
                    <a:lstStyle/>
                    <a:p>
                      <a:pPr marL="0" marR="0" algn="l" fontAlgn="ctr">
                        <a:lnSpc>
                          <a:spcPct val="107000"/>
                        </a:lnSpc>
                        <a:spcBef>
                          <a:spcPts val="500"/>
                        </a:spcBef>
                        <a:spcAft>
                          <a:spcPts val="500"/>
                        </a:spcAft>
                        <a:buNone/>
                      </a:pPr>
                      <a:r>
                        <a:rPr lang="en-GB" sz="3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Num.Obs.</a:t>
                      </a:r>
                      <a:endParaRPr lang="en-GB" sz="5100" b="0" i="0" u="none" strike="noStrike">
                        <a:effectLst/>
                        <a:latin typeface="Arial" panose="020B0604020202020204" pitchFamily="34" charset="0"/>
                      </a:endParaRPr>
                    </a:p>
                  </a:txBody>
                  <a:tcPr marL="26789" marR="26789" marT="26789"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l" fontAlgn="ctr">
                        <a:lnSpc>
                          <a:spcPct val="107000"/>
                        </a:lnSpc>
                        <a:spcBef>
                          <a:spcPts val="500"/>
                        </a:spcBef>
                        <a:spcAft>
                          <a:spcPts val="500"/>
                        </a:spcAft>
                        <a:buNone/>
                      </a:pPr>
                      <a:r>
                        <a:rPr lang="en-GB" sz="3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5628</a:t>
                      </a:r>
                      <a:endParaRPr lang="en-GB" sz="5100" b="0" i="0" u="none" strike="noStrike" dirty="0">
                        <a:effectLst/>
                        <a:latin typeface="Arial" panose="020B0604020202020204" pitchFamily="34" charset="0"/>
                      </a:endParaRPr>
                    </a:p>
                  </a:txBody>
                  <a:tcPr marL="26789" marR="26789" marT="26789"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768603995"/>
                  </a:ext>
                </a:extLst>
              </a:tr>
              <a:tr h="864579">
                <a:tc gridSpan="2">
                  <a:txBody>
                    <a:bodyPr/>
                    <a:lstStyle/>
                    <a:p>
                      <a:pPr marL="0" marR="0" algn="l" fontAlgn="ctr">
                        <a:lnSpc>
                          <a:spcPct val="107000"/>
                        </a:lnSpc>
                        <a:spcBef>
                          <a:spcPts val="500"/>
                        </a:spcBef>
                        <a:spcAft>
                          <a:spcPts val="500"/>
                        </a:spcAft>
                        <a:buNone/>
                      </a:pPr>
                      <a:r>
                        <a:rPr lang="en-GB" sz="3100" b="0" i="0" u="none" strike="noStrike" kern="100">
                          <a:solidFill>
                            <a:srgbClr val="000000"/>
                          </a:solidFill>
                          <a:effectLst/>
                          <a:latin typeface="Aptos" panose="020B0004020202020204" pitchFamily="34" charset="0"/>
                          <a:ea typeface="Arial" panose="020B0604020202020204" pitchFamily="34" charset="0"/>
                          <a:cs typeface="Arial" panose="020B0604020202020204" pitchFamily="34" charset="0"/>
                        </a:rPr>
                        <a:t>+ p &lt; 0.1, * p &lt; 0.05, ** p &lt; 0.01, *** p &lt; 0.001</a:t>
                      </a:r>
                      <a:endParaRPr lang="en-GB" sz="5100" b="0" i="0" u="none" strike="noStrike">
                        <a:effectLst/>
                        <a:latin typeface="Arial" panose="020B0604020202020204" pitchFamily="34" charset="0"/>
                      </a:endParaRPr>
                    </a:p>
                  </a:txBody>
                  <a:tcPr marL="257177" marR="257177" marT="128588" marB="128588">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3806916023"/>
                  </a:ext>
                </a:extLst>
              </a:tr>
              <a:tr h="864579">
                <a:tc gridSpan="2">
                  <a:txBody>
                    <a:bodyPr/>
                    <a:lstStyle/>
                    <a:p>
                      <a:pPr marL="0" marR="0" algn="l" fontAlgn="ctr">
                        <a:lnSpc>
                          <a:spcPct val="107000"/>
                        </a:lnSpc>
                        <a:spcBef>
                          <a:spcPts val="500"/>
                        </a:spcBef>
                        <a:spcAft>
                          <a:spcPts val="500"/>
                        </a:spcAft>
                        <a:buNone/>
                      </a:pPr>
                      <a:r>
                        <a:rPr lang="en-GB" sz="3100" b="0" i="0" u="none" strike="noStrike" kern="100" dirty="0">
                          <a:solidFill>
                            <a:srgbClr val="000000"/>
                          </a:solidFill>
                          <a:effectLst/>
                          <a:latin typeface="Aptos" panose="020B0004020202020204" pitchFamily="34" charset="0"/>
                          <a:ea typeface="Arial" panose="020B0604020202020204" pitchFamily="34" charset="0"/>
                          <a:cs typeface="Arial" panose="020B0604020202020204" pitchFamily="34" charset="0"/>
                        </a:rPr>
                        <a:t>Standard errors are in parentheses</a:t>
                      </a:r>
                      <a:endParaRPr lang="en-GB" sz="5100" b="0" i="0" u="none" strike="noStrike" dirty="0">
                        <a:effectLst/>
                        <a:latin typeface="Arial" panose="020B0604020202020204" pitchFamily="34" charset="0"/>
                      </a:endParaRPr>
                    </a:p>
                  </a:txBody>
                  <a:tcPr marL="257177" marR="257177" marT="128588" marB="128588">
                    <a:lnL>
                      <a:noFill/>
                    </a:lnL>
                    <a:lnR>
                      <a:noFill/>
                    </a:lnR>
                    <a:lnT>
                      <a:noFill/>
                    </a:lnT>
                    <a:lnB>
                      <a:noFill/>
                    </a:lnB>
                    <a:noFill/>
                  </a:tcPr>
                </a:tc>
                <a:tc hMerge="1">
                  <a:txBody>
                    <a:bodyPr/>
                    <a:lstStyle/>
                    <a:p>
                      <a:endParaRPr lang="en-US"/>
                    </a:p>
                  </a:txBody>
                  <a:tcPr/>
                </a:tc>
                <a:extLst>
                  <a:ext uri="{0D108BD9-81ED-4DB2-BD59-A6C34878D82A}">
                    <a16:rowId xmlns:a16="http://schemas.microsoft.com/office/drawing/2014/main" val="685689831"/>
                  </a:ext>
                </a:extLst>
              </a:tr>
            </a:tbl>
          </a:graphicData>
        </a:graphic>
      </p:graphicFrame>
    </p:spTree>
    <p:extLst>
      <p:ext uri="{BB962C8B-B14F-4D97-AF65-F5344CB8AC3E}">
        <p14:creationId xmlns:p14="http://schemas.microsoft.com/office/powerpoint/2010/main" val="3035209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319F4-7047-AF02-AD7F-3360352E7EF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13765F7-E610-E8E8-C338-5CF1FEDE6FAB}"/>
              </a:ext>
            </a:extLst>
          </p:cNvPr>
          <p:cNvSpPr>
            <a:spLocks noGrp="1"/>
          </p:cNvSpPr>
          <p:nvPr>
            <p:ph type="body" sz="quarter" idx="19"/>
          </p:nvPr>
        </p:nvSpPr>
        <p:spPr/>
        <p:txBody>
          <a:bodyPr/>
          <a:lstStyle/>
          <a:p>
            <a:r>
              <a:rPr lang="en-US" dirty="0"/>
              <a:t>Instrumental Variables (IV)</a:t>
            </a:r>
          </a:p>
        </p:txBody>
      </p:sp>
      <p:sp>
        <p:nvSpPr>
          <p:cNvPr id="3" name="Text Placeholder 2">
            <a:extLst>
              <a:ext uri="{FF2B5EF4-FFF2-40B4-BE49-F238E27FC236}">
                <a16:creationId xmlns:a16="http://schemas.microsoft.com/office/drawing/2014/main" id="{93D1FB59-30E4-20F2-84BE-33DBBB3D8073}"/>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23103606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2A95A-997B-0525-297D-37AC752F6E92}"/>
            </a:ext>
          </a:extLst>
        </p:cNvPr>
        <p:cNvGrpSpPr/>
        <p:nvPr/>
      </p:nvGrpSpPr>
      <p:grpSpPr>
        <a:xfrm>
          <a:off x="0" y="0"/>
          <a:ext cx="0" cy="0"/>
          <a:chOff x="0" y="0"/>
          <a:chExt cx="0" cy="0"/>
        </a:xfrm>
      </p:grpSpPr>
      <p:sp>
        <p:nvSpPr>
          <p:cNvPr id="51" name="Rectangle 50">
            <a:extLst>
              <a:ext uri="{FF2B5EF4-FFF2-40B4-BE49-F238E27FC236}">
                <a16:creationId xmlns:a16="http://schemas.microsoft.com/office/drawing/2014/main" id="{E4FBEDCF-AEAF-64DA-51A0-CCFA1F391D4C}"/>
              </a:ext>
            </a:extLst>
          </p:cNvPr>
          <p:cNvSpPr/>
          <p:nvPr/>
        </p:nvSpPr>
        <p:spPr>
          <a:xfrm>
            <a:off x="1781862" y="5486553"/>
            <a:ext cx="1186994" cy="126735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45D09DFD-C59D-6EA7-52D7-38168200439F}"/>
              </a:ext>
            </a:extLst>
          </p:cNvPr>
          <p:cNvSpPr/>
          <p:nvPr/>
        </p:nvSpPr>
        <p:spPr>
          <a:xfrm>
            <a:off x="1780039" y="3004685"/>
            <a:ext cx="1186994" cy="126735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6">
            <a:extLst>
              <a:ext uri="{FF2B5EF4-FFF2-40B4-BE49-F238E27FC236}">
                <a16:creationId xmlns:a16="http://schemas.microsoft.com/office/drawing/2014/main" id="{EC48F83B-A65D-FA48-71A2-23B918506676}"/>
              </a:ext>
            </a:extLst>
          </p:cNvPr>
          <p:cNvPicPr>
            <a:picLocks noChangeAspect="1"/>
          </p:cNvPicPr>
          <p:nvPr/>
        </p:nvPicPr>
        <p:blipFill>
          <a:blip r:embed="rId3"/>
          <a:srcRect l="15396" t="10862" r="75065" b="80397"/>
          <a:stretch>
            <a:fillRect/>
          </a:stretch>
        </p:blipFill>
        <p:spPr>
          <a:xfrm>
            <a:off x="7212863" y="2828700"/>
            <a:ext cx="4317641" cy="3956383"/>
          </a:xfrm>
          <a:prstGeom prst="rect">
            <a:avLst/>
          </a:prstGeom>
        </p:spPr>
      </p:pic>
      <p:sp>
        <p:nvSpPr>
          <p:cNvPr id="2" name="Text Placeholder 1">
            <a:extLst>
              <a:ext uri="{FF2B5EF4-FFF2-40B4-BE49-F238E27FC236}">
                <a16:creationId xmlns:a16="http://schemas.microsoft.com/office/drawing/2014/main" id="{81E6190B-D09A-E5BE-D574-7C0BBAE0A432}"/>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A986FE56-98B6-2544-836E-4C98D286C5B9}"/>
              </a:ext>
            </a:extLst>
          </p:cNvPr>
          <p:cNvSpPr>
            <a:spLocks noGrp="1"/>
          </p:cNvSpPr>
          <p:nvPr>
            <p:ph type="body" sz="quarter" idx="18"/>
          </p:nvPr>
        </p:nvSpPr>
        <p:spPr/>
        <p:txBody>
          <a:bodyPr/>
          <a:lstStyle/>
          <a:p>
            <a:r>
              <a:rPr lang="en-US" sz="4500" dirty="0"/>
              <a:t>Eligible businesses in treatment neighborhoods can choose whether to enroll (imperfect compliance)</a:t>
            </a:r>
          </a:p>
        </p:txBody>
      </p:sp>
      <p:pic>
        <p:nvPicPr>
          <p:cNvPr id="20" name="Graphic 19" descr="City outline">
            <a:extLst>
              <a:ext uri="{FF2B5EF4-FFF2-40B4-BE49-F238E27FC236}">
                <a16:creationId xmlns:a16="http://schemas.microsoft.com/office/drawing/2014/main" id="{6DF7601B-0FAC-883B-8A7F-49167E2008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28384" y="4043559"/>
            <a:ext cx="1001337" cy="1001337"/>
          </a:xfrm>
          <a:prstGeom prst="rect">
            <a:avLst/>
          </a:prstGeom>
        </p:spPr>
      </p:pic>
      <p:pic>
        <p:nvPicPr>
          <p:cNvPr id="21" name="Graphic 20" descr="City outline">
            <a:extLst>
              <a:ext uri="{FF2B5EF4-FFF2-40B4-BE49-F238E27FC236}">
                <a16:creationId xmlns:a16="http://schemas.microsoft.com/office/drawing/2014/main" id="{DC6027A4-D219-34BE-31AC-92D1F2116666}"/>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9506062" y="3249010"/>
            <a:ext cx="1001337" cy="1001337"/>
          </a:xfrm>
          <a:prstGeom prst="rect">
            <a:avLst/>
          </a:prstGeom>
        </p:spPr>
      </p:pic>
      <p:pic>
        <p:nvPicPr>
          <p:cNvPr id="22" name="Graphic 21" descr="City outline">
            <a:extLst>
              <a:ext uri="{FF2B5EF4-FFF2-40B4-BE49-F238E27FC236}">
                <a16:creationId xmlns:a16="http://schemas.microsoft.com/office/drawing/2014/main" id="{8C659863-355E-6F95-78F9-B4C1B16C01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35452" y="4279048"/>
            <a:ext cx="1001337" cy="1001337"/>
          </a:xfrm>
          <a:prstGeom prst="rect">
            <a:avLst/>
          </a:prstGeom>
        </p:spPr>
      </p:pic>
      <p:pic>
        <p:nvPicPr>
          <p:cNvPr id="23" name="Graphic 22" descr="City outline">
            <a:extLst>
              <a:ext uri="{FF2B5EF4-FFF2-40B4-BE49-F238E27FC236}">
                <a16:creationId xmlns:a16="http://schemas.microsoft.com/office/drawing/2014/main" id="{7B37A1B5-91B2-7E8A-EA37-0C7E338B35D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62728" y="3091589"/>
            <a:ext cx="1001337" cy="1001337"/>
          </a:xfrm>
          <a:prstGeom prst="rect">
            <a:avLst/>
          </a:prstGeom>
        </p:spPr>
      </p:pic>
      <p:pic>
        <p:nvPicPr>
          <p:cNvPr id="24" name="Graphic 23" descr="City outline">
            <a:extLst>
              <a:ext uri="{FF2B5EF4-FFF2-40B4-BE49-F238E27FC236}">
                <a16:creationId xmlns:a16="http://schemas.microsoft.com/office/drawing/2014/main" id="{29EE1AD1-0A22-6971-C0F9-21862FE179A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70605" y="4977695"/>
            <a:ext cx="1001337" cy="1001337"/>
          </a:xfrm>
          <a:prstGeom prst="rect">
            <a:avLst/>
          </a:prstGeom>
        </p:spPr>
      </p:pic>
      <p:sp>
        <p:nvSpPr>
          <p:cNvPr id="10" name="Speech Bubble: Oval 9">
            <a:extLst>
              <a:ext uri="{FF2B5EF4-FFF2-40B4-BE49-F238E27FC236}">
                <a16:creationId xmlns:a16="http://schemas.microsoft.com/office/drawing/2014/main" id="{C4BF15A7-4669-0F2A-77BE-7CE6DFCE7CA4}"/>
              </a:ext>
            </a:extLst>
          </p:cNvPr>
          <p:cNvSpPr/>
          <p:nvPr/>
        </p:nvSpPr>
        <p:spPr>
          <a:xfrm>
            <a:off x="12113421" y="2043855"/>
            <a:ext cx="5752533" cy="3164045"/>
          </a:xfrm>
          <a:prstGeom prst="wedgeEllipseCallout">
            <a:avLst>
              <a:gd name="adj1" fmla="val -75636"/>
              <a:gd name="adj2" fmla="val 37026"/>
            </a:avLst>
          </a:prstGeom>
          <a:solidFill>
            <a:srgbClr val="289CE4"/>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Building outline">
            <a:extLst>
              <a:ext uri="{FF2B5EF4-FFF2-40B4-BE49-F238E27FC236}">
                <a16:creationId xmlns:a16="http://schemas.microsoft.com/office/drawing/2014/main" id="{9EC46DBD-1B74-068C-143B-2F8147FE98E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171570" y="2889720"/>
            <a:ext cx="1113910" cy="1114207"/>
          </a:xfrm>
          <a:prstGeom prst="rect">
            <a:avLst/>
          </a:prstGeom>
        </p:spPr>
      </p:pic>
      <p:pic>
        <p:nvPicPr>
          <p:cNvPr id="11" name="Graphic 10" descr="Building outline">
            <a:extLst>
              <a:ext uri="{FF2B5EF4-FFF2-40B4-BE49-F238E27FC236}">
                <a16:creationId xmlns:a16="http://schemas.microsoft.com/office/drawing/2014/main" id="{17C1C57A-9F72-8612-7B8E-60329F9DDF3F}"/>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2967149" y="2419732"/>
            <a:ext cx="1096065" cy="1096065"/>
          </a:xfrm>
          <a:prstGeom prst="rect">
            <a:avLst/>
          </a:prstGeom>
        </p:spPr>
      </p:pic>
      <p:pic>
        <p:nvPicPr>
          <p:cNvPr id="25" name="Graphic 24" descr="Building outline">
            <a:extLst>
              <a:ext uri="{FF2B5EF4-FFF2-40B4-BE49-F238E27FC236}">
                <a16:creationId xmlns:a16="http://schemas.microsoft.com/office/drawing/2014/main" id="{27828ADB-786E-6BB7-C3A8-071EFD693711}"/>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2946600" y="3590811"/>
            <a:ext cx="1096065" cy="1096065"/>
          </a:xfrm>
          <a:prstGeom prst="rect">
            <a:avLst/>
          </a:prstGeom>
        </p:spPr>
      </p:pic>
      <p:pic>
        <p:nvPicPr>
          <p:cNvPr id="26" name="Graphic 25" descr="Building outline">
            <a:extLst>
              <a:ext uri="{FF2B5EF4-FFF2-40B4-BE49-F238E27FC236}">
                <a16:creationId xmlns:a16="http://schemas.microsoft.com/office/drawing/2014/main" id="{A411859D-B8A1-4ADD-AAF2-6C560960FEA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4823101" y="2119661"/>
            <a:ext cx="1096065" cy="1096065"/>
          </a:xfrm>
          <a:prstGeom prst="rect">
            <a:avLst/>
          </a:prstGeom>
        </p:spPr>
      </p:pic>
      <p:pic>
        <p:nvPicPr>
          <p:cNvPr id="27" name="Graphic 26" descr="Building outline">
            <a:extLst>
              <a:ext uri="{FF2B5EF4-FFF2-40B4-BE49-F238E27FC236}">
                <a16:creationId xmlns:a16="http://schemas.microsoft.com/office/drawing/2014/main" id="{20A02C35-E91A-338D-A417-2289A81F178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563727" y="2974768"/>
            <a:ext cx="1096065" cy="1096065"/>
          </a:xfrm>
          <a:prstGeom prst="rect">
            <a:avLst/>
          </a:prstGeom>
        </p:spPr>
      </p:pic>
      <p:pic>
        <p:nvPicPr>
          <p:cNvPr id="28" name="Graphic 27" descr="Building outline">
            <a:extLst>
              <a:ext uri="{FF2B5EF4-FFF2-40B4-BE49-F238E27FC236}">
                <a16:creationId xmlns:a16="http://schemas.microsoft.com/office/drawing/2014/main" id="{9BBE2D41-67D8-8C2D-8DF9-FE874C1ACE78}"/>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3877278" y="2290871"/>
            <a:ext cx="1113910" cy="1114207"/>
          </a:xfrm>
          <a:prstGeom prst="rect">
            <a:avLst/>
          </a:prstGeom>
        </p:spPr>
      </p:pic>
      <p:pic>
        <p:nvPicPr>
          <p:cNvPr id="29" name="Graphic 28" descr="Building outline">
            <a:extLst>
              <a:ext uri="{FF2B5EF4-FFF2-40B4-BE49-F238E27FC236}">
                <a16:creationId xmlns:a16="http://schemas.microsoft.com/office/drawing/2014/main" id="{BBA9F629-9843-3D53-AE52-A0B5B4B2CBC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677935" y="3667322"/>
            <a:ext cx="1096065" cy="1096065"/>
          </a:xfrm>
          <a:prstGeom prst="rect">
            <a:avLst/>
          </a:prstGeom>
        </p:spPr>
      </p:pic>
      <p:pic>
        <p:nvPicPr>
          <p:cNvPr id="30" name="Graphic 29" descr="Building outline">
            <a:extLst>
              <a:ext uri="{FF2B5EF4-FFF2-40B4-BE49-F238E27FC236}">
                <a16:creationId xmlns:a16="http://schemas.microsoft.com/office/drawing/2014/main" id="{0F37D363-59F8-8876-0013-38BEE353369B}"/>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5736740" y="2454863"/>
            <a:ext cx="1096065" cy="1096065"/>
          </a:xfrm>
          <a:prstGeom prst="rect">
            <a:avLst/>
          </a:prstGeom>
        </p:spPr>
      </p:pic>
      <p:pic>
        <p:nvPicPr>
          <p:cNvPr id="31" name="Graphic 30" descr="Building outline">
            <a:extLst>
              <a:ext uri="{FF2B5EF4-FFF2-40B4-BE49-F238E27FC236}">
                <a16:creationId xmlns:a16="http://schemas.microsoft.com/office/drawing/2014/main" id="{D0A6A2B3-04F3-AB65-CF1A-E2F4D9E310A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926546" y="3702314"/>
            <a:ext cx="1096065" cy="1096065"/>
          </a:xfrm>
          <a:prstGeom prst="rect">
            <a:avLst/>
          </a:prstGeom>
        </p:spPr>
      </p:pic>
      <p:pic>
        <p:nvPicPr>
          <p:cNvPr id="32" name="Graphic 31" descr="Building outline">
            <a:extLst>
              <a:ext uri="{FF2B5EF4-FFF2-40B4-BE49-F238E27FC236}">
                <a16:creationId xmlns:a16="http://schemas.microsoft.com/office/drawing/2014/main" id="{21FD3100-CBA8-C0F8-E15D-F6DF99C621AC}"/>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4785372" y="3459020"/>
            <a:ext cx="1096065" cy="1096065"/>
          </a:xfrm>
          <a:prstGeom prst="rect">
            <a:avLst/>
          </a:prstGeom>
        </p:spPr>
      </p:pic>
      <p:pic>
        <p:nvPicPr>
          <p:cNvPr id="44" name="Graphic 43" descr="Building outline">
            <a:extLst>
              <a:ext uri="{FF2B5EF4-FFF2-40B4-BE49-F238E27FC236}">
                <a16:creationId xmlns:a16="http://schemas.microsoft.com/office/drawing/2014/main" id="{44EC6A82-8EF2-3347-A798-9B54CA8FD253}"/>
              </a:ext>
            </a:extLst>
          </p:cNvPr>
          <p:cNvPicPr>
            <a:picLocks noChangeAspect="1"/>
          </p:cNvPicPr>
          <p:nvPr/>
        </p:nvPicPr>
        <p:blipFill>
          <a:blip r:embed="rId12">
            <a:extLst>
              <a:ext uri="{96DAC541-7B7A-43D3-8B79-37D633B846F1}">
                <asvg:svgBlip xmlns:asvg="http://schemas.microsoft.com/office/drawing/2016/SVG/main" r:embed="rId14"/>
              </a:ext>
            </a:extLst>
          </a:blip>
          <a:stretch>
            <a:fillRect/>
          </a:stretch>
        </p:blipFill>
        <p:spPr>
          <a:xfrm>
            <a:off x="1755394" y="3004685"/>
            <a:ext cx="1205135" cy="1205135"/>
          </a:xfrm>
          <a:prstGeom prst="rect">
            <a:avLst/>
          </a:prstGeom>
        </p:spPr>
      </p:pic>
      <p:sp>
        <p:nvSpPr>
          <p:cNvPr id="45" name="Equals 44">
            <a:extLst>
              <a:ext uri="{FF2B5EF4-FFF2-40B4-BE49-F238E27FC236}">
                <a16:creationId xmlns:a16="http://schemas.microsoft.com/office/drawing/2014/main" id="{2AAE8474-60F4-456D-A8B7-6A2B02813D45}"/>
              </a:ext>
            </a:extLst>
          </p:cNvPr>
          <p:cNvSpPr/>
          <p:nvPr/>
        </p:nvSpPr>
        <p:spPr>
          <a:xfrm>
            <a:off x="3117117" y="3292706"/>
            <a:ext cx="730328" cy="646449"/>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TextBox 45">
            <a:extLst>
              <a:ext uri="{FF2B5EF4-FFF2-40B4-BE49-F238E27FC236}">
                <a16:creationId xmlns:a16="http://schemas.microsoft.com/office/drawing/2014/main" id="{C91C6989-9334-C6A2-97EB-1A7BE8E1E526}"/>
              </a:ext>
            </a:extLst>
          </p:cNvPr>
          <p:cNvSpPr txBox="1"/>
          <p:nvPr/>
        </p:nvSpPr>
        <p:spPr>
          <a:xfrm>
            <a:off x="3898444" y="2791974"/>
            <a:ext cx="2386010" cy="1692771"/>
          </a:xfrm>
          <a:prstGeom prst="rect">
            <a:avLst/>
          </a:prstGeom>
          <a:noFill/>
        </p:spPr>
        <p:txBody>
          <a:bodyPr wrap="square" rtlCol="0">
            <a:spAutoFit/>
          </a:bodyPr>
          <a:lstStyle/>
          <a:p>
            <a:pPr algn="ctr"/>
            <a:r>
              <a:rPr lang="en-US" sz="2600" b="1" dirty="0"/>
              <a:t>1 eligible business that chooses NOT to enroll</a:t>
            </a:r>
          </a:p>
        </p:txBody>
      </p:sp>
      <p:pic>
        <p:nvPicPr>
          <p:cNvPr id="47" name="Graphic 46" descr="Building outline">
            <a:extLst>
              <a:ext uri="{FF2B5EF4-FFF2-40B4-BE49-F238E27FC236}">
                <a16:creationId xmlns:a16="http://schemas.microsoft.com/office/drawing/2014/main" id="{B9B00156-B63E-3E1D-72F9-DFB19F25099B}"/>
              </a:ext>
            </a:extLst>
          </p:cNvPr>
          <p:cNvPicPr>
            <a:picLocks noChangeAspect="1"/>
          </p:cNvPicPr>
          <p:nvPr/>
        </p:nvPicPr>
        <p:blipFill>
          <a:blip r:embed="rId9">
            <a:extLst>
              <a:ext uri="{96DAC541-7B7A-43D3-8B79-37D633B846F1}">
                <asvg:svgBlip xmlns:asvg="http://schemas.microsoft.com/office/drawing/2016/SVG/main" r:embed="rId15"/>
              </a:ext>
            </a:extLst>
          </a:blip>
          <a:stretch>
            <a:fillRect/>
          </a:stretch>
        </p:blipFill>
        <p:spPr>
          <a:xfrm>
            <a:off x="1805014" y="5503886"/>
            <a:ext cx="1186993" cy="1186993"/>
          </a:xfrm>
          <a:prstGeom prst="rect">
            <a:avLst/>
          </a:prstGeom>
        </p:spPr>
      </p:pic>
      <p:sp>
        <p:nvSpPr>
          <p:cNvPr id="48" name="Equals 47">
            <a:extLst>
              <a:ext uri="{FF2B5EF4-FFF2-40B4-BE49-F238E27FC236}">
                <a16:creationId xmlns:a16="http://schemas.microsoft.com/office/drawing/2014/main" id="{4B248DBF-E5A0-124E-5772-FC6BF5D98752}"/>
              </a:ext>
            </a:extLst>
          </p:cNvPr>
          <p:cNvSpPr/>
          <p:nvPr/>
        </p:nvSpPr>
        <p:spPr>
          <a:xfrm>
            <a:off x="3117117" y="5795389"/>
            <a:ext cx="730328" cy="628307"/>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TextBox 48">
            <a:extLst>
              <a:ext uri="{FF2B5EF4-FFF2-40B4-BE49-F238E27FC236}">
                <a16:creationId xmlns:a16="http://schemas.microsoft.com/office/drawing/2014/main" id="{96FC8397-05BE-1099-6A1F-196F0A6DB181}"/>
              </a:ext>
            </a:extLst>
          </p:cNvPr>
          <p:cNvSpPr txBox="1"/>
          <p:nvPr/>
        </p:nvSpPr>
        <p:spPr>
          <a:xfrm>
            <a:off x="3944550" y="5360467"/>
            <a:ext cx="2386010" cy="1692771"/>
          </a:xfrm>
          <a:prstGeom prst="rect">
            <a:avLst/>
          </a:prstGeom>
          <a:noFill/>
        </p:spPr>
        <p:txBody>
          <a:bodyPr wrap="square" rtlCol="0">
            <a:spAutoFit/>
          </a:bodyPr>
          <a:lstStyle/>
          <a:p>
            <a:pPr algn="ctr"/>
            <a:r>
              <a:rPr lang="en-US" sz="2600" b="1" dirty="0"/>
              <a:t>1 eligible business that chooses to enroll</a:t>
            </a:r>
          </a:p>
        </p:txBody>
      </p:sp>
    </p:spTree>
    <p:extLst>
      <p:ext uri="{BB962C8B-B14F-4D97-AF65-F5344CB8AC3E}">
        <p14:creationId xmlns:p14="http://schemas.microsoft.com/office/powerpoint/2010/main" val="8375642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F5509-ECE9-B619-F1F4-4E49903FD365}"/>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00FE943-C1D3-50F3-BA15-4769E5CC87FC}"/>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5EAC0C07-6AFB-8E54-F211-98EE3EA63D24}"/>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712FA8DC-CE30-2F99-D454-D24FCF9A1768}"/>
              </a:ext>
            </a:extLst>
          </p:cNvPr>
          <p:cNvSpPr>
            <a:spLocks noGrp="1"/>
          </p:cNvSpPr>
          <p:nvPr>
            <p:ph type="body" sz="quarter" idx="21"/>
          </p:nvPr>
        </p:nvSpPr>
        <p:spPr/>
        <p:txBody>
          <a:bodyPr/>
          <a:lstStyle/>
          <a:p>
            <a:endParaRPr lang="en-US" dirty="0"/>
          </a:p>
        </p:txBody>
      </p:sp>
      <p:sp>
        <p:nvSpPr>
          <p:cNvPr id="3" name="Text Placeholder 2">
            <a:extLst>
              <a:ext uri="{FF2B5EF4-FFF2-40B4-BE49-F238E27FC236}">
                <a16:creationId xmlns:a16="http://schemas.microsoft.com/office/drawing/2014/main" id="{395FE81C-D86B-BB77-B912-70610824B8D1}"/>
              </a:ext>
            </a:extLst>
          </p:cNvPr>
          <p:cNvSpPr>
            <a:spLocks noGrp="1"/>
          </p:cNvSpPr>
          <p:nvPr>
            <p:ph type="body" sz="quarter" idx="18"/>
          </p:nvPr>
        </p:nvSpPr>
        <p:spPr/>
        <p:txBody>
          <a:bodyPr/>
          <a:lstStyle/>
          <a:p>
            <a:r>
              <a:rPr lang="en-US" dirty="0"/>
              <a:t>Compare actually enrolled vs. not enrolled (</a:t>
            </a:r>
            <a:r>
              <a:rPr lang="en-US" dirty="0" err="1"/>
              <a:t>ToT</a:t>
            </a:r>
            <a:r>
              <a:rPr lang="en-US" dirty="0"/>
              <a:t>)</a:t>
            </a:r>
          </a:p>
        </p:txBody>
      </p:sp>
      <p:graphicFrame>
        <p:nvGraphicFramePr>
          <p:cNvPr id="6" name="Table 5">
            <a:extLst>
              <a:ext uri="{FF2B5EF4-FFF2-40B4-BE49-F238E27FC236}">
                <a16:creationId xmlns:a16="http://schemas.microsoft.com/office/drawing/2014/main" id="{0A0149B7-7FDB-D17D-FBD5-55876B4A2F48}"/>
              </a:ext>
            </a:extLst>
          </p:cNvPr>
          <p:cNvGraphicFramePr>
            <a:graphicFrameLocks noGrp="1"/>
          </p:cNvGraphicFramePr>
          <p:nvPr>
            <p:extLst>
              <p:ext uri="{D42A27DB-BD31-4B8C-83A1-F6EECF244321}">
                <p14:modId xmlns:p14="http://schemas.microsoft.com/office/powerpoint/2010/main" val="2406107543"/>
              </p:ext>
            </p:extLst>
          </p:nvPr>
        </p:nvGraphicFramePr>
        <p:xfrm>
          <a:off x="12801600" y="1350798"/>
          <a:ext cx="4776950" cy="8136236"/>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964998">
                <a:tc>
                  <a:txBody>
                    <a:bodyPr/>
                    <a:lstStyle/>
                    <a:p>
                      <a:pPr algn="ctr"/>
                      <a:r>
                        <a:rPr lang="en-US" sz="2400" b="1" dirty="0">
                          <a:solidFill>
                            <a:schemeClr val="bg2"/>
                          </a:solidFill>
                        </a:rPr>
                        <a:t>Total businesses eligible across all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5,628</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706283794"/>
                  </a:ext>
                </a:extLst>
              </a:tr>
              <a:tr h="1964998">
                <a:tc>
                  <a:txBody>
                    <a:bodyPr/>
                    <a:lstStyle/>
                    <a:p>
                      <a:pPr algn="ctr"/>
                      <a:r>
                        <a:rPr lang="en-US" sz="2400" b="1" dirty="0">
                          <a:solidFill>
                            <a:schemeClr val="bg2"/>
                          </a:solidFill>
                        </a:rPr>
                        <a:t>Total eligible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r h="1610852">
                <a:tc>
                  <a:txBody>
                    <a:bodyPr/>
                    <a:lstStyle/>
                    <a:p>
                      <a:pPr algn="ctr"/>
                      <a:r>
                        <a:rPr lang="en-US" sz="2400" b="1" dirty="0">
                          <a:solidFill>
                            <a:schemeClr val="bg2"/>
                          </a:solidFill>
                        </a:rPr>
                        <a:t>Total businesses that are eligible in treatment neighborhood and choose NOT to enroll</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57</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013030751"/>
                  </a:ext>
                </a:extLst>
              </a:tr>
              <a:tr h="1610852">
                <a:tc>
                  <a:txBody>
                    <a:bodyPr/>
                    <a:lstStyle/>
                    <a:p>
                      <a:pPr algn="ctr"/>
                      <a:r>
                        <a:rPr lang="en-US" sz="2400" b="1" dirty="0">
                          <a:solidFill>
                            <a:schemeClr val="bg2"/>
                          </a:solidFill>
                        </a:rPr>
                        <a:t>Total businesses that are eligible in treatment neighborhood and choose to enroll</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2,907</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651445110"/>
                  </a:ext>
                </a:extLst>
              </a:tr>
            </a:tbl>
          </a:graphicData>
        </a:graphic>
      </p:graphicFrame>
      <p:pic>
        <p:nvPicPr>
          <p:cNvPr id="8" name="Picture 7">
            <a:extLst>
              <a:ext uri="{FF2B5EF4-FFF2-40B4-BE49-F238E27FC236}">
                <a16:creationId xmlns:a16="http://schemas.microsoft.com/office/drawing/2014/main" id="{F4CFF91E-1ABC-B66E-6F08-8E6D8961BBD1}"/>
              </a:ext>
            </a:extLst>
          </p:cNvPr>
          <p:cNvPicPr>
            <a:picLocks noChangeAspect="1"/>
          </p:cNvPicPr>
          <p:nvPr/>
        </p:nvPicPr>
        <p:blipFill>
          <a:blip r:embed="rId4"/>
          <a:srcRect l="39402" t="1972" r="3036" b="20070"/>
          <a:stretch>
            <a:fillRect/>
          </a:stretch>
        </p:blipFill>
        <p:spPr>
          <a:xfrm>
            <a:off x="2161931" y="2133050"/>
            <a:ext cx="2581347" cy="2529675"/>
          </a:xfrm>
          <a:prstGeom prst="rect">
            <a:avLst/>
          </a:prstGeom>
        </p:spPr>
      </p:pic>
    </p:spTree>
    <p:extLst>
      <p:ext uri="{BB962C8B-B14F-4D97-AF65-F5344CB8AC3E}">
        <p14:creationId xmlns:p14="http://schemas.microsoft.com/office/powerpoint/2010/main" val="733480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94CDAF-33C9-052B-2B4D-09787DA31F73}"/>
            </a:ext>
          </a:extLst>
        </p:cNvPr>
        <p:cNvGrpSpPr/>
        <p:nvPr/>
      </p:nvGrpSpPr>
      <p:grpSpPr>
        <a:xfrm>
          <a:off x="0" y="0"/>
          <a:ext cx="0" cy="0"/>
          <a:chOff x="0" y="0"/>
          <a:chExt cx="0" cy="0"/>
        </a:xfrm>
      </p:grpSpPr>
      <p:sp>
        <p:nvSpPr>
          <p:cNvPr id="51" name="Rectangle 50">
            <a:extLst>
              <a:ext uri="{FF2B5EF4-FFF2-40B4-BE49-F238E27FC236}">
                <a16:creationId xmlns:a16="http://schemas.microsoft.com/office/drawing/2014/main" id="{A81DD4F8-A853-C255-37D6-21AD521576D1}"/>
              </a:ext>
            </a:extLst>
          </p:cNvPr>
          <p:cNvSpPr/>
          <p:nvPr/>
        </p:nvSpPr>
        <p:spPr>
          <a:xfrm>
            <a:off x="1267995" y="5878156"/>
            <a:ext cx="1186994" cy="126735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9B9DC0C0-22DA-F4D3-A373-8D5AC3028971}"/>
              </a:ext>
            </a:extLst>
          </p:cNvPr>
          <p:cNvSpPr/>
          <p:nvPr/>
        </p:nvSpPr>
        <p:spPr>
          <a:xfrm>
            <a:off x="1266172" y="3396288"/>
            <a:ext cx="1186994" cy="126735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6">
            <a:extLst>
              <a:ext uri="{FF2B5EF4-FFF2-40B4-BE49-F238E27FC236}">
                <a16:creationId xmlns:a16="http://schemas.microsoft.com/office/drawing/2014/main" id="{4E94DD22-D75A-7E98-1730-FEBB11CB2345}"/>
              </a:ext>
            </a:extLst>
          </p:cNvPr>
          <p:cNvPicPr>
            <a:picLocks noChangeAspect="1"/>
          </p:cNvPicPr>
          <p:nvPr/>
        </p:nvPicPr>
        <p:blipFill>
          <a:blip r:embed="rId3"/>
          <a:srcRect l="9248" t="10472" r="75065" b="78164"/>
          <a:stretch>
            <a:fillRect/>
          </a:stretch>
        </p:blipFill>
        <p:spPr>
          <a:xfrm>
            <a:off x="6187176" y="3674737"/>
            <a:ext cx="7100480" cy="5143598"/>
          </a:xfrm>
          <a:prstGeom prst="rect">
            <a:avLst/>
          </a:prstGeom>
        </p:spPr>
      </p:pic>
      <p:sp>
        <p:nvSpPr>
          <p:cNvPr id="2" name="Text Placeholder 1">
            <a:extLst>
              <a:ext uri="{FF2B5EF4-FFF2-40B4-BE49-F238E27FC236}">
                <a16:creationId xmlns:a16="http://schemas.microsoft.com/office/drawing/2014/main" id="{FF8ACB08-3808-37FD-A9B3-503E96181807}"/>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8DE7AA8F-D42C-EF41-13E8-333B24D14103}"/>
              </a:ext>
            </a:extLst>
          </p:cNvPr>
          <p:cNvSpPr>
            <a:spLocks noGrp="1"/>
          </p:cNvSpPr>
          <p:nvPr>
            <p:ph type="body" sz="quarter" idx="18"/>
          </p:nvPr>
        </p:nvSpPr>
        <p:spPr/>
        <p:txBody>
          <a:bodyPr/>
          <a:lstStyle/>
          <a:p>
            <a:r>
              <a:rPr lang="en-US" sz="4500" dirty="0"/>
              <a:t>Eligible businesses in treatment neighborhoods can choose whether to enroll (imperfect compliance)</a:t>
            </a:r>
          </a:p>
        </p:txBody>
      </p:sp>
      <p:pic>
        <p:nvPicPr>
          <p:cNvPr id="12" name="Graphic 11" descr="City outline">
            <a:extLst>
              <a:ext uri="{FF2B5EF4-FFF2-40B4-BE49-F238E27FC236}">
                <a16:creationId xmlns:a16="http://schemas.microsoft.com/office/drawing/2014/main" id="{81DF9133-BAF2-00D1-0480-604C664228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29241" y="5087124"/>
            <a:ext cx="1001337" cy="1001337"/>
          </a:xfrm>
          <a:prstGeom prst="rect">
            <a:avLst/>
          </a:prstGeom>
        </p:spPr>
      </p:pic>
      <p:pic>
        <p:nvPicPr>
          <p:cNvPr id="13" name="Graphic 12" descr="City outline">
            <a:extLst>
              <a:ext uri="{FF2B5EF4-FFF2-40B4-BE49-F238E27FC236}">
                <a16:creationId xmlns:a16="http://schemas.microsoft.com/office/drawing/2014/main" id="{CBA4A988-7935-257C-6716-E13E6E9364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06919" y="4292575"/>
            <a:ext cx="1019809" cy="1019479"/>
          </a:xfrm>
          <a:prstGeom prst="rect">
            <a:avLst/>
          </a:prstGeom>
        </p:spPr>
      </p:pic>
      <p:pic>
        <p:nvPicPr>
          <p:cNvPr id="14" name="Graphic 13" descr="City outline">
            <a:extLst>
              <a:ext uri="{FF2B5EF4-FFF2-40B4-BE49-F238E27FC236}">
                <a16:creationId xmlns:a16="http://schemas.microsoft.com/office/drawing/2014/main" id="{538752D6-35F6-C3CA-6986-5BDC9241003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36309" y="5322613"/>
            <a:ext cx="1001337" cy="1001337"/>
          </a:xfrm>
          <a:prstGeom prst="rect">
            <a:avLst/>
          </a:prstGeom>
        </p:spPr>
      </p:pic>
      <p:pic>
        <p:nvPicPr>
          <p:cNvPr id="15" name="Graphic 14" descr="City outline">
            <a:extLst>
              <a:ext uri="{FF2B5EF4-FFF2-40B4-BE49-F238E27FC236}">
                <a16:creationId xmlns:a16="http://schemas.microsoft.com/office/drawing/2014/main" id="{0A59AEC6-A309-D5FE-7693-DAA002456C5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63585" y="4135154"/>
            <a:ext cx="1001337" cy="1001337"/>
          </a:xfrm>
          <a:prstGeom prst="rect">
            <a:avLst/>
          </a:prstGeom>
        </p:spPr>
      </p:pic>
      <p:pic>
        <p:nvPicPr>
          <p:cNvPr id="16" name="Graphic 15" descr="City outline">
            <a:extLst>
              <a:ext uri="{FF2B5EF4-FFF2-40B4-BE49-F238E27FC236}">
                <a16:creationId xmlns:a16="http://schemas.microsoft.com/office/drawing/2014/main" id="{A20FF152-8C14-4F70-112A-41B510B309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71462" y="6021260"/>
            <a:ext cx="1001337" cy="1001337"/>
          </a:xfrm>
          <a:prstGeom prst="rect">
            <a:avLst/>
          </a:prstGeom>
        </p:spPr>
      </p:pic>
      <p:pic>
        <p:nvPicPr>
          <p:cNvPr id="20" name="Graphic 19" descr="City outline">
            <a:extLst>
              <a:ext uri="{FF2B5EF4-FFF2-40B4-BE49-F238E27FC236}">
                <a16:creationId xmlns:a16="http://schemas.microsoft.com/office/drawing/2014/main" id="{51BDF093-D8D9-4661-38E0-2BD50B97FA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85535" y="5066342"/>
            <a:ext cx="1001337" cy="1001337"/>
          </a:xfrm>
          <a:prstGeom prst="rect">
            <a:avLst/>
          </a:prstGeom>
        </p:spPr>
      </p:pic>
      <p:pic>
        <p:nvPicPr>
          <p:cNvPr id="21" name="Graphic 20" descr="City outline">
            <a:extLst>
              <a:ext uri="{FF2B5EF4-FFF2-40B4-BE49-F238E27FC236}">
                <a16:creationId xmlns:a16="http://schemas.microsoft.com/office/drawing/2014/main" id="{18D9946F-E1D6-A49D-D8F2-F24C9EBB9923}"/>
              </a:ext>
            </a:extLst>
          </p:cNvPr>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11263213" y="4271793"/>
            <a:ext cx="1001337" cy="1001337"/>
          </a:xfrm>
          <a:prstGeom prst="rect">
            <a:avLst/>
          </a:prstGeom>
        </p:spPr>
      </p:pic>
      <p:pic>
        <p:nvPicPr>
          <p:cNvPr id="22" name="Graphic 21" descr="City outline">
            <a:extLst>
              <a:ext uri="{FF2B5EF4-FFF2-40B4-BE49-F238E27FC236}">
                <a16:creationId xmlns:a16="http://schemas.microsoft.com/office/drawing/2014/main" id="{1AB99939-D100-4670-1780-426E4CEA734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92603" y="5301831"/>
            <a:ext cx="1001337" cy="1001337"/>
          </a:xfrm>
          <a:prstGeom prst="rect">
            <a:avLst/>
          </a:prstGeom>
        </p:spPr>
      </p:pic>
      <p:pic>
        <p:nvPicPr>
          <p:cNvPr id="23" name="Graphic 22" descr="City outline">
            <a:extLst>
              <a:ext uri="{FF2B5EF4-FFF2-40B4-BE49-F238E27FC236}">
                <a16:creationId xmlns:a16="http://schemas.microsoft.com/office/drawing/2014/main" id="{7579618B-F371-317E-F0F8-7137D1A323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19879" y="4114372"/>
            <a:ext cx="1001337" cy="1001337"/>
          </a:xfrm>
          <a:prstGeom prst="rect">
            <a:avLst/>
          </a:prstGeom>
        </p:spPr>
      </p:pic>
      <p:pic>
        <p:nvPicPr>
          <p:cNvPr id="24" name="Graphic 23" descr="City outline">
            <a:extLst>
              <a:ext uri="{FF2B5EF4-FFF2-40B4-BE49-F238E27FC236}">
                <a16:creationId xmlns:a16="http://schemas.microsoft.com/office/drawing/2014/main" id="{12EA307F-912A-D7B9-FBC2-6391A67AB8A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27756" y="6000478"/>
            <a:ext cx="1001337" cy="1001337"/>
          </a:xfrm>
          <a:prstGeom prst="rect">
            <a:avLst/>
          </a:prstGeom>
        </p:spPr>
      </p:pic>
      <p:sp>
        <p:nvSpPr>
          <p:cNvPr id="10" name="Speech Bubble: Oval 9">
            <a:extLst>
              <a:ext uri="{FF2B5EF4-FFF2-40B4-BE49-F238E27FC236}">
                <a16:creationId xmlns:a16="http://schemas.microsoft.com/office/drawing/2014/main" id="{7D06F862-16C4-65AB-DC92-FD51320B563F}"/>
              </a:ext>
            </a:extLst>
          </p:cNvPr>
          <p:cNvSpPr/>
          <p:nvPr/>
        </p:nvSpPr>
        <p:spPr>
          <a:xfrm>
            <a:off x="12293940" y="1499593"/>
            <a:ext cx="5752533" cy="3164045"/>
          </a:xfrm>
          <a:prstGeom prst="wedgeEllipseCallout">
            <a:avLst>
              <a:gd name="adj1" fmla="val -53048"/>
              <a:gd name="adj2" fmla="val 51729"/>
            </a:avLst>
          </a:prstGeom>
          <a:solidFill>
            <a:srgbClr val="289CE4"/>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Building outline">
            <a:extLst>
              <a:ext uri="{FF2B5EF4-FFF2-40B4-BE49-F238E27FC236}">
                <a16:creationId xmlns:a16="http://schemas.microsoft.com/office/drawing/2014/main" id="{E65CCC28-EFD5-84BD-FA32-437747A1A2A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352089" y="2345458"/>
            <a:ext cx="1113910" cy="1114207"/>
          </a:xfrm>
          <a:prstGeom prst="rect">
            <a:avLst/>
          </a:prstGeom>
        </p:spPr>
      </p:pic>
      <p:pic>
        <p:nvPicPr>
          <p:cNvPr id="11" name="Graphic 10" descr="Building outline">
            <a:extLst>
              <a:ext uri="{FF2B5EF4-FFF2-40B4-BE49-F238E27FC236}">
                <a16:creationId xmlns:a16="http://schemas.microsoft.com/office/drawing/2014/main" id="{519491FE-D9D1-DDBF-86F6-50CF01F62995}"/>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3147668" y="1875470"/>
            <a:ext cx="1096065" cy="1096065"/>
          </a:xfrm>
          <a:prstGeom prst="rect">
            <a:avLst/>
          </a:prstGeom>
        </p:spPr>
      </p:pic>
      <p:pic>
        <p:nvPicPr>
          <p:cNvPr id="25" name="Graphic 24" descr="Building outline">
            <a:extLst>
              <a:ext uri="{FF2B5EF4-FFF2-40B4-BE49-F238E27FC236}">
                <a16:creationId xmlns:a16="http://schemas.microsoft.com/office/drawing/2014/main" id="{88AD468F-C824-A310-4E92-A254B364225C}"/>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3127119" y="3046549"/>
            <a:ext cx="1096065" cy="1096065"/>
          </a:xfrm>
          <a:prstGeom prst="rect">
            <a:avLst/>
          </a:prstGeom>
        </p:spPr>
      </p:pic>
      <p:pic>
        <p:nvPicPr>
          <p:cNvPr id="26" name="Graphic 25" descr="Building outline">
            <a:extLst>
              <a:ext uri="{FF2B5EF4-FFF2-40B4-BE49-F238E27FC236}">
                <a16:creationId xmlns:a16="http://schemas.microsoft.com/office/drawing/2014/main" id="{1F2C20DD-499E-67C2-D67F-C343CAE048B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003620" y="1575399"/>
            <a:ext cx="1096065" cy="1096065"/>
          </a:xfrm>
          <a:prstGeom prst="rect">
            <a:avLst/>
          </a:prstGeom>
        </p:spPr>
      </p:pic>
      <p:pic>
        <p:nvPicPr>
          <p:cNvPr id="27" name="Graphic 26" descr="Building outline">
            <a:extLst>
              <a:ext uri="{FF2B5EF4-FFF2-40B4-BE49-F238E27FC236}">
                <a16:creationId xmlns:a16="http://schemas.microsoft.com/office/drawing/2014/main" id="{C822E396-7711-743A-1284-30552ACBBA0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744246" y="2430506"/>
            <a:ext cx="1096065" cy="1096065"/>
          </a:xfrm>
          <a:prstGeom prst="rect">
            <a:avLst/>
          </a:prstGeom>
        </p:spPr>
      </p:pic>
      <p:pic>
        <p:nvPicPr>
          <p:cNvPr id="28" name="Graphic 27" descr="Building outline">
            <a:extLst>
              <a:ext uri="{FF2B5EF4-FFF2-40B4-BE49-F238E27FC236}">
                <a16:creationId xmlns:a16="http://schemas.microsoft.com/office/drawing/2014/main" id="{9432A0A1-E646-E906-7FF2-B4E8FD9A1552}"/>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4057797" y="1746609"/>
            <a:ext cx="1113910" cy="1114207"/>
          </a:xfrm>
          <a:prstGeom prst="rect">
            <a:avLst/>
          </a:prstGeom>
        </p:spPr>
      </p:pic>
      <p:pic>
        <p:nvPicPr>
          <p:cNvPr id="29" name="Graphic 28" descr="Building outline">
            <a:extLst>
              <a:ext uri="{FF2B5EF4-FFF2-40B4-BE49-F238E27FC236}">
                <a16:creationId xmlns:a16="http://schemas.microsoft.com/office/drawing/2014/main" id="{5AE4083C-21F4-1C11-592C-714A64B5563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858454" y="3123060"/>
            <a:ext cx="1096065" cy="1096065"/>
          </a:xfrm>
          <a:prstGeom prst="rect">
            <a:avLst/>
          </a:prstGeom>
        </p:spPr>
      </p:pic>
      <p:pic>
        <p:nvPicPr>
          <p:cNvPr id="30" name="Graphic 29" descr="Building outline">
            <a:extLst>
              <a:ext uri="{FF2B5EF4-FFF2-40B4-BE49-F238E27FC236}">
                <a16:creationId xmlns:a16="http://schemas.microsoft.com/office/drawing/2014/main" id="{E55DBA2C-0547-A2B3-45FA-B3ED022D69DB}"/>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5917259" y="1910601"/>
            <a:ext cx="1096065" cy="1096065"/>
          </a:xfrm>
          <a:prstGeom prst="rect">
            <a:avLst/>
          </a:prstGeom>
        </p:spPr>
      </p:pic>
      <p:pic>
        <p:nvPicPr>
          <p:cNvPr id="31" name="Graphic 30" descr="Building outline">
            <a:extLst>
              <a:ext uri="{FF2B5EF4-FFF2-40B4-BE49-F238E27FC236}">
                <a16:creationId xmlns:a16="http://schemas.microsoft.com/office/drawing/2014/main" id="{FF45716C-67DD-8D96-28D9-767CF1D133C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107065" y="3158052"/>
            <a:ext cx="1096065" cy="1096065"/>
          </a:xfrm>
          <a:prstGeom prst="rect">
            <a:avLst/>
          </a:prstGeom>
        </p:spPr>
      </p:pic>
      <p:pic>
        <p:nvPicPr>
          <p:cNvPr id="32" name="Graphic 31" descr="Building outline">
            <a:extLst>
              <a:ext uri="{FF2B5EF4-FFF2-40B4-BE49-F238E27FC236}">
                <a16:creationId xmlns:a16="http://schemas.microsoft.com/office/drawing/2014/main" id="{F60A57F8-4A0F-2BE7-C8D6-53BC717A4BD0}"/>
              </a:ext>
            </a:extLst>
          </p:cNvPr>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4965891" y="2914758"/>
            <a:ext cx="1096065" cy="1096065"/>
          </a:xfrm>
          <a:prstGeom prst="rect">
            <a:avLst/>
          </a:prstGeom>
        </p:spPr>
      </p:pic>
      <p:pic>
        <p:nvPicPr>
          <p:cNvPr id="44" name="Graphic 43" descr="Building outline">
            <a:extLst>
              <a:ext uri="{FF2B5EF4-FFF2-40B4-BE49-F238E27FC236}">
                <a16:creationId xmlns:a16="http://schemas.microsoft.com/office/drawing/2014/main" id="{648C007F-32F2-0C3F-F23D-EC65C64E0E33}"/>
              </a:ext>
            </a:extLst>
          </p:cNvPr>
          <p:cNvPicPr>
            <a:picLocks noChangeAspect="1"/>
          </p:cNvPicPr>
          <p:nvPr/>
        </p:nvPicPr>
        <p:blipFill>
          <a:blip r:embed="rId12">
            <a:extLst>
              <a:ext uri="{96DAC541-7B7A-43D3-8B79-37D633B846F1}">
                <asvg:svgBlip xmlns:asvg="http://schemas.microsoft.com/office/drawing/2016/SVG/main" r:embed="rId14"/>
              </a:ext>
            </a:extLst>
          </a:blip>
          <a:stretch>
            <a:fillRect/>
          </a:stretch>
        </p:blipFill>
        <p:spPr>
          <a:xfrm>
            <a:off x="1241527" y="3396288"/>
            <a:ext cx="1205135" cy="1205135"/>
          </a:xfrm>
          <a:prstGeom prst="rect">
            <a:avLst/>
          </a:prstGeom>
        </p:spPr>
      </p:pic>
      <p:sp>
        <p:nvSpPr>
          <p:cNvPr id="45" name="Equals 44">
            <a:extLst>
              <a:ext uri="{FF2B5EF4-FFF2-40B4-BE49-F238E27FC236}">
                <a16:creationId xmlns:a16="http://schemas.microsoft.com/office/drawing/2014/main" id="{B635420E-3B0A-C7D4-E40E-1E8FA741C023}"/>
              </a:ext>
            </a:extLst>
          </p:cNvPr>
          <p:cNvSpPr/>
          <p:nvPr/>
        </p:nvSpPr>
        <p:spPr>
          <a:xfrm>
            <a:off x="2603250" y="3684309"/>
            <a:ext cx="730328" cy="646449"/>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TextBox 45">
            <a:extLst>
              <a:ext uri="{FF2B5EF4-FFF2-40B4-BE49-F238E27FC236}">
                <a16:creationId xmlns:a16="http://schemas.microsoft.com/office/drawing/2014/main" id="{8C5E2342-93C8-7C4A-5325-98BECF0AE4A4}"/>
              </a:ext>
            </a:extLst>
          </p:cNvPr>
          <p:cNvSpPr txBox="1"/>
          <p:nvPr/>
        </p:nvSpPr>
        <p:spPr>
          <a:xfrm>
            <a:off x="3384577" y="3183577"/>
            <a:ext cx="2386010" cy="1692771"/>
          </a:xfrm>
          <a:prstGeom prst="rect">
            <a:avLst/>
          </a:prstGeom>
          <a:noFill/>
        </p:spPr>
        <p:txBody>
          <a:bodyPr wrap="square" rtlCol="0">
            <a:spAutoFit/>
          </a:bodyPr>
          <a:lstStyle/>
          <a:p>
            <a:pPr algn="ctr"/>
            <a:r>
              <a:rPr lang="en-US" sz="2600" b="1" dirty="0"/>
              <a:t>1 eligible business that chooses NOT to enroll</a:t>
            </a:r>
          </a:p>
        </p:txBody>
      </p:sp>
      <p:pic>
        <p:nvPicPr>
          <p:cNvPr id="47" name="Graphic 46" descr="Building outline">
            <a:extLst>
              <a:ext uri="{FF2B5EF4-FFF2-40B4-BE49-F238E27FC236}">
                <a16:creationId xmlns:a16="http://schemas.microsoft.com/office/drawing/2014/main" id="{FFB0EF84-BFDB-8E6A-87EB-1ECDBF90CB79}"/>
              </a:ext>
            </a:extLst>
          </p:cNvPr>
          <p:cNvPicPr>
            <a:picLocks noChangeAspect="1"/>
          </p:cNvPicPr>
          <p:nvPr/>
        </p:nvPicPr>
        <p:blipFill>
          <a:blip r:embed="rId9">
            <a:extLst>
              <a:ext uri="{96DAC541-7B7A-43D3-8B79-37D633B846F1}">
                <asvg:svgBlip xmlns:asvg="http://schemas.microsoft.com/office/drawing/2016/SVG/main" r:embed="rId15"/>
              </a:ext>
            </a:extLst>
          </a:blip>
          <a:stretch>
            <a:fillRect/>
          </a:stretch>
        </p:blipFill>
        <p:spPr>
          <a:xfrm>
            <a:off x="1291147" y="5895489"/>
            <a:ext cx="1186993" cy="1186993"/>
          </a:xfrm>
          <a:prstGeom prst="rect">
            <a:avLst/>
          </a:prstGeom>
        </p:spPr>
      </p:pic>
      <p:sp>
        <p:nvSpPr>
          <p:cNvPr id="48" name="Equals 47">
            <a:extLst>
              <a:ext uri="{FF2B5EF4-FFF2-40B4-BE49-F238E27FC236}">
                <a16:creationId xmlns:a16="http://schemas.microsoft.com/office/drawing/2014/main" id="{61396ACA-06D9-B45C-9874-C6C710B7953F}"/>
              </a:ext>
            </a:extLst>
          </p:cNvPr>
          <p:cNvSpPr/>
          <p:nvPr/>
        </p:nvSpPr>
        <p:spPr>
          <a:xfrm>
            <a:off x="2603250" y="6186992"/>
            <a:ext cx="730328" cy="628307"/>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TextBox 48">
            <a:extLst>
              <a:ext uri="{FF2B5EF4-FFF2-40B4-BE49-F238E27FC236}">
                <a16:creationId xmlns:a16="http://schemas.microsoft.com/office/drawing/2014/main" id="{4866DDCF-C7D3-D2F2-2412-0905C3257007}"/>
              </a:ext>
            </a:extLst>
          </p:cNvPr>
          <p:cNvSpPr txBox="1"/>
          <p:nvPr/>
        </p:nvSpPr>
        <p:spPr>
          <a:xfrm>
            <a:off x="3430683" y="5752070"/>
            <a:ext cx="2386010" cy="1692771"/>
          </a:xfrm>
          <a:prstGeom prst="rect">
            <a:avLst/>
          </a:prstGeom>
          <a:noFill/>
        </p:spPr>
        <p:txBody>
          <a:bodyPr wrap="square" rtlCol="0">
            <a:spAutoFit/>
          </a:bodyPr>
          <a:lstStyle/>
          <a:p>
            <a:pPr algn="ctr"/>
            <a:r>
              <a:rPr lang="en-US" sz="2600" b="1" dirty="0"/>
              <a:t>1 eligible business that chooses to enroll</a:t>
            </a:r>
          </a:p>
        </p:txBody>
      </p:sp>
    </p:spTree>
    <p:extLst>
      <p:ext uri="{BB962C8B-B14F-4D97-AF65-F5344CB8AC3E}">
        <p14:creationId xmlns:p14="http://schemas.microsoft.com/office/powerpoint/2010/main" val="671189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294FF69-DB6A-619E-2A4C-29FFFF3DB608}"/>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2CC2955-38B7-D2BC-9594-B2DE79DDE099}"/>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02CCF2BE-D631-89EE-D55F-A15E9ECBEA30}"/>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ABDA994E-9966-C68F-2EC1-31869761C50C}"/>
              </a:ext>
            </a:extLst>
          </p:cNvPr>
          <p:cNvSpPr>
            <a:spLocks noGrp="1"/>
          </p:cNvSpPr>
          <p:nvPr>
            <p:ph type="body" sz="quarter" idx="21"/>
          </p:nvPr>
        </p:nvSpPr>
        <p:spPr/>
        <p:txBody>
          <a:bodyPr/>
          <a:lstStyle/>
          <a:p>
            <a:endParaRPr lang="en-US" dirty="0"/>
          </a:p>
        </p:txBody>
      </p:sp>
      <p:sp>
        <p:nvSpPr>
          <p:cNvPr id="3" name="Text Placeholder 2">
            <a:extLst>
              <a:ext uri="{FF2B5EF4-FFF2-40B4-BE49-F238E27FC236}">
                <a16:creationId xmlns:a16="http://schemas.microsoft.com/office/drawing/2014/main" id="{15077C9A-2D33-7374-FF83-ECA8A272097B}"/>
              </a:ext>
            </a:extLst>
          </p:cNvPr>
          <p:cNvSpPr>
            <a:spLocks noGrp="1"/>
          </p:cNvSpPr>
          <p:nvPr>
            <p:ph type="body" sz="quarter" idx="18"/>
          </p:nvPr>
        </p:nvSpPr>
        <p:spPr/>
        <p:txBody>
          <a:bodyPr/>
          <a:lstStyle/>
          <a:p>
            <a:r>
              <a:rPr lang="en-US" dirty="0"/>
              <a:t>Compare actually enrolled vs. not enrolled (</a:t>
            </a:r>
            <a:r>
              <a:rPr lang="en-US" dirty="0" err="1"/>
              <a:t>ToT</a:t>
            </a:r>
            <a:r>
              <a:rPr lang="en-US" dirty="0"/>
              <a:t>)</a:t>
            </a:r>
          </a:p>
        </p:txBody>
      </p:sp>
      <p:pic>
        <p:nvPicPr>
          <p:cNvPr id="4" name="Picture 3">
            <a:extLst>
              <a:ext uri="{FF2B5EF4-FFF2-40B4-BE49-F238E27FC236}">
                <a16:creationId xmlns:a16="http://schemas.microsoft.com/office/drawing/2014/main" id="{9754DBC8-5CD4-3082-E209-D75538FD943D}"/>
              </a:ext>
            </a:extLst>
          </p:cNvPr>
          <p:cNvPicPr>
            <a:picLocks noChangeAspect="1"/>
          </p:cNvPicPr>
          <p:nvPr/>
        </p:nvPicPr>
        <p:blipFill>
          <a:blip r:embed="rId4"/>
          <a:stretch>
            <a:fillRect/>
          </a:stretch>
        </p:blipFill>
        <p:spPr>
          <a:xfrm>
            <a:off x="1795111" y="2176946"/>
            <a:ext cx="3192019" cy="2309761"/>
          </a:xfrm>
          <a:prstGeom prst="rect">
            <a:avLst/>
          </a:prstGeom>
        </p:spPr>
      </p:pic>
      <p:graphicFrame>
        <p:nvGraphicFramePr>
          <p:cNvPr id="6" name="Table 5">
            <a:extLst>
              <a:ext uri="{FF2B5EF4-FFF2-40B4-BE49-F238E27FC236}">
                <a16:creationId xmlns:a16="http://schemas.microsoft.com/office/drawing/2014/main" id="{D6F08C0F-7427-798F-7D92-7DBAAE7F650A}"/>
              </a:ext>
            </a:extLst>
          </p:cNvPr>
          <p:cNvGraphicFramePr>
            <a:graphicFrameLocks noGrp="1"/>
          </p:cNvGraphicFramePr>
          <p:nvPr/>
        </p:nvGraphicFramePr>
        <p:xfrm>
          <a:off x="12801600" y="1350798"/>
          <a:ext cx="4776950" cy="8136236"/>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964998">
                <a:tc>
                  <a:txBody>
                    <a:bodyPr/>
                    <a:lstStyle/>
                    <a:p>
                      <a:pPr algn="ctr"/>
                      <a:r>
                        <a:rPr lang="en-US" sz="2400" b="1" dirty="0">
                          <a:solidFill>
                            <a:schemeClr val="bg2"/>
                          </a:solidFill>
                        </a:rPr>
                        <a:t>Total businesses eligible across all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5,628</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706283794"/>
                  </a:ext>
                </a:extLst>
              </a:tr>
              <a:tr h="1964998">
                <a:tc>
                  <a:txBody>
                    <a:bodyPr/>
                    <a:lstStyle/>
                    <a:p>
                      <a:pPr algn="ctr"/>
                      <a:r>
                        <a:rPr lang="en-US" sz="2400" b="1" dirty="0">
                          <a:solidFill>
                            <a:schemeClr val="bg2"/>
                          </a:solidFill>
                        </a:rPr>
                        <a:t>Total eligible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r h="1610852">
                <a:tc>
                  <a:txBody>
                    <a:bodyPr/>
                    <a:lstStyle/>
                    <a:p>
                      <a:pPr algn="ctr"/>
                      <a:r>
                        <a:rPr lang="en-US" sz="2400" b="1" dirty="0">
                          <a:solidFill>
                            <a:schemeClr val="bg2"/>
                          </a:solidFill>
                        </a:rPr>
                        <a:t>Total businesses that are eligible in treatment neighborhood and choose NOT to enroll</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57</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013030751"/>
                  </a:ext>
                </a:extLst>
              </a:tr>
              <a:tr h="1610852">
                <a:tc>
                  <a:txBody>
                    <a:bodyPr/>
                    <a:lstStyle/>
                    <a:p>
                      <a:pPr algn="ctr"/>
                      <a:r>
                        <a:rPr lang="en-US" sz="2400" b="1" dirty="0">
                          <a:solidFill>
                            <a:schemeClr val="bg2"/>
                          </a:solidFill>
                        </a:rPr>
                        <a:t>Total businesses that are eligible in treatment neighborhood and choose to enroll</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2,907</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651445110"/>
                  </a:ext>
                </a:extLst>
              </a:tr>
            </a:tbl>
          </a:graphicData>
        </a:graphic>
      </p:graphicFrame>
    </p:spTree>
    <p:extLst>
      <p:ext uri="{BB962C8B-B14F-4D97-AF65-F5344CB8AC3E}">
        <p14:creationId xmlns:p14="http://schemas.microsoft.com/office/powerpoint/2010/main" val="10250343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D85E36-5106-A94A-D908-0ED2E63005C6}"/>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9F35FBD1-CADB-7713-52B7-F7FFE6052409}"/>
              </a:ext>
            </a:extLst>
          </p:cNvPr>
          <p:cNvSpPr>
            <a:spLocks noGrp="1"/>
          </p:cNvSpPr>
          <p:nvPr>
            <p:ph type="body" sz="quarter" idx="18"/>
          </p:nvPr>
        </p:nvSpPr>
        <p:spPr/>
        <p:txBody>
          <a:bodyPr/>
          <a:lstStyle/>
          <a:p>
            <a:r>
              <a:rPr lang="en-US" dirty="0"/>
              <a:t>IV: First Stage</a:t>
            </a:r>
          </a:p>
        </p:txBody>
      </p:sp>
      <p:pic>
        <p:nvPicPr>
          <p:cNvPr id="10" name="Picture 9">
            <a:extLst>
              <a:ext uri="{FF2B5EF4-FFF2-40B4-BE49-F238E27FC236}">
                <a16:creationId xmlns:a16="http://schemas.microsoft.com/office/drawing/2014/main" id="{2C64DA39-BD2C-4AD4-F457-4DB44015EB9D}"/>
              </a:ext>
            </a:extLst>
          </p:cNvPr>
          <p:cNvPicPr>
            <a:picLocks noChangeAspect="1"/>
          </p:cNvPicPr>
          <p:nvPr/>
        </p:nvPicPr>
        <p:blipFill>
          <a:blip r:embed="rId2"/>
          <a:stretch>
            <a:fillRect/>
          </a:stretch>
        </p:blipFill>
        <p:spPr>
          <a:xfrm>
            <a:off x="5764393" y="1407819"/>
            <a:ext cx="7264265" cy="7471361"/>
          </a:xfrm>
          <a:prstGeom prst="rect">
            <a:avLst/>
          </a:prstGeom>
        </p:spPr>
      </p:pic>
    </p:spTree>
    <p:extLst>
      <p:ext uri="{BB962C8B-B14F-4D97-AF65-F5344CB8AC3E}">
        <p14:creationId xmlns:p14="http://schemas.microsoft.com/office/powerpoint/2010/main" val="35990189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3339DF4-C79F-C7A9-FEF3-B704E2C3C543}"/>
              </a:ext>
            </a:extLst>
          </p:cNvPr>
          <p:cNvSpPr>
            <a:spLocks noGrp="1"/>
          </p:cNvSpPr>
          <p:nvPr>
            <p:ph type="body" sz="quarter" idx="17"/>
          </p:nvPr>
        </p:nvSpPr>
        <p:spPr>
          <a:xfrm>
            <a:off x="926616" y="384175"/>
            <a:ext cx="16883314" cy="782638"/>
          </a:xfrm>
        </p:spPr>
        <p:txBody>
          <a:bodyPr>
            <a:normAutofit/>
          </a:bodyPr>
          <a:lstStyle/>
          <a:p>
            <a:pPr>
              <a:lnSpc>
                <a:spcPct val="90000"/>
              </a:lnSpc>
              <a:spcAft>
                <a:spcPts val="600"/>
              </a:spcAft>
            </a:pPr>
            <a:r>
              <a:rPr lang="en-US" sz="5000" b="1" i="0" u="none" strike="noStrike" cap="none">
                <a:latin typeface="Arial"/>
                <a:ea typeface="Arial"/>
                <a:cs typeface="Arial"/>
                <a:sym typeface="Arial"/>
              </a:rPr>
              <a:t>IV: First Stage (editable)</a:t>
            </a:r>
          </a:p>
        </p:txBody>
      </p:sp>
      <p:sp>
        <p:nvSpPr>
          <p:cNvPr id="7" name="Rectangle 1">
            <a:extLst>
              <a:ext uri="{FF2B5EF4-FFF2-40B4-BE49-F238E27FC236}">
                <a16:creationId xmlns:a16="http://schemas.microsoft.com/office/drawing/2014/main" id="{B71DE02D-B721-7527-EB90-7F39D30B8A48}"/>
              </a:ext>
            </a:extLst>
          </p:cNvPr>
          <p:cNvSpPr>
            <a:spLocks noChangeArrowheads="1"/>
          </p:cNvSpPr>
          <p:nvPr/>
        </p:nvSpPr>
        <p:spPr bwMode="auto">
          <a:xfrm>
            <a:off x="927100" y="9187480"/>
            <a:ext cx="16882586" cy="5184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38088" tIns="45720" rIns="38088" bIns="45720" numCol="1" anchorCtr="0" compatLnSpc="1">
            <a:prstTxWarp prst="textNoShape">
              <a:avLst/>
            </a:prstTxWarp>
            <a:normAutofit/>
          </a:bodyPr>
          <a:lstStyle/>
          <a:p>
            <a:pPr marL="0" indent="0" defTabSz="914400" fontAlgn="base" latinLnBrk="0">
              <a:spcAft>
                <a:spcPts val="600"/>
              </a:spcAft>
              <a:buSzTx/>
              <a:buFont typeface="Arial"/>
              <a:buNone/>
              <a:tabLst/>
            </a:pPr>
            <a:r>
              <a:rPr kumimoji="0" lang="en-US" altLang="en-US" sz="1800" normalizeH="0" baseline="0">
                <a:ln>
                  <a:noFill/>
                </a:ln>
                <a:solidFill>
                  <a:srgbClr val="153A80"/>
                </a:solidFill>
                <a:effectLst/>
              </a:rPr>
              <a:t>First Stage Regression Results</a:t>
            </a:r>
          </a:p>
          <a:p>
            <a:pPr marL="0" indent="0" defTabSz="914400" fontAlgn="base" latinLnBrk="0">
              <a:spcAft>
                <a:spcPts val="600"/>
              </a:spcAft>
              <a:buSzTx/>
              <a:buFont typeface="Arial"/>
              <a:buNone/>
              <a:tabLst/>
            </a:pPr>
            <a:endParaRPr kumimoji="0" lang="en-US" altLang="en-US" sz="1800" normalizeH="0" baseline="0">
              <a:ln>
                <a:noFill/>
              </a:ln>
              <a:solidFill>
                <a:srgbClr val="153A80"/>
              </a:solidFill>
              <a:effectLst/>
            </a:endParaRPr>
          </a:p>
        </p:txBody>
      </p:sp>
      <p:graphicFrame>
        <p:nvGraphicFramePr>
          <p:cNvPr id="6" name="Content Placeholder 5">
            <a:extLst>
              <a:ext uri="{FF2B5EF4-FFF2-40B4-BE49-F238E27FC236}">
                <a16:creationId xmlns:a16="http://schemas.microsoft.com/office/drawing/2014/main" id="{BBE33E63-B6F6-17A7-C40B-892B5FF207B0}"/>
              </a:ext>
            </a:extLst>
          </p:cNvPr>
          <p:cNvGraphicFramePr>
            <a:graphicFrameLocks noGrp="1"/>
          </p:cNvGraphicFramePr>
          <p:nvPr>
            <p:ph sz="quarter" idx="22"/>
            <p:extLst>
              <p:ext uri="{D42A27DB-BD31-4B8C-83A1-F6EECF244321}">
                <p14:modId xmlns:p14="http://schemas.microsoft.com/office/powerpoint/2010/main" val="1769984515"/>
              </p:ext>
            </p:extLst>
          </p:nvPr>
        </p:nvGraphicFramePr>
        <p:xfrm>
          <a:off x="4716622" y="2582702"/>
          <a:ext cx="9303070" cy="5621274"/>
        </p:xfrm>
        <a:graphic>
          <a:graphicData uri="http://schemas.openxmlformats.org/drawingml/2006/table">
            <a:tbl>
              <a:tblPr firstRow="1" bandRow="1"/>
              <a:tblGrid>
                <a:gridCol w="5765960">
                  <a:extLst>
                    <a:ext uri="{9D8B030D-6E8A-4147-A177-3AD203B41FA5}">
                      <a16:colId xmlns:a16="http://schemas.microsoft.com/office/drawing/2014/main" val="3613141454"/>
                    </a:ext>
                  </a:extLst>
                </a:gridCol>
                <a:gridCol w="3537110">
                  <a:extLst>
                    <a:ext uri="{9D8B030D-6E8A-4147-A177-3AD203B41FA5}">
                      <a16:colId xmlns:a16="http://schemas.microsoft.com/office/drawing/2014/main" val="3403062019"/>
                    </a:ext>
                  </a:extLst>
                </a:gridCol>
              </a:tblGrid>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500"/>
                        </a:spcBef>
                        <a:spcAft>
                          <a:spcPts val="500"/>
                        </a:spcAft>
                        <a:buNone/>
                      </a:pPr>
                      <a:r>
                        <a:rPr lang="en-US" sz="3300" b="1"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Enrollment</a:t>
                      </a:r>
                      <a:endParaRPr lang="en-US" sz="5400" b="1" i="0" u="none" strike="noStrike" dirty="0">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4135812224"/>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Random Access Effect</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0.98***</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566784925"/>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ctr"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(0.00)</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3369255346"/>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(Intercept)</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ctr"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-0.00***</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603234893"/>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ctr"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(0.00)</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1045196488"/>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Num.Obs.</a:t>
                      </a:r>
                      <a:endParaRPr lang="en-US" sz="5400" b="0" i="0" u="none" strike="noStrike">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5628</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314720547"/>
                  </a:ext>
                </a:extLst>
              </a:tr>
              <a:tr h="886968">
                <a:tc gridSpan="2">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p &lt; 0.1, * p &lt; 0.05, ** p &lt; 0.01, *** p &lt; 0.001</a:t>
                      </a:r>
                      <a:endParaRPr lang="en-US" sz="5400" b="0" i="0" u="none" strike="noStrike">
                        <a:effectLst/>
                        <a:latin typeface="Arial" panose="020B0604020202020204" pitchFamily="34" charset="0"/>
                      </a:endParaRPr>
                    </a:p>
                  </a:txBody>
                  <a:tcPr marL="274320" marR="274320" marT="137160" marB="137160">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3668734943"/>
                  </a:ext>
                </a:extLst>
              </a:tr>
              <a:tr h="886968">
                <a:tc gridSpan="2">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Standard errors are in parentheses</a:t>
                      </a:r>
                      <a:endParaRPr lang="en-US" sz="5400" b="0" i="0" u="none" strike="noStrike" dirty="0">
                        <a:effectLst/>
                        <a:latin typeface="Arial" panose="020B0604020202020204" pitchFamily="34" charset="0"/>
                      </a:endParaRPr>
                    </a:p>
                  </a:txBody>
                  <a:tcPr marL="274320" marR="274320" marT="137160" marB="137160">
                    <a:lnL>
                      <a:noFill/>
                    </a:lnL>
                    <a:lnR>
                      <a:noFill/>
                    </a:lnR>
                    <a:lnT>
                      <a:noFill/>
                    </a:lnT>
                    <a:lnB>
                      <a:noFill/>
                    </a:lnB>
                    <a:noFill/>
                  </a:tcPr>
                </a:tc>
                <a:tc hMerge="1">
                  <a:txBody>
                    <a:bodyPr/>
                    <a:lstStyle/>
                    <a:p>
                      <a:endParaRPr lang="en-US"/>
                    </a:p>
                  </a:txBody>
                  <a:tcPr/>
                </a:tc>
                <a:extLst>
                  <a:ext uri="{0D108BD9-81ED-4DB2-BD59-A6C34878D82A}">
                    <a16:rowId xmlns:a16="http://schemas.microsoft.com/office/drawing/2014/main" val="1146429474"/>
                  </a:ext>
                </a:extLst>
              </a:tr>
            </a:tbl>
          </a:graphicData>
        </a:graphic>
      </p:graphicFrame>
    </p:spTree>
    <p:extLst>
      <p:ext uri="{BB962C8B-B14F-4D97-AF65-F5344CB8AC3E}">
        <p14:creationId xmlns:p14="http://schemas.microsoft.com/office/powerpoint/2010/main" val="1481161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740DC2-4BD8-C3DC-6B8C-1E9B9D166DC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CC81267-F62A-1B4C-B37B-84CAA34EBEE7}"/>
              </a:ext>
            </a:extLst>
          </p:cNvPr>
          <p:cNvSpPr>
            <a:spLocks noGrp="1"/>
          </p:cNvSpPr>
          <p:nvPr>
            <p:ph type="body" sz="quarter" idx="18"/>
          </p:nvPr>
        </p:nvSpPr>
        <p:spPr/>
        <p:txBody>
          <a:bodyPr/>
          <a:lstStyle/>
          <a:p>
            <a:r>
              <a:rPr lang="en-US" dirty="0"/>
              <a:t>IV: ITT</a:t>
            </a:r>
          </a:p>
        </p:txBody>
      </p:sp>
      <p:pic>
        <p:nvPicPr>
          <p:cNvPr id="8" name="Picture 7">
            <a:extLst>
              <a:ext uri="{FF2B5EF4-FFF2-40B4-BE49-F238E27FC236}">
                <a16:creationId xmlns:a16="http://schemas.microsoft.com/office/drawing/2014/main" id="{0BD85FA0-88A9-0434-475D-EC2482B94640}"/>
              </a:ext>
            </a:extLst>
          </p:cNvPr>
          <p:cNvPicPr>
            <a:picLocks noChangeAspect="1"/>
          </p:cNvPicPr>
          <p:nvPr/>
        </p:nvPicPr>
        <p:blipFill>
          <a:blip r:embed="rId3"/>
          <a:stretch>
            <a:fillRect/>
          </a:stretch>
        </p:blipFill>
        <p:spPr>
          <a:xfrm>
            <a:off x="5076496" y="861446"/>
            <a:ext cx="8135008" cy="8564107"/>
          </a:xfrm>
          <a:prstGeom prst="rect">
            <a:avLst/>
          </a:prstGeom>
        </p:spPr>
      </p:pic>
    </p:spTree>
    <p:extLst>
      <p:ext uri="{BB962C8B-B14F-4D97-AF65-F5344CB8AC3E}">
        <p14:creationId xmlns:p14="http://schemas.microsoft.com/office/powerpoint/2010/main" val="37135600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BEEC7A-B892-D79C-9074-3C742F8FAA3B}"/>
              </a:ext>
            </a:extLst>
          </p:cNvPr>
          <p:cNvSpPr>
            <a:spLocks noGrp="1"/>
          </p:cNvSpPr>
          <p:nvPr>
            <p:ph type="body" sz="quarter" idx="18"/>
          </p:nvPr>
        </p:nvSpPr>
        <p:spPr>
          <a:xfrm>
            <a:off x="927100" y="384175"/>
            <a:ext cx="16895104" cy="782638"/>
          </a:xfrm>
        </p:spPr>
        <p:txBody>
          <a:bodyPr>
            <a:normAutofit/>
          </a:bodyPr>
          <a:lstStyle/>
          <a:p>
            <a:pPr>
              <a:lnSpc>
                <a:spcPct val="90000"/>
              </a:lnSpc>
              <a:spcAft>
                <a:spcPts val="600"/>
              </a:spcAft>
            </a:pPr>
            <a:r>
              <a:rPr lang="en-US" sz="5000" b="1" i="0" u="none" strike="noStrike" cap="none">
                <a:latin typeface="Arial"/>
                <a:ea typeface="Arial"/>
                <a:cs typeface="Arial"/>
                <a:sym typeface="Arial"/>
              </a:rPr>
              <a:t>IV: ITT (editable)</a:t>
            </a:r>
          </a:p>
        </p:txBody>
      </p:sp>
      <p:sp>
        <p:nvSpPr>
          <p:cNvPr id="7" name="Rectangle 1">
            <a:extLst>
              <a:ext uri="{FF2B5EF4-FFF2-40B4-BE49-F238E27FC236}">
                <a16:creationId xmlns:a16="http://schemas.microsoft.com/office/drawing/2014/main" id="{E60346B4-7E0D-3906-FED9-9EAE52198F91}"/>
              </a:ext>
            </a:extLst>
          </p:cNvPr>
          <p:cNvSpPr>
            <a:spLocks noChangeArrowheads="1"/>
          </p:cNvSpPr>
          <p:nvPr/>
        </p:nvSpPr>
        <p:spPr bwMode="auto">
          <a:xfrm>
            <a:off x="927100" y="9515874"/>
            <a:ext cx="16895102" cy="61240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38088" tIns="45720" rIns="38088" bIns="45720" numCol="1" anchorCtr="0" compatLnSpc="1">
            <a:prstTxWarp prst="textNoShape">
              <a:avLst/>
            </a:prstTxWarp>
            <a:normAutofit/>
          </a:bodyPr>
          <a:lstStyle/>
          <a:p>
            <a:pPr marL="0" indent="0" defTabSz="914400" fontAlgn="base" latinLnBrk="0">
              <a:spcAft>
                <a:spcPts val="600"/>
              </a:spcAft>
              <a:buSzTx/>
              <a:buFont typeface="Arial"/>
              <a:buNone/>
              <a:tabLst/>
            </a:pPr>
            <a:r>
              <a:rPr kumimoji="0" lang="en-US" altLang="en-US" sz="1800" normalizeH="0" baseline="0">
                <a:ln>
                  <a:noFill/>
                </a:ln>
                <a:solidFill>
                  <a:srgbClr val="153A80"/>
                </a:solidFill>
                <a:effectLst/>
              </a:rPr>
              <a:t>ITT Regression Results</a:t>
            </a:r>
          </a:p>
          <a:p>
            <a:pPr marL="0" indent="0" defTabSz="914400" fontAlgn="base" latinLnBrk="0">
              <a:spcAft>
                <a:spcPts val="600"/>
              </a:spcAft>
              <a:buSzTx/>
              <a:buFont typeface="Arial"/>
              <a:buNone/>
              <a:tabLst/>
            </a:pPr>
            <a:endParaRPr kumimoji="0" lang="en-US" altLang="en-US" sz="1800" normalizeH="0" baseline="0">
              <a:ln>
                <a:noFill/>
              </a:ln>
              <a:solidFill>
                <a:srgbClr val="153A80"/>
              </a:solidFill>
              <a:effectLst/>
            </a:endParaRPr>
          </a:p>
        </p:txBody>
      </p:sp>
      <p:graphicFrame>
        <p:nvGraphicFramePr>
          <p:cNvPr id="6" name="Content Placeholder 5">
            <a:extLst>
              <a:ext uri="{FF2B5EF4-FFF2-40B4-BE49-F238E27FC236}">
                <a16:creationId xmlns:a16="http://schemas.microsoft.com/office/drawing/2014/main" id="{98E027FE-824F-B5F2-3EE4-D314567E135E}"/>
              </a:ext>
            </a:extLst>
          </p:cNvPr>
          <p:cNvGraphicFramePr>
            <a:graphicFrameLocks noGrp="1"/>
          </p:cNvGraphicFramePr>
          <p:nvPr>
            <p:ph sz="quarter" idx="22"/>
            <p:extLst>
              <p:ext uri="{D42A27DB-BD31-4B8C-83A1-F6EECF244321}">
                <p14:modId xmlns:p14="http://schemas.microsoft.com/office/powerpoint/2010/main" val="3964271529"/>
              </p:ext>
            </p:extLst>
          </p:nvPr>
        </p:nvGraphicFramePr>
        <p:xfrm>
          <a:off x="4679291" y="2829105"/>
          <a:ext cx="8315376" cy="5024476"/>
        </p:xfrm>
        <a:graphic>
          <a:graphicData uri="http://schemas.openxmlformats.org/drawingml/2006/table">
            <a:tbl>
              <a:tblPr firstRow="1" bandRow="1"/>
              <a:tblGrid>
                <a:gridCol w="4449283">
                  <a:extLst>
                    <a:ext uri="{9D8B030D-6E8A-4147-A177-3AD203B41FA5}">
                      <a16:colId xmlns:a16="http://schemas.microsoft.com/office/drawing/2014/main" val="3983027410"/>
                    </a:ext>
                  </a:extLst>
                </a:gridCol>
                <a:gridCol w="3866093">
                  <a:extLst>
                    <a:ext uri="{9D8B030D-6E8A-4147-A177-3AD203B41FA5}">
                      <a16:colId xmlns:a16="http://schemas.microsoft.com/office/drawing/2014/main" val="3743320673"/>
                    </a:ext>
                  </a:extLst>
                </a:gridCol>
              </a:tblGrid>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800" b="0" i="0" u="none" strike="noStrike">
                        <a:effectLst/>
                        <a:latin typeface="Arial" panose="020B0604020202020204" pitchFamily="34" charset="0"/>
                      </a:endParaRPr>
                    </a:p>
                  </a:txBody>
                  <a:tcPr marL="25541" marR="25541" marT="25541"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500"/>
                        </a:spcBef>
                        <a:spcAft>
                          <a:spcPts val="500"/>
                        </a:spcAft>
                        <a:buNone/>
                      </a:pPr>
                      <a:r>
                        <a:rPr lang="en-US" sz="2900" b="1"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ITT</a:t>
                      </a:r>
                      <a:endParaRPr lang="en-US" sz="4800" b="1" i="0" u="none" strike="noStrike" dirty="0">
                        <a:effectLst/>
                        <a:latin typeface="Arial" panose="020B0604020202020204" pitchFamily="34" charset="0"/>
                      </a:endParaRPr>
                    </a:p>
                  </a:txBody>
                  <a:tcPr marL="25541" marR="25541" marT="25541"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486774088"/>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RCT ITT Effect</a:t>
                      </a:r>
                      <a:endParaRPr lang="en-US" sz="4800" b="0" i="0" u="none" strike="noStrike">
                        <a:effectLst/>
                        <a:latin typeface="Arial" panose="020B0604020202020204" pitchFamily="34" charset="0"/>
                      </a:endParaRPr>
                    </a:p>
                  </a:txBody>
                  <a:tcPr marL="25541" marR="25541" marT="25541"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500"/>
                        </a:spcBef>
                        <a:spcAft>
                          <a:spcPts val="500"/>
                        </a:spcAft>
                        <a:buNone/>
                      </a:pPr>
                      <a:r>
                        <a:rPr lang="en-US" sz="29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-1014.08***</a:t>
                      </a:r>
                      <a:endParaRPr lang="en-US" sz="4800" b="0" i="0" u="none" strike="noStrike" dirty="0">
                        <a:effectLst/>
                        <a:latin typeface="Arial" panose="020B0604020202020204" pitchFamily="34" charset="0"/>
                      </a:endParaRPr>
                    </a:p>
                  </a:txBody>
                  <a:tcPr marL="25541" marR="25541" marT="25541"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1271129949"/>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tc>
                  <a:txBody>
                    <a:bodyPr/>
                    <a:lstStyle/>
                    <a:p>
                      <a:pPr marL="0" marR="0" algn="ctr"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(39.89)</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extLst>
                  <a:ext uri="{0D108BD9-81ED-4DB2-BD59-A6C34878D82A}">
                    <a16:rowId xmlns:a16="http://schemas.microsoft.com/office/drawing/2014/main" val="2273239374"/>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(Intercept)</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tc>
                  <a:txBody>
                    <a:bodyPr/>
                    <a:lstStyle/>
                    <a:p>
                      <a:pPr marL="0" marR="0" algn="ctr"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1798.06***</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extLst>
                  <a:ext uri="{0D108BD9-81ED-4DB2-BD59-A6C34878D82A}">
                    <a16:rowId xmlns:a16="http://schemas.microsoft.com/office/drawing/2014/main" val="2689136818"/>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tc>
                  <a:txBody>
                    <a:bodyPr/>
                    <a:lstStyle/>
                    <a:p>
                      <a:pPr marL="0" marR="0" algn="ctr"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(30.91)</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extLst>
                  <a:ext uri="{0D108BD9-81ED-4DB2-BD59-A6C34878D82A}">
                    <a16:rowId xmlns:a16="http://schemas.microsoft.com/office/drawing/2014/main" val="4043341731"/>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Num.Obs.</a:t>
                      </a:r>
                      <a:endParaRPr lang="en-US" sz="4800" b="0" i="0" u="none" strike="noStrike">
                        <a:effectLst/>
                        <a:latin typeface="Arial" panose="020B0604020202020204" pitchFamily="34" charset="0"/>
                      </a:endParaRPr>
                    </a:p>
                  </a:txBody>
                  <a:tcPr marL="25541" marR="25541" marT="25541"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500"/>
                        </a:spcBef>
                        <a:spcAft>
                          <a:spcPts val="500"/>
                        </a:spcAft>
                        <a:buNone/>
                      </a:pPr>
                      <a:r>
                        <a:rPr lang="en-US" sz="29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5628</a:t>
                      </a:r>
                      <a:endParaRPr lang="en-US" sz="4800" b="0" i="0" u="none" strike="noStrike" dirty="0">
                        <a:effectLst/>
                        <a:latin typeface="Arial" panose="020B0604020202020204" pitchFamily="34" charset="0"/>
                      </a:endParaRPr>
                    </a:p>
                  </a:txBody>
                  <a:tcPr marL="25541" marR="25541" marT="25541"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427637457"/>
                  </a:ext>
                </a:extLst>
              </a:tr>
              <a:tr h="792800">
                <a:tc gridSpan="2">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p &lt; 0.1, * p &lt; 0.05, ** p &lt; 0.01, *** p &lt; 0.001</a:t>
                      </a:r>
                      <a:endParaRPr lang="en-US" sz="4800" b="0" i="0" u="none" strike="noStrike">
                        <a:effectLst/>
                        <a:latin typeface="Arial" panose="020B0604020202020204" pitchFamily="34" charset="0"/>
                      </a:endParaRPr>
                    </a:p>
                  </a:txBody>
                  <a:tcPr marL="245196" marR="245196" marT="122598" marB="122598">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491869357"/>
                  </a:ext>
                </a:extLst>
              </a:tr>
              <a:tr h="792800">
                <a:tc gridSpan="2">
                  <a:txBody>
                    <a:bodyPr/>
                    <a:lstStyle/>
                    <a:p>
                      <a:pPr marL="0" marR="0" algn="l" fontAlgn="ctr">
                        <a:spcBef>
                          <a:spcPts val="500"/>
                        </a:spcBef>
                        <a:spcAft>
                          <a:spcPts val="500"/>
                        </a:spcAft>
                        <a:buNone/>
                      </a:pPr>
                      <a:r>
                        <a:rPr lang="en-US" sz="29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Standard errors are in parentheses</a:t>
                      </a:r>
                      <a:endParaRPr lang="en-US" sz="4800" b="0" i="0" u="none" strike="noStrike" dirty="0">
                        <a:effectLst/>
                        <a:latin typeface="Arial" panose="020B0604020202020204" pitchFamily="34" charset="0"/>
                      </a:endParaRPr>
                    </a:p>
                  </a:txBody>
                  <a:tcPr marL="245196" marR="245196" marT="122598" marB="122598">
                    <a:lnL>
                      <a:noFill/>
                    </a:lnL>
                    <a:lnR>
                      <a:noFill/>
                    </a:lnR>
                    <a:lnT>
                      <a:noFill/>
                    </a:lnT>
                    <a:lnB>
                      <a:noFill/>
                    </a:lnB>
                    <a:noFill/>
                  </a:tcPr>
                </a:tc>
                <a:tc hMerge="1">
                  <a:txBody>
                    <a:bodyPr/>
                    <a:lstStyle/>
                    <a:p>
                      <a:endParaRPr lang="en-US"/>
                    </a:p>
                  </a:txBody>
                  <a:tcPr/>
                </a:tc>
                <a:extLst>
                  <a:ext uri="{0D108BD9-81ED-4DB2-BD59-A6C34878D82A}">
                    <a16:rowId xmlns:a16="http://schemas.microsoft.com/office/drawing/2014/main" val="367834042"/>
                  </a:ext>
                </a:extLst>
              </a:tr>
            </a:tbl>
          </a:graphicData>
        </a:graphic>
      </p:graphicFrame>
    </p:spTree>
    <p:extLst>
      <p:ext uri="{BB962C8B-B14F-4D97-AF65-F5344CB8AC3E}">
        <p14:creationId xmlns:p14="http://schemas.microsoft.com/office/powerpoint/2010/main" val="4322712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D12D86-39BA-D2E1-3632-4E541A6AC19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D384BB6-4732-A159-2BBC-B33B6E9A2085}"/>
              </a:ext>
            </a:extLst>
          </p:cNvPr>
          <p:cNvSpPr>
            <a:spLocks noGrp="1"/>
          </p:cNvSpPr>
          <p:nvPr>
            <p:ph type="body" sz="quarter" idx="18"/>
          </p:nvPr>
        </p:nvSpPr>
        <p:spPr/>
        <p:txBody>
          <a:bodyPr/>
          <a:lstStyle/>
          <a:p>
            <a:r>
              <a:rPr lang="en-US" dirty="0"/>
              <a:t>IV: LATE</a:t>
            </a:r>
          </a:p>
        </p:txBody>
      </p:sp>
      <p:pic>
        <p:nvPicPr>
          <p:cNvPr id="6" name="Picture 5">
            <a:extLst>
              <a:ext uri="{FF2B5EF4-FFF2-40B4-BE49-F238E27FC236}">
                <a16:creationId xmlns:a16="http://schemas.microsoft.com/office/drawing/2014/main" id="{2927BE35-2EED-09F7-17BF-4AE21E392E8B}"/>
              </a:ext>
            </a:extLst>
          </p:cNvPr>
          <p:cNvPicPr>
            <a:picLocks noChangeAspect="1"/>
          </p:cNvPicPr>
          <p:nvPr/>
        </p:nvPicPr>
        <p:blipFill>
          <a:blip r:embed="rId3"/>
          <a:stretch>
            <a:fillRect/>
          </a:stretch>
        </p:blipFill>
        <p:spPr>
          <a:xfrm>
            <a:off x="5155675" y="1088720"/>
            <a:ext cx="7976650" cy="7993990"/>
          </a:xfrm>
          <a:prstGeom prst="rect">
            <a:avLst/>
          </a:prstGeom>
        </p:spPr>
      </p:pic>
    </p:spTree>
    <p:extLst>
      <p:ext uri="{BB962C8B-B14F-4D97-AF65-F5344CB8AC3E}">
        <p14:creationId xmlns:p14="http://schemas.microsoft.com/office/powerpoint/2010/main" val="30359607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
            <a:extLst>
              <a:ext uri="{FF2B5EF4-FFF2-40B4-BE49-F238E27FC236}">
                <a16:creationId xmlns:a16="http://schemas.microsoft.com/office/drawing/2014/main" id="{EFF0A2A8-C370-973F-4589-33E7C1A4D761}"/>
              </a:ext>
            </a:extLst>
          </p:cNvPr>
          <p:cNvSpPr>
            <a:spLocks noGrp="1"/>
          </p:cNvSpPr>
          <p:nvPr>
            <p:ph type="body" sz="quarter" idx="21"/>
          </p:nvPr>
        </p:nvSpPr>
        <p:spPr>
          <a:xfrm>
            <a:off x="927099" y="9499970"/>
            <a:ext cx="16938855" cy="628307"/>
          </a:xfrm>
        </p:spPr>
        <p:txBody>
          <a:bodyPr/>
          <a:lstStyle/>
          <a:p>
            <a:endParaRPr lang="en-US"/>
          </a:p>
        </p:txBody>
      </p:sp>
      <p:sp>
        <p:nvSpPr>
          <p:cNvPr id="3" name="Text Placeholder 2">
            <a:extLst>
              <a:ext uri="{FF2B5EF4-FFF2-40B4-BE49-F238E27FC236}">
                <a16:creationId xmlns:a16="http://schemas.microsoft.com/office/drawing/2014/main" id="{BED7571D-A1AC-C8CA-D4B2-407408F12681}"/>
              </a:ext>
            </a:extLst>
          </p:cNvPr>
          <p:cNvSpPr>
            <a:spLocks noGrp="1"/>
          </p:cNvSpPr>
          <p:nvPr>
            <p:ph type="body" sz="quarter" idx="18"/>
          </p:nvPr>
        </p:nvSpPr>
        <p:spPr>
          <a:xfrm>
            <a:off x="927100" y="384175"/>
            <a:ext cx="16939088" cy="782638"/>
          </a:xfrm>
        </p:spPr>
        <p:txBody>
          <a:bodyPr>
            <a:normAutofit/>
          </a:bodyPr>
          <a:lstStyle/>
          <a:p>
            <a:pPr>
              <a:lnSpc>
                <a:spcPct val="90000"/>
              </a:lnSpc>
              <a:spcAft>
                <a:spcPts val="600"/>
              </a:spcAft>
            </a:pPr>
            <a:r>
              <a:rPr lang="en-US" sz="5000" b="1" i="0" u="none" strike="noStrike" cap="none">
                <a:latin typeface="Arial"/>
                <a:ea typeface="Arial"/>
                <a:cs typeface="Arial"/>
                <a:sym typeface="Arial"/>
              </a:rPr>
              <a:t>IV: LATE (editable)</a:t>
            </a:r>
          </a:p>
        </p:txBody>
      </p:sp>
      <p:graphicFrame>
        <p:nvGraphicFramePr>
          <p:cNvPr id="6" name="Content Placeholder 5">
            <a:extLst>
              <a:ext uri="{FF2B5EF4-FFF2-40B4-BE49-F238E27FC236}">
                <a16:creationId xmlns:a16="http://schemas.microsoft.com/office/drawing/2014/main" id="{1ABDCC0D-2DD8-3EC9-EA21-C9903B00287B}"/>
              </a:ext>
            </a:extLst>
          </p:cNvPr>
          <p:cNvGraphicFramePr>
            <a:graphicFrameLocks noGrp="1"/>
          </p:cNvGraphicFramePr>
          <p:nvPr>
            <p:ph sz="quarter" idx="23"/>
            <p:extLst>
              <p:ext uri="{D42A27DB-BD31-4B8C-83A1-F6EECF244321}">
                <p14:modId xmlns:p14="http://schemas.microsoft.com/office/powerpoint/2010/main" val="1468467575"/>
              </p:ext>
            </p:extLst>
          </p:nvPr>
        </p:nvGraphicFramePr>
        <p:xfrm>
          <a:off x="4744757" y="2885539"/>
          <a:ext cx="9303069" cy="5621274"/>
        </p:xfrm>
        <a:graphic>
          <a:graphicData uri="http://schemas.openxmlformats.org/drawingml/2006/table">
            <a:tbl>
              <a:tblPr firstRow="1" bandRow="1"/>
              <a:tblGrid>
                <a:gridCol w="5189697">
                  <a:extLst>
                    <a:ext uri="{9D8B030D-6E8A-4147-A177-3AD203B41FA5}">
                      <a16:colId xmlns:a16="http://schemas.microsoft.com/office/drawing/2014/main" val="503073646"/>
                    </a:ext>
                  </a:extLst>
                </a:gridCol>
                <a:gridCol w="4113372">
                  <a:extLst>
                    <a:ext uri="{9D8B030D-6E8A-4147-A177-3AD203B41FA5}">
                      <a16:colId xmlns:a16="http://schemas.microsoft.com/office/drawing/2014/main" val="2506832480"/>
                    </a:ext>
                  </a:extLst>
                </a:gridCol>
              </a:tblGrid>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LATE</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05196176"/>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RCT LATE Effect</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-1033.96***</a:t>
                      </a:r>
                      <a:endParaRPr lang="en-US" sz="5400" b="0" i="0" u="none" strike="noStrike" dirty="0">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3415870311"/>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(41.46)</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1353235144"/>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(Intercept)</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1798.06***</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3867092583"/>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(30.91)</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1254529048"/>
                  </a:ext>
                </a:extLst>
              </a:tr>
              <a:tr h="641223">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Num.Obs.</a:t>
                      </a:r>
                      <a:endParaRPr lang="en-US" sz="5400" b="0" i="0" u="none" strike="noStrike">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5628</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097946430"/>
                  </a:ext>
                </a:extLst>
              </a:tr>
              <a:tr h="886968">
                <a:tc gridSpan="2">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p &lt; 0.1, * p &lt; 0.05, ** p &lt; 0.01, *** p &lt; 0.001</a:t>
                      </a:r>
                      <a:endParaRPr lang="en-US" sz="5400" b="0" i="0" u="none" strike="noStrike">
                        <a:effectLst/>
                        <a:latin typeface="Arial" panose="020B0604020202020204" pitchFamily="34" charset="0"/>
                      </a:endParaRPr>
                    </a:p>
                  </a:txBody>
                  <a:tcPr marL="274320" marR="274320" marT="137160" marB="137160">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3565825833"/>
                  </a:ext>
                </a:extLst>
              </a:tr>
              <a:tr h="886968">
                <a:tc gridSpan="2">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Standard errors are in parentheses</a:t>
                      </a:r>
                      <a:endParaRPr lang="en-US" sz="5400" b="0" i="0" u="none" strike="noStrike" dirty="0">
                        <a:effectLst/>
                        <a:latin typeface="Arial" panose="020B0604020202020204" pitchFamily="34" charset="0"/>
                      </a:endParaRPr>
                    </a:p>
                  </a:txBody>
                  <a:tcPr marL="274320" marR="274320" marT="137160" marB="137160">
                    <a:lnL>
                      <a:noFill/>
                    </a:lnL>
                    <a:lnR>
                      <a:noFill/>
                    </a:lnR>
                    <a:lnT>
                      <a:noFill/>
                    </a:lnT>
                    <a:lnB>
                      <a:noFill/>
                    </a:lnB>
                    <a:noFill/>
                  </a:tcPr>
                </a:tc>
                <a:tc hMerge="1">
                  <a:txBody>
                    <a:bodyPr/>
                    <a:lstStyle/>
                    <a:p>
                      <a:endParaRPr lang="en-US"/>
                    </a:p>
                  </a:txBody>
                  <a:tcPr/>
                </a:tc>
                <a:extLst>
                  <a:ext uri="{0D108BD9-81ED-4DB2-BD59-A6C34878D82A}">
                    <a16:rowId xmlns:a16="http://schemas.microsoft.com/office/drawing/2014/main" val="3950107858"/>
                  </a:ext>
                </a:extLst>
              </a:tr>
            </a:tbl>
          </a:graphicData>
        </a:graphic>
      </p:graphicFrame>
    </p:spTree>
    <p:extLst>
      <p:ext uri="{BB962C8B-B14F-4D97-AF65-F5344CB8AC3E}">
        <p14:creationId xmlns:p14="http://schemas.microsoft.com/office/powerpoint/2010/main" val="2782964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36ABC-3572-E3E0-7A0E-599590C18D6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1BB6D9-B0DD-9C0A-6895-81C00B61D294}"/>
              </a:ext>
            </a:extLst>
          </p:cNvPr>
          <p:cNvSpPr>
            <a:spLocks noGrp="1"/>
          </p:cNvSpPr>
          <p:nvPr>
            <p:ph type="body" sz="quarter" idx="19"/>
          </p:nvPr>
        </p:nvSpPr>
        <p:spPr/>
        <p:txBody>
          <a:bodyPr/>
          <a:lstStyle/>
          <a:p>
            <a:r>
              <a:rPr lang="en-US" dirty="0"/>
              <a:t>Exercise 4: RDD</a:t>
            </a:r>
          </a:p>
        </p:txBody>
      </p:sp>
      <p:sp>
        <p:nvSpPr>
          <p:cNvPr id="3" name="Text Placeholder 2">
            <a:extLst>
              <a:ext uri="{FF2B5EF4-FFF2-40B4-BE49-F238E27FC236}">
                <a16:creationId xmlns:a16="http://schemas.microsoft.com/office/drawing/2014/main" id="{EC8820BE-718D-C694-7900-CAC01FE55EE6}"/>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42588845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D5822-B0A4-4D46-DBF4-35FAEE373D16}"/>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E13F1FB-F985-E665-74C7-DC0DE1D256B4}"/>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F664AA2B-4244-CF12-B1B2-A4E174CAD9ED}"/>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74380870-28B4-52EC-5C7F-A9892D7120E8}"/>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F1367000-016A-7944-3482-073D4BB4EBF1}"/>
              </a:ext>
            </a:extLst>
          </p:cNvPr>
          <p:cNvSpPr>
            <a:spLocks noGrp="1"/>
          </p:cNvSpPr>
          <p:nvPr>
            <p:ph type="body" sz="quarter" idx="18"/>
          </p:nvPr>
        </p:nvSpPr>
        <p:spPr/>
        <p:txBody>
          <a:bodyPr/>
          <a:lstStyle/>
          <a:p>
            <a:r>
              <a:rPr lang="en-US" dirty="0"/>
              <a:t>Enrolled vs. Not Enrolled in Treat Neighborhoods</a:t>
            </a:r>
          </a:p>
        </p:txBody>
      </p:sp>
      <p:pic>
        <p:nvPicPr>
          <p:cNvPr id="4" name="Picture 3">
            <a:extLst>
              <a:ext uri="{FF2B5EF4-FFF2-40B4-BE49-F238E27FC236}">
                <a16:creationId xmlns:a16="http://schemas.microsoft.com/office/drawing/2014/main" id="{5441F00F-A8B2-68FF-A656-E7ACFED108A6}"/>
              </a:ext>
            </a:extLst>
          </p:cNvPr>
          <p:cNvPicPr>
            <a:picLocks noChangeAspect="1"/>
          </p:cNvPicPr>
          <p:nvPr/>
        </p:nvPicPr>
        <p:blipFill>
          <a:blip r:embed="rId4"/>
          <a:srcRect l="39402" t="1972" r="3036" b="20070"/>
          <a:stretch>
            <a:fillRect/>
          </a:stretch>
        </p:blipFill>
        <p:spPr>
          <a:xfrm>
            <a:off x="2161931" y="2133050"/>
            <a:ext cx="2581347" cy="2529675"/>
          </a:xfrm>
          <a:prstGeom prst="rect">
            <a:avLst/>
          </a:prstGeom>
        </p:spPr>
      </p:pic>
      <p:graphicFrame>
        <p:nvGraphicFramePr>
          <p:cNvPr id="6" name="Table 5">
            <a:extLst>
              <a:ext uri="{FF2B5EF4-FFF2-40B4-BE49-F238E27FC236}">
                <a16:creationId xmlns:a16="http://schemas.microsoft.com/office/drawing/2014/main" id="{602F81C7-55EB-F16C-3B01-D67FE363CC04}"/>
              </a:ext>
            </a:extLst>
          </p:cNvPr>
          <p:cNvGraphicFramePr>
            <a:graphicFrameLocks noGrp="1"/>
          </p:cNvGraphicFramePr>
          <p:nvPr/>
        </p:nvGraphicFramePr>
        <p:xfrm>
          <a:off x="12801600" y="1826595"/>
          <a:ext cx="4776950" cy="7151700"/>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610852">
                <a:tc>
                  <a:txBody>
                    <a:bodyPr/>
                    <a:lstStyle/>
                    <a:p>
                      <a:pPr algn="ctr"/>
                      <a:r>
                        <a:rPr lang="en-US" sz="2400" b="1" dirty="0">
                          <a:solidFill>
                            <a:schemeClr val="bg2"/>
                          </a:solidFill>
                        </a:rPr>
                        <a:t>Total businesses in the Emirate</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9,913</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815113971"/>
                  </a:ext>
                </a:extLst>
              </a:tr>
              <a:tr h="1964998">
                <a:tc>
                  <a:txBody>
                    <a:bodyPr/>
                    <a:lstStyle/>
                    <a:p>
                      <a:pPr algn="ctr"/>
                      <a:r>
                        <a:rPr lang="en-US" sz="2400" b="1" dirty="0">
                          <a:solidFill>
                            <a:schemeClr val="bg2"/>
                          </a:solidFill>
                        </a:rPr>
                        <a:t>Total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4,959</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677125133"/>
                  </a:ext>
                </a:extLst>
              </a:tr>
              <a:tr h="1964998">
                <a:tc>
                  <a:txBody>
                    <a:bodyPr/>
                    <a:lstStyle/>
                    <a:p>
                      <a:pPr algn="ctr"/>
                      <a:r>
                        <a:rPr lang="en-US" sz="2400" b="1" dirty="0">
                          <a:solidFill>
                            <a:schemeClr val="bg2"/>
                          </a:solidFill>
                        </a:rPr>
                        <a:t>Total eligible businesses in treatment neighborhoods (</a:t>
                      </a:r>
                      <a:r>
                        <a:rPr lang="en-US" sz="2400" b="1" dirty="0" err="1">
                          <a:solidFill>
                            <a:schemeClr val="bg2"/>
                          </a:solidFill>
                        </a:rPr>
                        <a:t>enrolled</a:t>
                      </a:r>
                      <a:r>
                        <a:rPr lang="en-US" sz="2400" b="1" dirty="0">
                          <a:solidFill>
                            <a:schemeClr val="bg2"/>
                          </a:solidFill>
                        </a:rPr>
                        <a:t>)</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r h="1610852">
                <a:tc>
                  <a:txBody>
                    <a:bodyPr/>
                    <a:lstStyle/>
                    <a:p>
                      <a:pPr algn="ctr"/>
                      <a:r>
                        <a:rPr lang="en-US" sz="2400" b="1" dirty="0">
                          <a:solidFill>
                            <a:schemeClr val="bg2"/>
                          </a:solidFill>
                        </a:rPr>
                        <a:t>Total businesses that are ineligible in treatment neighborhoods </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1,995</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013030751"/>
                  </a:ext>
                </a:extLst>
              </a:tr>
            </a:tbl>
          </a:graphicData>
        </a:graphic>
      </p:graphicFrame>
      <p:sp>
        <p:nvSpPr>
          <p:cNvPr id="8" name="TextBox 7">
            <a:extLst>
              <a:ext uri="{FF2B5EF4-FFF2-40B4-BE49-F238E27FC236}">
                <a16:creationId xmlns:a16="http://schemas.microsoft.com/office/drawing/2014/main" id="{D695B138-82CE-543D-726C-389CABEED14C}"/>
              </a:ext>
            </a:extLst>
          </p:cNvPr>
          <p:cNvSpPr txBox="1"/>
          <p:nvPr/>
        </p:nvSpPr>
        <p:spPr>
          <a:xfrm>
            <a:off x="3974390" y="5537803"/>
            <a:ext cx="2066544" cy="707886"/>
          </a:xfrm>
          <a:prstGeom prst="rect">
            <a:avLst/>
          </a:prstGeom>
          <a:noFill/>
        </p:spPr>
        <p:txBody>
          <a:bodyPr wrap="square" rtlCol="0">
            <a:spAutoFit/>
          </a:bodyPr>
          <a:lstStyle/>
          <a:p>
            <a:r>
              <a:rPr lang="en-US" sz="2000" b="1" dirty="0"/>
              <a:t>Control Neighborhoods</a:t>
            </a:r>
          </a:p>
        </p:txBody>
      </p:sp>
      <p:sp>
        <p:nvSpPr>
          <p:cNvPr id="9" name="TextBox 8">
            <a:extLst>
              <a:ext uri="{FF2B5EF4-FFF2-40B4-BE49-F238E27FC236}">
                <a16:creationId xmlns:a16="http://schemas.microsoft.com/office/drawing/2014/main" id="{319A5B5C-1585-E41B-1608-EAD3A3A07924}"/>
              </a:ext>
            </a:extLst>
          </p:cNvPr>
          <p:cNvSpPr txBox="1"/>
          <p:nvPr/>
        </p:nvSpPr>
        <p:spPr>
          <a:xfrm>
            <a:off x="3971758" y="6409804"/>
            <a:ext cx="2066544" cy="707886"/>
          </a:xfrm>
          <a:prstGeom prst="rect">
            <a:avLst/>
          </a:prstGeom>
          <a:noFill/>
        </p:spPr>
        <p:txBody>
          <a:bodyPr wrap="square" rtlCol="0">
            <a:spAutoFit/>
          </a:bodyPr>
          <a:lstStyle/>
          <a:p>
            <a:r>
              <a:rPr lang="en-US" sz="2000" b="1" dirty="0"/>
              <a:t>Treatment Neighborhoods</a:t>
            </a:r>
          </a:p>
        </p:txBody>
      </p:sp>
      <p:sp>
        <p:nvSpPr>
          <p:cNvPr id="10" name="Oval 9">
            <a:extLst>
              <a:ext uri="{FF2B5EF4-FFF2-40B4-BE49-F238E27FC236}">
                <a16:creationId xmlns:a16="http://schemas.microsoft.com/office/drawing/2014/main" id="{3BEFF306-9657-4664-97E6-B5C16F15F611}"/>
              </a:ext>
            </a:extLst>
          </p:cNvPr>
          <p:cNvSpPr/>
          <p:nvPr/>
        </p:nvSpPr>
        <p:spPr>
          <a:xfrm>
            <a:off x="1655377" y="5702744"/>
            <a:ext cx="731520" cy="457200"/>
          </a:xfrm>
          <a:prstGeom prst="ellipse">
            <a:avLst/>
          </a:prstGeom>
          <a:solidFill>
            <a:srgbClr val="EE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1A1EF5A-0D92-63B5-00D9-568B6F2A45F5}"/>
              </a:ext>
            </a:extLst>
          </p:cNvPr>
          <p:cNvSpPr/>
          <p:nvPr/>
        </p:nvSpPr>
        <p:spPr>
          <a:xfrm>
            <a:off x="1671143" y="6472877"/>
            <a:ext cx="731520" cy="457200"/>
          </a:xfrm>
          <a:prstGeom prst="ellipse">
            <a:avLst/>
          </a:prstGeom>
          <a:solidFill>
            <a:srgbClr val="1B8E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01ADD94-CCF9-96B3-67FF-90350224C175}"/>
              </a:ext>
            </a:extLst>
          </p:cNvPr>
          <p:cNvSpPr/>
          <p:nvPr/>
        </p:nvSpPr>
        <p:spPr>
          <a:xfrm>
            <a:off x="1476063" y="7282824"/>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250E84D-C0C7-664C-926E-0B34DA9454E9}"/>
              </a:ext>
            </a:extLst>
          </p:cNvPr>
          <p:cNvSpPr/>
          <p:nvPr/>
        </p:nvSpPr>
        <p:spPr>
          <a:xfrm>
            <a:off x="1503623" y="8387621"/>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City outline">
            <a:extLst>
              <a:ext uri="{FF2B5EF4-FFF2-40B4-BE49-F238E27FC236}">
                <a16:creationId xmlns:a16="http://schemas.microsoft.com/office/drawing/2014/main" id="{968223CD-C592-C7F9-28D3-1ED8786925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83088" y="8343431"/>
            <a:ext cx="914400" cy="914400"/>
          </a:xfrm>
          <a:prstGeom prst="rect">
            <a:avLst/>
          </a:prstGeom>
        </p:spPr>
      </p:pic>
      <p:sp>
        <p:nvSpPr>
          <p:cNvPr id="15" name="Equals 14">
            <a:extLst>
              <a:ext uri="{FF2B5EF4-FFF2-40B4-BE49-F238E27FC236}">
                <a16:creationId xmlns:a16="http://schemas.microsoft.com/office/drawing/2014/main" id="{086BD7F9-2EF4-6C49-2575-EBD65357E589}"/>
              </a:ext>
            </a:extLst>
          </p:cNvPr>
          <p:cNvSpPr/>
          <p:nvPr/>
        </p:nvSpPr>
        <p:spPr>
          <a:xfrm>
            <a:off x="3169964" y="8619395"/>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060EFA25-B7DA-D4C5-0878-D6E4AC4E0C4C}"/>
              </a:ext>
            </a:extLst>
          </p:cNvPr>
          <p:cNvSpPr txBox="1"/>
          <p:nvPr/>
        </p:nvSpPr>
        <p:spPr>
          <a:xfrm>
            <a:off x="3970251" y="8388372"/>
            <a:ext cx="2066544" cy="707886"/>
          </a:xfrm>
          <a:prstGeom prst="rect">
            <a:avLst/>
          </a:prstGeom>
          <a:noFill/>
        </p:spPr>
        <p:txBody>
          <a:bodyPr wrap="square" rtlCol="0">
            <a:spAutoFit/>
          </a:bodyPr>
          <a:lstStyle/>
          <a:p>
            <a:r>
              <a:rPr lang="en-US" sz="2000" b="1" dirty="0"/>
              <a:t>10 eligible businesses</a:t>
            </a:r>
          </a:p>
        </p:txBody>
      </p:sp>
      <p:pic>
        <p:nvPicPr>
          <p:cNvPr id="17" name="Graphic 16" descr="City outline">
            <a:extLst>
              <a:ext uri="{FF2B5EF4-FFF2-40B4-BE49-F238E27FC236}">
                <a16:creationId xmlns:a16="http://schemas.microsoft.com/office/drawing/2014/main" id="{16A072DD-72DF-AC3D-D804-578411CBFD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7322" y="7316651"/>
            <a:ext cx="914400" cy="914400"/>
          </a:xfrm>
          <a:prstGeom prst="rect">
            <a:avLst/>
          </a:prstGeom>
        </p:spPr>
      </p:pic>
      <p:sp>
        <p:nvSpPr>
          <p:cNvPr id="18" name="Equals 17">
            <a:extLst>
              <a:ext uri="{FF2B5EF4-FFF2-40B4-BE49-F238E27FC236}">
                <a16:creationId xmlns:a16="http://schemas.microsoft.com/office/drawing/2014/main" id="{0D463773-C374-823D-9F75-0A1AC1591EB8}"/>
              </a:ext>
            </a:extLst>
          </p:cNvPr>
          <p:cNvSpPr/>
          <p:nvPr/>
        </p:nvSpPr>
        <p:spPr>
          <a:xfrm>
            <a:off x="3167779" y="7535808"/>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57B4097D-4461-9C98-ED20-E05F7703FD4B}"/>
              </a:ext>
            </a:extLst>
          </p:cNvPr>
          <p:cNvSpPr txBox="1"/>
          <p:nvPr/>
        </p:nvSpPr>
        <p:spPr>
          <a:xfrm>
            <a:off x="3999598" y="7336318"/>
            <a:ext cx="2066544" cy="707886"/>
          </a:xfrm>
          <a:prstGeom prst="rect">
            <a:avLst/>
          </a:prstGeom>
          <a:noFill/>
        </p:spPr>
        <p:txBody>
          <a:bodyPr wrap="square" rtlCol="0">
            <a:spAutoFit/>
          </a:bodyPr>
          <a:lstStyle/>
          <a:p>
            <a:r>
              <a:rPr lang="en-US" sz="2000" b="1" dirty="0"/>
              <a:t>10 ineligible businesses </a:t>
            </a:r>
          </a:p>
        </p:txBody>
      </p:sp>
      <p:sp>
        <p:nvSpPr>
          <p:cNvPr id="20" name="Equals 19">
            <a:extLst>
              <a:ext uri="{FF2B5EF4-FFF2-40B4-BE49-F238E27FC236}">
                <a16:creationId xmlns:a16="http://schemas.microsoft.com/office/drawing/2014/main" id="{DD21F10E-AD8E-6C21-CF22-692A18BEA770}"/>
              </a:ext>
            </a:extLst>
          </p:cNvPr>
          <p:cNvSpPr/>
          <p:nvPr/>
        </p:nvSpPr>
        <p:spPr>
          <a:xfrm>
            <a:off x="3180470" y="6596144"/>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Equals 20">
            <a:extLst>
              <a:ext uri="{FF2B5EF4-FFF2-40B4-BE49-F238E27FC236}">
                <a16:creationId xmlns:a16="http://schemas.microsoft.com/office/drawing/2014/main" id="{B7D1B046-1336-9461-7BD7-37F979FD2363}"/>
              </a:ext>
            </a:extLst>
          </p:cNvPr>
          <p:cNvSpPr/>
          <p:nvPr/>
        </p:nvSpPr>
        <p:spPr>
          <a:xfrm>
            <a:off x="3178285" y="5717515"/>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844311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667527-E512-E16F-85C1-A90B9E4D1A1F}"/>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F84E6783-1A0B-BD81-CC5A-7FBED4F8EB83}"/>
              </a:ext>
            </a:extLst>
          </p:cNvPr>
          <p:cNvSpPr>
            <a:spLocks noGrp="1"/>
          </p:cNvSpPr>
          <p:nvPr>
            <p:ph type="body" sz="quarter" idx="18"/>
          </p:nvPr>
        </p:nvSpPr>
        <p:spPr/>
        <p:txBody>
          <a:bodyPr/>
          <a:lstStyle/>
          <a:p>
            <a:r>
              <a:rPr lang="en-US" dirty="0"/>
              <a:t>RDD Graphs: Manipulation Checks</a:t>
            </a:r>
          </a:p>
        </p:txBody>
      </p:sp>
      <p:pic>
        <p:nvPicPr>
          <p:cNvPr id="6" name="Content Placeholder 6">
            <a:extLst>
              <a:ext uri="{FF2B5EF4-FFF2-40B4-BE49-F238E27FC236}">
                <a16:creationId xmlns:a16="http://schemas.microsoft.com/office/drawing/2014/main" id="{1CB3D65D-BA0A-E20B-5ED5-B824A48FFF39}"/>
              </a:ext>
            </a:extLst>
          </p:cNvPr>
          <p:cNvPicPr>
            <a:picLocks noGrp="1" noChangeAspect="1"/>
          </p:cNvPicPr>
          <p:nvPr>
            <p:ph sz="quarter" idx="23"/>
          </p:nvPr>
        </p:nvPicPr>
        <p:blipFill>
          <a:blip r:embed="rId3"/>
          <a:stretch>
            <a:fillRect/>
          </a:stretch>
        </p:blipFill>
        <p:spPr>
          <a:xfrm>
            <a:off x="927099" y="1631724"/>
            <a:ext cx="8517501" cy="7108187"/>
          </a:xfrm>
          <a:prstGeom prst="rect">
            <a:avLst/>
          </a:prstGeom>
        </p:spPr>
      </p:pic>
      <p:pic>
        <p:nvPicPr>
          <p:cNvPr id="8" name="Picture 7">
            <a:extLst>
              <a:ext uri="{FF2B5EF4-FFF2-40B4-BE49-F238E27FC236}">
                <a16:creationId xmlns:a16="http://schemas.microsoft.com/office/drawing/2014/main" id="{8E15312D-F671-ABD8-F2E7-BBB5A96032D9}"/>
              </a:ext>
            </a:extLst>
          </p:cNvPr>
          <p:cNvPicPr>
            <a:picLocks noChangeAspect="1"/>
          </p:cNvPicPr>
          <p:nvPr/>
        </p:nvPicPr>
        <p:blipFill>
          <a:blip r:embed="rId4"/>
          <a:stretch>
            <a:fillRect/>
          </a:stretch>
        </p:blipFill>
        <p:spPr>
          <a:xfrm>
            <a:off x="9396526" y="1961924"/>
            <a:ext cx="8658483" cy="6965126"/>
          </a:xfrm>
          <a:prstGeom prst="rect">
            <a:avLst/>
          </a:prstGeom>
        </p:spPr>
      </p:pic>
    </p:spTree>
    <p:extLst>
      <p:ext uri="{BB962C8B-B14F-4D97-AF65-F5344CB8AC3E}">
        <p14:creationId xmlns:p14="http://schemas.microsoft.com/office/powerpoint/2010/main" val="2777650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DAC6C1-C8E6-F03E-A670-F841F082B579}"/>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6E08F02C-A512-E1DE-FBB2-13A5CCEBAA4C}"/>
              </a:ext>
            </a:extLst>
          </p:cNvPr>
          <p:cNvSpPr>
            <a:spLocks noGrp="1"/>
          </p:cNvSpPr>
          <p:nvPr>
            <p:ph type="body" sz="quarter" idx="18"/>
          </p:nvPr>
        </p:nvSpPr>
        <p:spPr/>
        <p:txBody>
          <a:bodyPr/>
          <a:lstStyle/>
          <a:p>
            <a:r>
              <a:rPr lang="en-US" dirty="0"/>
              <a:t>RDD Graphs: Compliance Verification </a:t>
            </a:r>
          </a:p>
        </p:txBody>
      </p:sp>
      <p:pic>
        <p:nvPicPr>
          <p:cNvPr id="11" name="Content Placeholder 10">
            <a:extLst>
              <a:ext uri="{FF2B5EF4-FFF2-40B4-BE49-F238E27FC236}">
                <a16:creationId xmlns:a16="http://schemas.microsoft.com/office/drawing/2014/main" id="{4A3A7294-EF26-21D6-ADB9-2ADDE10490B4}"/>
              </a:ext>
            </a:extLst>
          </p:cNvPr>
          <p:cNvPicPr>
            <a:picLocks noGrp="1" noChangeAspect="1"/>
          </p:cNvPicPr>
          <p:nvPr>
            <p:ph sz="quarter" idx="23"/>
          </p:nvPr>
        </p:nvPicPr>
        <p:blipFill>
          <a:blip r:embed="rId2"/>
          <a:stretch>
            <a:fillRect/>
          </a:stretch>
        </p:blipFill>
        <p:spPr>
          <a:xfrm>
            <a:off x="4396311" y="1655379"/>
            <a:ext cx="9766252" cy="7641568"/>
          </a:xfrm>
          <a:prstGeom prst="rect">
            <a:avLst/>
          </a:prstGeom>
        </p:spPr>
      </p:pic>
    </p:spTree>
    <p:extLst>
      <p:ext uri="{BB962C8B-B14F-4D97-AF65-F5344CB8AC3E}">
        <p14:creationId xmlns:p14="http://schemas.microsoft.com/office/powerpoint/2010/main" val="28417209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E12F1D-8A7B-81FD-5439-6F9C383CE70D}"/>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903240D0-0EC7-2C80-7DE3-EE098CF7D8EE}"/>
              </a:ext>
            </a:extLst>
          </p:cNvPr>
          <p:cNvSpPr>
            <a:spLocks noGrp="1"/>
          </p:cNvSpPr>
          <p:nvPr>
            <p:ph type="body" sz="quarter" idx="18"/>
          </p:nvPr>
        </p:nvSpPr>
        <p:spPr/>
        <p:txBody>
          <a:bodyPr/>
          <a:lstStyle/>
          <a:p>
            <a:r>
              <a:rPr lang="en-US" dirty="0"/>
              <a:t>RDD Graphs: Visualization of Relationship</a:t>
            </a:r>
          </a:p>
        </p:txBody>
      </p:sp>
      <p:pic>
        <p:nvPicPr>
          <p:cNvPr id="7" name="Content Placeholder 6">
            <a:extLst>
              <a:ext uri="{FF2B5EF4-FFF2-40B4-BE49-F238E27FC236}">
                <a16:creationId xmlns:a16="http://schemas.microsoft.com/office/drawing/2014/main" id="{E4A73A68-59F7-9D47-FB87-69F0BB343556}"/>
              </a:ext>
            </a:extLst>
          </p:cNvPr>
          <p:cNvPicPr>
            <a:picLocks noGrp="1" noChangeAspect="1"/>
          </p:cNvPicPr>
          <p:nvPr>
            <p:ph sz="quarter" idx="23"/>
          </p:nvPr>
        </p:nvPicPr>
        <p:blipFill>
          <a:blip r:embed="rId3"/>
          <a:stretch>
            <a:fillRect/>
          </a:stretch>
        </p:blipFill>
        <p:spPr>
          <a:xfrm>
            <a:off x="4064030" y="1578823"/>
            <a:ext cx="10159940" cy="7639345"/>
          </a:xfrm>
          <a:prstGeom prst="rect">
            <a:avLst/>
          </a:prstGeom>
        </p:spPr>
      </p:pic>
    </p:spTree>
    <p:extLst>
      <p:ext uri="{BB962C8B-B14F-4D97-AF65-F5344CB8AC3E}">
        <p14:creationId xmlns:p14="http://schemas.microsoft.com/office/powerpoint/2010/main" val="16288218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A8A2A9-4FF7-C443-6991-4B5AD744E7D6}"/>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8FE2D7FA-F13A-EFCE-07BC-72EFD8064AE2}"/>
              </a:ext>
            </a:extLst>
          </p:cNvPr>
          <p:cNvSpPr>
            <a:spLocks noGrp="1"/>
          </p:cNvSpPr>
          <p:nvPr>
            <p:ph type="body" sz="quarter" idx="18"/>
          </p:nvPr>
        </p:nvSpPr>
        <p:spPr/>
        <p:txBody>
          <a:bodyPr/>
          <a:lstStyle/>
          <a:p>
            <a:r>
              <a:rPr lang="en-US" dirty="0"/>
              <a:t>RDD</a:t>
            </a:r>
          </a:p>
        </p:txBody>
      </p:sp>
      <p:pic>
        <p:nvPicPr>
          <p:cNvPr id="5" name="Picture 4">
            <a:extLst>
              <a:ext uri="{FF2B5EF4-FFF2-40B4-BE49-F238E27FC236}">
                <a16:creationId xmlns:a16="http://schemas.microsoft.com/office/drawing/2014/main" id="{513C8D25-9AC3-C595-F54B-A1A4097544D9}"/>
              </a:ext>
            </a:extLst>
          </p:cNvPr>
          <p:cNvPicPr>
            <a:picLocks noChangeAspect="1"/>
          </p:cNvPicPr>
          <p:nvPr/>
        </p:nvPicPr>
        <p:blipFill>
          <a:blip r:embed="rId2"/>
          <a:stretch>
            <a:fillRect/>
          </a:stretch>
        </p:blipFill>
        <p:spPr>
          <a:xfrm>
            <a:off x="5988397" y="1644082"/>
            <a:ext cx="6816257" cy="6998835"/>
          </a:xfrm>
          <a:prstGeom prst="rect">
            <a:avLst/>
          </a:prstGeom>
        </p:spPr>
      </p:pic>
    </p:spTree>
    <p:extLst>
      <p:ext uri="{BB962C8B-B14F-4D97-AF65-F5344CB8AC3E}">
        <p14:creationId xmlns:p14="http://schemas.microsoft.com/office/powerpoint/2010/main" val="41561825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A8B701-EAA1-D82E-5CC7-2AE489ED2E75}"/>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BDB98935-0DE6-23DA-026B-0BB07F15E459}"/>
              </a:ext>
            </a:extLst>
          </p:cNvPr>
          <p:cNvSpPr>
            <a:spLocks noGrp="1"/>
          </p:cNvSpPr>
          <p:nvPr>
            <p:ph type="body" sz="quarter" idx="18"/>
          </p:nvPr>
        </p:nvSpPr>
        <p:spPr/>
        <p:txBody>
          <a:bodyPr/>
          <a:lstStyle/>
          <a:p>
            <a:r>
              <a:rPr lang="en-US" dirty="0"/>
              <a:t>RDD (editable)</a:t>
            </a:r>
          </a:p>
        </p:txBody>
      </p:sp>
      <p:graphicFrame>
        <p:nvGraphicFramePr>
          <p:cNvPr id="7" name="Content Placeholder 9">
            <a:extLst>
              <a:ext uri="{FF2B5EF4-FFF2-40B4-BE49-F238E27FC236}">
                <a16:creationId xmlns:a16="http://schemas.microsoft.com/office/drawing/2014/main" id="{B814BAB1-E671-6AF9-33FB-FD4F935B2EAC}"/>
              </a:ext>
            </a:extLst>
          </p:cNvPr>
          <p:cNvGraphicFramePr>
            <a:graphicFrameLocks/>
          </p:cNvGraphicFramePr>
          <p:nvPr>
            <p:extLst>
              <p:ext uri="{D42A27DB-BD31-4B8C-83A1-F6EECF244321}">
                <p14:modId xmlns:p14="http://schemas.microsoft.com/office/powerpoint/2010/main" val="2241549071"/>
              </p:ext>
            </p:extLst>
          </p:nvPr>
        </p:nvGraphicFramePr>
        <p:xfrm>
          <a:off x="4587766" y="1939159"/>
          <a:ext cx="9380482" cy="6132784"/>
        </p:xfrm>
        <a:graphic>
          <a:graphicData uri="http://schemas.openxmlformats.org/drawingml/2006/table">
            <a:tbl>
              <a:tblPr firstRow="1" bandRow="1"/>
              <a:tblGrid>
                <a:gridCol w="3593494"/>
                <a:gridCol w="2893494"/>
                <a:gridCol w="2893494"/>
              </a:tblGrid>
              <a:tr h="699571">
                <a:tc>
                  <a:txBody>
                    <a:bodyPr/>
                    <a:lstStyle/>
                    <a:p>
                      <a:pPr marL="0" marR="0" algn="l" fontAlgn="ctr">
                        <a:spcBef>
                          <a:spcPts val="500"/>
                        </a:spcBef>
                        <a:spcAft>
                          <a:spcPts val="500"/>
                        </a:spcAft>
                        <a:buNone/>
                      </a:pPr>
                      <a:r>
                        <a:rPr lang="en-US" sz="28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500" b="0" i="0" u="none" strike="noStrike">
                        <a:effectLst/>
                        <a:latin typeface="Arial" panose="020B0604020202020204" pitchFamily="34" charset="0"/>
                      </a:endParaRPr>
                    </a:p>
                  </a:txBody>
                  <a:tcPr marL="23829" marR="23829" marT="23829"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500"/>
                        </a:spcBef>
                        <a:spcAft>
                          <a:spcPts val="500"/>
                        </a:spcAft>
                        <a:buNone/>
                      </a:pPr>
                      <a:r>
                        <a:rPr lang="en-US" sz="2800" b="1" i="0" u="none" strike="noStrike" dirty="0" err="1">
                          <a:solidFill>
                            <a:srgbClr val="000000"/>
                          </a:solidFill>
                          <a:effectLst/>
                          <a:latin typeface="Arial" panose="020B0604020202020204" pitchFamily="34" charset="0"/>
                          <a:ea typeface="Arial" panose="020B0604020202020204" pitchFamily="34" charset="0"/>
                          <a:cs typeface="Times New Roman" panose="02020603050405020304" pitchFamily="18" charset="0"/>
                        </a:rPr>
                        <a:t>Sharp RDD (no covariates)</a:t>
                      </a:r>
                      <a:endParaRPr lang="en-US" sz="4500" b="1" i="0" u="none" strike="noStrike" dirty="0">
                        <a:effectLst/>
                        <a:latin typeface="Arial" panose="020B0604020202020204" pitchFamily="34" charset="0"/>
                      </a:endParaRPr>
                    </a:p>
                  </a:txBody>
                  <a:tcPr marL="23829" marR="23829" marT="23829"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500"/>
                        </a:spcBef>
                        <a:spcAft>
                          <a:spcPts val="500"/>
                        </a:spcAft>
                        <a:buNone/>
                      </a:pPr>
                      <a:r>
                        <a:rPr lang="en-US" sz="2800" b="1" i="0" u="none" strike="noStrike" dirty="0" err="1">
                          <a:solidFill>
                            <a:srgbClr val="000000"/>
                          </a:solidFill>
                          <a:effectLst/>
                          <a:latin typeface="Arial" panose="020B0604020202020204" pitchFamily="34" charset="0"/>
                          <a:ea typeface="Arial" panose="020B0604020202020204" pitchFamily="34" charset="0"/>
                          <a:cs typeface="Times New Roman" panose="02020603050405020304" pitchFamily="18" charset="0"/>
                        </a:rPr>
                        <a:t>Sharp RDD (with covariates)</a:t>
                      </a:r>
                      <a:endParaRPr lang="en-US" sz="4500" b="1" i="0" u="none" strike="noStrike" dirty="0">
                        <a:effectLst/>
                        <a:latin typeface="Arial" panose="020B0604020202020204" pitchFamily="34" charset="0"/>
                      </a:endParaRPr>
                    </a:p>
                  </a:txBody>
                  <a:tcPr marL="23829" marR="23829" marT="23829"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342423614"/>
                  </a:ext>
                </a:extLst>
              </a:tr>
              <a:tr h="699571">
                <a:tc>
                  <a:txBody>
                    <a:bodyPr/>
                    <a:lstStyle/>
                    <a:p>
                      <a:pPr marL="0" marR="0" algn="l" fontAlgn="ctr">
                        <a:spcBef>
                          <a:spcPts val="500"/>
                        </a:spcBef>
                        <a:spcAft>
                          <a:spcPts val="500"/>
                        </a:spcAft>
                        <a:buNone/>
                      </a:pPr>
                      <a:r>
                        <a:rPr lang="en-US" sz="28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RDD Effect</a:t>
                      </a:r>
                      <a:endParaRPr lang="en-US" sz="4500" b="0" i="0" u="none" strike="noStrike">
                        <a:effectLst/>
                        <a:latin typeface="Arial" panose="020B0604020202020204" pitchFamily="34" charset="0"/>
                      </a:endParaRPr>
                    </a:p>
                  </a:txBody>
                  <a:tcPr marL="23829" marR="23829" marT="23829"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500"/>
                        </a:spcBef>
                        <a:spcAft>
                          <a:spcPts val="500"/>
                        </a:spcAft>
                        <a:buNone/>
                      </a:pPr>
                      <a:r>
                        <a:rPr lang="en-US" sz="28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-1119.07***</a:t>
                      </a:r>
                      <a:endParaRPr lang="en-US" sz="4500" b="0" i="0" u="none" strike="noStrike" dirty="0">
                        <a:effectLst/>
                        <a:latin typeface="Arial" panose="020B0604020202020204" pitchFamily="34" charset="0"/>
                      </a:endParaRPr>
                    </a:p>
                  </a:txBody>
                  <a:tcPr marL="23829" marR="23829" marT="23829"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ctr" fontAlgn="ctr">
                        <a:spcBef>
                          <a:spcPts val="500"/>
                        </a:spcBef>
                        <a:spcAft>
                          <a:spcPts val="500"/>
                        </a:spcAft>
                        <a:buNone/>
                      </a:pPr>
                      <a:r>
                        <a:rPr lang="en-US" sz="28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-905.96***</a:t>
                      </a:r>
                      <a:endParaRPr lang="en-US" sz="4500" b="0" i="0" u="none" strike="noStrike" dirty="0">
                        <a:effectLst/>
                        <a:latin typeface="Arial" panose="020B0604020202020204" pitchFamily="34" charset="0"/>
                      </a:endParaRPr>
                    </a:p>
                  </a:txBody>
                  <a:tcPr marL="23829" marR="23829" marT="23829"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2828666285"/>
                  </a:ext>
                </a:extLst>
              </a:tr>
              <a:tr h="699571">
                <a:tc>
                  <a:txBody>
                    <a:bodyPr/>
                    <a:lstStyle/>
                    <a:p>
                      <a:pPr marL="0" marR="0" algn="l" fontAlgn="ctr">
                        <a:spcBef>
                          <a:spcPts val="500"/>
                        </a:spcBef>
                        <a:spcAft>
                          <a:spcPts val="500"/>
                        </a:spcAft>
                        <a:buNone/>
                      </a:pPr>
                      <a:r>
                        <a:rPr lang="en-US" sz="28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500" b="0" i="0" u="none" strike="noStrike">
                        <a:effectLst/>
                        <a:latin typeface="Arial" panose="020B0604020202020204" pitchFamily="34" charset="0"/>
                      </a:endParaRPr>
                    </a:p>
                  </a:txBody>
                  <a:tcPr marL="23829" marR="23829" marT="23829" marB="0" anchor="ctr">
                    <a:lnL>
                      <a:noFill/>
                    </a:lnL>
                    <a:lnR>
                      <a:noFill/>
                    </a:lnR>
                    <a:lnT>
                      <a:noFill/>
                    </a:lnT>
                    <a:lnB>
                      <a:noFill/>
                    </a:lnB>
                    <a:noFill/>
                  </a:tcPr>
                </a:tc>
                <a:tc>
                  <a:txBody>
                    <a:bodyPr/>
                    <a:lstStyle/>
                    <a:p>
                      <a:pPr marL="0" marR="0" algn="ctr" fontAlgn="ctr">
                        <a:spcBef>
                          <a:spcPts val="500"/>
                        </a:spcBef>
                        <a:spcAft>
                          <a:spcPts val="500"/>
                        </a:spcAft>
                        <a:buNone/>
                      </a:pPr>
                      <a:r>
                        <a:rPr lang="en-US" sz="28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(48.93)</a:t>
                      </a:r>
                      <a:endParaRPr lang="en-US" sz="4500" b="0" i="0" u="none" strike="noStrike">
                        <a:effectLst/>
                        <a:latin typeface="Arial" panose="020B0604020202020204" pitchFamily="34" charset="0"/>
                      </a:endParaRPr>
                    </a:p>
                  </a:txBody>
                  <a:tcPr marL="23829" marR="23829" marT="23829" marB="0" anchor="ctr">
                    <a:lnL>
                      <a:noFill/>
                    </a:lnL>
                    <a:lnR>
                      <a:noFill/>
                    </a:lnR>
                    <a:lnT>
                      <a:noFill/>
                    </a:lnT>
                    <a:lnB>
                      <a:noFill/>
                    </a:lnB>
                    <a:noFill/>
                  </a:tcPr>
                </a:tc>
                <a:tc>
                  <a:txBody>
                    <a:bodyPr/>
                    <a:lstStyle/>
                    <a:p>
                      <a:pPr marL="0" marR="0" algn="ctr" fontAlgn="ctr">
                        <a:spcBef>
                          <a:spcPts val="500"/>
                        </a:spcBef>
                        <a:spcAft>
                          <a:spcPts val="500"/>
                        </a:spcAft>
                        <a:buNone/>
                      </a:pPr>
                      <a:r>
                        <a:rPr lang="en-US" sz="28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(44.38)</a:t>
                      </a:r>
                      <a:endParaRPr lang="en-US" sz="4500" b="0" i="0" u="none" strike="noStrike">
                        <a:effectLst/>
                        <a:latin typeface="Arial" panose="020B0604020202020204" pitchFamily="34" charset="0"/>
                      </a:endParaRPr>
                    </a:p>
                  </a:txBody>
                  <a:tcPr marL="23829" marR="23829" marT="23829" marB="0" anchor="ctr">
                    <a:lnL>
                      <a:noFill/>
                    </a:lnL>
                    <a:lnR>
                      <a:noFill/>
                    </a:lnR>
                    <a:lnT>
                      <a:noFill/>
                    </a:lnT>
                    <a:lnB>
                      <a:noFill/>
                    </a:lnB>
                    <a:noFill/>
                  </a:tcPr>
                </a:tc>
                <a:extLst>
                  <a:ext uri="{0D108BD9-81ED-4DB2-BD59-A6C34878D82A}">
                    <a16:rowId xmlns:a16="http://schemas.microsoft.com/office/drawing/2014/main" val="2490016394"/>
                  </a:ext>
                </a:extLst>
              </a:tr>
              <a:tr h="699571">
                <a:tc>
                  <a:txBody>
                    <a:bodyPr/>
                    <a:lstStyle/>
                    <a:p>
                      <a:pPr marL="0" marR="0" algn="l" fontAlgn="ctr">
                        <a:spcBef>
                          <a:spcPts val="500"/>
                        </a:spcBef>
                        <a:spcAft>
                          <a:spcPts val="500"/>
                        </a:spcAft>
                        <a:buNone/>
                      </a:pPr>
                      <a:r>
                        <a:rPr lang="en-US" sz="28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(Intercept)</a:t>
                      </a:r>
                      <a:endParaRPr lang="en-US" sz="4500" b="0" i="0" u="none" strike="noStrike" dirty="0">
                        <a:effectLst/>
                        <a:latin typeface="Arial" panose="020B0604020202020204" pitchFamily="34" charset="0"/>
                      </a:endParaRPr>
                    </a:p>
                  </a:txBody>
                  <a:tcPr marL="23829" marR="23829" marT="23829" marB="0" anchor="ctr">
                    <a:lnL>
                      <a:noFill/>
                    </a:lnL>
                    <a:lnR>
                      <a:noFill/>
                    </a:lnR>
                    <a:lnT>
                      <a:noFill/>
                    </a:lnT>
                    <a:lnB>
                      <a:noFill/>
                    </a:lnB>
                    <a:noFill/>
                  </a:tcPr>
                </a:tc>
                <a:tc>
                  <a:txBody>
                    <a:bodyPr/>
                    <a:lstStyle/>
                    <a:p>
                      <a:pPr marL="0" marR="0" algn="ctr" fontAlgn="ctr">
                        <a:spcBef>
                          <a:spcPts val="500"/>
                        </a:spcBef>
                        <a:spcAft>
                          <a:spcPts val="500"/>
                        </a:spcAft>
                        <a:buNone/>
                      </a:pPr>
                      <a:r>
                        <a:rPr lang="en-US" sz="28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2055.45***</a:t>
                      </a:r>
                      <a:endParaRPr lang="en-US" sz="4500" b="0" i="0" u="none" strike="noStrike" dirty="0">
                        <a:effectLst/>
                        <a:latin typeface="Arial" panose="020B0604020202020204" pitchFamily="34" charset="0"/>
                      </a:endParaRPr>
                    </a:p>
                  </a:txBody>
                  <a:tcPr marL="23829" marR="23829" marT="23829" marB="0" anchor="ctr">
                    <a:lnL>
                      <a:noFill/>
                    </a:lnL>
                    <a:lnR>
                      <a:noFill/>
                    </a:lnR>
                    <a:lnT>
                      <a:noFill/>
                    </a:lnT>
                    <a:lnB>
                      <a:noFill/>
                    </a:lnB>
                    <a:noFill/>
                  </a:tcPr>
                </a:tc>
                <a:tc>
                  <a:txBody>
                    <a:bodyPr/>
                    <a:lstStyle/>
                    <a:p>
                      <a:pPr marL="0" marR="0" algn="ctr" fontAlgn="ctr">
                        <a:spcBef>
                          <a:spcPts val="500"/>
                        </a:spcBef>
                        <a:spcAft>
                          <a:spcPts val="500"/>
                        </a:spcAft>
                        <a:buNone/>
                      </a:pPr>
                      <a:r>
                        <a:rPr lang="en-US" sz="28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2790.85***</a:t>
                      </a:r>
                      <a:endParaRPr lang="en-US" sz="4500" b="0" i="0" u="none" strike="noStrike" dirty="0">
                        <a:effectLst/>
                        <a:latin typeface="Arial" panose="020B0604020202020204" pitchFamily="34" charset="0"/>
                      </a:endParaRPr>
                    </a:p>
                  </a:txBody>
                  <a:tcPr marL="23829" marR="23829" marT="23829" marB="0" anchor="ctr">
                    <a:lnL>
                      <a:noFill/>
                    </a:lnL>
                    <a:lnR>
                      <a:noFill/>
                    </a:lnR>
                    <a:lnT>
                      <a:noFill/>
                    </a:lnT>
                    <a:lnB>
                      <a:noFill/>
                    </a:lnB>
                    <a:noFill/>
                  </a:tcPr>
                </a:tc>
                <a:extLst>
                  <a:ext uri="{0D108BD9-81ED-4DB2-BD59-A6C34878D82A}">
                    <a16:rowId xmlns:a16="http://schemas.microsoft.com/office/drawing/2014/main" val="192289897"/>
                  </a:ext>
                </a:extLst>
              </a:tr>
              <a:tr h="699571">
                <a:tc>
                  <a:txBody>
                    <a:bodyPr/>
                    <a:lstStyle/>
                    <a:p>
                      <a:pPr marL="0" marR="0" algn="l" fontAlgn="ctr">
                        <a:spcBef>
                          <a:spcPts val="500"/>
                        </a:spcBef>
                        <a:spcAft>
                          <a:spcPts val="500"/>
                        </a:spcAft>
                        <a:buNone/>
                      </a:pPr>
                      <a:r>
                        <a:rPr lang="en-US" sz="28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500" b="0" i="0" u="none" strike="noStrike">
                        <a:effectLst/>
                        <a:latin typeface="Arial" panose="020B0604020202020204" pitchFamily="34" charset="0"/>
                      </a:endParaRPr>
                    </a:p>
                  </a:txBody>
                  <a:tcPr marL="23829" marR="23829" marT="23829" marB="0" anchor="ctr">
                    <a:lnL>
                      <a:noFill/>
                    </a:lnL>
                    <a:lnR>
                      <a:noFill/>
                    </a:lnR>
                    <a:lnT>
                      <a:noFill/>
                    </a:lnT>
                    <a:lnB>
                      <a:noFill/>
                    </a:lnB>
                    <a:noFill/>
                  </a:tcPr>
                </a:tc>
                <a:tc>
                  <a:txBody>
                    <a:bodyPr/>
                    <a:lstStyle/>
                    <a:p>
                      <a:pPr marL="0" marR="0" algn="ctr" fontAlgn="ctr">
                        <a:spcBef>
                          <a:spcPts val="500"/>
                        </a:spcBef>
                        <a:spcAft>
                          <a:spcPts val="500"/>
                        </a:spcAft>
                        <a:buNone/>
                      </a:pPr>
                      <a:r>
                        <a:rPr lang="en-US" sz="28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(41.15)</a:t>
                      </a:r>
                      <a:endParaRPr lang="en-US" sz="4500" b="0" i="0" u="none" strike="noStrike" dirty="0">
                        <a:effectLst/>
                        <a:latin typeface="Arial" panose="020B0604020202020204" pitchFamily="34" charset="0"/>
                      </a:endParaRPr>
                    </a:p>
                  </a:txBody>
                  <a:tcPr marL="23829" marR="23829" marT="23829" marB="0" anchor="ctr">
                    <a:lnL>
                      <a:noFill/>
                    </a:lnL>
                    <a:lnR>
                      <a:noFill/>
                    </a:lnR>
                    <a:lnT>
                      <a:noFill/>
                    </a:lnT>
                    <a:lnB>
                      <a:noFill/>
                    </a:lnB>
                    <a:noFill/>
                  </a:tcPr>
                </a:tc>
                <a:tc>
                  <a:txBody>
                    <a:bodyPr/>
                    <a:lstStyle/>
                    <a:p>
                      <a:pPr marL="0" marR="0" algn="ctr" fontAlgn="ctr">
                        <a:spcBef>
                          <a:spcPts val="500"/>
                        </a:spcBef>
                        <a:spcAft>
                          <a:spcPts val="500"/>
                        </a:spcAft>
                        <a:buNone/>
                      </a:pPr>
                      <a:r>
                        <a:rPr lang="en-US" sz="28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(77.76)</a:t>
                      </a:r>
                      <a:endParaRPr lang="en-US" sz="4500" b="0" i="0" u="none" strike="noStrike" dirty="0">
                        <a:effectLst/>
                        <a:latin typeface="Arial" panose="020B0604020202020204" pitchFamily="34" charset="0"/>
                      </a:endParaRPr>
                    </a:p>
                  </a:txBody>
                  <a:tcPr marL="23829" marR="23829" marT="23829" marB="0" anchor="ctr">
                    <a:lnL>
                      <a:noFill/>
                    </a:lnL>
                    <a:lnR>
                      <a:noFill/>
                    </a:lnR>
                    <a:lnT>
                      <a:noFill/>
                    </a:lnT>
                    <a:lnB>
                      <a:noFill/>
                    </a:lnB>
                    <a:noFill/>
                  </a:tcPr>
                </a:tc>
                <a:extLst>
                  <a:ext uri="{0D108BD9-81ED-4DB2-BD59-A6C34878D82A}">
                    <a16:rowId xmlns:a16="http://schemas.microsoft.com/office/drawing/2014/main" val="4083169414"/>
                  </a:ext>
                </a:extLst>
              </a:tr>
              <a:tr h="699571">
                <a:tc>
                  <a:txBody>
                    <a:bodyPr/>
                    <a:lstStyle/>
                    <a:p>
                      <a:pPr marL="0" marR="0" algn="l" fontAlgn="ctr">
                        <a:spcBef>
                          <a:spcPts val="500"/>
                        </a:spcBef>
                        <a:spcAft>
                          <a:spcPts val="500"/>
                        </a:spcAft>
                        <a:buNone/>
                      </a:pPr>
                      <a:r>
                        <a:rPr lang="en-US" sz="28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Num.Obs.</a:t>
                      </a:r>
                      <a:endParaRPr lang="en-US" sz="4500" b="0" i="0" u="none" strike="noStrike">
                        <a:effectLst/>
                        <a:latin typeface="Arial" panose="020B0604020202020204" pitchFamily="34" charset="0"/>
                      </a:endParaRPr>
                    </a:p>
                  </a:txBody>
                  <a:tcPr marL="23829" marR="23829" marT="23829"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500"/>
                        </a:spcBef>
                        <a:spcAft>
                          <a:spcPts val="500"/>
                        </a:spcAft>
                        <a:buNone/>
                      </a:pPr>
                      <a:r>
                        <a:rPr lang="en-US" sz="28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4959</a:t>
                      </a:r>
                      <a:endParaRPr lang="en-US" sz="4500" b="0" i="0" u="none" strike="noStrike" dirty="0">
                        <a:effectLst/>
                        <a:latin typeface="Arial" panose="020B0604020202020204" pitchFamily="34" charset="0"/>
                      </a:endParaRPr>
                    </a:p>
                  </a:txBody>
                  <a:tcPr marL="23829" marR="23829" marT="23829"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ctr" fontAlgn="ctr">
                        <a:spcBef>
                          <a:spcPts val="500"/>
                        </a:spcBef>
                        <a:spcAft>
                          <a:spcPts val="500"/>
                        </a:spcAft>
                        <a:buNone/>
                      </a:pPr>
                      <a:r>
                        <a:rPr lang="en-US" sz="28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4959</a:t>
                      </a:r>
                      <a:endParaRPr lang="en-US" sz="4500" b="0" i="0" u="none" strike="noStrike" dirty="0">
                        <a:effectLst/>
                        <a:latin typeface="Arial" panose="020B0604020202020204" pitchFamily="34" charset="0"/>
                      </a:endParaRPr>
                    </a:p>
                  </a:txBody>
                  <a:tcPr marL="23829" marR="23829" marT="23829"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341544275"/>
                  </a:ext>
                </a:extLst>
              </a:tr>
              <a:tr h="967679">
                <a:tc gridSpan="3">
                  <a:txBody>
                    <a:bodyPr/>
                    <a:lstStyle/>
                    <a:p>
                      <a:pPr marL="0" marR="0" algn="l" fontAlgn="ctr">
                        <a:spcBef>
                          <a:spcPts val="500"/>
                        </a:spcBef>
                        <a:spcAft>
                          <a:spcPts val="500"/>
                        </a:spcAft>
                        <a:buNone/>
                      </a:pPr>
                      <a:r>
                        <a:rPr lang="en-US" sz="28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p &lt; 0.1, * p &lt; 0.05, ** p &lt; 0.01, *** p &lt; 0.001</a:t>
                      </a:r>
                      <a:endParaRPr lang="en-US" sz="4500" b="0" i="0" u="none" strike="noStrike">
                        <a:effectLst/>
                        <a:latin typeface="Arial" panose="020B0604020202020204" pitchFamily="34" charset="0"/>
                      </a:endParaRPr>
                    </a:p>
                  </a:txBody>
                  <a:tcPr marL="228754" marR="228754" marT="114377" marB="114377">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2753717714"/>
                  </a:ext>
                </a:extLst>
              </a:tr>
              <a:tr h="967679">
                <a:tc gridSpan="3">
                  <a:txBody>
                    <a:bodyPr/>
                    <a:lstStyle/>
                    <a:p>
                      <a:pPr marL="0" marR="0" algn="l" fontAlgn="ctr">
                        <a:spcBef>
                          <a:spcPts val="500"/>
                        </a:spcBef>
                        <a:spcAft>
                          <a:spcPts val="500"/>
                        </a:spcAft>
                        <a:buNone/>
                      </a:pPr>
                      <a:r>
                        <a:rPr lang="en-US" sz="28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Standard errors are in parentheses</a:t>
                      </a:r>
                      <a:endParaRPr lang="en-US" sz="4500" b="0" i="0" u="none" strike="noStrike" dirty="0">
                        <a:effectLst/>
                        <a:latin typeface="Arial" panose="020B0604020202020204" pitchFamily="34" charset="0"/>
                      </a:endParaRPr>
                    </a:p>
                  </a:txBody>
                  <a:tcPr marL="228754" marR="228754" marT="114377" marB="114377">
                    <a:lnL>
                      <a:noFill/>
                    </a:lnL>
                    <a:lnR>
                      <a:noFill/>
                    </a:lnR>
                    <a:lnT>
                      <a:noFill/>
                    </a:lnT>
                    <a:lnB>
                      <a:noFill/>
                    </a:lnB>
                    <a:noFill/>
                  </a:tcPr>
                </a:tc>
                <a:extLst>
                  <a:ext uri="{0D108BD9-81ED-4DB2-BD59-A6C34878D82A}">
                    <a16:rowId xmlns:a16="http://schemas.microsoft.com/office/drawing/2014/main" val="3078346496"/>
                  </a:ext>
                </a:extLst>
              </a:tr>
            </a:tbl>
          </a:graphicData>
        </a:graphic>
      </p:graphicFrame>
    </p:spTree>
    <p:extLst>
      <p:ext uri="{BB962C8B-B14F-4D97-AF65-F5344CB8AC3E}">
        <p14:creationId xmlns:p14="http://schemas.microsoft.com/office/powerpoint/2010/main" val="32701935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544B8AB-CEC2-2DFA-6546-E464A0501D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E56A43-36AC-ECAB-0699-B3E21F113BFF}"/>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616A654A-CA76-B2B9-3D74-B34ED8A63EA7}"/>
              </a:ext>
            </a:extLst>
          </p:cNvPr>
          <p:cNvSpPr>
            <a:spLocks noGrp="1"/>
          </p:cNvSpPr>
          <p:nvPr>
            <p:ph type="body" sz="quarter" idx="18"/>
          </p:nvPr>
        </p:nvSpPr>
        <p:spPr/>
        <p:txBody>
          <a:bodyPr/>
          <a:lstStyle/>
          <a:p>
            <a:r>
              <a:rPr lang="en-US" dirty="0"/>
              <a:t>RDD Robustness</a:t>
            </a:r>
          </a:p>
        </p:txBody>
      </p:sp>
      <p:pic>
        <p:nvPicPr>
          <p:cNvPr id="5" name="Picture 4">
            <a:extLst>
              <a:ext uri="{FF2B5EF4-FFF2-40B4-BE49-F238E27FC236}">
                <a16:creationId xmlns:a16="http://schemas.microsoft.com/office/drawing/2014/main" id="{E524A528-DF27-31D4-6A6F-00126E025426}"/>
              </a:ext>
            </a:extLst>
          </p:cNvPr>
          <p:cNvPicPr>
            <a:picLocks noChangeAspect="1"/>
          </p:cNvPicPr>
          <p:nvPr/>
        </p:nvPicPr>
        <p:blipFill>
          <a:blip r:embed="rId3"/>
          <a:stretch>
            <a:fillRect/>
          </a:stretch>
        </p:blipFill>
        <p:spPr>
          <a:xfrm>
            <a:off x="4474221" y="1766986"/>
            <a:ext cx="10063077" cy="5863524"/>
          </a:xfrm>
          <a:prstGeom prst="rect">
            <a:avLst/>
          </a:prstGeom>
        </p:spPr>
      </p:pic>
    </p:spTree>
    <p:extLst>
      <p:ext uri="{BB962C8B-B14F-4D97-AF65-F5344CB8AC3E}">
        <p14:creationId xmlns:p14="http://schemas.microsoft.com/office/powerpoint/2010/main" val="2776365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978334B-D9A1-E2AE-1D19-BD294C6CC21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F17FC03-F1B1-BE30-6652-BF6C947E0025}"/>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7DCE43AC-A9B4-7BFD-6C1D-E2C3A46A63A3}"/>
              </a:ext>
            </a:extLst>
          </p:cNvPr>
          <p:cNvSpPr>
            <a:spLocks noGrp="1"/>
          </p:cNvSpPr>
          <p:nvPr>
            <p:ph type="body" sz="quarter" idx="18"/>
          </p:nvPr>
        </p:nvSpPr>
        <p:spPr/>
        <p:txBody>
          <a:bodyPr/>
          <a:lstStyle/>
          <a:p>
            <a:r>
              <a:rPr lang="en-US" dirty="0"/>
              <a:t>RDD Restricted to Cutoff</a:t>
            </a:r>
          </a:p>
        </p:txBody>
      </p:sp>
      <p:pic>
        <p:nvPicPr>
          <p:cNvPr id="5" name="Picture 4">
            <a:extLst>
              <a:ext uri="{FF2B5EF4-FFF2-40B4-BE49-F238E27FC236}">
                <a16:creationId xmlns:a16="http://schemas.microsoft.com/office/drawing/2014/main" id="{C3BF24A7-7511-1294-B766-1F602326C8F2}"/>
              </a:ext>
            </a:extLst>
          </p:cNvPr>
          <p:cNvPicPr>
            <a:picLocks noChangeAspect="1"/>
          </p:cNvPicPr>
          <p:nvPr/>
        </p:nvPicPr>
        <p:blipFill>
          <a:blip r:embed="rId2"/>
          <a:stretch>
            <a:fillRect/>
          </a:stretch>
        </p:blipFill>
        <p:spPr>
          <a:xfrm>
            <a:off x="5466246" y="1986222"/>
            <a:ext cx="7355507" cy="6694339"/>
          </a:xfrm>
          <a:prstGeom prst="rect">
            <a:avLst/>
          </a:prstGeom>
        </p:spPr>
      </p:pic>
    </p:spTree>
    <p:extLst>
      <p:ext uri="{BB962C8B-B14F-4D97-AF65-F5344CB8AC3E}">
        <p14:creationId xmlns:p14="http://schemas.microsoft.com/office/powerpoint/2010/main" val="30882350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A2774-E0EB-FB85-0439-BE1617CE6C6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F678827-6687-E6D3-E51E-4F2900A3F8A4}"/>
              </a:ext>
            </a:extLst>
          </p:cNvPr>
          <p:cNvSpPr>
            <a:spLocks noGrp="1"/>
          </p:cNvSpPr>
          <p:nvPr>
            <p:ph type="body" sz="quarter" idx="19"/>
          </p:nvPr>
        </p:nvSpPr>
        <p:spPr/>
        <p:txBody>
          <a:bodyPr/>
          <a:lstStyle/>
          <a:p>
            <a:r>
              <a:rPr lang="en-US" dirty="0"/>
              <a:t>Exercise 5: DID</a:t>
            </a:r>
          </a:p>
        </p:txBody>
      </p:sp>
      <p:sp>
        <p:nvSpPr>
          <p:cNvPr id="3" name="Text Placeholder 2">
            <a:extLst>
              <a:ext uri="{FF2B5EF4-FFF2-40B4-BE49-F238E27FC236}">
                <a16:creationId xmlns:a16="http://schemas.microsoft.com/office/drawing/2014/main" id="{42BD6C50-CC7B-0A7F-74CA-A090B694D819}"/>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901282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3D786-0019-9752-B332-57A8D58441FE}"/>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9F682E8-ABA5-729E-DA04-7133D67449F5}"/>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E639D537-DED4-6CF0-E4AD-03C081B7035F}"/>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EE421C04-2F86-96A9-05D4-AAE7F96AC6A1}"/>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CDC2989F-092C-D742-BAB6-DA9DC0F58024}"/>
              </a:ext>
            </a:extLst>
          </p:cNvPr>
          <p:cNvSpPr>
            <a:spLocks noGrp="1"/>
          </p:cNvSpPr>
          <p:nvPr>
            <p:ph type="body" sz="quarter" idx="18"/>
          </p:nvPr>
        </p:nvSpPr>
        <p:spPr/>
        <p:txBody>
          <a:bodyPr/>
          <a:lstStyle/>
          <a:p>
            <a:r>
              <a:rPr lang="en-US" dirty="0"/>
              <a:t>Enrolled vs. Not Enrolled in Treat Neighborhoods</a:t>
            </a:r>
          </a:p>
        </p:txBody>
      </p:sp>
      <p:pic>
        <p:nvPicPr>
          <p:cNvPr id="4" name="Picture 3">
            <a:extLst>
              <a:ext uri="{FF2B5EF4-FFF2-40B4-BE49-F238E27FC236}">
                <a16:creationId xmlns:a16="http://schemas.microsoft.com/office/drawing/2014/main" id="{2D8EB594-6339-D7FD-4492-31417AE44B5E}"/>
              </a:ext>
            </a:extLst>
          </p:cNvPr>
          <p:cNvPicPr>
            <a:picLocks noChangeAspect="1"/>
          </p:cNvPicPr>
          <p:nvPr/>
        </p:nvPicPr>
        <p:blipFill>
          <a:blip r:embed="rId4"/>
          <a:srcRect l="39402" t="1972" r="3036" b="20070"/>
          <a:stretch>
            <a:fillRect/>
          </a:stretch>
        </p:blipFill>
        <p:spPr>
          <a:xfrm>
            <a:off x="2161931" y="2133050"/>
            <a:ext cx="2581347" cy="2529675"/>
          </a:xfrm>
          <a:prstGeom prst="rect">
            <a:avLst/>
          </a:prstGeom>
        </p:spPr>
      </p:pic>
      <p:graphicFrame>
        <p:nvGraphicFramePr>
          <p:cNvPr id="6" name="Table 5">
            <a:extLst>
              <a:ext uri="{FF2B5EF4-FFF2-40B4-BE49-F238E27FC236}">
                <a16:creationId xmlns:a16="http://schemas.microsoft.com/office/drawing/2014/main" id="{61F25CDD-1843-BD29-65A7-1FC2194BC9F3}"/>
              </a:ext>
            </a:extLst>
          </p:cNvPr>
          <p:cNvGraphicFramePr>
            <a:graphicFrameLocks noGrp="1"/>
          </p:cNvGraphicFramePr>
          <p:nvPr/>
        </p:nvGraphicFramePr>
        <p:xfrm>
          <a:off x="12801600" y="1826595"/>
          <a:ext cx="4776950" cy="7151700"/>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610852">
                <a:tc>
                  <a:txBody>
                    <a:bodyPr/>
                    <a:lstStyle/>
                    <a:p>
                      <a:pPr algn="ctr"/>
                      <a:r>
                        <a:rPr lang="en-US" sz="2400" b="1" dirty="0">
                          <a:solidFill>
                            <a:schemeClr val="bg2"/>
                          </a:solidFill>
                        </a:rPr>
                        <a:t>Total businesses in the Emirate</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9,913</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815113971"/>
                  </a:ext>
                </a:extLst>
              </a:tr>
              <a:tr h="1964998">
                <a:tc>
                  <a:txBody>
                    <a:bodyPr/>
                    <a:lstStyle/>
                    <a:p>
                      <a:pPr algn="ctr"/>
                      <a:r>
                        <a:rPr lang="en-US" sz="2400" b="1" dirty="0">
                          <a:solidFill>
                            <a:schemeClr val="bg2"/>
                          </a:solidFill>
                        </a:rPr>
                        <a:t>Total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4,959</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677125133"/>
                  </a:ext>
                </a:extLst>
              </a:tr>
              <a:tr h="1964998">
                <a:tc>
                  <a:txBody>
                    <a:bodyPr/>
                    <a:lstStyle/>
                    <a:p>
                      <a:pPr algn="ctr"/>
                      <a:r>
                        <a:rPr lang="en-US" sz="2400" b="1" dirty="0">
                          <a:solidFill>
                            <a:schemeClr val="bg2"/>
                          </a:solidFill>
                        </a:rPr>
                        <a:t>Total eligible businesses in treatment neighborhoods (</a:t>
                      </a:r>
                      <a:r>
                        <a:rPr lang="en-US" sz="2400" b="1" dirty="0" err="1">
                          <a:solidFill>
                            <a:schemeClr val="bg2"/>
                          </a:solidFill>
                        </a:rPr>
                        <a:t>enrolled</a:t>
                      </a:r>
                      <a:r>
                        <a:rPr lang="en-US" sz="2400" b="1" dirty="0">
                          <a:solidFill>
                            <a:schemeClr val="bg2"/>
                          </a:solidFill>
                        </a:rPr>
                        <a:t>)</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r h="1610852">
                <a:tc>
                  <a:txBody>
                    <a:bodyPr/>
                    <a:lstStyle/>
                    <a:p>
                      <a:pPr algn="ctr"/>
                      <a:r>
                        <a:rPr lang="en-US" sz="2400" b="1" dirty="0">
                          <a:solidFill>
                            <a:schemeClr val="bg2"/>
                          </a:solidFill>
                        </a:rPr>
                        <a:t>Total businesses that are ineligible in treatment neighborhoods </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1,995</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1013030751"/>
                  </a:ext>
                </a:extLst>
              </a:tr>
            </a:tbl>
          </a:graphicData>
        </a:graphic>
      </p:graphicFrame>
      <p:sp>
        <p:nvSpPr>
          <p:cNvPr id="8" name="TextBox 7">
            <a:extLst>
              <a:ext uri="{FF2B5EF4-FFF2-40B4-BE49-F238E27FC236}">
                <a16:creationId xmlns:a16="http://schemas.microsoft.com/office/drawing/2014/main" id="{384E8A28-FB50-BA6D-9E7C-2000856DF474}"/>
              </a:ext>
            </a:extLst>
          </p:cNvPr>
          <p:cNvSpPr txBox="1"/>
          <p:nvPr/>
        </p:nvSpPr>
        <p:spPr>
          <a:xfrm>
            <a:off x="3974390" y="5537803"/>
            <a:ext cx="2066544" cy="707886"/>
          </a:xfrm>
          <a:prstGeom prst="rect">
            <a:avLst/>
          </a:prstGeom>
          <a:noFill/>
        </p:spPr>
        <p:txBody>
          <a:bodyPr wrap="square" rtlCol="0">
            <a:spAutoFit/>
          </a:bodyPr>
          <a:lstStyle/>
          <a:p>
            <a:r>
              <a:rPr lang="en-US" sz="2000" b="1" dirty="0"/>
              <a:t>Control Neighborhoods</a:t>
            </a:r>
          </a:p>
        </p:txBody>
      </p:sp>
      <p:sp>
        <p:nvSpPr>
          <p:cNvPr id="9" name="TextBox 8">
            <a:extLst>
              <a:ext uri="{FF2B5EF4-FFF2-40B4-BE49-F238E27FC236}">
                <a16:creationId xmlns:a16="http://schemas.microsoft.com/office/drawing/2014/main" id="{77E52360-1117-A293-610C-EF95F378FEBD}"/>
              </a:ext>
            </a:extLst>
          </p:cNvPr>
          <p:cNvSpPr txBox="1"/>
          <p:nvPr/>
        </p:nvSpPr>
        <p:spPr>
          <a:xfrm>
            <a:off x="3971758" y="6409804"/>
            <a:ext cx="2066544" cy="707886"/>
          </a:xfrm>
          <a:prstGeom prst="rect">
            <a:avLst/>
          </a:prstGeom>
          <a:noFill/>
        </p:spPr>
        <p:txBody>
          <a:bodyPr wrap="square" rtlCol="0">
            <a:spAutoFit/>
          </a:bodyPr>
          <a:lstStyle/>
          <a:p>
            <a:r>
              <a:rPr lang="en-US" sz="2000" b="1" dirty="0"/>
              <a:t>Treatment Neighborhoods</a:t>
            </a:r>
          </a:p>
        </p:txBody>
      </p:sp>
      <p:sp>
        <p:nvSpPr>
          <p:cNvPr id="10" name="Oval 9">
            <a:extLst>
              <a:ext uri="{FF2B5EF4-FFF2-40B4-BE49-F238E27FC236}">
                <a16:creationId xmlns:a16="http://schemas.microsoft.com/office/drawing/2014/main" id="{F3DE9D58-720D-4C12-75A4-F1591866C709}"/>
              </a:ext>
            </a:extLst>
          </p:cNvPr>
          <p:cNvSpPr/>
          <p:nvPr/>
        </p:nvSpPr>
        <p:spPr>
          <a:xfrm>
            <a:off x="1655377" y="5702744"/>
            <a:ext cx="731520" cy="457200"/>
          </a:xfrm>
          <a:prstGeom prst="ellipse">
            <a:avLst/>
          </a:prstGeom>
          <a:solidFill>
            <a:srgbClr val="EE3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AE34F1E-53AE-536B-4F20-AB329A9B3CC0}"/>
              </a:ext>
            </a:extLst>
          </p:cNvPr>
          <p:cNvSpPr/>
          <p:nvPr/>
        </p:nvSpPr>
        <p:spPr>
          <a:xfrm>
            <a:off x="1671143" y="6472877"/>
            <a:ext cx="731520" cy="457200"/>
          </a:xfrm>
          <a:prstGeom prst="ellipse">
            <a:avLst/>
          </a:prstGeom>
          <a:solidFill>
            <a:srgbClr val="1B8E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246C84-D5B2-4A71-6D29-194154CF2685}"/>
              </a:ext>
            </a:extLst>
          </p:cNvPr>
          <p:cNvSpPr/>
          <p:nvPr/>
        </p:nvSpPr>
        <p:spPr>
          <a:xfrm>
            <a:off x="1476063" y="7282824"/>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9B0E071-DF7E-7DDA-B060-D2A7DCC3D238}"/>
              </a:ext>
            </a:extLst>
          </p:cNvPr>
          <p:cNvSpPr/>
          <p:nvPr/>
        </p:nvSpPr>
        <p:spPr>
          <a:xfrm>
            <a:off x="1503623" y="8387621"/>
            <a:ext cx="1097280" cy="9144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City outline">
            <a:extLst>
              <a:ext uri="{FF2B5EF4-FFF2-40B4-BE49-F238E27FC236}">
                <a16:creationId xmlns:a16="http://schemas.microsoft.com/office/drawing/2014/main" id="{C177ED12-A39D-2DF5-19CD-EA01E5DEF5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83088" y="8343431"/>
            <a:ext cx="914400" cy="914400"/>
          </a:xfrm>
          <a:prstGeom prst="rect">
            <a:avLst/>
          </a:prstGeom>
        </p:spPr>
      </p:pic>
      <p:sp>
        <p:nvSpPr>
          <p:cNvPr id="15" name="Equals 14">
            <a:extLst>
              <a:ext uri="{FF2B5EF4-FFF2-40B4-BE49-F238E27FC236}">
                <a16:creationId xmlns:a16="http://schemas.microsoft.com/office/drawing/2014/main" id="{E25F9752-24B3-1D85-E80D-9974FD897051}"/>
              </a:ext>
            </a:extLst>
          </p:cNvPr>
          <p:cNvSpPr/>
          <p:nvPr/>
        </p:nvSpPr>
        <p:spPr>
          <a:xfrm>
            <a:off x="3169964" y="8619395"/>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E33BDF05-EE2B-D0BF-3B67-D252CF62BB91}"/>
              </a:ext>
            </a:extLst>
          </p:cNvPr>
          <p:cNvSpPr txBox="1"/>
          <p:nvPr/>
        </p:nvSpPr>
        <p:spPr>
          <a:xfrm>
            <a:off x="3970251" y="8388372"/>
            <a:ext cx="2066544" cy="707886"/>
          </a:xfrm>
          <a:prstGeom prst="rect">
            <a:avLst/>
          </a:prstGeom>
          <a:noFill/>
        </p:spPr>
        <p:txBody>
          <a:bodyPr wrap="square" rtlCol="0">
            <a:spAutoFit/>
          </a:bodyPr>
          <a:lstStyle/>
          <a:p>
            <a:r>
              <a:rPr lang="en-US" sz="2000" b="1" dirty="0"/>
              <a:t>10 eligible businesses</a:t>
            </a:r>
          </a:p>
        </p:txBody>
      </p:sp>
      <p:pic>
        <p:nvPicPr>
          <p:cNvPr id="17" name="Graphic 16" descr="City outline">
            <a:extLst>
              <a:ext uri="{FF2B5EF4-FFF2-40B4-BE49-F238E27FC236}">
                <a16:creationId xmlns:a16="http://schemas.microsoft.com/office/drawing/2014/main" id="{70D8430C-8B85-7576-6365-A143D55425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7322" y="7316651"/>
            <a:ext cx="914400" cy="914400"/>
          </a:xfrm>
          <a:prstGeom prst="rect">
            <a:avLst/>
          </a:prstGeom>
        </p:spPr>
      </p:pic>
      <p:sp>
        <p:nvSpPr>
          <p:cNvPr id="18" name="Equals 17">
            <a:extLst>
              <a:ext uri="{FF2B5EF4-FFF2-40B4-BE49-F238E27FC236}">
                <a16:creationId xmlns:a16="http://schemas.microsoft.com/office/drawing/2014/main" id="{3B71BA16-2F20-B2DD-4CA1-48E93EE429FD}"/>
              </a:ext>
            </a:extLst>
          </p:cNvPr>
          <p:cNvSpPr/>
          <p:nvPr/>
        </p:nvSpPr>
        <p:spPr>
          <a:xfrm>
            <a:off x="3167779" y="7535808"/>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2C09BA17-6F5D-1AF5-8F0B-3CDE41934348}"/>
              </a:ext>
            </a:extLst>
          </p:cNvPr>
          <p:cNvSpPr txBox="1"/>
          <p:nvPr/>
        </p:nvSpPr>
        <p:spPr>
          <a:xfrm>
            <a:off x="3999598" y="7336318"/>
            <a:ext cx="2066544" cy="707886"/>
          </a:xfrm>
          <a:prstGeom prst="rect">
            <a:avLst/>
          </a:prstGeom>
          <a:noFill/>
        </p:spPr>
        <p:txBody>
          <a:bodyPr wrap="square" rtlCol="0">
            <a:spAutoFit/>
          </a:bodyPr>
          <a:lstStyle/>
          <a:p>
            <a:r>
              <a:rPr lang="en-US" sz="2000" b="1" dirty="0"/>
              <a:t>10 ineligible businesses </a:t>
            </a:r>
          </a:p>
        </p:txBody>
      </p:sp>
      <p:sp>
        <p:nvSpPr>
          <p:cNvPr id="20" name="Equals 19">
            <a:extLst>
              <a:ext uri="{FF2B5EF4-FFF2-40B4-BE49-F238E27FC236}">
                <a16:creationId xmlns:a16="http://schemas.microsoft.com/office/drawing/2014/main" id="{9ACF67F3-2C7E-08D9-DBFF-26F235F328EB}"/>
              </a:ext>
            </a:extLst>
          </p:cNvPr>
          <p:cNvSpPr/>
          <p:nvPr/>
        </p:nvSpPr>
        <p:spPr>
          <a:xfrm>
            <a:off x="3180470" y="6596144"/>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Equals 20">
            <a:extLst>
              <a:ext uri="{FF2B5EF4-FFF2-40B4-BE49-F238E27FC236}">
                <a16:creationId xmlns:a16="http://schemas.microsoft.com/office/drawing/2014/main" id="{D711013C-BAC2-BF59-65CA-33C83AD366DD}"/>
              </a:ext>
            </a:extLst>
          </p:cNvPr>
          <p:cNvSpPr/>
          <p:nvPr/>
        </p:nvSpPr>
        <p:spPr>
          <a:xfrm>
            <a:off x="3178285" y="5717515"/>
            <a:ext cx="548640" cy="365760"/>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001343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C8D76F-CC14-FC53-DB57-09332FCD063D}"/>
              </a:ext>
            </a:extLst>
          </p:cNvPr>
          <p:cNvSpPr>
            <a:spLocks noGrp="1"/>
          </p:cNvSpPr>
          <p:nvPr>
            <p:ph type="body" sz="quarter" idx="18"/>
          </p:nvPr>
        </p:nvSpPr>
        <p:spPr/>
        <p:txBody>
          <a:bodyPr/>
          <a:lstStyle/>
          <a:p>
            <a:r>
              <a:rPr lang="en-US" dirty="0"/>
              <a:t>DID Results</a:t>
            </a:r>
          </a:p>
        </p:txBody>
      </p:sp>
      <p:pic>
        <p:nvPicPr>
          <p:cNvPr id="5" name="Picture 4">
            <a:extLst>
              <a:ext uri="{FF2B5EF4-FFF2-40B4-BE49-F238E27FC236}">
                <a16:creationId xmlns:a16="http://schemas.microsoft.com/office/drawing/2014/main" id="{AE727AAF-AAC1-9CEF-4AA5-86EC3F1645D0}"/>
              </a:ext>
            </a:extLst>
          </p:cNvPr>
          <p:cNvPicPr>
            <a:picLocks noChangeAspect="1"/>
          </p:cNvPicPr>
          <p:nvPr/>
        </p:nvPicPr>
        <p:blipFill>
          <a:blip r:embed="rId3"/>
          <a:stretch>
            <a:fillRect/>
          </a:stretch>
        </p:blipFill>
        <p:spPr>
          <a:xfrm>
            <a:off x="6538833" y="805059"/>
            <a:ext cx="5715622" cy="8676882"/>
          </a:xfrm>
          <a:prstGeom prst="rect">
            <a:avLst/>
          </a:prstGeom>
        </p:spPr>
      </p:pic>
    </p:spTree>
    <p:extLst>
      <p:ext uri="{BB962C8B-B14F-4D97-AF65-F5344CB8AC3E}">
        <p14:creationId xmlns:p14="http://schemas.microsoft.com/office/powerpoint/2010/main" val="4401343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35E881-751B-8215-66A4-01343A606BF9}"/>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BAEC5963-F303-1654-2867-D6A975070B9F}"/>
              </a:ext>
            </a:extLst>
          </p:cNvPr>
          <p:cNvSpPr>
            <a:spLocks noGrp="1"/>
          </p:cNvSpPr>
          <p:nvPr>
            <p:ph type="body" sz="quarter" idx="18"/>
          </p:nvPr>
        </p:nvSpPr>
        <p:spPr/>
        <p:txBody>
          <a:bodyPr/>
          <a:lstStyle/>
          <a:p>
            <a:r>
              <a:rPr lang="en-US" dirty="0"/>
              <a:t>DID (editable)</a:t>
            </a:r>
          </a:p>
        </p:txBody>
      </p:sp>
      <p:sp>
        <p:nvSpPr>
          <p:cNvPr id="6" name="Rectangle 1">
            <a:extLst>
              <a:ext uri="{FF2B5EF4-FFF2-40B4-BE49-F238E27FC236}">
                <a16:creationId xmlns:a16="http://schemas.microsoft.com/office/drawing/2014/main" id="{209E6437-D071-5FB2-93A1-772FEC96A606}"/>
              </a:ext>
            </a:extLst>
          </p:cNvPr>
          <p:cNvSpPr>
            <a:spLocks noChangeArrowheads="1"/>
          </p:cNvSpPr>
          <p:nvPr/>
        </p:nvSpPr>
        <p:spPr bwMode="auto">
          <a:xfrm>
            <a:off x="927100" y="9515874"/>
            <a:ext cx="16895104" cy="61240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38088" tIns="45720" rIns="38088" bIns="45720" numCol="1" anchorCtr="0" compatLnSpc="1">
            <a:prstTxWarp prst="textNoShape">
              <a:avLst/>
            </a:prstTxWarp>
            <a:normAutofit/>
          </a:bodyPr>
          <a:lstStyle/>
          <a:p>
            <a:pPr marL="0" indent="0" defTabSz="914400" fontAlgn="base" latinLnBrk="0">
              <a:spcAft>
                <a:spcPts val="600"/>
              </a:spcAft>
              <a:buSzTx/>
              <a:buFont typeface="Arial"/>
              <a:buNone/>
              <a:tabLst/>
            </a:pPr>
            <a:r>
              <a:rPr kumimoji="0" lang="en-US" altLang="en-US" sz="1800" normalizeH="0" baseline="0">
                <a:ln>
                  <a:noFill/>
                </a:ln>
                <a:solidFill>
                  <a:srgbClr val="FFFFFF"/>
                </a:solidFill>
                <a:effectLst/>
              </a:rPr>
              <a:t>DID Regression Results</a:t>
            </a:r>
          </a:p>
          <a:p>
            <a:pPr marL="0" indent="0" defTabSz="914400" fontAlgn="base" latinLnBrk="0">
              <a:spcAft>
                <a:spcPts val="600"/>
              </a:spcAft>
              <a:buSzTx/>
              <a:buFont typeface="Arial"/>
              <a:buNone/>
              <a:tabLst/>
            </a:pPr>
            <a:endParaRPr kumimoji="0" lang="en-US" altLang="en-US" sz="1800" normalizeH="0" baseline="0">
              <a:ln>
                <a:noFill/>
              </a:ln>
              <a:solidFill>
                <a:srgbClr val="FFFFFF"/>
              </a:solidFill>
              <a:effectLst/>
            </a:endParaRPr>
          </a:p>
        </p:txBody>
      </p:sp>
      <p:graphicFrame>
        <p:nvGraphicFramePr>
          <p:cNvPr id="7" name="Content Placeholder 5">
            <a:extLst>
              <a:ext uri="{FF2B5EF4-FFF2-40B4-BE49-F238E27FC236}">
                <a16:creationId xmlns:a16="http://schemas.microsoft.com/office/drawing/2014/main" id="{80B5824F-031C-285F-4D4A-0103B1D1204D}"/>
              </a:ext>
            </a:extLst>
          </p:cNvPr>
          <p:cNvGraphicFramePr>
            <a:graphicFrameLocks/>
          </p:cNvGraphicFramePr>
          <p:nvPr>
            <p:extLst>
              <p:ext uri="{D42A27DB-BD31-4B8C-83A1-F6EECF244321}">
                <p14:modId xmlns:p14="http://schemas.microsoft.com/office/powerpoint/2010/main" val="3082240135"/>
              </p:ext>
            </p:extLst>
          </p:nvPr>
        </p:nvGraphicFramePr>
        <p:xfrm>
          <a:off x="4986312" y="1484970"/>
          <a:ext cx="8315376" cy="7317060"/>
        </p:xfrm>
        <a:graphic>
          <a:graphicData uri="http://schemas.openxmlformats.org/drawingml/2006/table">
            <a:tbl>
              <a:tblPr firstRow="1" bandRow="1"/>
              <a:tblGrid>
                <a:gridCol w="4549320">
                  <a:extLst>
                    <a:ext uri="{9D8B030D-6E8A-4147-A177-3AD203B41FA5}">
                      <a16:colId xmlns:a16="http://schemas.microsoft.com/office/drawing/2014/main" val="3193331877"/>
                    </a:ext>
                  </a:extLst>
                </a:gridCol>
                <a:gridCol w="3766056">
                  <a:extLst>
                    <a:ext uri="{9D8B030D-6E8A-4147-A177-3AD203B41FA5}">
                      <a16:colId xmlns:a16="http://schemas.microsoft.com/office/drawing/2014/main" val="2751632547"/>
                    </a:ext>
                  </a:extLst>
                </a:gridCol>
              </a:tblGrid>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800" b="0" i="0" u="none" strike="noStrike">
                        <a:effectLst/>
                        <a:latin typeface="Arial" panose="020B0604020202020204" pitchFamily="34" charset="0"/>
                      </a:endParaRPr>
                    </a:p>
                  </a:txBody>
                  <a:tcPr marL="25541" marR="25541" marT="25541"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DID</a:t>
                      </a:r>
                      <a:endParaRPr lang="en-US" sz="4800" b="0" i="0" u="none" strike="noStrike">
                        <a:effectLst/>
                        <a:latin typeface="Arial" panose="020B0604020202020204" pitchFamily="34" charset="0"/>
                      </a:endParaRPr>
                    </a:p>
                  </a:txBody>
                  <a:tcPr marL="25541" marR="25541" marT="25541"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440865267"/>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DID Effect</a:t>
                      </a:r>
                      <a:endParaRPr lang="en-US" sz="4800" b="0" i="0" u="none" strike="noStrike">
                        <a:effectLst/>
                        <a:latin typeface="Arial" panose="020B0604020202020204" pitchFamily="34" charset="0"/>
                      </a:endParaRPr>
                    </a:p>
                  </a:txBody>
                  <a:tcPr marL="25541" marR="25541" marT="25541"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l" fontAlgn="ctr">
                        <a:spcBef>
                          <a:spcPts val="500"/>
                        </a:spcBef>
                        <a:spcAft>
                          <a:spcPts val="500"/>
                        </a:spcAft>
                        <a:buNone/>
                      </a:pPr>
                      <a:r>
                        <a:rPr lang="en-US" sz="29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-816.33***</a:t>
                      </a:r>
                      <a:endParaRPr lang="en-US" sz="4800" b="0" i="0" u="none" strike="noStrike" dirty="0">
                        <a:effectLst/>
                        <a:latin typeface="Arial" panose="020B0604020202020204" pitchFamily="34" charset="0"/>
                      </a:endParaRPr>
                    </a:p>
                  </a:txBody>
                  <a:tcPr marL="25541" marR="25541" marT="25541"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1118814495"/>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(32.08)</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extLst>
                  <a:ext uri="{0D108BD9-81ED-4DB2-BD59-A6C34878D82A}">
                    <a16:rowId xmlns:a16="http://schemas.microsoft.com/office/drawing/2014/main" val="2017642017"/>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Before vs. After</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151.34***</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extLst>
                  <a:ext uri="{0D108BD9-81ED-4DB2-BD59-A6C34878D82A}">
                    <a16:rowId xmlns:a16="http://schemas.microsoft.com/office/drawing/2014/main" val="979824164"/>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(35.96)</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extLst>
                  <a:ext uri="{0D108BD9-81ED-4DB2-BD59-A6C34878D82A}">
                    <a16:rowId xmlns:a16="http://schemas.microsoft.com/office/drawing/2014/main" val="698311062"/>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Enrolled vs. Not</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-630.18***</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extLst>
                  <a:ext uri="{0D108BD9-81ED-4DB2-BD59-A6C34878D82A}">
                    <a16:rowId xmlns:a16="http://schemas.microsoft.com/office/drawing/2014/main" val="737171658"/>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(19.45)</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extLst>
                  <a:ext uri="{0D108BD9-81ED-4DB2-BD59-A6C34878D82A}">
                    <a16:rowId xmlns:a16="http://schemas.microsoft.com/office/drawing/2014/main" val="2241735418"/>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(Intercept)</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2079.15***</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extLst>
                  <a:ext uri="{0D108BD9-81ED-4DB2-BD59-A6C34878D82A}">
                    <a16:rowId xmlns:a16="http://schemas.microsoft.com/office/drawing/2014/main" val="4274669494"/>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(17.36)</a:t>
                      </a:r>
                      <a:endParaRPr lang="en-US" sz="4800" b="0" i="0" u="none" strike="noStrike">
                        <a:effectLst/>
                        <a:latin typeface="Arial" panose="020B0604020202020204" pitchFamily="34" charset="0"/>
                      </a:endParaRPr>
                    </a:p>
                  </a:txBody>
                  <a:tcPr marL="25541" marR="25541" marT="25541" marB="0" anchor="ctr">
                    <a:lnL>
                      <a:noFill/>
                    </a:lnL>
                    <a:lnR>
                      <a:noFill/>
                    </a:lnR>
                    <a:lnT>
                      <a:noFill/>
                    </a:lnT>
                    <a:lnB>
                      <a:noFill/>
                    </a:lnB>
                    <a:noFill/>
                  </a:tcPr>
                </a:tc>
                <a:extLst>
                  <a:ext uri="{0D108BD9-81ED-4DB2-BD59-A6C34878D82A}">
                    <a16:rowId xmlns:a16="http://schemas.microsoft.com/office/drawing/2014/main" val="3460285243"/>
                  </a:ext>
                </a:extLst>
              </a:tr>
              <a:tr h="573146">
                <a:tc>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Num.Obs.</a:t>
                      </a:r>
                      <a:endParaRPr lang="en-US" sz="4800" b="0" i="0" u="none" strike="noStrike">
                        <a:effectLst/>
                        <a:latin typeface="Arial" panose="020B0604020202020204" pitchFamily="34" charset="0"/>
                      </a:endParaRPr>
                    </a:p>
                  </a:txBody>
                  <a:tcPr marL="25541" marR="25541" marT="25541"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29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9918</a:t>
                      </a:r>
                      <a:endParaRPr lang="en-US" sz="4800" b="0" i="0" u="none" strike="noStrike" dirty="0">
                        <a:effectLst/>
                        <a:latin typeface="Arial" panose="020B0604020202020204" pitchFamily="34" charset="0"/>
                      </a:endParaRPr>
                    </a:p>
                  </a:txBody>
                  <a:tcPr marL="25541" marR="25541" marT="25541"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679724542"/>
                  </a:ext>
                </a:extLst>
              </a:tr>
              <a:tr h="792800">
                <a:tc gridSpan="2">
                  <a:txBody>
                    <a:bodyPr/>
                    <a:lstStyle/>
                    <a:p>
                      <a:pPr marL="0" marR="0" algn="l" fontAlgn="ctr">
                        <a:spcBef>
                          <a:spcPts val="500"/>
                        </a:spcBef>
                        <a:spcAft>
                          <a:spcPts val="500"/>
                        </a:spcAft>
                        <a:buNone/>
                      </a:pPr>
                      <a:r>
                        <a:rPr lang="en-US" sz="29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p &lt; 0.1, * p &lt; 0.05, ** p &lt; 0.01, *** p &lt; 0.001</a:t>
                      </a:r>
                      <a:endParaRPr lang="en-US" sz="4800" b="0" i="0" u="none" strike="noStrike">
                        <a:effectLst/>
                        <a:latin typeface="Arial" panose="020B0604020202020204" pitchFamily="34" charset="0"/>
                      </a:endParaRPr>
                    </a:p>
                  </a:txBody>
                  <a:tcPr marL="245196" marR="245196" marT="122598" marB="122598">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extLst>
                  <a:ext uri="{0D108BD9-81ED-4DB2-BD59-A6C34878D82A}">
                    <a16:rowId xmlns:a16="http://schemas.microsoft.com/office/drawing/2014/main" val="1033198524"/>
                  </a:ext>
                </a:extLst>
              </a:tr>
              <a:tr h="792800">
                <a:tc gridSpan="2">
                  <a:txBody>
                    <a:bodyPr/>
                    <a:lstStyle/>
                    <a:p>
                      <a:pPr marL="0" marR="0" algn="l" fontAlgn="ctr">
                        <a:spcBef>
                          <a:spcPts val="500"/>
                        </a:spcBef>
                        <a:spcAft>
                          <a:spcPts val="500"/>
                        </a:spcAft>
                        <a:buNone/>
                      </a:pPr>
                      <a:r>
                        <a:rPr lang="en-US" sz="29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Standard errors are in parentheses</a:t>
                      </a:r>
                      <a:endParaRPr lang="en-US" sz="4800" b="0" i="0" u="none" strike="noStrike" dirty="0">
                        <a:effectLst/>
                        <a:latin typeface="Arial" panose="020B0604020202020204" pitchFamily="34" charset="0"/>
                      </a:endParaRPr>
                    </a:p>
                  </a:txBody>
                  <a:tcPr marL="245196" marR="245196" marT="122598" marB="122598">
                    <a:lnL>
                      <a:noFill/>
                    </a:lnL>
                    <a:lnR>
                      <a:noFill/>
                    </a:lnR>
                    <a:lnT>
                      <a:noFill/>
                    </a:lnT>
                    <a:lnB>
                      <a:noFill/>
                    </a:lnB>
                    <a:noFill/>
                  </a:tcPr>
                </a:tc>
                <a:tc hMerge="1">
                  <a:txBody>
                    <a:bodyPr/>
                    <a:lstStyle/>
                    <a:p>
                      <a:endParaRPr lang="en-US"/>
                    </a:p>
                  </a:txBody>
                  <a:tcPr/>
                </a:tc>
                <a:extLst>
                  <a:ext uri="{0D108BD9-81ED-4DB2-BD59-A6C34878D82A}">
                    <a16:rowId xmlns:a16="http://schemas.microsoft.com/office/drawing/2014/main" val="1192951748"/>
                  </a:ext>
                </a:extLst>
              </a:tr>
            </a:tbl>
          </a:graphicData>
        </a:graphic>
      </p:graphicFrame>
    </p:spTree>
    <p:extLst>
      <p:ext uri="{BB962C8B-B14F-4D97-AF65-F5344CB8AC3E}">
        <p14:creationId xmlns:p14="http://schemas.microsoft.com/office/powerpoint/2010/main" val="34726045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5E463A-2410-F431-80AD-9052D7AE3637}"/>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DEDF229A-6DD5-92E8-DAA0-BF8F087B1725}"/>
              </a:ext>
            </a:extLst>
          </p:cNvPr>
          <p:cNvSpPr>
            <a:spLocks noGrp="1"/>
          </p:cNvSpPr>
          <p:nvPr>
            <p:ph type="body" sz="quarter" idx="18"/>
          </p:nvPr>
        </p:nvSpPr>
        <p:spPr/>
        <p:txBody>
          <a:bodyPr/>
          <a:lstStyle/>
          <a:p>
            <a:r>
              <a:rPr lang="en-US" dirty="0"/>
              <a:t>DID Graph</a:t>
            </a:r>
          </a:p>
        </p:txBody>
      </p:sp>
      <p:pic>
        <p:nvPicPr>
          <p:cNvPr id="13" name="Picture 12">
            <a:extLst>
              <a:ext uri="{FF2B5EF4-FFF2-40B4-BE49-F238E27FC236}">
                <a16:creationId xmlns:a16="http://schemas.microsoft.com/office/drawing/2014/main" id="{807A80D1-05D9-40EC-0E3E-1F99E8290C3D}"/>
              </a:ext>
            </a:extLst>
          </p:cNvPr>
          <p:cNvPicPr>
            <a:picLocks noChangeAspect="1"/>
          </p:cNvPicPr>
          <p:nvPr/>
        </p:nvPicPr>
        <p:blipFill>
          <a:blip r:embed="rId3"/>
          <a:stretch>
            <a:fillRect/>
          </a:stretch>
        </p:blipFill>
        <p:spPr>
          <a:xfrm>
            <a:off x="2848971" y="1620000"/>
            <a:ext cx="6494057" cy="5100000"/>
          </a:xfrm>
          <a:prstGeom prst="rect">
            <a:avLst/>
          </a:prstGeom>
        </p:spPr>
      </p:pic>
    </p:spTree>
    <p:extLst>
      <p:ext uri="{BB962C8B-B14F-4D97-AF65-F5344CB8AC3E}">
        <p14:creationId xmlns:p14="http://schemas.microsoft.com/office/powerpoint/2010/main" val="28915504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215288-298C-EB9C-BD1B-351192AB3D09}"/>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B6DBB382-2266-B639-01CD-41B41B0DBD49}"/>
              </a:ext>
            </a:extLst>
          </p:cNvPr>
          <p:cNvSpPr>
            <a:spLocks noGrp="1"/>
          </p:cNvSpPr>
          <p:nvPr>
            <p:ph type="body" sz="quarter" idx="18"/>
          </p:nvPr>
        </p:nvSpPr>
        <p:spPr/>
        <p:txBody>
          <a:bodyPr/>
          <a:lstStyle/>
          <a:p>
            <a:r>
              <a:rPr lang="en-US" dirty="0"/>
              <a:t>DID: Parallel Trends Check</a:t>
            </a:r>
          </a:p>
        </p:txBody>
      </p:sp>
      <p:pic>
        <p:nvPicPr>
          <p:cNvPr id="7" name="Content Placeholder 6">
            <a:extLst>
              <a:ext uri="{FF2B5EF4-FFF2-40B4-BE49-F238E27FC236}">
                <a16:creationId xmlns:a16="http://schemas.microsoft.com/office/drawing/2014/main" id="{AA7078A2-0259-CCDC-7782-35867EF275C4}"/>
              </a:ext>
            </a:extLst>
          </p:cNvPr>
          <p:cNvPicPr>
            <a:picLocks noGrp="1" noChangeAspect="1"/>
          </p:cNvPicPr>
          <p:nvPr>
            <p:ph sz="quarter" idx="23"/>
          </p:nvPr>
        </p:nvPicPr>
        <p:blipFill>
          <a:blip r:embed="rId2"/>
          <a:stretch>
            <a:fillRect/>
          </a:stretch>
        </p:blipFill>
        <p:spPr>
          <a:xfrm>
            <a:off x="3775935" y="1765739"/>
            <a:ext cx="10736130" cy="7064374"/>
          </a:xfrm>
          <a:prstGeom prst="rect">
            <a:avLst/>
          </a:prstGeom>
        </p:spPr>
      </p:pic>
    </p:spTree>
    <p:extLst>
      <p:ext uri="{BB962C8B-B14F-4D97-AF65-F5344CB8AC3E}">
        <p14:creationId xmlns:p14="http://schemas.microsoft.com/office/powerpoint/2010/main" val="527731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8822B-C961-5ACF-36A8-2E0689E689C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2FB8833-8323-1D28-1428-BC297B78C63A}"/>
              </a:ext>
            </a:extLst>
          </p:cNvPr>
          <p:cNvSpPr>
            <a:spLocks noGrp="1"/>
          </p:cNvSpPr>
          <p:nvPr>
            <p:ph type="body" sz="quarter" idx="19"/>
          </p:nvPr>
        </p:nvSpPr>
        <p:spPr/>
        <p:txBody>
          <a:bodyPr/>
          <a:lstStyle/>
          <a:p>
            <a:r>
              <a:rPr lang="en-US" dirty="0"/>
              <a:t>Propensity Score Matching</a:t>
            </a:r>
          </a:p>
        </p:txBody>
      </p:sp>
      <p:sp>
        <p:nvSpPr>
          <p:cNvPr id="3" name="Text Placeholder 2">
            <a:extLst>
              <a:ext uri="{FF2B5EF4-FFF2-40B4-BE49-F238E27FC236}">
                <a16:creationId xmlns:a16="http://schemas.microsoft.com/office/drawing/2014/main" id="{7D7FF1CE-B3FA-FE03-FC93-E3BDCF239834}"/>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19201988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2E255-A79D-9670-0CD6-E1AB007EBCA9}"/>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D6DECDD-E6D1-4D7E-3408-EA166E62DDEB}"/>
              </a:ext>
            </a:extLst>
          </p:cNvPr>
          <p:cNvPicPr>
            <a:picLocks noGrp="1" noChangeAspect="1"/>
          </p:cNvPicPr>
          <p:nvPr>
            <p:ph sz="quarter" idx="23"/>
          </p:nvPr>
        </p:nvPicPr>
        <p:blipFill>
          <a:blip r:embed="rId3"/>
          <a:stretch>
            <a:fillRect/>
          </a:stretch>
        </p:blipFill>
        <p:spPr>
          <a:xfrm>
            <a:off x="5647350" y="1616536"/>
            <a:ext cx="7359650" cy="7359650"/>
          </a:xfrm>
        </p:spPr>
      </p:pic>
      <p:sp>
        <p:nvSpPr>
          <p:cNvPr id="5" name="Speech Bubble: Oval 4">
            <a:extLst>
              <a:ext uri="{FF2B5EF4-FFF2-40B4-BE49-F238E27FC236}">
                <a16:creationId xmlns:a16="http://schemas.microsoft.com/office/drawing/2014/main" id="{495FEA77-05BE-8BC1-811C-24EBC86A6563}"/>
              </a:ext>
            </a:extLst>
          </p:cNvPr>
          <p:cNvSpPr/>
          <p:nvPr/>
        </p:nvSpPr>
        <p:spPr>
          <a:xfrm>
            <a:off x="709450" y="1826595"/>
            <a:ext cx="5363342" cy="3164045"/>
          </a:xfrm>
          <a:prstGeom prst="wedgeEllipseCallout">
            <a:avLst>
              <a:gd name="adj1" fmla="val 65073"/>
              <a:gd name="adj2" fmla="val -21517"/>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756392DF-991F-4E9D-01C7-86B7FFED7A61}"/>
              </a:ext>
            </a:extLst>
          </p:cNvPr>
          <p:cNvSpPr>
            <a:spLocks noGrp="1"/>
          </p:cNvSpPr>
          <p:nvPr>
            <p:ph type="body" sz="quarter" idx="18"/>
          </p:nvPr>
        </p:nvSpPr>
        <p:spPr/>
        <p:txBody>
          <a:bodyPr/>
          <a:lstStyle/>
          <a:p>
            <a:r>
              <a:rPr lang="en-US" sz="4300" dirty="0"/>
              <a:t>Enrolled vs. Not Enrolled Across Emirate (Before Matching) </a:t>
            </a:r>
          </a:p>
        </p:txBody>
      </p:sp>
      <p:graphicFrame>
        <p:nvGraphicFramePr>
          <p:cNvPr id="6" name="Table 5">
            <a:extLst>
              <a:ext uri="{FF2B5EF4-FFF2-40B4-BE49-F238E27FC236}">
                <a16:creationId xmlns:a16="http://schemas.microsoft.com/office/drawing/2014/main" id="{A26E87F2-C335-0A35-69E0-20B66989AEB5}"/>
              </a:ext>
            </a:extLst>
          </p:cNvPr>
          <p:cNvGraphicFramePr>
            <a:graphicFrameLocks noGrp="1"/>
          </p:cNvGraphicFramePr>
          <p:nvPr>
            <p:extLst>
              <p:ext uri="{D42A27DB-BD31-4B8C-83A1-F6EECF244321}">
                <p14:modId xmlns:p14="http://schemas.microsoft.com/office/powerpoint/2010/main" val="982611718"/>
              </p:ext>
            </p:extLst>
          </p:nvPr>
        </p:nvGraphicFramePr>
        <p:xfrm>
          <a:off x="12801600" y="1826595"/>
          <a:ext cx="4776950" cy="7505846"/>
        </p:xfrm>
        <a:graphic>
          <a:graphicData uri="http://schemas.openxmlformats.org/drawingml/2006/table">
            <a:tbl>
              <a:tblPr firstRow="1" bandRow="1">
                <a:tableStyleId>{A28B968C-005C-4B5B-AE9B-3227E18335F5}</a:tableStyleId>
              </a:tblPr>
              <a:tblGrid>
                <a:gridCol w="2869324">
                  <a:extLst>
                    <a:ext uri="{9D8B030D-6E8A-4147-A177-3AD203B41FA5}">
                      <a16:colId xmlns:a16="http://schemas.microsoft.com/office/drawing/2014/main" val="1902394449"/>
                    </a:ext>
                  </a:extLst>
                </a:gridCol>
                <a:gridCol w="1907626">
                  <a:extLst>
                    <a:ext uri="{9D8B030D-6E8A-4147-A177-3AD203B41FA5}">
                      <a16:colId xmlns:a16="http://schemas.microsoft.com/office/drawing/2014/main" val="131069613"/>
                    </a:ext>
                  </a:extLst>
                </a:gridCol>
              </a:tblGrid>
              <a:tr h="1610852">
                <a:tc>
                  <a:txBody>
                    <a:bodyPr/>
                    <a:lstStyle/>
                    <a:p>
                      <a:pPr algn="ctr"/>
                      <a:r>
                        <a:rPr lang="en-US" sz="2400" b="1" dirty="0">
                          <a:solidFill>
                            <a:schemeClr val="bg2"/>
                          </a:solidFill>
                        </a:rPr>
                        <a:t>Total businesses in the Emirate</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9,913</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815113971"/>
                  </a:ext>
                </a:extLst>
              </a:tr>
              <a:tr h="1964998">
                <a:tc>
                  <a:txBody>
                    <a:bodyPr/>
                    <a:lstStyle/>
                    <a:p>
                      <a:pPr algn="ctr"/>
                      <a:r>
                        <a:rPr lang="en-US" sz="2400" b="1" dirty="0">
                          <a:solidFill>
                            <a:schemeClr val="bg2"/>
                          </a:solidFill>
                        </a:rPr>
                        <a:t>Total businesses in treatment neighborhoods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4,959</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3677125133"/>
                  </a:ext>
                </a:extLst>
              </a:tr>
              <a:tr h="1964998">
                <a:tc>
                  <a:txBody>
                    <a:bodyPr/>
                    <a:lstStyle/>
                    <a:p>
                      <a:pPr algn="ctr"/>
                      <a:r>
                        <a:rPr lang="en-US" sz="2400" b="1" dirty="0">
                          <a:solidFill>
                            <a:schemeClr val="bg2"/>
                          </a:solidFill>
                        </a:rPr>
                        <a:t>Total eligible businesses in treatment neighborhoods (</a:t>
                      </a:r>
                      <a:r>
                        <a:rPr lang="en-US" sz="2400" b="1" dirty="0" err="1">
                          <a:solidFill>
                            <a:schemeClr val="bg2"/>
                          </a:solidFill>
                        </a:rPr>
                        <a:t>enrolled</a:t>
                      </a:r>
                      <a:r>
                        <a:rPr lang="en-US" sz="2400" b="1" dirty="0">
                          <a:solidFill>
                            <a:schemeClr val="bg2"/>
                          </a:solidFill>
                        </a:rPr>
                        <a:t>)</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2,964</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2356767634"/>
                  </a:ext>
                </a:extLst>
              </a:tr>
              <a:tr h="1964998">
                <a:tc>
                  <a:txBody>
                    <a:bodyPr/>
                    <a:lstStyle/>
                    <a:p>
                      <a:pPr algn="ctr"/>
                      <a:r>
                        <a:rPr lang="en-US" sz="2400" b="1" dirty="0">
                          <a:solidFill>
                            <a:schemeClr val="bg2"/>
                          </a:solidFill>
                        </a:rPr>
                        <a:t>Total businesses ineligible or in control neighborhoods (for PSM weights)</a:t>
                      </a:r>
                    </a:p>
                  </a:txBody>
                  <a:tcPr anchor="ctr">
                    <a:lnL w="38100" cap="flat" cmpd="sng" algn="ctr">
                      <a:solidFill>
                        <a:srgbClr val="1F497D"/>
                      </a:solidFill>
                      <a:prstDash val="solid"/>
                      <a:round/>
                      <a:headEnd type="none" w="med" len="med"/>
                      <a:tailEnd type="none" w="med" len="med"/>
                    </a:lnL>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tc>
                  <a:txBody>
                    <a:bodyPr/>
                    <a:lstStyle/>
                    <a:p>
                      <a:pPr algn="ctr"/>
                      <a:r>
                        <a:rPr lang="en-US" sz="2400" b="1" dirty="0">
                          <a:solidFill>
                            <a:schemeClr val="bg2"/>
                          </a:solidFill>
                        </a:rPr>
                        <a:t>6,949</a:t>
                      </a:r>
                    </a:p>
                  </a:txBody>
                  <a:tcPr anchor="ctr">
                    <a:lnR w="38100" cap="flat" cmpd="sng" algn="ctr">
                      <a:solidFill>
                        <a:srgbClr val="1F497D"/>
                      </a:solidFill>
                      <a:prstDash val="solid"/>
                      <a:round/>
                      <a:headEnd type="none" w="med" len="med"/>
                      <a:tailEnd type="none" w="med" len="med"/>
                    </a:lnR>
                    <a:lnT w="38100" cap="flat" cmpd="sng" algn="ctr">
                      <a:solidFill>
                        <a:srgbClr val="1F497D"/>
                      </a:solidFill>
                      <a:prstDash val="solid"/>
                      <a:round/>
                      <a:headEnd type="none" w="med" len="med"/>
                      <a:tailEnd type="none" w="med" len="med"/>
                    </a:lnT>
                    <a:lnB w="38100" cap="flat" cmpd="sng" algn="ctr">
                      <a:solidFill>
                        <a:srgbClr val="1F497D"/>
                      </a:solidFill>
                      <a:prstDash val="solid"/>
                      <a:round/>
                      <a:headEnd type="none" w="med" len="med"/>
                      <a:tailEnd type="none" w="med" len="med"/>
                    </a:lnB>
                  </a:tcPr>
                </a:tc>
                <a:extLst>
                  <a:ext uri="{0D108BD9-81ED-4DB2-BD59-A6C34878D82A}">
                    <a16:rowId xmlns:a16="http://schemas.microsoft.com/office/drawing/2014/main" val="4283207583"/>
                  </a:ext>
                </a:extLst>
              </a:tr>
            </a:tbl>
          </a:graphicData>
        </a:graphic>
      </p:graphicFrame>
      <p:pic>
        <p:nvPicPr>
          <p:cNvPr id="8" name="Picture 7">
            <a:extLst>
              <a:ext uri="{FF2B5EF4-FFF2-40B4-BE49-F238E27FC236}">
                <a16:creationId xmlns:a16="http://schemas.microsoft.com/office/drawing/2014/main" id="{75E8DEF9-09B4-3F61-B325-3853544B5B2C}"/>
              </a:ext>
            </a:extLst>
          </p:cNvPr>
          <p:cNvPicPr>
            <a:picLocks noChangeAspect="1"/>
          </p:cNvPicPr>
          <p:nvPr/>
        </p:nvPicPr>
        <p:blipFill>
          <a:blip r:embed="rId4"/>
          <a:srcRect b="1004"/>
          <a:stretch>
            <a:fillRect/>
          </a:stretch>
        </p:blipFill>
        <p:spPr>
          <a:xfrm>
            <a:off x="1451623" y="5200699"/>
            <a:ext cx="4621169" cy="4490320"/>
          </a:xfrm>
          <a:prstGeom prst="rect">
            <a:avLst/>
          </a:prstGeom>
        </p:spPr>
      </p:pic>
      <p:pic>
        <p:nvPicPr>
          <p:cNvPr id="11" name="Picture 10">
            <a:extLst>
              <a:ext uri="{FF2B5EF4-FFF2-40B4-BE49-F238E27FC236}">
                <a16:creationId xmlns:a16="http://schemas.microsoft.com/office/drawing/2014/main" id="{52F7E766-767A-4558-CC56-C5D66036C9CB}"/>
              </a:ext>
            </a:extLst>
          </p:cNvPr>
          <p:cNvPicPr>
            <a:picLocks noChangeAspect="1"/>
          </p:cNvPicPr>
          <p:nvPr/>
        </p:nvPicPr>
        <p:blipFill>
          <a:blip r:embed="rId5"/>
          <a:stretch>
            <a:fillRect/>
          </a:stretch>
        </p:blipFill>
        <p:spPr>
          <a:xfrm>
            <a:off x="1795111" y="2176946"/>
            <a:ext cx="3192019" cy="2309761"/>
          </a:xfrm>
          <a:prstGeom prst="rect">
            <a:avLst/>
          </a:prstGeom>
        </p:spPr>
      </p:pic>
    </p:spTree>
    <p:extLst>
      <p:ext uri="{BB962C8B-B14F-4D97-AF65-F5344CB8AC3E}">
        <p14:creationId xmlns:p14="http://schemas.microsoft.com/office/powerpoint/2010/main" val="1687288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13B50F-2BC8-81A3-7BAE-C57C17BF988A}"/>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F5026994-8BE7-6B55-6447-D4B294EB0FC9}"/>
              </a:ext>
            </a:extLst>
          </p:cNvPr>
          <p:cNvSpPr>
            <a:spLocks noGrp="1"/>
          </p:cNvSpPr>
          <p:nvPr>
            <p:ph type="body" sz="quarter" idx="18"/>
          </p:nvPr>
        </p:nvSpPr>
        <p:spPr/>
        <p:txBody>
          <a:bodyPr/>
          <a:lstStyle/>
          <a:p>
            <a:r>
              <a:rPr lang="en-US" dirty="0"/>
              <a:t>Matching Common Support</a:t>
            </a:r>
          </a:p>
        </p:txBody>
      </p:sp>
      <p:pic>
        <p:nvPicPr>
          <p:cNvPr id="7" name="Content Placeholder 6">
            <a:extLst>
              <a:ext uri="{FF2B5EF4-FFF2-40B4-BE49-F238E27FC236}">
                <a16:creationId xmlns:a16="http://schemas.microsoft.com/office/drawing/2014/main" id="{886D639C-13DA-CC93-83DF-DEEFCD41BC55}"/>
              </a:ext>
            </a:extLst>
          </p:cNvPr>
          <p:cNvPicPr>
            <a:picLocks noGrp="1" noChangeAspect="1"/>
          </p:cNvPicPr>
          <p:nvPr>
            <p:ph sz="quarter" idx="23"/>
          </p:nvPr>
        </p:nvPicPr>
        <p:blipFill>
          <a:blip r:embed="rId3"/>
          <a:stretch>
            <a:fillRect/>
          </a:stretch>
        </p:blipFill>
        <p:spPr>
          <a:xfrm>
            <a:off x="3633521" y="2501993"/>
            <a:ext cx="11526010" cy="6323466"/>
          </a:xfrm>
          <a:prstGeom prst="rect">
            <a:avLst/>
          </a:prstGeom>
        </p:spPr>
      </p:pic>
    </p:spTree>
    <p:extLst>
      <p:ext uri="{BB962C8B-B14F-4D97-AF65-F5344CB8AC3E}">
        <p14:creationId xmlns:p14="http://schemas.microsoft.com/office/powerpoint/2010/main" val="37030033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0855D7-0D84-6C00-4989-6F47BBA83A81}"/>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947AFD47-3EFF-9739-3906-EFBCDF598349}"/>
              </a:ext>
            </a:extLst>
          </p:cNvPr>
          <p:cNvSpPr>
            <a:spLocks noGrp="1"/>
          </p:cNvSpPr>
          <p:nvPr>
            <p:ph type="body" sz="quarter" idx="18"/>
          </p:nvPr>
        </p:nvSpPr>
        <p:spPr/>
        <p:txBody>
          <a:bodyPr/>
          <a:lstStyle/>
          <a:p>
            <a:r>
              <a:rPr lang="en-US" dirty="0"/>
              <a:t>Matching: Balance Before</a:t>
            </a:r>
          </a:p>
        </p:txBody>
      </p:sp>
      <p:pic>
        <p:nvPicPr>
          <p:cNvPr id="7" name="Content Placeholder 6">
            <a:extLst>
              <a:ext uri="{FF2B5EF4-FFF2-40B4-BE49-F238E27FC236}">
                <a16:creationId xmlns:a16="http://schemas.microsoft.com/office/drawing/2014/main" id="{94309983-BAD7-ED92-CA6A-C219FFD7F3CB}"/>
              </a:ext>
            </a:extLst>
          </p:cNvPr>
          <p:cNvPicPr>
            <a:picLocks noGrp="1" noChangeAspect="1"/>
          </p:cNvPicPr>
          <p:nvPr>
            <p:ph sz="quarter" idx="23"/>
          </p:nvPr>
        </p:nvPicPr>
        <p:blipFill>
          <a:blip r:embed="rId2"/>
          <a:stretch>
            <a:fillRect/>
          </a:stretch>
        </p:blipFill>
        <p:spPr>
          <a:xfrm>
            <a:off x="1488241" y="1497013"/>
            <a:ext cx="15311517" cy="7315200"/>
          </a:xfrm>
          <a:prstGeom prst="rect">
            <a:avLst/>
          </a:prstGeom>
        </p:spPr>
      </p:pic>
    </p:spTree>
    <p:extLst>
      <p:ext uri="{BB962C8B-B14F-4D97-AF65-F5344CB8AC3E}">
        <p14:creationId xmlns:p14="http://schemas.microsoft.com/office/powerpoint/2010/main" val="26531219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0E7704-6FBB-4878-A957-C3916E131EDF}"/>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F6391410-EF6D-6DC3-FE5A-448A81091F97}"/>
              </a:ext>
            </a:extLst>
          </p:cNvPr>
          <p:cNvSpPr>
            <a:spLocks noGrp="1"/>
          </p:cNvSpPr>
          <p:nvPr>
            <p:ph type="body" sz="quarter" idx="18"/>
          </p:nvPr>
        </p:nvSpPr>
        <p:spPr/>
        <p:txBody>
          <a:bodyPr/>
          <a:lstStyle/>
          <a:p>
            <a:r>
              <a:rPr lang="en-US" dirty="0"/>
              <a:t>Matching: Balance After</a:t>
            </a:r>
          </a:p>
        </p:txBody>
      </p:sp>
      <p:pic>
        <p:nvPicPr>
          <p:cNvPr id="6" name="Picture 5">
            <a:extLst>
              <a:ext uri="{FF2B5EF4-FFF2-40B4-BE49-F238E27FC236}">
                <a16:creationId xmlns:a16="http://schemas.microsoft.com/office/drawing/2014/main" id="{7BAC54EB-6651-D200-BD7C-8AFAAAC01028}"/>
              </a:ext>
            </a:extLst>
          </p:cNvPr>
          <p:cNvPicPr>
            <a:picLocks noChangeAspect="1"/>
          </p:cNvPicPr>
          <p:nvPr/>
        </p:nvPicPr>
        <p:blipFill>
          <a:blip r:embed="rId3"/>
          <a:stretch>
            <a:fillRect/>
          </a:stretch>
        </p:blipFill>
        <p:spPr>
          <a:xfrm>
            <a:off x="1488874" y="1474787"/>
            <a:ext cx="15310252" cy="7315200"/>
          </a:xfrm>
          <a:prstGeom prst="rect">
            <a:avLst/>
          </a:prstGeom>
        </p:spPr>
      </p:pic>
    </p:spTree>
    <p:extLst>
      <p:ext uri="{BB962C8B-B14F-4D97-AF65-F5344CB8AC3E}">
        <p14:creationId xmlns:p14="http://schemas.microsoft.com/office/powerpoint/2010/main" val="35000129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502124-80A1-8347-DF38-45771ACB3820}"/>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E70D22C4-74C2-D339-FDB7-9E1830DC0D26}"/>
              </a:ext>
            </a:extLst>
          </p:cNvPr>
          <p:cNvSpPr>
            <a:spLocks noGrp="1"/>
          </p:cNvSpPr>
          <p:nvPr>
            <p:ph type="body" sz="quarter" idx="18"/>
          </p:nvPr>
        </p:nvSpPr>
        <p:spPr/>
        <p:txBody>
          <a:bodyPr/>
          <a:lstStyle/>
          <a:p>
            <a:r>
              <a:rPr lang="en-US" dirty="0"/>
              <a:t>Matching</a:t>
            </a:r>
          </a:p>
        </p:txBody>
      </p:sp>
      <p:pic>
        <p:nvPicPr>
          <p:cNvPr id="5" name="Picture 4">
            <a:extLst>
              <a:ext uri="{FF2B5EF4-FFF2-40B4-BE49-F238E27FC236}">
                <a16:creationId xmlns:a16="http://schemas.microsoft.com/office/drawing/2014/main" id="{1BCA3239-851F-DE0F-7F90-6218F2DC5D76}"/>
              </a:ext>
            </a:extLst>
          </p:cNvPr>
          <p:cNvPicPr>
            <a:picLocks noChangeAspect="1"/>
          </p:cNvPicPr>
          <p:nvPr/>
        </p:nvPicPr>
        <p:blipFill>
          <a:blip r:embed="rId3"/>
          <a:stretch>
            <a:fillRect/>
          </a:stretch>
        </p:blipFill>
        <p:spPr>
          <a:xfrm>
            <a:off x="5409862" y="1788498"/>
            <a:ext cx="7468275" cy="6710003"/>
          </a:xfrm>
          <a:prstGeom prst="rect">
            <a:avLst/>
          </a:prstGeom>
        </p:spPr>
      </p:pic>
    </p:spTree>
    <p:extLst>
      <p:ext uri="{BB962C8B-B14F-4D97-AF65-F5344CB8AC3E}">
        <p14:creationId xmlns:p14="http://schemas.microsoft.com/office/powerpoint/2010/main" val="10739753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F5DF7F7-C83C-0C00-AA68-C1574196399B}"/>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BD5EE8A1-E275-9E32-17F1-BF2F95270E5E}"/>
              </a:ext>
            </a:extLst>
          </p:cNvPr>
          <p:cNvSpPr>
            <a:spLocks noGrp="1"/>
          </p:cNvSpPr>
          <p:nvPr>
            <p:ph type="body" sz="quarter" idx="18"/>
          </p:nvPr>
        </p:nvSpPr>
        <p:spPr/>
        <p:txBody>
          <a:bodyPr>
            <a:normAutofit/>
          </a:bodyPr>
          <a:lstStyle/>
          <a:p>
            <a:pPr>
              <a:lnSpc>
                <a:spcPct val="90000"/>
              </a:lnSpc>
              <a:spcAft>
                <a:spcPts val="600"/>
              </a:spcAft>
            </a:pPr>
            <a:r>
              <a:rPr lang="en-US" sz="5000" b="1" i="0" u="none" strike="noStrike" cap="none">
                <a:latin typeface="Arial"/>
                <a:ea typeface="Arial"/>
                <a:cs typeface="Arial"/>
                <a:sym typeface="Arial"/>
              </a:rPr>
              <a:t>Matching (editable)</a:t>
            </a:r>
          </a:p>
        </p:txBody>
      </p:sp>
      <p:graphicFrame>
        <p:nvGraphicFramePr>
          <p:cNvPr id="6" name="Content Placeholder 5">
            <a:extLst>
              <a:ext uri="{FF2B5EF4-FFF2-40B4-BE49-F238E27FC236}">
                <a16:creationId xmlns:a16="http://schemas.microsoft.com/office/drawing/2014/main" id="{E3349F97-9BA7-7751-2AE6-D387927097D4}"/>
              </a:ext>
            </a:extLst>
          </p:cNvPr>
          <p:cNvGraphicFramePr>
            <a:graphicFrameLocks noGrp="1"/>
          </p:cNvGraphicFramePr>
          <p:nvPr>
            <p:ph sz="quarter" idx="23"/>
            <p:extLst>
              <p:ext uri="{D42A27DB-BD31-4B8C-83A1-F6EECF244321}">
                <p14:modId xmlns:p14="http://schemas.microsoft.com/office/powerpoint/2010/main" val="3960366579"/>
              </p:ext>
            </p:extLst>
          </p:nvPr>
        </p:nvGraphicFramePr>
        <p:xfrm>
          <a:off x="2191407" y="2609691"/>
          <a:ext cx="14854509" cy="5067618"/>
        </p:xfrm>
        <a:graphic>
          <a:graphicData uri="http://schemas.openxmlformats.org/drawingml/2006/table">
            <a:tbl>
              <a:tblPr firstRow="1" bandRow="1"/>
              <a:tblGrid>
                <a:gridCol w="4826870">
                  <a:extLst>
                    <a:ext uri="{9D8B030D-6E8A-4147-A177-3AD203B41FA5}">
                      <a16:colId xmlns:a16="http://schemas.microsoft.com/office/drawing/2014/main" val="2034804937"/>
                    </a:ext>
                  </a:extLst>
                </a:gridCol>
                <a:gridCol w="5666384">
                  <a:extLst>
                    <a:ext uri="{9D8B030D-6E8A-4147-A177-3AD203B41FA5}">
                      <a16:colId xmlns:a16="http://schemas.microsoft.com/office/drawing/2014/main" val="4100656003"/>
                    </a:ext>
                  </a:extLst>
                </a:gridCol>
                <a:gridCol w="4361255">
                  <a:extLst>
                    <a:ext uri="{9D8B030D-6E8A-4147-A177-3AD203B41FA5}">
                      <a16:colId xmlns:a16="http://schemas.microsoft.com/office/drawing/2014/main" val="473733447"/>
                    </a:ext>
                  </a:extLst>
                </a:gridCol>
              </a:tblGrid>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Limited Covs PSM</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All Covs PSM</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402927283"/>
                  </a:ext>
                </a:extLst>
              </a:tr>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Matching Effect</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-1114.80***</a:t>
                      </a:r>
                      <a:endParaRPr lang="en-US" sz="5400" b="0" i="0" u="none" strike="noStrike" dirty="0">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-1000.05***</a:t>
                      </a:r>
                      <a:endParaRPr lang="en-US" sz="5400" b="0" i="0" u="none" strike="noStrike" dirty="0">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4061112915"/>
                  </a:ext>
                </a:extLst>
              </a:tr>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(38.50)</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(35.11)</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769219342"/>
                  </a:ext>
                </a:extLst>
              </a:tr>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(Intercept)</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1883.33***</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1771.27***</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4077186915"/>
                  </a:ext>
                </a:extLst>
              </a:tr>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(30.54)</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(27.94)</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4149893035"/>
                  </a:ext>
                </a:extLst>
              </a:tr>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Num.Obs.</a:t>
                      </a:r>
                      <a:endParaRPr lang="en-US" sz="5400" b="0" i="0" u="none" strike="noStrike">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5186</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cs typeface="Times New Roman" panose="02020603050405020304" pitchFamily="18" charset="0"/>
                        </a:rPr>
                        <a:t>4888</a:t>
                      </a:r>
                      <a:endParaRPr lang="en-US" sz="5400" b="0" i="0" u="none" strike="noStrike">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299740910"/>
                  </a:ext>
                </a:extLst>
              </a:tr>
              <a:tr h="799608">
                <a:tc gridSpan="3">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p &lt; 0.1, * p &lt; 0.05, ** p &lt; 0.01, *** p &lt; 0.001</a:t>
                      </a:r>
                      <a:endParaRPr lang="en-US" sz="5400" b="0" i="0" u="none" strike="noStrike">
                        <a:effectLst/>
                        <a:latin typeface="Arial" panose="020B0604020202020204" pitchFamily="34" charset="0"/>
                      </a:endParaRPr>
                    </a:p>
                  </a:txBody>
                  <a:tcPr marL="274320" marR="274320" marT="137160" marB="137160">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99119697"/>
                  </a:ext>
                </a:extLst>
              </a:tr>
              <a:tr h="799608">
                <a:tc gridSpan="3">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Standard errors are in parentheses</a:t>
                      </a:r>
                      <a:endParaRPr lang="en-US" sz="5400" b="0" i="0" u="none" strike="noStrike" dirty="0">
                        <a:effectLst/>
                        <a:latin typeface="Arial" panose="020B0604020202020204" pitchFamily="34" charset="0"/>
                      </a:endParaRPr>
                    </a:p>
                  </a:txBody>
                  <a:tcPr marL="274320" marR="274320" marT="137160" marB="137160">
                    <a:lnL>
                      <a:noFill/>
                    </a:lnL>
                    <a:lnR>
                      <a:noFill/>
                    </a:lnR>
                    <a:lnT>
                      <a:noFill/>
                    </a:lnT>
                    <a:lnB>
                      <a:noFill/>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30743064"/>
                  </a:ext>
                </a:extLst>
              </a:tr>
            </a:tbl>
          </a:graphicData>
        </a:graphic>
      </p:graphicFrame>
      <p:sp>
        <p:nvSpPr>
          <p:cNvPr id="7" name="Rectangle 1">
            <a:extLst>
              <a:ext uri="{FF2B5EF4-FFF2-40B4-BE49-F238E27FC236}">
                <a16:creationId xmlns:a16="http://schemas.microsoft.com/office/drawing/2014/main" id="{64477D95-2838-63CB-8836-729FD55C8D20}"/>
              </a:ext>
            </a:extLst>
          </p:cNvPr>
          <p:cNvSpPr>
            <a:spLocks noChangeArrowheads="1"/>
          </p:cNvSpPr>
          <p:nvPr/>
        </p:nvSpPr>
        <p:spPr bwMode="auto">
          <a:xfrm>
            <a:off x="927100" y="9187480"/>
            <a:ext cx="16882586" cy="5184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38088" tIns="45720" rIns="38088" bIns="45720" numCol="1" anchorCtr="0" compatLnSpc="1">
            <a:prstTxWarp prst="textNoShape">
              <a:avLst/>
            </a:prstTxWarp>
            <a:normAutofit/>
          </a:bodyPr>
          <a:lstStyle/>
          <a:p>
            <a:pPr marL="0" indent="0" defTabSz="914400" fontAlgn="base" latinLnBrk="0">
              <a:spcAft>
                <a:spcPts val="600"/>
              </a:spcAft>
              <a:buSzTx/>
              <a:buFont typeface="Arial"/>
              <a:buNone/>
              <a:tabLst/>
            </a:pPr>
            <a:r>
              <a:rPr kumimoji="0" lang="en-US" altLang="en-US" sz="1800" normalizeH="0" baseline="0">
                <a:ln>
                  <a:noFill/>
                </a:ln>
                <a:solidFill>
                  <a:srgbClr val="153A80"/>
                </a:solidFill>
                <a:effectLst/>
              </a:rPr>
              <a:t>Matching Regression Results</a:t>
            </a:r>
          </a:p>
          <a:p>
            <a:pPr marL="0" indent="0" defTabSz="914400" fontAlgn="base" latinLnBrk="0">
              <a:spcAft>
                <a:spcPts val="600"/>
              </a:spcAft>
              <a:buSzTx/>
              <a:buFont typeface="Arial"/>
              <a:buNone/>
              <a:tabLst/>
            </a:pPr>
            <a:endParaRPr kumimoji="0" lang="en-US" altLang="en-US" sz="1800" normalizeH="0" baseline="0">
              <a:ln>
                <a:noFill/>
              </a:ln>
              <a:solidFill>
                <a:srgbClr val="153A80"/>
              </a:solidFill>
              <a:effectLst/>
            </a:endParaRPr>
          </a:p>
        </p:txBody>
      </p:sp>
    </p:spTree>
    <p:extLst>
      <p:ext uri="{BB962C8B-B14F-4D97-AF65-F5344CB8AC3E}">
        <p14:creationId xmlns:p14="http://schemas.microsoft.com/office/powerpoint/2010/main" val="7306597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1A2CCC64-A16C-B4E4-2E81-6C748B61D16B}"/>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6752643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D798D32D-DBC1-A175-87D5-8EEC83CA5AFC}"/>
              </a:ext>
            </a:extLst>
          </p:cNvPr>
          <p:cNvSpPr/>
          <p:nvPr/>
        </p:nvSpPr>
        <p:spPr>
          <a:xfrm>
            <a:off x="2243863" y="3531980"/>
            <a:ext cx="1481251" cy="14153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DD6F3EA-BCAF-6824-87D3-A68651DB69C9}"/>
              </a:ext>
            </a:extLst>
          </p:cNvPr>
          <p:cNvSpPr/>
          <p:nvPr/>
        </p:nvSpPr>
        <p:spPr>
          <a:xfrm>
            <a:off x="2271423" y="5661545"/>
            <a:ext cx="1481251" cy="1415300"/>
          </a:xfrm>
          <a:prstGeom prst="rect">
            <a:avLst/>
          </a:prstGeom>
          <a:solidFill>
            <a:srgbClr val="289CE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Content Placeholder 6">
            <a:extLst>
              <a:ext uri="{FF2B5EF4-FFF2-40B4-BE49-F238E27FC236}">
                <a16:creationId xmlns:a16="http://schemas.microsoft.com/office/drawing/2014/main" id="{CC618415-00E4-5696-8447-4B78401C8CAB}"/>
              </a:ext>
            </a:extLst>
          </p:cNvPr>
          <p:cNvPicPr>
            <a:picLocks noChangeAspect="1"/>
          </p:cNvPicPr>
          <p:nvPr/>
        </p:nvPicPr>
        <p:blipFill>
          <a:blip r:embed="rId3"/>
          <a:srcRect l="9248" t="10472" r="75065" b="78164"/>
          <a:stretch>
            <a:fillRect/>
          </a:stretch>
        </p:blipFill>
        <p:spPr>
          <a:xfrm>
            <a:off x="8072774" y="2571701"/>
            <a:ext cx="7100480" cy="5143598"/>
          </a:xfrm>
          <a:prstGeom prst="rect">
            <a:avLst/>
          </a:prstGeom>
        </p:spPr>
      </p:pic>
      <p:sp>
        <p:nvSpPr>
          <p:cNvPr id="2" name="Text Placeholder 1">
            <a:extLst>
              <a:ext uri="{FF2B5EF4-FFF2-40B4-BE49-F238E27FC236}">
                <a16:creationId xmlns:a16="http://schemas.microsoft.com/office/drawing/2014/main" id="{0341F8C9-1EAF-2C13-50BB-D668CDB70554}"/>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A9CBB55E-223F-90B3-8517-94957B2C0BBA}"/>
              </a:ext>
            </a:extLst>
          </p:cNvPr>
          <p:cNvSpPr>
            <a:spLocks noGrp="1"/>
          </p:cNvSpPr>
          <p:nvPr>
            <p:ph type="body" sz="quarter" idx="18"/>
          </p:nvPr>
        </p:nvSpPr>
        <p:spPr/>
        <p:txBody>
          <a:bodyPr/>
          <a:lstStyle/>
          <a:p>
            <a:r>
              <a:rPr lang="en-US" dirty="0"/>
              <a:t>Each neighborhood has multiple eligible and ineligible businesses (efficiency score&lt;=58)</a:t>
            </a:r>
          </a:p>
        </p:txBody>
      </p:sp>
      <p:pic>
        <p:nvPicPr>
          <p:cNvPr id="12" name="Graphic 11" descr="City outline">
            <a:extLst>
              <a:ext uri="{FF2B5EF4-FFF2-40B4-BE49-F238E27FC236}">
                <a16:creationId xmlns:a16="http://schemas.microsoft.com/office/drawing/2014/main" id="{93947984-906E-1F0B-6432-63F5411F4C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66713" y="3984088"/>
            <a:ext cx="1001337" cy="1001337"/>
          </a:xfrm>
          <a:prstGeom prst="rect">
            <a:avLst/>
          </a:prstGeom>
        </p:spPr>
      </p:pic>
      <p:pic>
        <p:nvPicPr>
          <p:cNvPr id="13" name="Graphic 12" descr="City outline">
            <a:extLst>
              <a:ext uri="{FF2B5EF4-FFF2-40B4-BE49-F238E27FC236}">
                <a16:creationId xmlns:a16="http://schemas.microsoft.com/office/drawing/2014/main" id="{74CB7A45-44B5-CFF4-7BFD-B994FECDD50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44391" y="3189539"/>
            <a:ext cx="1001337" cy="1001337"/>
          </a:xfrm>
          <a:prstGeom prst="rect">
            <a:avLst/>
          </a:prstGeom>
        </p:spPr>
      </p:pic>
      <p:pic>
        <p:nvPicPr>
          <p:cNvPr id="14" name="Graphic 13" descr="City outline">
            <a:extLst>
              <a:ext uri="{FF2B5EF4-FFF2-40B4-BE49-F238E27FC236}">
                <a16:creationId xmlns:a16="http://schemas.microsoft.com/office/drawing/2014/main" id="{4AB1EBD9-D6A0-84BA-BB0D-B873C703DC2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73781" y="4219577"/>
            <a:ext cx="1001337" cy="1001337"/>
          </a:xfrm>
          <a:prstGeom prst="rect">
            <a:avLst/>
          </a:prstGeom>
        </p:spPr>
      </p:pic>
      <p:pic>
        <p:nvPicPr>
          <p:cNvPr id="15" name="Graphic 14" descr="City outline">
            <a:extLst>
              <a:ext uri="{FF2B5EF4-FFF2-40B4-BE49-F238E27FC236}">
                <a16:creationId xmlns:a16="http://schemas.microsoft.com/office/drawing/2014/main" id="{4632E00A-37BF-5A0F-9A67-E19785D45F3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01057" y="3032118"/>
            <a:ext cx="1001337" cy="1001337"/>
          </a:xfrm>
          <a:prstGeom prst="rect">
            <a:avLst/>
          </a:prstGeom>
        </p:spPr>
      </p:pic>
      <p:pic>
        <p:nvPicPr>
          <p:cNvPr id="16" name="Graphic 15" descr="City outline">
            <a:extLst>
              <a:ext uri="{FF2B5EF4-FFF2-40B4-BE49-F238E27FC236}">
                <a16:creationId xmlns:a16="http://schemas.microsoft.com/office/drawing/2014/main" id="{762D5305-D774-2036-DE55-50E68D4D71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8934" y="4918224"/>
            <a:ext cx="1001337" cy="1001337"/>
          </a:xfrm>
          <a:prstGeom prst="rect">
            <a:avLst/>
          </a:prstGeom>
        </p:spPr>
      </p:pic>
      <p:pic>
        <p:nvPicPr>
          <p:cNvPr id="17" name="Graphic 16" descr="City outline">
            <a:extLst>
              <a:ext uri="{FF2B5EF4-FFF2-40B4-BE49-F238E27FC236}">
                <a16:creationId xmlns:a16="http://schemas.microsoft.com/office/drawing/2014/main" id="{42F59167-A148-A558-8B8B-E810401FE73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66654" y="5743472"/>
            <a:ext cx="1285798" cy="1285798"/>
          </a:xfrm>
          <a:prstGeom prst="rect">
            <a:avLst/>
          </a:prstGeom>
        </p:spPr>
      </p:pic>
      <p:sp>
        <p:nvSpPr>
          <p:cNvPr id="18" name="Equals 17">
            <a:extLst>
              <a:ext uri="{FF2B5EF4-FFF2-40B4-BE49-F238E27FC236}">
                <a16:creationId xmlns:a16="http://schemas.microsoft.com/office/drawing/2014/main" id="{1FC59C12-5A3A-DBC8-BA98-A9628CD68D4B}"/>
              </a:ext>
            </a:extLst>
          </p:cNvPr>
          <p:cNvSpPr/>
          <p:nvPr/>
        </p:nvSpPr>
        <p:spPr>
          <a:xfrm>
            <a:off x="3969296" y="6019438"/>
            <a:ext cx="730328" cy="628307"/>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22DA5C63-6189-5511-8B4F-C431E1E7C5F5}"/>
              </a:ext>
            </a:extLst>
          </p:cNvPr>
          <p:cNvSpPr txBox="1"/>
          <p:nvPr/>
        </p:nvSpPr>
        <p:spPr>
          <a:xfrm>
            <a:off x="4596165" y="5898779"/>
            <a:ext cx="2380594" cy="892552"/>
          </a:xfrm>
          <a:prstGeom prst="rect">
            <a:avLst/>
          </a:prstGeom>
          <a:noFill/>
        </p:spPr>
        <p:txBody>
          <a:bodyPr wrap="square" rtlCol="0">
            <a:spAutoFit/>
          </a:bodyPr>
          <a:lstStyle/>
          <a:p>
            <a:pPr algn="ctr"/>
            <a:r>
              <a:rPr lang="en-US" sz="2600" b="1" dirty="0"/>
              <a:t>10 eligible businesses</a:t>
            </a:r>
          </a:p>
        </p:txBody>
      </p:sp>
      <p:pic>
        <p:nvPicPr>
          <p:cNvPr id="20" name="Graphic 19" descr="City outline">
            <a:extLst>
              <a:ext uri="{FF2B5EF4-FFF2-40B4-BE49-F238E27FC236}">
                <a16:creationId xmlns:a16="http://schemas.microsoft.com/office/drawing/2014/main" id="{63797107-F1DD-984D-F77F-391EAC094F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23007" y="3963306"/>
            <a:ext cx="1001337" cy="1001337"/>
          </a:xfrm>
          <a:prstGeom prst="rect">
            <a:avLst/>
          </a:prstGeom>
        </p:spPr>
      </p:pic>
      <p:pic>
        <p:nvPicPr>
          <p:cNvPr id="21" name="Graphic 20" descr="City outline">
            <a:extLst>
              <a:ext uri="{FF2B5EF4-FFF2-40B4-BE49-F238E27FC236}">
                <a16:creationId xmlns:a16="http://schemas.microsoft.com/office/drawing/2014/main" id="{DACDAB87-D586-54CF-31CB-AB3233F2AB94}"/>
              </a:ext>
            </a:extLst>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13100685" y="3168757"/>
            <a:ext cx="1001337" cy="1001337"/>
          </a:xfrm>
          <a:prstGeom prst="rect">
            <a:avLst/>
          </a:prstGeom>
        </p:spPr>
      </p:pic>
      <p:pic>
        <p:nvPicPr>
          <p:cNvPr id="22" name="Graphic 21" descr="City outline">
            <a:extLst>
              <a:ext uri="{FF2B5EF4-FFF2-40B4-BE49-F238E27FC236}">
                <a16:creationId xmlns:a16="http://schemas.microsoft.com/office/drawing/2014/main" id="{5F768B9C-8FBB-21D3-D145-68CCE67C4C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30075" y="4198795"/>
            <a:ext cx="1001337" cy="1001337"/>
          </a:xfrm>
          <a:prstGeom prst="rect">
            <a:avLst/>
          </a:prstGeom>
        </p:spPr>
      </p:pic>
      <p:pic>
        <p:nvPicPr>
          <p:cNvPr id="23" name="Graphic 22" descr="City outline">
            <a:extLst>
              <a:ext uri="{FF2B5EF4-FFF2-40B4-BE49-F238E27FC236}">
                <a16:creationId xmlns:a16="http://schemas.microsoft.com/office/drawing/2014/main" id="{F69949EC-2EB3-BDF1-C75D-A4DE7B0C39E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857351" y="3011336"/>
            <a:ext cx="1001337" cy="1001337"/>
          </a:xfrm>
          <a:prstGeom prst="rect">
            <a:avLst/>
          </a:prstGeom>
        </p:spPr>
      </p:pic>
      <p:pic>
        <p:nvPicPr>
          <p:cNvPr id="24" name="Graphic 23" descr="City outline">
            <a:extLst>
              <a:ext uri="{FF2B5EF4-FFF2-40B4-BE49-F238E27FC236}">
                <a16:creationId xmlns:a16="http://schemas.microsoft.com/office/drawing/2014/main" id="{54EFB712-9BD5-1645-C4A0-C069F4023EF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165228" y="4897442"/>
            <a:ext cx="1001337" cy="1001337"/>
          </a:xfrm>
          <a:prstGeom prst="rect">
            <a:avLst/>
          </a:prstGeom>
        </p:spPr>
      </p:pic>
      <p:pic>
        <p:nvPicPr>
          <p:cNvPr id="28" name="Graphic 27" descr="City outline">
            <a:extLst>
              <a:ext uri="{FF2B5EF4-FFF2-40B4-BE49-F238E27FC236}">
                <a16:creationId xmlns:a16="http://schemas.microsoft.com/office/drawing/2014/main" id="{7A668C86-7D11-448A-739B-49E4AE98822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66654" y="3565803"/>
            <a:ext cx="1285798" cy="1285798"/>
          </a:xfrm>
          <a:prstGeom prst="rect">
            <a:avLst/>
          </a:prstGeom>
        </p:spPr>
      </p:pic>
      <p:sp>
        <p:nvSpPr>
          <p:cNvPr id="29" name="Equals 28">
            <a:extLst>
              <a:ext uri="{FF2B5EF4-FFF2-40B4-BE49-F238E27FC236}">
                <a16:creationId xmlns:a16="http://schemas.microsoft.com/office/drawing/2014/main" id="{9F04360C-080D-AFE9-9AF4-36BA085B7F1E}"/>
              </a:ext>
            </a:extLst>
          </p:cNvPr>
          <p:cNvSpPr/>
          <p:nvPr/>
        </p:nvSpPr>
        <p:spPr>
          <a:xfrm>
            <a:off x="3967111" y="3848036"/>
            <a:ext cx="730328" cy="628307"/>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287B68E6-49E0-360B-9518-A44F5F26A88B}"/>
              </a:ext>
            </a:extLst>
          </p:cNvPr>
          <p:cNvSpPr txBox="1"/>
          <p:nvPr/>
        </p:nvSpPr>
        <p:spPr>
          <a:xfrm>
            <a:off x="4593980" y="3727377"/>
            <a:ext cx="2380594" cy="892552"/>
          </a:xfrm>
          <a:prstGeom prst="rect">
            <a:avLst/>
          </a:prstGeom>
          <a:noFill/>
        </p:spPr>
        <p:txBody>
          <a:bodyPr wrap="square" rtlCol="0">
            <a:spAutoFit/>
          </a:bodyPr>
          <a:lstStyle/>
          <a:p>
            <a:pPr algn="ctr"/>
            <a:r>
              <a:rPr lang="en-US" sz="2600" b="1" dirty="0"/>
              <a:t>10 ineligible businesses</a:t>
            </a:r>
          </a:p>
        </p:txBody>
      </p:sp>
    </p:spTree>
    <p:extLst>
      <p:ext uri="{BB962C8B-B14F-4D97-AF65-F5344CB8AC3E}">
        <p14:creationId xmlns:p14="http://schemas.microsoft.com/office/powerpoint/2010/main" val="7520564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B4E71-D7C8-7020-80BB-C4D87CF06F28}"/>
            </a:ext>
          </a:extLst>
        </p:cNvPr>
        <p:cNvGrpSpPr/>
        <p:nvPr/>
      </p:nvGrpSpPr>
      <p:grpSpPr>
        <a:xfrm>
          <a:off x="0" y="0"/>
          <a:ext cx="0" cy="0"/>
          <a:chOff x="0" y="0"/>
          <a:chExt cx="0" cy="0"/>
        </a:xfrm>
      </p:grpSpPr>
      <p:pic>
        <p:nvPicPr>
          <p:cNvPr id="27" name="Content Placeholder 6">
            <a:extLst>
              <a:ext uri="{FF2B5EF4-FFF2-40B4-BE49-F238E27FC236}">
                <a16:creationId xmlns:a16="http://schemas.microsoft.com/office/drawing/2014/main" id="{EFAC8AA3-86A4-C747-D0A8-D115D93B3AF6}"/>
              </a:ext>
            </a:extLst>
          </p:cNvPr>
          <p:cNvPicPr>
            <a:picLocks noChangeAspect="1"/>
          </p:cNvPicPr>
          <p:nvPr/>
        </p:nvPicPr>
        <p:blipFill>
          <a:blip r:embed="rId3"/>
          <a:srcRect l="9248" t="10472" r="75065" b="78164"/>
          <a:stretch>
            <a:fillRect/>
          </a:stretch>
        </p:blipFill>
        <p:spPr>
          <a:xfrm>
            <a:off x="8072774" y="2571701"/>
            <a:ext cx="7100480" cy="5143598"/>
          </a:xfrm>
          <a:prstGeom prst="rect">
            <a:avLst/>
          </a:prstGeom>
        </p:spPr>
      </p:pic>
      <p:sp>
        <p:nvSpPr>
          <p:cNvPr id="2" name="Text Placeholder 1">
            <a:extLst>
              <a:ext uri="{FF2B5EF4-FFF2-40B4-BE49-F238E27FC236}">
                <a16:creationId xmlns:a16="http://schemas.microsoft.com/office/drawing/2014/main" id="{299405E3-09B7-4377-0E86-AF1D71B306F0}"/>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5D7BFFFE-1932-90A2-1F5D-59E19ECEA3B8}"/>
              </a:ext>
            </a:extLst>
          </p:cNvPr>
          <p:cNvSpPr>
            <a:spLocks noGrp="1"/>
          </p:cNvSpPr>
          <p:nvPr>
            <p:ph type="body" sz="quarter" idx="18"/>
          </p:nvPr>
        </p:nvSpPr>
        <p:spPr/>
        <p:txBody>
          <a:bodyPr/>
          <a:lstStyle/>
          <a:p>
            <a:r>
              <a:rPr lang="en-US" dirty="0"/>
              <a:t>Eligible in treat vs eligible in control (RCT)</a:t>
            </a:r>
          </a:p>
        </p:txBody>
      </p:sp>
      <p:pic>
        <p:nvPicPr>
          <p:cNvPr id="12" name="Graphic 11" descr="City outline">
            <a:extLst>
              <a:ext uri="{FF2B5EF4-FFF2-40B4-BE49-F238E27FC236}">
                <a16:creationId xmlns:a16="http://schemas.microsoft.com/office/drawing/2014/main" id="{47239594-2DB1-19B4-54EF-34C37C97AF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66713" y="3984088"/>
            <a:ext cx="1001337" cy="1001337"/>
          </a:xfrm>
          <a:prstGeom prst="rect">
            <a:avLst/>
          </a:prstGeom>
        </p:spPr>
      </p:pic>
      <p:pic>
        <p:nvPicPr>
          <p:cNvPr id="13" name="Graphic 12" descr="City outline">
            <a:extLst>
              <a:ext uri="{FF2B5EF4-FFF2-40B4-BE49-F238E27FC236}">
                <a16:creationId xmlns:a16="http://schemas.microsoft.com/office/drawing/2014/main" id="{985C2B2A-A150-8977-5C38-D8CD891DE5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44391" y="3189539"/>
            <a:ext cx="1001337" cy="1001337"/>
          </a:xfrm>
          <a:prstGeom prst="rect">
            <a:avLst/>
          </a:prstGeom>
        </p:spPr>
      </p:pic>
      <p:pic>
        <p:nvPicPr>
          <p:cNvPr id="16" name="Graphic 15" descr="City outline">
            <a:extLst>
              <a:ext uri="{FF2B5EF4-FFF2-40B4-BE49-F238E27FC236}">
                <a16:creationId xmlns:a16="http://schemas.microsoft.com/office/drawing/2014/main" id="{6C9106C6-A93A-A9FD-F1E3-AE1694B7D9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8934" y="4918224"/>
            <a:ext cx="1001337" cy="1001337"/>
          </a:xfrm>
          <a:prstGeom prst="rect">
            <a:avLst/>
          </a:prstGeom>
        </p:spPr>
      </p:pic>
      <p:pic>
        <p:nvPicPr>
          <p:cNvPr id="20" name="Graphic 19" descr="City outline">
            <a:extLst>
              <a:ext uri="{FF2B5EF4-FFF2-40B4-BE49-F238E27FC236}">
                <a16:creationId xmlns:a16="http://schemas.microsoft.com/office/drawing/2014/main" id="{D75B3C8C-A7E5-F19F-BB77-43D7E21AA49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23007" y="3963306"/>
            <a:ext cx="1001337" cy="1001337"/>
          </a:xfrm>
          <a:prstGeom prst="rect">
            <a:avLst/>
          </a:prstGeom>
        </p:spPr>
      </p:pic>
      <p:pic>
        <p:nvPicPr>
          <p:cNvPr id="21" name="Graphic 20" descr="City outline">
            <a:extLst>
              <a:ext uri="{FF2B5EF4-FFF2-40B4-BE49-F238E27FC236}">
                <a16:creationId xmlns:a16="http://schemas.microsoft.com/office/drawing/2014/main" id="{34AA0DC4-A842-35A7-7271-0DBF8AA86EDE}"/>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13100685" y="3168757"/>
            <a:ext cx="1001337" cy="1001337"/>
          </a:xfrm>
          <a:prstGeom prst="rect">
            <a:avLst/>
          </a:prstGeom>
        </p:spPr>
      </p:pic>
      <p:pic>
        <p:nvPicPr>
          <p:cNvPr id="22" name="Graphic 21" descr="City outline">
            <a:extLst>
              <a:ext uri="{FF2B5EF4-FFF2-40B4-BE49-F238E27FC236}">
                <a16:creationId xmlns:a16="http://schemas.microsoft.com/office/drawing/2014/main" id="{9C0F75F6-2088-1E74-8843-5DBE0A43508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30075" y="4198795"/>
            <a:ext cx="1001337" cy="1001337"/>
          </a:xfrm>
          <a:prstGeom prst="rect">
            <a:avLst/>
          </a:prstGeom>
        </p:spPr>
      </p:pic>
    </p:spTree>
    <p:extLst>
      <p:ext uri="{BB962C8B-B14F-4D97-AF65-F5344CB8AC3E}">
        <p14:creationId xmlns:p14="http://schemas.microsoft.com/office/powerpoint/2010/main" val="23551985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5E463A-2410-F431-80AD-9052D7AE3637}"/>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DEDF229A-6DD5-92E8-DAA0-BF8F087B1725}"/>
              </a:ext>
            </a:extLst>
          </p:cNvPr>
          <p:cNvSpPr>
            <a:spLocks noGrp="1"/>
          </p:cNvSpPr>
          <p:nvPr>
            <p:ph type="body" sz="quarter" idx="18"/>
          </p:nvPr>
        </p:nvSpPr>
        <p:spPr/>
        <p:txBody>
          <a:bodyPr/>
          <a:lstStyle/>
          <a:p>
            <a:r>
              <a:rPr lang="en-US" dirty="0"/>
              <a:t>Before-After Graph</a:t>
            </a:r>
          </a:p>
        </p:txBody>
      </p:sp>
      <p:pic>
        <p:nvPicPr>
          <p:cNvPr id="13" name="Picture 12">
            <a:extLst>
              <a:ext uri="{FF2B5EF4-FFF2-40B4-BE49-F238E27FC236}">
                <a16:creationId xmlns:a16="http://schemas.microsoft.com/office/drawing/2014/main" id="{807A80D1-05D9-40EC-0E3E-1F99E8290C3D}"/>
              </a:ext>
            </a:extLst>
          </p:cNvPr>
          <p:cNvPicPr>
            <a:picLocks noChangeAspect="1"/>
          </p:cNvPicPr>
          <p:nvPr/>
        </p:nvPicPr>
        <p:blipFill>
          <a:blip r:embed="rId3"/>
          <a:stretch>
            <a:fillRect/>
          </a:stretch>
        </p:blipFill>
        <p:spPr>
          <a:xfrm>
            <a:off x="3350128" y="1620000"/>
            <a:ext cx="5491744" cy="5100000"/>
          </a:xfrm>
          <a:prstGeom prst="rect">
            <a:avLst/>
          </a:prstGeom>
        </p:spPr>
      </p:pic>
    </p:spTree>
    <p:extLst>
      <p:ext uri="{BB962C8B-B14F-4D97-AF65-F5344CB8AC3E}">
        <p14:creationId xmlns:p14="http://schemas.microsoft.com/office/powerpoint/2010/main" val="28915504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5E463A-2410-F431-80AD-9052D7AE3637}"/>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DEDF229A-6DD5-92E8-DAA0-BF8F087B1725}"/>
              </a:ext>
            </a:extLst>
          </p:cNvPr>
          <p:cNvSpPr>
            <a:spLocks noGrp="1"/>
          </p:cNvSpPr>
          <p:nvPr>
            <p:ph type="body" sz="quarter" idx="18"/>
          </p:nvPr>
        </p:nvSpPr>
        <p:spPr/>
        <p:txBody>
          <a:bodyPr/>
          <a:lstStyle/>
          <a:p>
            <a:r>
              <a:rPr lang="en-US" dirty="0"/>
              <a:t>Enrolled vs. Not Enrolled Graph</a:t>
            </a:r>
          </a:p>
        </p:txBody>
      </p:sp>
      <p:pic>
        <p:nvPicPr>
          <p:cNvPr id="13" name="Picture 12">
            <a:extLst>
              <a:ext uri="{FF2B5EF4-FFF2-40B4-BE49-F238E27FC236}">
                <a16:creationId xmlns:a16="http://schemas.microsoft.com/office/drawing/2014/main" id="{807A80D1-05D9-40EC-0E3E-1F99E8290C3D}"/>
              </a:ext>
            </a:extLst>
          </p:cNvPr>
          <p:cNvPicPr>
            <a:picLocks noChangeAspect="1"/>
          </p:cNvPicPr>
          <p:nvPr/>
        </p:nvPicPr>
        <p:blipFill>
          <a:blip r:embed="rId3"/>
          <a:stretch>
            <a:fillRect/>
          </a:stretch>
        </p:blipFill>
        <p:spPr>
          <a:xfrm>
            <a:off x="3350128" y="1620000"/>
            <a:ext cx="5491744" cy="5100000"/>
          </a:xfrm>
          <a:prstGeom prst="rect">
            <a:avLst/>
          </a:prstGeom>
        </p:spPr>
      </p:pic>
    </p:spTree>
    <p:extLst>
      <p:ext uri="{BB962C8B-B14F-4D97-AF65-F5344CB8AC3E}">
        <p14:creationId xmlns:p14="http://schemas.microsoft.com/office/powerpoint/2010/main" val="28915504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5E463A-2410-F431-80AD-9052D7AE3637}"/>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DEDF229A-6DD5-92E8-DAA0-BF8F087B1725}"/>
              </a:ext>
            </a:extLst>
          </p:cNvPr>
          <p:cNvSpPr>
            <a:spLocks noGrp="1"/>
          </p:cNvSpPr>
          <p:nvPr>
            <p:ph type="body" sz="quarter" idx="18"/>
          </p:nvPr>
        </p:nvSpPr>
        <p:spPr/>
        <p:txBody>
          <a:bodyPr/>
          <a:lstStyle/>
          <a:p>
            <a:r>
              <a:rPr lang="en-US" dirty="0"/>
              <a:t>RCT Graph</a:t>
            </a:r>
          </a:p>
        </p:txBody>
      </p:sp>
      <p:pic>
        <p:nvPicPr>
          <p:cNvPr id="13" name="Picture 12">
            <a:extLst>
              <a:ext uri="{FF2B5EF4-FFF2-40B4-BE49-F238E27FC236}">
                <a16:creationId xmlns:a16="http://schemas.microsoft.com/office/drawing/2014/main" id="{807A80D1-05D9-40EC-0E3E-1F99E8290C3D}"/>
              </a:ext>
            </a:extLst>
          </p:cNvPr>
          <p:cNvPicPr>
            <a:picLocks noChangeAspect="1"/>
          </p:cNvPicPr>
          <p:nvPr/>
        </p:nvPicPr>
        <p:blipFill>
          <a:blip r:embed="rId3"/>
          <a:stretch>
            <a:fillRect/>
          </a:stretch>
        </p:blipFill>
        <p:spPr>
          <a:xfrm>
            <a:off x="3350128" y="1620000"/>
            <a:ext cx="5491744" cy="5100000"/>
          </a:xfrm>
          <a:prstGeom prst="rect">
            <a:avLst/>
          </a:prstGeom>
        </p:spPr>
      </p:pic>
    </p:spTree>
    <p:extLst>
      <p:ext uri="{BB962C8B-B14F-4D97-AF65-F5344CB8AC3E}">
        <p14:creationId xmlns:p14="http://schemas.microsoft.com/office/powerpoint/2010/main" val="28915504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5E463A-2410-F431-80AD-9052D7AE3637}"/>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DEDF229A-6DD5-92E8-DAA0-BF8F087B1725}"/>
              </a:ext>
            </a:extLst>
          </p:cNvPr>
          <p:cNvSpPr>
            <a:spLocks noGrp="1"/>
          </p:cNvSpPr>
          <p:nvPr>
            <p:ph type="body" sz="quarter" idx="18"/>
          </p:nvPr>
        </p:nvSpPr>
        <p:spPr/>
        <p:txBody>
          <a:bodyPr/>
          <a:lstStyle/>
          <a:p>
            <a:r>
              <a:rPr lang="en-US" dirty="0"/>
              <a:t>CEM: Before Matching</a:t>
            </a:r>
          </a:p>
        </p:txBody>
      </p:sp>
      <p:pic>
        <p:nvPicPr>
          <p:cNvPr id="13" name="Picture 12">
            <a:extLst>
              <a:ext uri="{FF2B5EF4-FFF2-40B4-BE49-F238E27FC236}">
                <a16:creationId xmlns:a16="http://schemas.microsoft.com/office/drawing/2014/main" id="{807A80D1-05D9-40EC-0E3E-1F99E8290C3D}"/>
              </a:ext>
            </a:extLst>
          </p:cNvPr>
          <p:cNvPicPr>
            <a:picLocks noChangeAspect="1"/>
          </p:cNvPicPr>
          <p:nvPr/>
        </p:nvPicPr>
        <p:blipFill>
          <a:blip r:embed="rId3"/>
          <a:stretch>
            <a:fillRect/>
          </a:stretch>
        </p:blipFill>
        <p:spPr>
          <a:xfrm>
            <a:off x="2016000" y="1500000"/>
            <a:ext cx="8160000" cy="5100000"/>
          </a:xfrm>
          <a:prstGeom prst="rect">
            <a:avLst/>
          </a:prstGeom>
        </p:spPr>
      </p:pic>
    </p:spTree>
    <p:extLst>
      <p:ext uri="{BB962C8B-B14F-4D97-AF65-F5344CB8AC3E}">
        <p14:creationId xmlns:p14="http://schemas.microsoft.com/office/powerpoint/2010/main" val="28915504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5E463A-2410-F431-80AD-9052D7AE3637}"/>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DEDF229A-6DD5-92E8-DAA0-BF8F087B1725}"/>
              </a:ext>
            </a:extLst>
          </p:cNvPr>
          <p:cNvSpPr>
            <a:spLocks noGrp="1"/>
          </p:cNvSpPr>
          <p:nvPr>
            <p:ph type="body" sz="quarter" idx="18"/>
          </p:nvPr>
        </p:nvSpPr>
        <p:spPr/>
        <p:txBody>
          <a:bodyPr/>
          <a:lstStyle/>
          <a:p>
            <a:r>
              <a:rPr lang="en-US" dirty="0"/>
              <a:t>CEM: After Matching</a:t>
            </a:r>
          </a:p>
        </p:txBody>
      </p:sp>
      <p:pic>
        <p:nvPicPr>
          <p:cNvPr id="13" name="Picture 12">
            <a:extLst>
              <a:ext uri="{FF2B5EF4-FFF2-40B4-BE49-F238E27FC236}">
                <a16:creationId xmlns:a16="http://schemas.microsoft.com/office/drawing/2014/main" id="{807A80D1-05D9-40EC-0E3E-1F99E8290C3D}"/>
              </a:ext>
            </a:extLst>
          </p:cNvPr>
          <p:cNvPicPr>
            <a:picLocks noChangeAspect="1"/>
          </p:cNvPicPr>
          <p:nvPr/>
        </p:nvPicPr>
        <p:blipFill>
          <a:blip r:embed="rId3"/>
          <a:stretch>
            <a:fillRect/>
          </a:stretch>
        </p:blipFill>
        <p:spPr>
          <a:xfrm>
            <a:off x="2016000" y="1500000"/>
            <a:ext cx="8160000" cy="5100000"/>
          </a:xfrm>
          <a:prstGeom prst="rect">
            <a:avLst/>
          </a:prstGeom>
        </p:spPr>
      </p:pic>
    </p:spTree>
    <p:extLst>
      <p:ext uri="{BB962C8B-B14F-4D97-AF65-F5344CB8AC3E}">
        <p14:creationId xmlns:p14="http://schemas.microsoft.com/office/powerpoint/2010/main" val="28915504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F5DF7F7-C83C-0C00-AA68-C1574196399B}"/>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BD5EE8A1-E275-9E32-17F1-BF2F95270E5E}"/>
              </a:ext>
            </a:extLst>
          </p:cNvPr>
          <p:cNvSpPr>
            <a:spLocks noGrp="1"/>
          </p:cNvSpPr>
          <p:nvPr>
            <p:ph type="body" sz="quarter" idx="18"/>
          </p:nvPr>
        </p:nvSpPr>
        <p:spPr/>
        <p:txBody>
          <a:bodyPr>
            <a:normAutofit/>
          </a:bodyPr>
          <a:lstStyle/>
          <a:p>
            <a:pPr>
              <a:lnSpc>
                <a:spcPct val="90000"/>
              </a:lnSpc>
              <a:spcAft>
                <a:spcPts val="600"/>
              </a:spcAft>
            </a:pPr>
            <a:r>
              <a:rPr lang="en-US" sz="5000" b="1" i="0" u="none" strike="noStrike" cap="none">
                <a:latin typeface="Arial"/>
                <a:ea typeface="Arial"/>
                <a:cs typeface="Arial"/>
                <a:sym typeface="Arial"/>
              </a:rPr>
              <a:t>CEM Matching (editable)</a:t>
            </a:r>
          </a:p>
        </p:txBody>
      </p:sp>
      <p:graphicFrame>
        <p:nvGraphicFramePr>
          <p:cNvPr id="6" name="Content Placeholder 5">
            <a:extLst>
              <a:ext uri="{FF2B5EF4-FFF2-40B4-BE49-F238E27FC236}">
                <a16:creationId xmlns:a16="http://schemas.microsoft.com/office/drawing/2014/main" id="{E3349F97-9BA7-7751-2AE6-D387927097D4}"/>
              </a:ext>
            </a:extLst>
          </p:cNvPr>
          <p:cNvGraphicFramePr>
            <a:graphicFrameLocks noGrp="1"/>
          </p:cNvGraphicFramePr>
          <p:nvPr>
            <p:ph sz="quarter" idx="23"/>
            <p:extLst>
              <p:ext uri="{D42A27DB-BD31-4B8C-83A1-F6EECF244321}">
                <p14:modId xmlns:p14="http://schemas.microsoft.com/office/powerpoint/2010/main" val="3960366579"/>
              </p:ext>
            </p:extLst>
          </p:nvPr>
        </p:nvGraphicFramePr>
        <p:xfrm>
          <a:off x="2191407" y="2609691"/>
          <a:ext cx="14854509" cy="5067618"/>
        </p:xfrm>
        <a:graphic>
          <a:graphicData uri="http://schemas.openxmlformats.org/drawingml/2006/table">
            <a:tbl>
              <a:tblPr firstRow="1" bandRow="1"/>
              <a:tblGrid>
                <a:gridCol w="4826870">
                  <a:extLst>
                    <a:ext uri="{9D8B030D-6E8A-4147-A177-3AD203B41FA5}">
                      <a16:colId xmlns:a16="http://schemas.microsoft.com/office/drawing/2014/main" val="2034804937"/>
                    </a:ext>
                  </a:extLst>
                </a:gridCol>
                <a:gridCol w="5666384">
                  <a:extLst>
                    <a:ext uri="{9D8B030D-6E8A-4147-A177-3AD203B41FA5}">
                      <a16:colId xmlns:a16="http://schemas.microsoft.com/office/drawing/2014/main" val="4100656003"/>
                    </a:ext>
                  </a:extLst>
                </a:gridCol>
                <a:gridCol w="4361255">
                  <a:extLst>
                    <a:ext uri="{9D8B030D-6E8A-4147-A177-3AD203B41FA5}">
                      <a16:colId xmlns:a16="http://schemas.microsoft.com/office/drawing/2014/main" val="473733447"/>
                    </a:ext>
                  </a:extLst>
                </a:gridCol>
              </a:tblGrid>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Limited Covs CEM</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All Covs CEM</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402927283"/>
                  </a:ext>
                </a:extLst>
              </a:tr>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Matching Effect</a:t>
                      </a:r>
                      <a:endParaRPr lang="en-US" sz="5400" b="0" i="0" u="none" strike="noStrike">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-1112.69***</a:t>
                      </a:r>
                      <a:endParaRPr lang="en-US" sz="5400" b="0" i="0" u="none" strike="noStrike" dirty="0">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-987.79***</a:t>
                      </a:r>
                      <a:endParaRPr lang="en-US" sz="5400" b="0" i="0" u="none" strike="noStrike" dirty="0">
                        <a:effectLst/>
                        <a:latin typeface="Arial" panose="020B0604020202020204" pitchFamily="34" charset="0"/>
                      </a:endParaRPr>
                    </a:p>
                  </a:txBody>
                  <a:tcPr marL="28575" marR="28575" marT="28575" marB="0" anchor="ctr">
                    <a:lnL>
                      <a:noFill/>
                    </a:lnL>
                    <a:lnR>
                      <a:noFill/>
                    </a:lnR>
                    <a:lnT w="19050" cap="flat" cmpd="sng" algn="ctr">
                      <a:solidFill>
                        <a:srgbClr val="666666"/>
                      </a:solidFill>
                      <a:prstDash val="solid"/>
                      <a:round/>
                      <a:headEnd type="none" w="med" len="med"/>
                      <a:tailEnd type="none" w="med" len="med"/>
                    </a:lnT>
                    <a:lnB>
                      <a:noFill/>
                    </a:lnB>
                    <a:noFill/>
                  </a:tcPr>
                </a:tc>
                <a:extLst>
                  <a:ext uri="{0D108BD9-81ED-4DB2-BD59-A6C34878D82A}">
                    <a16:rowId xmlns:a16="http://schemas.microsoft.com/office/drawing/2014/main" val="4061112915"/>
                  </a:ext>
                </a:extLst>
              </a:tr>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(37.51)</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(42.29)</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769219342"/>
                  </a:ext>
                </a:extLst>
              </a:tr>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(Intercept)</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1896.67***</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1794.96***</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4077186915"/>
                  </a:ext>
                </a:extLst>
              </a:tr>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endParaRPr lang="en-US" sz="5400" b="0" i="0" u="none" strike="noStrike">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(29.40)</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(31.98)</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a:noFill/>
                    </a:lnB>
                    <a:noFill/>
                  </a:tcPr>
                </a:tc>
                <a:extLst>
                  <a:ext uri="{0D108BD9-81ED-4DB2-BD59-A6C34878D82A}">
                    <a16:rowId xmlns:a16="http://schemas.microsoft.com/office/drawing/2014/main" val="4149893035"/>
                  </a:ext>
                </a:extLst>
              </a:tr>
              <a:tr h="578067">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Num.Obs.</a:t>
                      </a:r>
                      <a:endParaRPr lang="en-US" sz="5400" b="0" i="0" u="none" strike="noStrike">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7432</a:t>
                      </a:r>
                      <a:endParaRPr lang="en-US" sz="5400" b="0" i="0" u="none" strike="noStrike" dirty="0">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tc>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cs typeface="Times New Roman" panose="02020603050405020304" pitchFamily="18" charset="0"/>
                        </a:rPr>
                        <a:t>3898</a:t>
                      </a:r>
                      <a:endParaRPr lang="en-US" sz="5400" b="0" i="0" u="none" strike="noStrike">
                        <a:effectLst/>
                        <a:latin typeface="Arial" panose="020B0604020202020204" pitchFamily="34" charset="0"/>
                      </a:endParaRPr>
                    </a:p>
                  </a:txBody>
                  <a:tcPr marL="28575" marR="28575" marT="28575" marB="0" anchor="ctr">
                    <a:lnL>
                      <a:noFill/>
                    </a:lnL>
                    <a:lnR>
                      <a:noFill/>
                    </a:lnR>
                    <a:lnT>
                      <a:noFill/>
                    </a:lnT>
                    <a:lnB w="1905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299740910"/>
                  </a:ext>
                </a:extLst>
              </a:tr>
              <a:tr h="799608">
                <a:tc gridSpan="3">
                  <a:txBody>
                    <a:bodyPr/>
                    <a:lstStyle/>
                    <a:p>
                      <a:pPr marL="0" marR="0" algn="l" fontAlgn="ctr">
                        <a:spcBef>
                          <a:spcPts val="500"/>
                        </a:spcBef>
                        <a:spcAft>
                          <a:spcPts val="500"/>
                        </a:spcAft>
                        <a:buNone/>
                      </a:pPr>
                      <a:r>
                        <a:rPr lang="en-US" sz="3300" b="0" i="0" u="none" strike="noStrike">
                          <a:solidFill>
                            <a:srgbClr val="000000"/>
                          </a:solidFill>
                          <a:effectLst/>
                          <a:latin typeface="Arial" panose="020B0604020202020204" pitchFamily="34" charset="0"/>
                          <a:ea typeface="Arial" panose="020B0604020202020204" pitchFamily="34" charset="0"/>
                          <a:cs typeface="Times New Roman" panose="02020603050405020304" pitchFamily="18" charset="0"/>
                        </a:rPr>
                        <a:t>+ p &lt; 0.1, * p &lt; 0.05, ** p &lt; 0.01, *** p &lt; 0.001</a:t>
                      </a:r>
                      <a:endParaRPr lang="en-US" sz="5400" b="0" i="0" u="none" strike="noStrike">
                        <a:effectLst/>
                        <a:latin typeface="Arial" panose="020B0604020202020204" pitchFamily="34" charset="0"/>
                      </a:endParaRPr>
                    </a:p>
                  </a:txBody>
                  <a:tcPr marL="274320" marR="274320" marT="137160" marB="137160">
                    <a:lnL>
                      <a:noFill/>
                    </a:lnL>
                    <a:lnR>
                      <a:noFill/>
                    </a:lnR>
                    <a:lnT w="19050" cap="flat" cmpd="sng" algn="ctr">
                      <a:solidFill>
                        <a:srgbClr val="666666"/>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99119697"/>
                  </a:ext>
                </a:extLst>
              </a:tr>
              <a:tr h="799608">
                <a:tc gridSpan="3">
                  <a:txBody>
                    <a:bodyPr/>
                    <a:lstStyle/>
                    <a:p>
                      <a:pPr marL="0" marR="0" algn="l" fontAlgn="ctr">
                        <a:spcBef>
                          <a:spcPts val="500"/>
                        </a:spcBef>
                        <a:spcAft>
                          <a:spcPts val="500"/>
                        </a:spcAft>
                        <a:buNone/>
                      </a:pPr>
                      <a:r>
                        <a:rPr lang="en-US" sz="3300" b="0" i="0" u="none" strike="noStrike"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Standard errors are in parentheses</a:t>
                      </a:r>
                      <a:endParaRPr lang="en-US" sz="5400" b="0" i="0" u="none" strike="noStrike" dirty="0">
                        <a:effectLst/>
                        <a:latin typeface="Arial" panose="020B0604020202020204" pitchFamily="34" charset="0"/>
                      </a:endParaRPr>
                    </a:p>
                  </a:txBody>
                  <a:tcPr marL="274320" marR="274320" marT="137160" marB="137160">
                    <a:lnL>
                      <a:noFill/>
                    </a:lnL>
                    <a:lnR>
                      <a:noFill/>
                    </a:lnR>
                    <a:lnT>
                      <a:noFill/>
                    </a:lnT>
                    <a:lnB>
                      <a:noFill/>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30743064"/>
                  </a:ext>
                </a:extLst>
              </a:tr>
            </a:tbl>
          </a:graphicData>
        </a:graphic>
      </p:graphicFrame>
      <p:sp>
        <p:nvSpPr>
          <p:cNvPr id="7" name="Rectangle 1">
            <a:extLst>
              <a:ext uri="{FF2B5EF4-FFF2-40B4-BE49-F238E27FC236}">
                <a16:creationId xmlns:a16="http://schemas.microsoft.com/office/drawing/2014/main" id="{64477D95-2838-63CB-8836-729FD55C8D20}"/>
              </a:ext>
            </a:extLst>
          </p:cNvPr>
          <p:cNvSpPr>
            <a:spLocks noChangeArrowheads="1"/>
          </p:cNvSpPr>
          <p:nvPr/>
        </p:nvSpPr>
        <p:spPr bwMode="auto">
          <a:xfrm>
            <a:off x="927100" y="9187480"/>
            <a:ext cx="16882586" cy="5184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38088" tIns="45720" rIns="38088" bIns="45720" numCol="1" anchorCtr="0" compatLnSpc="1">
            <a:prstTxWarp prst="textNoShape">
              <a:avLst/>
            </a:prstTxWarp>
            <a:normAutofit/>
          </a:bodyPr>
          <a:lstStyle/>
          <a:p>
            <a:pPr marL="0" indent="0" defTabSz="914400" fontAlgn="base" latinLnBrk="0">
              <a:spcAft>
                <a:spcPts val="600"/>
              </a:spcAft>
              <a:buSzTx/>
              <a:buFont typeface="Arial"/>
              <a:buNone/>
              <a:tabLst/>
            </a:pPr>
            <a:r>
              <a:rPr kumimoji="0" lang="en-US" altLang="en-US" sz="1800" normalizeH="0" baseline="0">
                <a:ln>
                  <a:noFill/>
                </a:ln>
                <a:solidFill>
                  <a:srgbClr val="153A80"/>
                </a:solidFill>
                <a:effectLst/>
              </a:rPr>
              <a:t>Matching Regression Results</a:t>
            </a:r>
          </a:p>
          <a:p>
            <a:pPr marL="0" indent="0" defTabSz="914400" fontAlgn="base" latinLnBrk="0">
              <a:spcAft>
                <a:spcPts val="600"/>
              </a:spcAft>
              <a:buSzTx/>
              <a:buFont typeface="Arial"/>
              <a:buNone/>
              <a:tabLst/>
            </a:pPr>
            <a:endParaRPr kumimoji="0" lang="en-US" altLang="en-US" sz="1800" normalizeH="0" baseline="0">
              <a:ln>
                <a:noFill/>
              </a:ln>
              <a:solidFill>
                <a:srgbClr val="153A80"/>
              </a:solidFill>
              <a:effectLst/>
            </a:endParaRPr>
          </a:p>
        </p:txBody>
      </p:sp>
    </p:spTree>
    <p:extLst>
      <p:ext uri="{BB962C8B-B14F-4D97-AF65-F5344CB8AC3E}">
        <p14:creationId xmlns:p14="http://schemas.microsoft.com/office/powerpoint/2010/main" val="7306597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7wgfi4zrqaon8h5ggym4pd222ikxco"/>
</p:tagLst>
</file>

<file path=ppt/theme/theme1.xml><?xml version="1.0" encoding="utf-8"?>
<a:theme xmlns:a="http://schemas.openxmlformats.org/drawingml/2006/main" name="3ie-PPT-slid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3ie-PPT_AG v12" id="{2C827CA6-94E1-45FA-9516-43AE253677C2}" vid="{1A3B9CB6-62D4-414D-8F14-57DFC0C3927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ecd3b28-54f9-48a9-a06f-970c2eba0439">
      <Terms xmlns="http://schemas.microsoft.com/office/infopath/2007/PartnerControls"/>
    </lcf76f155ced4ddcb4097134ff3c332f>
    <TaxCatchAll xmlns="ee112fb9-f398-4994-80e2-894318dd636f" xsi:nil="true"/>
    <Level xmlns="1ecd3b28-54f9-48a9-a06f-970c2eba0439" xsi:nil="true"/>
    <Sessiontopic xmlns="1ecd3b28-54f9-48a9-a06f-970c2eba0439" xsi:nil="true"/>
    <Learningobjective xmlns="1ecd3b28-54f9-48a9-a06f-970c2eba0439" xsi:nil="true"/>
    <Sessiontopic0 xmlns="1ecd3b28-54f9-48a9-a06f-970c2eba0439" xsi:nil="true"/>
    <Language xmlns="1ecd3b28-54f9-48a9-a06f-970c2eba0439">English</Language>
    <CaseStudies_2 xmlns="1ecd3b28-54f9-48a9-a06f-970c2eba0439">
      <Url xsi:nil="true"/>
      <Description xsi:nil="true"/>
    </CaseStudies_2>
    <Assessments_2 xmlns="1ecd3b28-54f9-48a9-a06f-970c2eba0439">
      <Url xsi:nil="true"/>
      <Description xsi:nil="true"/>
    </Assessments_2>
    <Exercises_2 xmlns="1ecd3b28-54f9-48a9-a06f-970c2eba0439">
      <Url xsi:nil="true"/>
      <Description xsi:nil="true"/>
    </Exercises_2>
    <AdditionalMaterials_2 xmlns="1ecd3b28-54f9-48a9-a06f-970c2eba0439">
      <Url xsi:nil="true"/>
      <Description xsi:nil="true"/>
    </AdditionalMaterials_2>
    <Stataexercises xmlns="1ecd3b28-54f9-48a9-a06f-970c2eba0439">
      <Url xsi:nil="true"/>
      <Description xsi:nil="true"/>
    </Stataexercise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BAD6FBC86FF64F835F86C2282D335D" ma:contentTypeVersion="38" ma:contentTypeDescription="Create a new document." ma:contentTypeScope="" ma:versionID="00b3f8fed337657144b89b46c0193673">
  <xsd:schema xmlns:xsd="http://www.w3.org/2001/XMLSchema" xmlns:xs="http://www.w3.org/2001/XMLSchema" xmlns:p="http://schemas.microsoft.com/office/2006/metadata/properties" xmlns:ns2="1ecd3b28-54f9-48a9-a06f-970c2eba0439" xmlns:ns3="ee112fb9-f398-4994-80e2-894318dd636f" targetNamespace="http://schemas.microsoft.com/office/2006/metadata/properties" ma:root="true" ma:fieldsID="9b4b1f11d4de69f6dc02250a964d1c85" ns2:_="" ns3:_="">
    <xsd:import namespace="1ecd3b28-54f9-48a9-a06f-970c2eba0439"/>
    <xsd:import namespace="ee112fb9-f398-4994-80e2-894318dd636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Sessiontopic" minOccurs="0"/>
                <xsd:element ref="ns2:Sessiontopic0" minOccurs="0"/>
                <xsd:element ref="ns2:Learningobjective" minOccurs="0"/>
                <xsd:element ref="ns2:Level" minOccurs="0"/>
                <xsd:element ref="ns2:lcf76f155ced4ddcb4097134ff3c332f" minOccurs="0"/>
                <xsd:element ref="ns3:TaxCatchAll" minOccurs="0"/>
                <xsd:element ref="ns2:MediaServiceObjectDetectorVersions" minOccurs="0"/>
                <xsd:element ref="ns2:MediaServiceSearchProperties" minOccurs="0"/>
                <xsd:element ref="ns2:Language" minOccurs="0"/>
                <xsd:element ref="ns2:Assessments_2" minOccurs="0"/>
                <xsd:element ref="ns2:Exercises_2" minOccurs="0"/>
                <xsd:element ref="ns2:CaseStudies_2" minOccurs="0"/>
                <xsd:element ref="ns2:AdditionalMaterials_2" minOccurs="0"/>
                <xsd:element ref="ns2:Stataexercis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cd3b28-54f9-48a9-a06f-970c2eba04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Sessiontopic" ma:index="20" nillable="true" ma:displayName="Training topic" ma:format="Dropdown" ma:internalName="Sessiontopic">
      <xsd:simpleType>
        <xsd:restriction base="dms:Choice">
          <xsd:enumeration value="IE"/>
          <xsd:enumeration value="Synthesis"/>
          <xsd:enumeration value="Evidence Use"/>
        </xsd:restriction>
      </xsd:simpleType>
    </xsd:element>
    <xsd:element name="Sessiontopic0" ma:index="21" nillable="true" ma:displayName="Session topic" ma:format="Dropdown" ma:internalName="Sessiontopic0">
      <xsd:simpleType>
        <xsd:restriction base="dms:Choice">
          <xsd:enumeration value="1. Overview of Impact Evaluation"/>
          <xsd:enumeration value="2. Methods foundation"/>
          <xsd:enumeration value="3. Evaluation Types"/>
          <xsd:enumeration value="4. Experimental"/>
          <xsd:enumeration value="5. Difference-in-difference"/>
          <xsd:enumeration value="6. Interrupted time series"/>
          <xsd:enumeration value="7. Instrumental variable"/>
          <xsd:enumeration value="8. Matching"/>
          <xsd:enumeration value="9. Regression discontinuity design"/>
          <xsd:enumeration value="10. Planning an impact evaluation"/>
          <xsd:enumeration value="11. TREE"/>
          <xsd:enumeration value="12. Cost evidence"/>
          <xsd:enumeration value="13 Intro to evidence synthesis"/>
          <xsd:enumeration value="14 Stages of evidence synthesis: Planning"/>
          <xsd:enumeration value="15 Stages of evidence synthesis: Execution"/>
          <xsd:enumeration value="16 Stages of evidence synthesis: Knowledge translation"/>
          <xsd:enumeration value="17 Sampling and power calculations"/>
          <xsd:enumeration value="18 Qualitative and mixed methods"/>
          <xsd:enumeration value="19 Remote Sensing and Geospatial Analysis"/>
          <xsd:enumeration value="20 Effective communication and use of evaluation findings"/>
          <xsd:enumeration value="21 Measuring evidence use and impact: Contribution tracing"/>
          <xsd:enumeration value="22 Synthetic Control"/>
          <xsd:enumeration value="21 Measuring evidence use and impact"/>
          <xsd:enumeration value="23 Artificial Intelligence for Impact Evaluation"/>
          <xsd:enumeration value="24 Artificial Intelligence for Evidence Synthesis"/>
        </xsd:restriction>
      </xsd:simpleType>
    </xsd:element>
    <xsd:element name="Learningobjective" ma:index="22" nillable="true" ma:displayName="Learning objective" ma:format="Dropdown" ma:internalName="Learningobjective">
      <xsd:simpleType>
        <xsd:restriction base="dms:Choice">
          <xsd:enumeration value="1.1 Explain impact evaluation"/>
          <xsd:enumeration value="1.2 Develop questions that can be answered with impact evaluations"/>
          <xsd:enumeration value="1.3 Consider key factors to determine if you should conduct an impact evaluation"/>
          <xsd:enumeration value="1.4 Distinguish between experimental and quasi-experimental impact evaluation designs"/>
          <xsd:enumeration value="2.1 Define a counterfactual and summarize why it is important for impact evaluations"/>
          <xsd:enumeration value="2.2 Differentiate between correlation and causation"/>
          <xsd:enumeration value="2.3 Recognize selection bias"/>
          <xsd:enumeration value="2.4 Distinguish between external validity and internal validity"/>
          <xsd:enumeration value="2.5 Recommend solutions to common threats to internal validity"/>
          <xsd:enumeration value="3.1 Contrast common evaluation types"/>
          <xsd:enumeration value="3.2 Describe how impact evaluation fits into M&amp;E"/>
          <xsd:enumeration value="3.3 Explain limitations of non-IE methods"/>
          <xsd:enumeration value="4.1 Demonstrate how randomization produces a strong counterfactual"/>
          <xsd:enumeration value="4.2 Identify basic assumptions of Randomized Controlled Trials (RCTs)​"/>
          <xsd:enumeration value="4.3 Contrast three different methods of randomization"/>
          <xsd:enumeration value="4.4 Recognize the data requirements and conditions to conduct RCTs​​"/>
          <xsd:enumeration value="4.5 Assess key methodological challenges and limitations of RCTs​​"/>
          <xsd:enumeration value="4.6 Calculate three impact estimators"/>
          <xsd:enumeration value="5.1 Identify basic assumptions of difference-in-difference designs"/>
          <xsd:enumeration value="5.2 Explain the intuition of difference-in-difference deisgns and how they construct a counterfactual"/>
          <xsd:enumeration value="5.3 Recognize the data requirements and conditions to conduct difference-in-difference analysis"/>
          <xsd:enumeration value="5.4 Assess key methodological challenges and limitations of difference-in-difference designs"/>
          <xsd:enumeration value="6.1 Identify basic assumptions of interrupted time series designs"/>
          <xsd:enumeration value="6.2 Explain the intuition of interrupted time series designs and how they construct a counterfactual"/>
          <xsd:enumeration value="6.3 Recognize the data requirements and conditions to conduct interrupted time series analysis"/>
          <xsd:enumeration value="6.4 Assess key methodological challenges and limitations of interrupted time series designs"/>
          <xsd:enumeration value="7.1 Identify basic assumptions of instrumental variable designs"/>
          <xsd:enumeration value="7.2 Explain the intuition of instrumental variable designs"/>
          <xsd:enumeration value="7.3 Recognize the data requirements and conditions to conduct instrumental variable estimation"/>
          <xsd:enumeration value="7.4 Assess key methodological challenges and limitations of instrumental variable designs"/>
          <xsd:enumeration value="8.1 Identify basic assumptions of matching designs"/>
          <xsd:enumeration value="8.2 Explain the intuition of matching designs and how they construct a counterfactual"/>
          <xsd:enumeration value="8.3 Recognize the data requirements and conditions to conduct matching analysis"/>
          <xsd:enumeration value="8.4 Assess key methodological challenges and limitations of matching designs"/>
          <xsd:enumeration value="9.1 Identify basic assumptions of regression discontinuity designs"/>
          <xsd:enumeration value="9.2 Explain the intuition of regression discontinuity designs and how they construct a counterfactual"/>
          <xsd:enumeration value="9.3 Recognize the data requirements and conditions to conduct regression discontinuity analysis"/>
          <xsd:enumeration value="9.4 Assess key methodological challenges and limitations of regression discontinuity designs"/>
          <xsd:enumeration value="10.1 Develop a theory of change"/>
          <xsd:enumeration value="10.2 Use a theory of change to inform the design of an impact evaluation"/>
          <xsd:enumeration value="10.3 Describe key inputs into budgeting for an impact evaluation"/>
          <xsd:enumeration value="10.4 Understand key components in identifying an impact evaluation team"/>
          <xsd:enumeration value="10.5 Define the primary inputs into power calculations"/>
          <xsd:enumeration value="10.6 Differentiate between primary and secondary data sources"/>
          <xsd:enumeration value="10.7 Develop an evidence use strategy for your impact evaluation​"/>
          <xsd:enumeration value="10.8 Describe potential challenges in conducting impact evaluations in humanitarian settings and potential mitigation strategies"/>
          <xsd:enumeration value="11.1 Articulate ethical concerns and mitigation strategies for impact evaluations"/>
          <xsd:enumeration value="11.2 Understand the issues and motivations underlying TREE"/>
          <xsd:enumeration value="11.3 Describe TREE best practices"/>
          <xsd:enumeration value="11.4 Understand the issues around replication and data handling"/>
          <xsd:enumeration value="11.5 Describe the 3ie TREE Framework"/>
          <xsd:enumeration value="12.1 Explain why cost analysis should be integrated into impact evaluation"/>
          <xsd:enumeration value="12.2 Identify the four stages for integrating Cost-Effectiveness Analysis in impact evaluation (CEA framework)"/>
          <xsd:enumeration value="12.3 Apply the four stages of Cost-Effectiveness Analysis to a case study"/>
          <xsd:enumeration value="12.4 Demonstrate how cost assumptions and adjustments change cost effectiveness"/>
          <xsd:enumeration value="13.1 Understand the value and goals of synthesis"/>
          <xsd:enumeration value="13.2 Develop a clear understanding of various types of synthesis products and their appropriate uses"/>
          <xsd:enumeration value="14.1 Understand how to develop an original synthesis research question"/>
          <xsd:enumeration value="14.2 Recognize the different research skills needed in your synthesis team"/>
          <xsd:enumeration value="14.3 Learn the best practices for developing and publishing a synthesis protocol"/>
          <xsd:enumeration value="15.1 Learn the best practices for searching for evidence"/>
          <xsd:enumeration value="15.2 Practice how individual studies are screened and identified as relevant evidence"/>
          <xsd:enumeration value="15.3 Identify how to decide what data to extract from individual studies"/>
          <xsd:enumeration value="15.4 Understand how to critically assess individual studies"/>
          <xsd:enumeration value="15.5 Learn different methods for synthesizing evidence"/>
          <xsd:enumeration value="16.1 Apply learnings from synthesis training to real life synthesis work"/>
          <xsd:enumeration value="16.2 Understand how to distill key findings and implications from synthesis results"/>
          <xsd:enumeration value="16.3 Understand the value of stakeholder engagement and evidence use and uptake"/>
          <xsd:enumeration value="17.1 Describe how to draw a sample from the population of interest"/>
          <xsd:enumeration value="18.1 Understand the role of qualitative methods in impact evaluations"/>
          <xsd:enumeration value="18.2 Describe the steps of qualitative data collection and analysis"/>
          <xsd:enumeration value="18.3 Assess the benefits of mixed methods impact evaluation designs"/>
          <xsd:enumeration value="19.1 Discuss definition of remote sensing and at least two use cases for impact evaluation"/>
          <xsd:enumeration value="19.2 Identify online resources to access geospatial data and perform geospatial analysis"/>
          <xsd:enumeration value="19.3 Describe how to apply geospatial methods to impact evaluations"/>
          <xsd:enumeration value="19.4 Measure outcomes using remote sensing"/>
          <xsd:enumeration value="19.5 Summarize key methodological challenges and limitations of geospatial analysis for impact evaluation"/>
          <xsd:enumeration value="20.1 Identify key elements for effective engagement with evidence stakeholders"/>
          <xsd:enumeration value="20.2 Map stakeholders"/>
          <xsd:enumeration value="20.3 Develop a stakeholder engagement plan"/>
          <xsd:enumeration value="20.4 Communicate with different audiences"/>
          <xsd:enumeration value="20.5 Design a research communication plan"/>
          <xsd:enumeration value="20.6 Recognize key elements for uptake of evidence"/>
          <xsd:enumeration value="21.1 Explain why evidence use and impact are important"/>
          <xsd:enumeration value="21.2 Differentiate between engagement, uptake, use and impact"/>
          <xsd:enumeration value="21.3 Identify seven types of evidence use and impact"/>
          <xsd:enumeration value="21.4 Use contribution tracing as a method to verify evidence use"/>
          <xsd:enumeration value="10.9 Identify opportunities for heterogeneity analysis in your impact evaluation​"/>
          <xsd:enumeration value="17.2 Calculate power for your impact evaluation"/>
          <xsd:enumeration value="12.5 Recognize foundational methods for capturing and analyzing costs"/>
          <xsd:enumeration value="12.6 Differentiate methods for assessing the value of interventions"/>
          <xsd:enumeration value="22.3 Recognize the data requirements and conditions to conduct synthetic control method analysis"/>
          <xsd:enumeration value="22.1 Identify basic assumptions of synthetic control method"/>
          <xsd:enumeration value="22.2 Explain the intuition of the synthetic control method and how it constructs a counterfactual"/>
          <xsd:enumeration value="22.4 Assess key methodological challenges and limitations of synthetic control method"/>
          <xsd:enumeration value="18.4 Explain how qualitative process evaluation supports program learning"/>
          <xsd:enumeration value="23.1 Define core AI concepts and terminology"/>
          <xsd:enumeration value="23.2 Use large language models to optimize tasks"/>
          <xsd:enumeration value="23.3 Explore AI applications across development sectors"/>
          <xsd:enumeration value="23.4 Critically assess ethical considerations, responsible AI practices, and AI’s role in development work"/>
          <xsd:enumeration value="24.1 Apply AI in the evidence synthesis process"/>
          <xsd:enumeration value="24.2 Use AI tools to facilitate access to evidence"/>
        </xsd:restriction>
      </xsd:simpleType>
    </xsd:element>
    <xsd:element name="Level" ma:index="23" nillable="true" ma:displayName="Level" ma:format="Dropdown" ma:internalName="Level">
      <xsd:complexType>
        <xsd:complexContent>
          <xsd:extension base="dms:MultiChoice">
            <xsd:sequence>
              <xsd:element name="Value" maxOccurs="unbounded" minOccurs="0" nillable="true">
                <xsd:simpleType>
                  <xsd:restriction base="dms:Choice">
                    <xsd:enumeration value="Intermediate"/>
                    <xsd:enumeration value="Advanced"/>
                    <xsd:enumeration value="Basic"/>
                  </xsd:restriction>
                </xsd:simpleType>
              </xsd:element>
            </xsd:sequence>
          </xsd:extension>
        </xsd:complexContent>
      </xsd:complex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615f25f1-fc57-4b0d-adda-ad80cd8903a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Language" ma:index="29" nillable="true" ma:displayName="Language" ma:format="Dropdown" ma:internalName="Language">
      <xsd:simpleType>
        <xsd:restriction base="dms:Text">
          <xsd:maxLength value="255"/>
        </xsd:restriction>
      </xsd:simpleType>
    </xsd:element>
    <xsd:element name="Assessments_2" ma:index="30" nillable="true" ma:displayName="Assessments" ma:format="Hyperlink" ma:internalName="Assessments_2">
      <xsd:complexType>
        <xsd:complexContent>
          <xsd:extension base="dms:URL">
            <xsd:sequence>
              <xsd:element name="Url" type="dms:ValidUrl" minOccurs="0" nillable="true"/>
              <xsd:element name="Description" type="xsd:string" nillable="true"/>
            </xsd:sequence>
          </xsd:extension>
        </xsd:complexContent>
      </xsd:complexType>
    </xsd:element>
    <xsd:element name="Exercises_2" ma:index="31" nillable="true" ma:displayName="Exercises" ma:format="Hyperlink" ma:internalName="Exercises_2">
      <xsd:complexType>
        <xsd:complexContent>
          <xsd:extension base="dms:URL">
            <xsd:sequence>
              <xsd:element name="Url" type="dms:ValidUrl" minOccurs="0" nillable="true"/>
              <xsd:element name="Description" type="xsd:string" nillable="true"/>
            </xsd:sequence>
          </xsd:extension>
        </xsd:complexContent>
      </xsd:complexType>
    </xsd:element>
    <xsd:element name="CaseStudies_2" ma:index="32" nillable="true" ma:displayName="Case Studies" ma:format="Hyperlink" ma:internalName="CaseStudies_2">
      <xsd:complexType>
        <xsd:complexContent>
          <xsd:extension base="dms:URL">
            <xsd:sequence>
              <xsd:element name="Url" type="dms:ValidUrl" minOccurs="0" nillable="true"/>
              <xsd:element name="Description" type="xsd:string" nillable="true"/>
            </xsd:sequence>
          </xsd:extension>
        </xsd:complexContent>
      </xsd:complexType>
    </xsd:element>
    <xsd:element name="AdditionalMaterials_2" ma:index="33" nillable="true" ma:displayName="Additional Materials" ma:format="Hyperlink" ma:internalName="AdditionalMaterials_2">
      <xsd:complexType>
        <xsd:complexContent>
          <xsd:extension base="dms:URL">
            <xsd:sequence>
              <xsd:element name="Url" type="dms:ValidUrl" minOccurs="0" nillable="true"/>
              <xsd:element name="Description" type="xsd:string" nillable="true"/>
            </xsd:sequence>
          </xsd:extension>
        </xsd:complexContent>
      </xsd:complexType>
    </xsd:element>
    <xsd:element name="Stataexercises" ma:index="34" nillable="true" ma:displayName="Stata exercises" ma:format="Hyperlink" ma:internalName="Stataexercises">
      <xsd:complexType>
        <xsd:complexContent>
          <xsd:extension base="dms:URL">
            <xsd:sequence>
              <xsd:element name="Url" type="dms:ValidUrl" minOccurs="0" nillable="true"/>
              <xsd:element name="Description" type="xsd:string" nillable="true"/>
            </xsd:sequence>
          </xsd:extension>
        </xsd:complexContent>
      </xsd:complexType>
    </xsd:element>
    <xsd:element name="MediaServiceBillingMetadata" ma:index="3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112fb9-f398-4994-80e2-894318dd636f"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4a9ca370-106d-4e79-8783-320f7bba622b}" ma:internalName="TaxCatchAll" ma:showField="CatchAllData" ma:web="ee112fb9-f398-4994-80e2-894318dd63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667ECC-3EBE-407C-9133-71625DBDB746}">
  <ds:schemaRefs>
    <ds:schemaRef ds:uri="ee112fb9-f398-4994-80e2-894318dd636f"/>
    <ds:schemaRef ds:uri="http://schemas.openxmlformats.org/package/2006/metadata/core-properties"/>
    <ds:schemaRef ds:uri="http://www.w3.org/XML/1998/namespace"/>
    <ds:schemaRef ds:uri="http://purl.org/dc/terms/"/>
    <ds:schemaRef ds:uri="http://schemas.microsoft.com/office/infopath/2007/PartnerControls"/>
    <ds:schemaRef ds:uri="http://schemas.microsoft.com/office/2006/documentManagement/types"/>
    <ds:schemaRef ds:uri="1ecd3b28-54f9-48a9-a06f-970c2eba0439"/>
    <ds:schemaRef ds:uri="http://schemas.microsoft.com/office/2006/metadata/properties"/>
    <ds:schemaRef ds:uri="http://purl.org/dc/dcmitype/"/>
    <ds:schemaRef ds:uri="http://purl.org/dc/elements/1.1/"/>
  </ds:schemaRefs>
</ds:datastoreItem>
</file>

<file path=customXml/itemProps2.xml><?xml version="1.0" encoding="utf-8"?>
<ds:datastoreItem xmlns:ds="http://schemas.openxmlformats.org/officeDocument/2006/customXml" ds:itemID="{19744BAF-2478-4E53-A338-0D74D94BE330}">
  <ds:schemaRefs>
    <ds:schemaRef ds:uri="http://schemas.microsoft.com/sharepoint/v3/contenttype/forms"/>
  </ds:schemaRefs>
</ds:datastoreItem>
</file>

<file path=customXml/itemProps3.xml><?xml version="1.0" encoding="utf-8"?>
<ds:datastoreItem xmlns:ds="http://schemas.openxmlformats.org/officeDocument/2006/customXml" ds:itemID="{DEF9C6A8-F40E-4207-AC4B-27C95153A5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cd3b28-54f9-48a9-a06f-970c2eba0439"/>
    <ds:schemaRef ds:uri="ee112fb9-f398-4994-80e2-894318dd63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3ie-PPT (1)</Template>
  <TotalTime>22099</TotalTime>
  <Words>3766</Words>
  <Application>Microsoft Office PowerPoint</Application>
  <PresentationFormat>Custom</PresentationFormat>
  <Paragraphs>766</Paragraphs>
  <Slides>67</Slides>
  <Notes>31</Notes>
  <HiddenSlides>22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Aptos</vt:lpstr>
      <vt:lpstr>Arial</vt:lpstr>
      <vt:lpstr>Courier</vt:lpstr>
      <vt:lpstr>Courier New</vt:lpstr>
      <vt:lpstr>Symbol</vt:lpstr>
      <vt:lpstr>3ie-PPT-slides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Heather  van Buskirk</dc:creator>
  <cp:lastModifiedBy>Fiona Kastel</cp:lastModifiedBy>
  <cp:revision>35</cp:revision>
  <dcterms:created xsi:type="dcterms:W3CDTF">2023-08-22T15:44:45Z</dcterms:created>
  <dcterms:modified xsi:type="dcterms:W3CDTF">2025-12-09T20:46:53Z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0x01010025BAD6FBC86FF64F835F86C2282D335D</vt:lpwstr>
  </property>
  <property fmtid="{D5CDD505-2E9C-101B-9397-08002B2CF9AE}" pid="3" name="MediaServiceImageTags">
    <vt:lpwstr/>
  </property>
</Properties>
</file>