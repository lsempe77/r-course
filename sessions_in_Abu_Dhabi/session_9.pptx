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Difference-in-differences Design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Econometrics with R</a:t>
            </a:r>
            <a:br/>
            <a:br/>
            <a:r>
              <a:rPr/>
              <a:t>Dr. Lucas Sempé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Difference-in-Differences: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Core idea</a:t>
            </a:r>
            <a:r>
              <a:rPr/>
              <a:t>: Compare changes over time between treated and untreated groups</a:t>
            </a:r>
          </a:p>
          <a:p>
            <a:pPr lvl="0"/>
            <a:r>
              <a:rPr b="1"/>
              <a:t>Setting</a:t>
            </a:r>
            <a:r>
              <a:rPr/>
              <a:t>: Panel or repeated cross-sectional data with pre/post periods</a:t>
            </a:r>
          </a:p>
          <a:p>
            <a:pPr lvl="0"/>
            <a:r>
              <a:rPr b="1"/>
              <a:t>Advantage</a:t>
            </a:r>
            <a:r>
              <a:rPr/>
              <a:t>: Controls for time-invariant differences between groups</a:t>
            </a:r>
          </a:p>
          <a:p>
            <a:pPr lvl="0"/>
            <a:r>
              <a:rPr b="1"/>
              <a:t>Assumption</a:t>
            </a:r>
            <a:r>
              <a:rPr/>
              <a:t>: Relies on “parallel trends” assumption</a:t>
            </a:r>
          </a:p>
          <a:p>
            <a:pPr lvl="0"/>
            <a:r>
              <a:rPr b="1"/>
              <a:t>Applications</a:t>
            </a:r>
            <a:r>
              <a:rPr/>
              <a:t>: Widely used for policy evaluation</a:t>
            </a:r>
          </a:p>
          <a:p>
            <a:pPr lvl="0"/>
            <a:r>
              <a:rPr b="1"/>
              <a:t>Types</a:t>
            </a:r>
            <a:r>
              <a:rPr/>
              <a:t>: Two-way fixed effects, staggered adoption, triple differences, matched DID, etc.</a:t>
            </a:r>
          </a:p>
        </p:txBody>
      </p:sp>
      <p:pic>
        <p:nvPicPr>
          <p:cNvPr descr="session_9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159000"/>
            <a:ext cx="40386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DiD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Difference-in-Differences = (TreatAfter - TreatBefore) - (ControlAfter - ControlBefore)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First Difference</a:t>
            </a:r>
            <a:r>
              <a:rPr/>
              <a:t>:</a:t>
            </a:r>
          </a:p>
          <a:p>
            <a:pPr lvl="0"/>
            <a:r>
              <a:rPr/>
              <a:t>Within treatment group over time</a:t>
            </a:r>
          </a:p>
          <a:p>
            <a:pPr lvl="0"/>
            <a:r>
              <a:rPr/>
              <a:t>Controls for time-invariant characteristics</a:t>
            </a:r>
          </a:p>
          <a:p>
            <a:pPr lvl="0"/>
            <a:r>
              <a:rPr/>
              <a:t>But confounded by time trends</a:t>
            </a:r>
          </a:p>
          <a:p>
            <a:pPr lvl="0" indent="0" marL="0">
              <a:buNone/>
            </a:pPr>
            <a:r>
              <a:rPr b="1"/>
              <a:t>Second Difference</a:t>
            </a:r>
            <a:r>
              <a:rPr/>
              <a:t>:</a:t>
            </a:r>
          </a:p>
          <a:p>
            <a:pPr lvl="0"/>
            <a:r>
              <a:rPr/>
              <a:t>Between the first differences</a:t>
            </a:r>
          </a:p>
          <a:p>
            <a:pPr lvl="0"/>
            <a:r>
              <a:rPr/>
              <a:t>Controls for time trends affecting both groups</a:t>
            </a:r>
          </a:p>
          <a:p>
            <a:pPr lvl="0"/>
            <a:r>
              <a:rPr/>
              <a:t>Isolates the treatment effect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48200" y="1193800"/>
          <a:ext cx="4038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Difference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Treatment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DiD Calculation Example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 Case: DiD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compare changes in waste expenditures for enrolled vs. non-enrolled industries</a:t>
            </a:r>
          </a:p>
          <a:p>
            <a:pPr lvl="0"/>
            <a:r>
              <a:rPr/>
              <a:t>Both groups are in treatment zones (where the program was offered)</a:t>
            </a:r>
          </a:p>
          <a:p>
            <a:pPr lvl="0"/>
            <a:r>
              <a:rPr/>
              <a:t>We have data for two periods: before and after the program implementation</a:t>
            </a:r>
          </a:p>
          <a:p>
            <a:pPr lvl="0"/>
            <a:r>
              <a:rPr/>
              <a:t>DiD can help address selection bias if trends would be parallel without the program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Implementing DiD with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DiD regression without covariates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out_did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round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enrolled,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(treatment_zone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zone_identifier)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DiD regression with covariates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out_did_wcov &lt;- </a:t>
            </a:r>
            <a:r>
              <a:rPr>
                <a:solidFill>
                  <a:srgbClr val="4758AB"/>
                </a:solidFill>
                <a:latin typeface="Courier"/>
              </a:rPr>
              <a:t>lm_robust</a:t>
            </a:r>
            <a:r>
              <a:rPr>
                <a:solidFill>
                  <a:srgbClr val="003B4F"/>
                </a:solidFill>
                <a:latin typeface="Courier"/>
              </a:rPr>
              <a:t>(waste_management_costs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round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enrolled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age_manager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age_deputy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female_manager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foreign_owned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staff_size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advanced_filtration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facility_area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recycling_center_distance,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(treatment_zone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clusters =</a:t>
            </a:r>
            <a:r>
              <a:rPr>
                <a:solidFill>
                  <a:srgbClr val="003B4F"/>
                </a:solidFill>
                <a:latin typeface="Courier"/>
              </a:rPr>
              <a:t> zone_identifier)</a:t>
            </a:r>
          </a:p>
          <a:p>
            <a:pPr lvl="0" indent="0" marL="0">
              <a:buNone/>
            </a:pPr>
            <a:r>
              <a:rPr/>
              <a:t>Where:</a:t>
            </a:r>
          </a:p>
          <a:p>
            <a:pPr lvl="0"/>
            <a:r>
              <a:rPr>
                <a:latin typeface="Courier"/>
              </a:rPr>
              <a:t>round</a:t>
            </a:r>
            <a:r>
              <a:rPr/>
              <a:t>: Time indicator (0=before, 1=after)</a:t>
            </a:r>
          </a:p>
          <a:p>
            <a:pPr lvl="0"/>
            <a:r>
              <a:rPr>
                <a:latin typeface="Courier"/>
              </a:rPr>
              <a:t>enrolled</a:t>
            </a:r>
            <a:r>
              <a:rPr/>
              <a:t>: Treatment indicator (1=enrolled, 0=not enrolled)</a:t>
            </a:r>
          </a:p>
          <a:p>
            <a:pPr lvl="0"/>
            <a:r>
              <a:rPr>
                <a:latin typeface="Courier"/>
              </a:rPr>
              <a:t>round:enrolled</a:t>
            </a:r>
            <a:r>
              <a:rPr/>
              <a:t>: Interaction term capturing the DiD effect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Interpreting DiD Regression Coefficients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 the model: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nor/>
                        <m:sty m:val="p"/>
                      </m:rPr>
                      <m:t>Round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nor/>
                        <m:sty m:val="p"/>
                      </m:rPr>
                      <m:t>Enrolled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nor/>
                            <m:sty m:val="p"/>
                          </m:rPr>
                          <m:t>Round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rPr>
                            <m:nor/>
                            <m:sty m:val="p"/>
                          </m:rPr>
                          <m:t>Enrolled</m:t>
                        </m:r>
                      </m:e>
                    </m:d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: Baseline outcome for non-enrolled group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: Time trend (change for non-enrolled)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: Baseline difference between groups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: </a:t>
                </a:r>
                <a:r>
                  <a:rPr b="1"/>
                  <a:t>DiD estimate (treatment effect)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48200" y="1193800"/>
          <a:ext cx="4038600" cy="288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Not Offered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Offered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Before (Round=0)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β₀ + β₂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After (Round=1)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β₀ + β₁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β₀ + β₁ + β₂ + β₃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β₂ + β₃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β₁ + β₃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β₃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Interpretation of DiD Coefficients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DiD Results for the Program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 covariate adj.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With covariate adj.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2079.149***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2750.032***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(17.361)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(46.739)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151.342***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144.925***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(35.964)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(35.826)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−630.180***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−157.272***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(19.449)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(12.937)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round × enrolled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−816.293***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−816.181***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(32.082)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(32.122)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age_manager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7.845***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(1.107)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age_deputy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−1.559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(1.290)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female_manager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105.010**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(32.010)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foreign_owned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−223.413***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(23.466)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staff_size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−198.522***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(3.907)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advanced_filtration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−233.329***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(15.461)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facility_area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9.668**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(2.945)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recycling_center_distance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−0.250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(0.311)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Num.Obs.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9919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9919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0.344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0.551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R2 Adj.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0.343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0.550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 + p &lt; 0.1, * p &lt; 0.05, ** p &lt; 0.01, *** p &lt; 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Interpretation</a:t>
            </a:r>
            <a:r>
              <a:rPr/>
              <a:t>:</a:t>
            </a:r>
          </a:p>
          <a:p>
            <a:pPr lvl="0"/>
            <a:r>
              <a:rPr/>
              <a:t>Initial difference: Enrolled industries spent $630.2 less at baseline</a:t>
            </a:r>
          </a:p>
          <a:p>
            <a:pPr lvl="0"/>
            <a:r>
              <a:rPr/>
              <a:t>Time trend: Non-enrolled industries increased spending by $151.3</a:t>
            </a:r>
          </a:p>
          <a:p>
            <a:pPr lvl="0"/>
            <a:r>
              <a:rPr b="1"/>
              <a:t>Treatment effect</a:t>
            </a:r>
            <a:r>
              <a:rPr/>
              <a:t>: Program reduced expenditures by $816.3</a:t>
            </a:r>
          </a:p>
          <a:p>
            <a:pPr lvl="0"/>
            <a:r>
              <a:rPr/>
              <a:t>Result is statistically significant but below the 1,000 AED threshold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Visualizing the DiD Result</a:t>
            </a:r>
          </a:p>
        </p:txBody>
      </p:sp>
      <p:pic>
        <p:nvPicPr>
          <p:cNvPr descr="session_9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01800" y="1193800"/>
            <a:ext cx="5740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Parallel Trends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key identifying assumption in DiD:</a:t>
            </a:r>
          </a:p>
          <a:p>
            <a:pPr lvl="0" indent="0" marL="1270000">
              <a:buNone/>
            </a:pPr>
            <a:r>
              <a:rPr sz="2000"/>
              <a:t>In the absence of treatment, the difference between treatment and control groups would remain constant over time</a:t>
            </a:r>
          </a:p>
          <a:p>
            <a:pPr lvl="0"/>
            <a:r>
              <a:rPr/>
              <a:t>Cannot be directly tested in the post-treatment period</a:t>
            </a:r>
          </a:p>
          <a:p>
            <a:pPr lvl="0"/>
            <a:r>
              <a:rPr/>
              <a:t>Can examine pre-treatment trends if multiple periods available</a:t>
            </a:r>
          </a:p>
          <a:p>
            <a:pPr lvl="0"/>
            <a:r>
              <a:rPr/>
              <a:t>Can also use placebo tests with different groups or outcomes</a:t>
            </a:r>
          </a:p>
        </p:txBody>
      </p:sp>
      <p:pic>
        <p:nvPicPr>
          <p:cNvPr descr="session_9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159000"/>
            <a:ext cx="40386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Threats to the Parallel Trends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Differential time shocks</a:t>
            </a:r>
          </a:p>
          <a:p>
            <a:pPr lvl="1"/>
            <a:r>
              <a:rPr/>
              <a:t>Events affecting one group but not the other</a:t>
            </a:r>
          </a:p>
          <a:p>
            <a:pPr lvl="1"/>
            <a:r>
              <a:rPr/>
              <a:t>Example: Other policies targeting the same population</a:t>
            </a:r>
          </a:p>
          <a:p>
            <a:pPr lvl="0" indent="-342900" marL="342900">
              <a:buAutoNum type="arabicPeriod"/>
            </a:pPr>
            <a:r>
              <a:rPr b="1"/>
              <a:t>Compositional changes</a:t>
            </a:r>
          </a:p>
          <a:p>
            <a:pPr lvl="1"/>
            <a:r>
              <a:rPr/>
              <a:t>Changes in group makeup over time</a:t>
            </a:r>
          </a:p>
          <a:p>
            <a:pPr lvl="1"/>
            <a:r>
              <a:rPr/>
              <a:t>Example: Selective migration or attrition</a:t>
            </a:r>
          </a:p>
          <a:p>
            <a:pPr lvl="0" indent="-342900" marL="342900">
              <a:buAutoNum type="arabicPeriod"/>
            </a:pPr>
            <a:r>
              <a:rPr b="1"/>
              <a:t>Anticipation effects</a:t>
            </a:r>
          </a:p>
          <a:p>
            <a:pPr lvl="1"/>
            <a:r>
              <a:rPr/>
              <a:t>Behavior changes before treatment starts</a:t>
            </a:r>
          </a:p>
          <a:p>
            <a:pPr lvl="1"/>
            <a:r>
              <a:rPr/>
              <a:t>Example: Postponing healthcare in anticipation of insurance</a:t>
            </a:r>
          </a:p>
          <a:p>
            <a:pPr lvl="0" indent="-342900" marL="342900">
              <a:buAutoNum type="arabicPeriod"/>
            </a:pPr>
            <a:r>
              <a:rPr b="1"/>
              <a:t>Feedback effects</a:t>
            </a:r>
          </a:p>
          <a:p>
            <a:pPr lvl="1"/>
            <a:r>
              <a:rPr/>
              <a:t>Treatment affects the control group</a:t>
            </a:r>
          </a:p>
          <a:p>
            <a:pPr lvl="1"/>
            <a:r>
              <a:rPr/>
              <a:t>Example: Spillovers or general equilibrium effects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Parallel Pre-Trends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simple dataset with 20 observations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did_data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4 time periods (0-3), treatment in period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time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10 units (5 treated, 5 control)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Treatment indicator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treated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)),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Period indicator (pre/post)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post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 outcome - parallel trends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y_parallel &lt;-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time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treated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(did_data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post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treated)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Non-parallel trends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y_nonparallel &lt;- 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y_parallel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time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did_data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treated</a:t>
            </a:r>
          </a:p>
        </p:txBody>
      </p:sp>
      <p:pic>
        <p:nvPicPr>
          <p:cNvPr descr="session_9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Variants of DiD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Two-way fixed effects (TWFE)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(outcome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treated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post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unit_fe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time_fe,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data)</a:t>
            </a:r>
          </a:p>
          <a:p>
            <a:pPr lvl="0" indent="-342900" marL="342900">
              <a:buAutoNum type="arabicPeriod"/>
            </a:pPr>
            <a:r>
              <a:rPr b="1"/>
              <a:t>Staggered adoption</a:t>
            </a:r>
          </a:p>
          <a:p>
            <a:pPr lvl="1"/>
            <a:r>
              <a:rPr/>
              <a:t>Treatment implemented at different times</a:t>
            </a:r>
          </a:p>
          <a:p>
            <a:pPr lvl="1"/>
            <a:r>
              <a:rPr/>
              <a:t>Recent methods: Callaway &amp; Sant’Anna, Sun &amp; Abraham</a:t>
            </a:r>
          </a:p>
          <a:p>
            <a:pPr lvl="0" indent="-342900" marL="342900">
              <a:buAutoNum type="arabicPeriod"/>
            </a:pPr>
            <a:r>
              <a:rPr b="1"/>
              <a:t>Triple differences (DDD)</a:t>
            </a:r>
          </a:p>
          <a:p>
            <a:pPr lvl="1"/>
            <a:r>
              <a:rPr/>
              <a:t>Additional comparison dimension</a:t>
            </a:r>
          </a:p>
          <a:p>
            <a:pPr lvl="1"/>
            <a:r>
              <a:rPr/>
              <a:t>Further controls for potential confounders</a:t>
            </a:r>
          </a:p>
          <a:p>
            <a:pPr lvl="0" indent="-342900" marL="342900">
              <a:buAutoNum type="arabicPeriod"/>
            </a:pPr>
            <a:r>
              <a:rPr b="1"/>
              <a:t>Synthetic control</a:t>
            </a:r>
          </a:p>
          <a:p>
            <a:pPr lvl="1"/>
            <a:r>
              <a:rPr/>
              <a:t>Weighted combination of control units</a:t>
            </a:r>
          </a:p>
          <a:p>
            <a:pPr lvl="1"/>
            <a:r>
              <a:rPr/>
              <a:t>Data-driven approach to creating the counterfactual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DiD vs. Other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DiD</a:t>
            </a:r>
            <a:r>
              <a:rPr/>
              <a:t>:</a:t>
            </a:r>
          </a:p>
          <a:p>
            <a:pPr lvl="0"/>
            <a:r>
              <a:rPr/>
              <a:t>Effect: -$8.16</a:t>
            </a:r>
          </a:p>
          <a:p>
            <a:pPr lvl="0"/>
            <a:r>
              <a:rPr/>
              <a:t>Uses longitudinal data</a:t>
            </a:r>
          </a:p>
          <a:p>
            <a:pPr lvl="0"/>
            <a:r>
              <a:rPr/>
              <a:t>Addresses selection bias</a:t>
            </a:r>
          </a:p>
          <a:p>
            <a:pPr lvl="0"/>
            <a:r>
              <a:rPr/>
              <a:t>Requires parallel trends</a:t>
            </a:r>
          </a:p>
          <a:p>
            <a:pPr lvl="0" indent="0" marL="0">
              <a:buNone/>
            </a:pPr>
            <a:r>
              <a:rPr b="1"/>
              <a:t>Recommendation</a:t>
            </a:r>
            <a:r>
              <a:rPr/>
              <a:t>:</a:t>
            </a:r>
            <a:br/>
            <a:r>
              <a:rPr/>
              <a:t>Do not scale 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RDD</a:t>
            </a:r>
            <a:r>
              <a:rPr/>
              <a:t>:</a:t>
            </a:r>
          </a:p>
          <a:p>
            <a:pPr lvl="0"/>
            <a:r>
              <a:rPr/>
              <a:t>Effect: -$9.03</a:t>
            </a:r>
          </a:p>
          <a:p>
            <a:pPr lvl="0"/>
            <a:r>
              <a:rPr/>
              <a:t>Uses eligibility threshold</a:t>
            </a:r>
          </a:p>
          <a:p>
            <a:pPr lvl="0"/>
            <a:r>
              <a:rPr/>
              <a:t>Local to cutoff</a:t>
            </a:r>
          </a:p>
          <a:p>
            <a:pPr lvl="0"/>
            <a:r>
              <a:rPr/>
              <a:t>Sharp discontinuity</a:t>
            </a:r>
          </a:p>
          <a:p>
            <a:pPr lvl="0" indent="0" marL="0">
              <a:buNone/>
            </a:pPr>
            <a:r>
              <a:rPr b="1"/>
              <a:t>Recommendation</a:t>
            </a:r>
            <a:r>
              <a:rPr/>
              <a:t>:</a:t>
            </a:r>
            <a:br/>
            <a:r>
              <a:rPr/>
              <a:t>Do not scale up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 difference with randomized results?</a:t>
            </a:r>
          </a:p>
          <a:p>
            <a:pPr lvl="0"/>
            <a:r>
              <a:rPr/>
              <a:t>Selection bias not fully addressed by DiD</a:t>
            </a:r>
          </a:p>
          <a:p>
            <a:pPr lvl="0"/>
            <a:r>
              <a:rPr/>
              <a:t>Non-enrolled industries may have different trends</a:t>
            </a:r>
          </a:p>
          <a:p>
            <a:pPr lvl="0"/>
            <a:r>
              <a:rPr/>
              <a:t>Parallel trends assumption may not hold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Use DiD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 when</a:t>
            </a:r>
            <a:r>
              <a:rPr/>
              <a:t>:</a:t>
            </a:r>
          </a:p>
          <a:p>
            <a:pPr lvl="0"/>
            <a:r>
              <a:rPr/>
              <a:t>Panel or repeated cross-sectional data available</a:t>
            </a:r>
          </a:p>
          <a:p>
            <a:pPr lvl="0"/>
            <a:r>
              <a:rPr/>
              <a:t>Pre-treatment data exists for both groups</a:t>
            </a:r>
          </a:p>
          <a:p>
            <a:pPr lvl="0"/>
            <a:r>
              <a:rPr/>
              <a:t>Parallel trends assumption is plausible</a:t>
            </a:r>
          </a:p>
          <a:p>
            <a:pPr lvl="0"/>
            <a:r>
              <a:rPr/>
              <a:t>Selection based on time-invariant factors</a:t>
            </a:r>
          </a:p>
          <a:p>
            <a:pPr lvl="0" indent="0" marL="0">
              <a:buNone/>
            </a:pPr>
            <a:r>
              <a:rPr b="1"/>
              <a:t>Common applications</a:t>
            </a:r>
            <a:r>
              <a:rPr/>
              <a:t>:</a:t>
            </a:r>
          </a:p>
          <a:p>
            <a:pPr lvl="0"/>
            <a:r>
              <a:rPr/>
              <a:t>Policy changes affecting some groups but not others</a:t>
            </a:r>
          </a:p>
          <a:p>
            <a:pPr lvl="0"/>
            <a:r>
              <a:rPr/>
              <a:t>Phased program implementation</a:t>
            </a:r>
          </a:p>
          <a:p>
            <a:pPr lvl="0"/>
            <a:r>
              <a:rPr/>
              <a:t>Natural experiments creating treatment/control groups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Implementing DiD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Basic DiD implementation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1: Basic DiD regression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did_model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outcome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treatment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post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controls,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2: With fixed effects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(fixest)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did_fe &lt;- </a:t>
            </a:r>
            <a:r>
              <a:rPr>
                <a:solidFill>
                  <a:srgbClr val="4758AB"/>
                </a:solidFill>
                <a:latin typeface="Courier"/>
              </a:rPr>
              <a:t>feols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outcome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treatment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post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unit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time,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cluster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"group_id"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3: Staggered adoption with modern methods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(did)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staggered_did &lt;- </a:t>
            </a:r>
            <a:r>
              <a:rPr>
                <a:solidFill>
                  <a:srgbClr val="4758AB"/>
                </a:solidFill>
                <a:latin typeface="Courier"/>
              </a:rPr>
              <a:t>att_gt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"outcome"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"time"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idname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gname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"first_treated"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Pitfalls in DiD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Violation of parallel trends</a:t>
            </a:r>
          </a:p>
          <a:p>
            <a:pPr lvl="1"/>
            <a:r>
              <a:rPr/>
              <a:t>Most crucial assumption</a:t>
            </a:r>
          </a:p>
          <a:p>
            <a:pPr lvl="1"/>
            <a:r>
              <a:rPr/>
              <a:t>Test with pre-treatment data when possible</a:t>
            </a:r>
          </a:p>
          <a:p>
            <a:pPr lvl="0" indent="-342900" marL="342900">
              <a:buAutoNum type="arabicPeriod"/>
            </a:pPr>
            <a:r>
              <a:rPr b="1"/>
              <a:t>Serial correlation</a:t>
            </a:r>
          </a:p>
          <a:p>
            <a:pPr lvl="1"/>
            <a:r>
              <a:rPr/>
              <a:t>Outcomes correlated over time</a:t>
            </a:r>
          </a:p>
          <a:p>
            <a:pPr lvl="1"/>
            <a:r>
              <a:rPr/>
              <a:t>Use clustered standard errors</a:t>
            </a:r>
          </a:p>
          <a:p>
            <a:pPr lvl="0" indent="-342900" marL="342900">
              <a:buAutoNum type="arabicPeriod"/>
            </a:pPr>
            <a:r>
              <a:rPr b="1"/>
              <a:t>Improper handling of covariates</a:t>
            </a:r>
          </a:p>
          <a:p>
            <a:pPr lvl="1"/>
            <a:r>
              <a:rPr/>
              <a:t>Time-varying controls may be affected by treatment</a:t>
            </a:r>
          </a:p>
          <a:p>
            <a:pPr lvl="1"/>
            <a:r>
              <a:rPr/>
              <a:t>Better to use baseline covariates interacted with time</a:t>
            </a:r>
          </a:p>
          <a:p>
            <a:pPr lvl="0" indent="-342900" marL="342900">
              <a:buAutoNum type="arabicPeriod"/>
            </a:pPr>
            <a:r>
              <a:rPr b="1"/>
              <a:t>Heterogeneous treatment effects over time</a:t>
            </a:r>
          </a:p>
          <a:p>
            <a:pPr lvl="1"/>
            <a:r>
              <a:rPr/>
              <a:t>Effects that grow or fade</a:t>
            </a:r>
          </a:p>
          <a:p>
            <a:pPr lvl="1"/>
            <a:r>
              <a:rPr/>
              <a:t>Consider event study design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Analysis to Policy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Policy question</a:t>
            </a:r>
            <a:r>
              <a:rPr/>
              <a:t>: Should the program be scaled up nationally?</a:t>
            </a:r>
          </a:p>
          <a:p>
            <a:pPr lvl="0" indent="0" marL="0">
              <a:buNone/>
            </a:pPr>
            <a:r>
              <a:rPr b="1"/>
              <a:t>Decision criterion</a:t>
            </a:r>
            <a:r>
              <a:rPr/>
              <a:t>: Program must reduce businesses’ expenditures by at least 1,000 AED.</a:t>
            </a:r>
          </a:p>
          <a:p>
            <a:pPr lvl="0" indent="0" marL="0">
              <a:buNone/>
            </a:pPr>
            <a:r>
              <a:rPr b="1"/>
              <a:t>Results from DiD estimation</a:t>
            </a:r>
            <a:r>
              <a:rPr/>
              <a:t>:</a:t>
            </a:r>
          </a:p>
          <a:p>
            <a:pPr lvl="0"/>
            <a:r>
              <a:rPr/>
              <a:t>Effect: -816 AED (95% CI: [-753, -879])</a:t>
            </a:r>
          </a:p>
          <a:p>
            <a:pPr lvl="0"/>
            <a:r>
              <a:rPr/>
              <a:t>Point estimate below the 1,000 AED threshold</a:t>
            </a:r>
          </a:p>
          <a:p>
            <a:pPr lvl="0"/>
            <a:r>
              <a:rPr/>
              <a:t>Effect robust to inclusion of covariates</a:t>
            </a:r>
          </a:p>
          <a:p>
            <a:pPr lvl="0" indent="0" marL="0">
              <a:buNone/>
            </a:pPr>
            <a:r>
              <a:rPr b="1"/>
              <a:t>Recommendation</a:t>
            </a:r>
            <a:r>
              <a:rPr/>
              <a:t>: Based on the DiD estimate, the program should not be scaled up nationally.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DiD compares changes over time between treatment and control groups</a:t>
            </a:r>
          </a:p>
          <a:p>
            <a:pPr lvl="0" indent="-342900" marL="342900">
              <a:buAutoNum type="arabicPeriod"/>
            </a:pPr>
            <a:r>
              <a:rPr/>
              <a:t>DiD controls for time-invariant differences between groups</a:t>
            </a:r>
          </a:p>
          <a:p>
            <a:pPr lvl="0" indent="-342900" marL="342900">
              <a:buAutoNum type="arabicPeriod"/>
            </a:pPr>
            <a:r>
              <a:rPr/>
              <a:t>The key assumption is parallel trends in the absence of treatment</a:t>
            </a:r>
          </a:p>
          <a:p>
            <a:pPr lvl="0" indent="-342900" marL="342900">
              <a:buAutoNum type="arabicPeriod"/>
            </a:pPr>
            <a:r>
              <a:rPr/>
              <a:t>The Program reduced waste expenditures by 816 according to DiD</a:t>
            </a:r>
          </a:p>
          <a:p>
            <a:pPr lvl="0" indent="-342900" marL="342900">
              <a:buAutoNum type="arabicPeriod"/>
            </a:pPr>
            <a:r>
              <a:rPr/>
              <a:t>This estimate is below the 1,000 AED threshold for scaling up nationally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Matching Methods</a:t>
            </a:r>
            <a:r>
              <a:rPr/>
              <a:t>: Creating comparable treatment and control groups based on observable characteristics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Difference-in-differences Design</dc:title>
  <dc:creator>Dr. Lucas Sempé</dc:creator>
  <cp:keywords/>
  <dcterms:created xsi:type="dcterms:W3CDTF">2026-09-18T13:38:11Z</dcterms:created>
  <dcterms:modified xsi:type="dcterms:W3CDTF">2026-09-18T13:38:11Z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ways_allow_html">
    <vt:lpwstr>yes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editor_option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Econometrics with R</vt:lpwstr>
  </property>
  <property fmtid="{D5CDD505-2E9C-101B-9397-08002B2CF9AE}" pid="12" name="toc-title">
    <vt:lpwstr>Table of contents</vt:lpwstr>
  </property>
</Properties>
</file>