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Discontinuity Design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Econometrics with R</a:t>
            </a:r>
            <a:br/>
            <a:br/>
            <a:r>
              <a:rPr/>
              <a:t>Dr. Lucas Sempé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Discontinuity Design: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Core idea</a:t>
            </a:r>
            <a:r>
              <a:rPr/>
              <a:t>: Compare units just above and below an eligibility threshold</a:t>
            </a:r>
          </a:p>
          <a:p>
            <a:pPr lvl="0"/>
            <a:r>
              <a:rPr b="1"/>
              <a:t>Setting</a:t>
            </a:r>
            <a:r>
              <a:rPr/>
              <a:t>: Assignment based on a continuous “running variable”</a:t>
            </a:r>
          </a:p>
          <a:p>
            <a:pPr lvl="0"/>
            <a:r>
              <a:rPr b="1"/>
              <a:t>Advantage</a:t>
            </a:r>
            <a:r>
              <a:rPr/>
              <a:t>: Credible causal inference from non-experimental data</a:t>
            </a:r>
          </a:p>
          <a:p>
            <a:pPr lvl="0"/>
            <a:r>
              <a:rPr b="1"/>
              <a:t>Assumption</a:t>
            </a:r>
            <a:r>
              <a:rPr/>
              <a:t>: Units close to threshold are similar across all characteristics (observable and un-observable) except for treatment status and this threshold cannot be manipulated by others and is not being used by other projects provided to the same group</a:t>
            </a:r>
          </a:p>
          <a:p>
            <a:pPr lvl="0"/>
            <a:r>
              <a:rPr b="1"/>
              <a:t>Types</a:t>
            </a:r>
            <a:r>
              <a:rPr/>
              <a:t>: Sharp RDD (deterministic cutoff) vs. Fuzzy RDD (probabilistic cutoff)</a:t>
            </a:r>
          </a:p>
        </p:txBody>
      </p:sp>
      <p:pic>
        <p:nvPicPr>
          <p:cNvPr descr="session_8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057400"/>
            <a:ext cx="40386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Case: Efficiency Index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Program targets industries using a national efficiency index</a:t>
            </a:r>
          </a:p>
          <a:p>
            <a:pPr lvl="0"/>
            <a:r>
              <a:rPr/>
              <a:t>Index assigns scores from 20 to 100 based on industry characteristics</a:t>
            </a:r>
          </a:p>
          <a:p>
            <a:pPr lvl="0"/>
            <a:r>
              <a:rPr/>
              <a:t>Official efficiency line set at 58</a:t>
            </a:r>
          </a:p>
          <a:p>
            <a:pPr lvl="0"/>
            <a:r>
              <a:rPr/>
              <a:t>Industries with score ≤ 58 are eligible for HISP</a:t>
            </a:r>
          </a:p>
          <a:p>
            <a:pPr lvl="0"/>
            <a:r>
              <a:rPr/>
              <a:t>Only eligible industries in treatment zones enrolled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for Manipulation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applying RDD, we must check for manipulation of the eligibility index: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density of efficiency index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(df_treat,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efficiency_index 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"Efficiency Index"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session_8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 evidence of “bunching” just below cutoff</a:t>
            </a:r>
          </a:p>
          <a:p>
            <a:pPr lvl="0"/>
            <a:r>
              <a:rPr/>
              <a:t>Formal McCrary density test confirms</a:t>
            </a:r>
          </a:p>
          <a:p>
            <a:pPr lvl="0"/>
            <a:r>
              <a:rPr/>
              <a:t>Households do not appear to manipulate their scores</a:t>
            </a:r>
          </a:p>
        </p:txBody>
      </p:sp>
      <p:pic>
        <p:nvPicPr>
          <p:cNvPr descr="session_8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159000"/>
            <a:ext cx="40386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Compliance (Sharp RDD)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Perfect compliance with eligibility rules</a:t>
            </a:r>
          </a:p>
          <a:p>
            <a:pPr lvl="0"/>
            <a:r>
              <a:rPr/>
              <a:t>All Industries with score ≤ 58 enrolled</a:t>
            </a:r>
          </a:p>
          <a:p>
            <a:pPr lvl="0"/>
            <a:r>
              <a:rPr/>
              <a:t>No Industries with score &gt; 58 enrolled</a:t>
            </a:r>
          </a:p>
          <a:p>
            <a:pPr lvl="0"/>
            <a:r>
              <a:rPr/>
              <a:t>This is a “sharp” RDD with deterministic assignment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Check if eligibility rules were followed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(df_treat,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enrolled,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efficiency_index))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"Enrollment by Efficiency Index (Sharp RDD)"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"Efficiency Index"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"Enrolled (1 = Yes, 0 = No)"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scale_y_continuous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session_8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Visualizing the RDD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Clear discontinuity at cutoff (58)</a:t>
            </a:r>
          </a:p>
          <a:p>
            <a:pPr lvl="0"/>
            <a:r>
              <a:rPr/>
              <a:t>Waste expenditures jump higher above the threshold</a:t>
            </a:r>
          </a:p>
          <a:p>
            <a:pPr lvl="0"/>
            <a:r>
              <a:rPr/>
              <a:t>Linear relationship within each group</a:t>
            </a:r>
          </a:p>
          <a:p>
            <a:pPr lvl="0"/>
            <a:r>
              <a:rPr/>
              <a:t>Visual evidence of program impact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relationship between efficiency index and waste expenditures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df_treat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(round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enrolled_lab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(enrolled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"Enrolled"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"Not Enrolled"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efficiency_index,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waste_management_costs,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enrolled_lab,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enrolled_lab))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"Efficiency Index"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"Waste Expenditures"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session_8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Estimating the RDD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Prepare data by centering the running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df_treat &lt;- df_treat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efficiency_index_c0 =</a:t>
            </a:r>
            <a:r>
              <a:rPr>
                <a:solidFill>
                  <a:srgbClr val="003B4F"/>
                </a:solidFill>
                <a:latin typeface="Courier"/>
              </a:rPr>
              <a:t> efficiency_index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Basic RDD regression with covariates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out_rdd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efficiency_index_c0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enrolled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age_manager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age_deputy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female_manager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foreign_owned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staff_size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advanced_filtration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facility_area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recycling_center_distance,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df_treat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(round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48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Sharp RDD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−905.137***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(44.375)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4960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0.457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 Adj.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0.456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 + p &lt; 0.1, * p &lt; 0.05, ** p &lt; 0.01, *** p &lt; 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Quadratic and polinomial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Regression Discontinuity Designs (RDD), the relationship between the running variable and the outcome might not be perfectly linear. To make sure the results are robust, we estimate:</a:t>
            </a:r>
          </a:p>
          <a:p>
            <a:pPr lvl="0" indent="-342900" marL="342900">
              <a:buAutoNum type="arabicPeriod"/>
            </a:pPr>
            <a:r>
              <a:rPr/>
              <a:t>A </a:t>
            </a:r>
            <a:r>
              <a:rPr b="1"/>
              <a:t>quadratic model</a:t>
            </a:r>
            <a:r>
              <a:rPr/>
              <a:t> (2nd degree polynomial) — allowing for a curved relationship.</a:t>
            </a:r>
          </a:p>
          <a:p>
            <a:pPr lvl="0" indent="-342900" marL="342900">
              <a:buAutoNum type="arabicPeriod"/>
            </a:pPr>
            <a:r>
              <a:rPr/>
              <a:t>A </a:t>
            </a:r>
            <a:r>
              <a:rPr b="1"/>
              <a:t>cubic model</a:t>
            </a:r>
            <a:r>
              <a:rPr/>
              <a:t> (3rd degree polynomial) — allowing for even more flexibility in curvature.</a:t>
            </a:r>
          </a:p>
          <a:p>
            <a:pPr lvl="0" indent="0" marL="0">
              <a:buNone/>
            </a:pPr>
            <a:r>
              <a:rPr/>
              <a:t>This helps test whether the RDD results are sensitive to how we model the relationship near the cutoff.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Quadratic RDD model: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Include efficiency_index_c0 and its square (efficiency_index_c0^2)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Interact them with treatment (enrolled) to allow for different slopes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and curves on each side of the cutoff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out_rdd_quadratic 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efficiency_index_c0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enrolled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enrolled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</a:t>
            </a:r>
            <a:r>
              <a:rPr>
                <a:solidFill>
                  <a:srgbClr val="003B4F"/>
                </a:solidFill>
                <a:latin typeface="Courier"/>
              </a:rPr>
              <a:t>(efficiency_index_c0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age_manager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age_deputy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female_manager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foreign_owned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staff_size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advanced_filtration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facility_area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recycling_center_distance,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df_treat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(round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Cubic RDD model: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Same as above, but also add a cubic (efficiency_index_c0^3) term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 even more flexible modeling of the relationship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out_rdd_cubic 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efficiency_index_c0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enrolled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enrolled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</a:t>
            </a:r>
            <a:r>
              <a:rPr>
                <a:solidFill>
                  <a:srgbClr val="003B4F"/>
                </a:solidFill>
                <a:latin typeface="Courier"/>
              </a:rPr>
              <a:t>(efficiency_index_c0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enrolled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</a:t>
            </a:r>
            <a:r>
              <a:rPr>
                <a:solidFill>
                  <a:srgbClr val="003B4F"/>
                </a:solidFill>
                <a:latin typeface="Courier"/>
              </a:rPr>
              <a:t>(efficiency_index_c0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age_manager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age_deputy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female_manager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foreign_owned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staff_size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advanced_filtration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facility_area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recycling_center_distance,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df_treat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(round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48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Quadratic RDD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Cubic RDD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−945.768***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−893.428***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(60.990)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(75.703)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4960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4960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0.457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0.457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 Adj.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0.456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0.456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 + p &lt; 0.1, * p &lt; 0.05, ** p &lt; 0.01, *** p &lt; 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Robustness Checks for RDD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Bandwidth selection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Restrict to observations near cutoff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out_rdd5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enrolled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efficiency_index_c0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age_manager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age_deputy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female_manager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foreign_owned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staff_size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advanced_filtration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facility_area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recycling_center_distance,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df_treat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(round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(efficiency_index_c0)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53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Restricted RDD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−905.137***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(44.375)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4960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0.457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 Adj.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0.456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 + p &lt; 0.1, * p &lt; 0.05, ** p &lt; 0.01, *** p &lt; 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Placebo tests</a:t>
            </a:r>
          </a:p>
          <a:p>
            <a:pPr lvl="0"/>
            <a:r>
              <a:rPr/>
              <a:t>Test for “effects” at fake cutoff points</a:t>
            </a:r>
          </a:p>
          <a:p>
            <a:pPr lvl="0"/>
            <a:r>
              <a:rPr/>
              <a:t>Examine outcomes that shouldn’t be affected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Treatment Effect in RDD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RDD estimates are </a:t>
            </a:r>
            <a:r>
              <a:rPr b="1"/>
              <a:t>local</a:t>
            </a:r>
            <a:r>
              <a:rPr/>
              <a:t> to the threshold</a:t>
            </a:r>
          </a:p>
          <a:p>
            <a:pPr lvl="0"/>
            <a:r>
              <a:rPr/>
              <a:t>They represent the effect for industries with scores near 58</a:t>
            </a:r>
          </a:p>
          <a:p>
            <a:pPr lvl="0"/>
            <a:r>
              <a:rPr/>
              <a:t>Industries at the margin of eligibility</a:t>
            </a:r>
          </a:p>
          <a:p>
            <a:pPr lvl="0"/>
            <a:r>
              <a:rPr/>
              <a:t>Less representative of very low efficiency (low scores)</a:t>
            </a:r>
          </a:p>
          <a:p>
            <a:pPr lvl="0"/>
            <a:r>
              <a:rPr/>
              <a:t>External validity depends on whether effects vary with efficiency level</a:t>
            </a:r>
          </a:p>
        </p:txBody>
      </p:sp>
      <p:pic>
        <p:nvPicPr>
          <p:cNvPr descr="session_8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159000"/>
            <a:ext cx="40386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RDD vs. Other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RDD</a:t>
            </a:r>
            <a:r>
              <a:rPr/>
              <a:t>:</a:t>
            </a:r>
          </a:p>
          <a:p>
            <a:pPr lvl="0"/>
            <a:r>
              <a:rPr/>
              <a:t>Effect: -905 AED</a:t>
            </a:r>
          </a:p>
          <a:p>
            <a:pPr lvl="0"/>
            <a:r>
              <a:rPr/>
              <a:t>Local to cutoff</a:t>
            </a:r>
          </a:p>
          <a:p>
            <a:pPr lvl="0"/>
            <a:r>
              <a:rPr/>
              <a:t>Uses eligibility threshold</a:t>
            </a:r>
          </a:p>
          <a:p>
            <a:pPr lvl="0"/>
            <a:r>
              <a:rPr/>
              <a:t>Sharp discontinuity</a:t>
            </a:r>
          </a:p>
          <a:p>
            <a:pPr lvl="0" indent="0" marL="0">
              <a:buNone/>
            </a:pPr>
            <a:r>
              <a:rPr b="1"/>
              <a:t>Recommendation</a:t>
            </a:r>
            <a:r>
              <a:rPr/>
              <a:t>: Do not scale 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IV</a:t>
            </a:r>
            <a:r>
              <a:rPr/>
              <a:t>:</a:t>
            </a:r>
          </a:p>
          <a:p>
            <a:pPr lvl="0"/>
            <a:r>
              <a:rPr/>
              <a:t>Effect: -1,033 AED</a:t>
            </a:r>
          </a:p>
          <a:p>
            <a:pPr lvl="0"/>
            <a:r>
              <a:rPr/>
              <a:t>Effect on compliers</a:t>
            </a:r>
          </a:p>
          <a:p>
            <a:pPr lvl="0"/>
            <a:r>
              <a:rPr/>
              <a:t>Uses randomized promotion</a:t>
            </a:r>
          </a:p>
          <a:p>
            <a:pPr lvl="0"/>
            <a:r>
              <a:rPr/>
              <a:t>Fuzzy take-up</a:t>
            </a:r>
          </a:p>
          <a:p>
            <a:pPr lvl="0" indent="0" marL="0">
              <a:buNone/>
            </a:pPr>
            <a:r>
              <a:rPr b="1"/>
              <a:t>Recommendation</a:t>
            </a:r>
            <a:r>
              <a:rPr/>
              <a:t>: Scale up nationally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 differences?</a:t>
            </a:r>
          </a:p>
          <a:p>
            <a:pPr lvl="0"/>
            <a:r>
              <a:rPr/>
              <a:t>Different populations (local vs. compliers vs. average)</a:t>
            </a:r>
          </a:p>
          <a:p>
            <a:pPr lvl="0"/>
            <a:r>
              <a:rPr/>
              <a:t>Different estimation methods</a:t>
            </a:r>
          </a:p>
          <a:p>
            <a:pPr lvl="0"/>
            <a:r>
              <a:rPr/>
              <a:t>Different precision levels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Use RDD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 when</a:t>
            </a:r>
            <a:r>
              <a:rPr/>
              <a:t>:</a:t>
            </a:r>
          </a:p>
          <a:p>
            <a:pPr lvl="0"/>
            <a:r>
              <a:rPr/>
              <a:t>Clear eligibility threshold exists</a:t>
            </a:r>
          </a:p>
          <a:p>
            <a:pPr lvl="0"/>
            <a:r>
              <a:rPr/>
              <a:t>Running variable is continuous and measured precisely</a:t>
            </a:r>
          </a:p>
          <a:p>
            <a:pPr lvl="0"/>
            <a:r>
              <a:rPr/>
              <a:t>Units cannot precisely manipulate their position around threshold</a:t>
            </a:r>
          </a:p>
          <a:p>
            <a:pPr lvl="0"/>
            <a:r>
              <a:rPr/>
              <a:t>We have sufficient participants/units within the bandwidth that we set</a:t>
            </a:r>
          </a:p>
          <a:p>
            <a:pPr lvl="0"/>
            <a:r>
              <a:rPr/>
              <a:t>Interest in effects for marginal participants</a:t>
            </a:r>
          </a:p>
          <a:p>
            <a:pPr lvl="0" indent="0" marL="0">
              <a:buNone/>
            </a:pPr>
            <a:r>
              <a:rPr b="1"/>
              <a:t>Common applications</a:t>
            </a:r>
            <a:r>
              <a:rPr/>
              <a:t>:</a:t>
            </a:r>
          </a:p>
          <a:p>
            <a:pPr lvl="0"/>
            <a:r>
              <a:rPr/>
              <a:t>Test score cutoffs for educational programs</a:t>
            </a:r>
          </a:p>
          <a:p>
            <a:pPr lvl="0"/>
            <a:r>
              <a:rPr/>
              <a:t>Income thresholds for social programs</a:t>
            </a:r>
          </a:p>
          <a:p>
            <a:pPr lvl="0"/>
            <a:r>
              <a:rPr/>
              <a:t>Age eligibility for services</a:t>
            </a:r>
          </a:p>
          <a:p>
            <a:pPr lvl="0"/>
            <a:r>
              <a:rPr/>
              <a:t>Geographic boundaries for policies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Implementing RDD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Basic steps for RDD analysis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1: Check for manipulation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(rddensity)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rdd_test &lt;- </a:t>
            </a:r>
            <a:r>
              <a:rPr>
                <a:solidFill>
                  <a:srgbClr val="4758AB"/>
                </a:solidFill>
                <a:latin typeface="Courier"/>
              </a:rPr>
              <a:t>rddensity</a:t>
            </a:r>
            <a:r>
              <a:rPr>
                <a:solidFill>
                  <a:srgbClr val="003B4F"/>
                </a:solidFill>
                <a:latin typeface="Courier"/>
              </a:rPr>
              <a:t>(data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running_var, </a:t>
            </a:r>
            <a:r>
              <a:rPr>
                <a:solidFill>
                  <a:srgbClr val="657422"/>
                </a:solidFill>
                <a:latin typeface="Courier"/>
              </a:rPr>
              <a:t>c =</a:t>
            </a:r>
            <a:r>
              <a:rPr>
                <a:solidFill>
                  <a:srgbClr val="003B4F"/>
                </a:solidFill>
                <a:latin typeface="Courier"/>
              </a:rPr>
              <a:t> cutoff)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rdplotdensity</a:t>
            </a:r>
            <a:r>
              <a:rPr>
                <a:solidFill>
                  <a:srgbClr val="003B4F"/>
                </a:solidFill>
                <a:latin typeface="Courier"/>
              </a:rPr>
              <a:t>(rdd_test, 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running_var)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2: Center the running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centered_var &lt;- 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running_var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cutoff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3: Estimate RDD effect (parametric)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outcome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centered_var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treatment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controls,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4: Non-parametric approach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(rdrobust)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rd_robust &lt;- </a:t>
            </a:r>
            <a:r>
              <a:rPr>
                <a:solidFill>
                  <a:srgbClr val="4758AB"/>
                </a:solidFill>
                <a:latin typeface="Courier"/>
              </a:rPr>
              <a:t>rdrobust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outcome,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running_var,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 =</a:t>
            </a:r>
            <a:r>
              <a:rPr>
                <a:solidFill>
                  <a:srgbClr val="003B4F"/>
                </a:solidFill>
                <a:latin typeface="Courier"/>
              </a:rPr>
              <a:t> cutoff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Pitfalls in RDD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Manipulation of the running variable</a:t>
            </a:r>
          </a:p>
          <a:p>
            <a:pPr lvl="1"/>
            <a:r>
              <a:rPr/>
              <a:t>Units strategically position themselves around threshold</a:t>
            </a:r>
          </a:p>
          <a:p>
            <a:pPr lvl="1"/>
            <a:r>
              <a:rPr/>
              <a:t>Check density for unusual bunching</a:t>
            </a:r>
          </a:p>
          <a:p>
            <a:pPr lvl="0" indent="-342900" marL="342900">
              <a:buAutoNum type="arabicPeriod"/>
            </a:pPr>
            <a:r>
              <a:rPr b="1"/>
              <a:t>Inappropriate bandwidth</a:t>
            </a:r>
          </a:p>
          <a:p>
            <a:pPr lvl="1"/>
            <a:r>
              <a:rPr/>
              <a:t>Too wide: Bias from including dissimilar units</a:t>
            </a:r>
          </a:p>
          <a:p>
            <a:pPr lvl="1"/>
            <a:r>
              <a:rPr/>
              <a:t>Too narrow: Imprecision from small sample</a:t>
            </a:r>
          </a:p>
          <a:p>
            <a:pPr lvl="1"/>
            <a:r>
              <a:rPr/>
              <a:t>Use data-driven bandwidth selection methods</a:t>
            </a:r>
          </a:p>
          <a:p>
            <a:pPr lvl="0" indent="-342900" marL="342900">
              <a:buAutoNum type="arabicPeriod"/>
            </a:pPr>
            <a:r>
              <a:rPr b="1"/>
              <a:t>Misspecification of functional form</a:t>
            </a:r>
          </a:p>
          <a:p>
            <a:pPr lvl="1"/>
            <a:r>
              <a:rPr/>
              <a:t>Linear may not capture true relationship</a:t>
            </a:r>
          </a:p>
          <a:p>
            <a:pPr lvl="1"/>
            <a:r>
              <a:rPr/>
              <a:t>Check robustness to different specifications</a:t>
            </a:r>
          </a:p>
          <a:p>
            <a:pPr lvl="0" indent="-342900" marL="342900">
              <a:buAutoNum type="arabicPeriod"/>
            </a:pPr>
            <a:r>
              <a:rPr b="1"/>
              <a:t>Multiple cutoffs or treatments</a:t>
            </a:r>
          </a:p>
          <a:p>
            <a:pPr lvl="1"/>
            <a:r>
              <a:rPr/>
              <a:t>Other policies may use the same threshold</a:t>
            </a:r>
          </a:p>
          <a:p>
            <a:pPr lvl="1"/>
            <a:r>
              <a:rPr/>
              <a:t>Separate effects of different treatments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Analysis to Policy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Policy question</a:t>
            </a:r>
            <a:r>
              <a:rPr/>
              <a:t>: Should the Program be scaled up nationally?</a:t>
            </a:r>
          </a:p>
          <a:p>
            <a:pPr lvl="0" indent="0" marL="0">
              <a:buNone/>
            </a:pPr>
            <a:r>
              <a:rPr b="1"/>
              <a:t>Decision criterion</a:t>
            </a:r>
            <a:r>
              <a:rPr/>
              <a:t>: Program must reduce waste expenditures by at least 1,000 AED.</a:t>
            </a:r>
          </a:p>
          <a:p>
            <a:pPr lvl="0" indent="0" marL="0">
              <a:buNone/>
            </a:pPr>
            <a:r>
              <a:rPr b="1"/>
              <a:t>Results from RDD estimation</a:t>
            </a:r>
            <a:r>
              <a:rPr/>
              <a:t>:</a:t>
            </a:r>
          </a:p>
          <a:p>
            <a:pPr lvl="0"/>
            <a:r>
              <a:rPr/>
              <a:t>Effect: -905 AED (95% CI: [-818, -992])</a:t>
            </a:r>
          </a:p>
          <a:p>
            <a:pPr lvl="0"/>
            <a:r>
              <a:rPr/>
              <a:t>Point estimate below the 1,000 AED threshold</a:t>
            </a:r>
          </a:p>
          <a:p>
            <a:pPr lvl="0"/>
            <a:r>
              <a:rPr/>
              <a:t>Effect applies to industries near the efficiency threshold</a:t>
            </a:r>
          </a:p>
          <a:p>
            <a:pPr lvl="0" indent="0" marL="0">
              <a:buNone/>
            </a:pPr>
            <a:r>
              <a:rPr b="1"/>
              <a:t>Recommendation</a:t>
            </a:r>
            <a:r>
              <a:rPr/>
              <a:t>: Based on the RDD estimate, the program should not be scaled up nationally.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RDD exploits discontinuities at eligibility thresholds to estimate causal effects</a:t>
            </a:r>
          </a:p>
          <a:p>
            <a:pPr lvl="0" indent="-342900" marL="342900">
              <a:buAutoNum type="arabicPeriod"/>
            </a:pPr>
            <a:r>
              <a:rPr/>
              <a:t>Units just above and below the threshold are comparable except for treatment</a:t>
            </a:r>
          </a:p>
          <a:p>
            <a:pPr lvl="0" indent="-342900" marL="342900">
              <a:buAutoNum type="arabicPeriod"/>
            </a:pPr>
            <a:r>
              <a:rPr/>
              <a:t>RDD estimates are local to the cutoff and may not generalize to units far from threshold</a:t>
            </a:r>
          </a:p>
          <a:p>
            <a:pPr lvl="0" indent="-342900" marL="342900">
              <a:buAutoNum type="arabicPeriod"/>
            </a:pPr>
            <a:r>
              <a:rPr/>
              <a:t>Multiple specifications yield consistent estimates of approximately 905 AED reduction</a:t>
            </a:r>
          </a:p>
          <a:p>
            <a:pPr lvl="0" indent="-342900" marL="342900">
              <a:buAutoNum type="arabicPeriod"/>
            </a:pPr>
            <a:r>
              <a:rPr/>
              <a:t>RDD estimate is slightly below the 1,000 AED threshold for scaling up GreenWaste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Difference-in-Differences</a:t>
            </a:r>
            <a:r>
              <a:rPr/>
              <a:t>: Comparing changes over time between treatment and comparison groups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Discontinuity Design</dc:title>
  <dc:creator>Dr. Lucas Sempé</dc:creator>
  <cp:keywords/>
  <dcterms:created xsi:type="dcterms:W3CDTF">2026-09-18T13:37:12Z</dcterms:created>
  <dcterms:modified xsi:type="dcterms:W3CDTF">2026-09-18T13:37:12Z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ways_allow_html">
    <vt:lpwstr>yes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editor_option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Econometrics with R</vt:lpwstr>
  </property>
  <property fmtid="{D5CDD505-2E9C-101B-9397-08002B2CF9AE}" pid="12" name="toc-title">
    <vt:lpwstr>Table of contents</vt:lpwstr>
  </property>
</Properties>
</file>