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Impact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Econometrics with R</a:t>
            </a:r>
            <a:br/>
            <a:br/>
            <a:r>
              <a:rPr/>
              <a:t>Dr. Lucas Sempé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Impact Evaluation?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Objective</a:t>
            </a:r>
            <a:r>
              <a:rPr/>
              <a:t>: Measure causal effects of programs or policies</a:t>
            </a:r>
          </a:p>
          <a:p>
            <a:pPr lvl="0"/>
            <a:r>
              <a:rPr b="1"/>
              <a:t>Challenge</a:t>
            </a:r>
            <a:r>
              <a:rPr/>
              <a:t>: Identifying what would have happened without the intervention</a:t>
            </a:r>
          </a:p>
          <a:p>
            <a:pPr lvl="0"/>
            <a:r>
              <a:rPr b="1"/>
              <a:t>Counterfactual</a:t>
            </a:r>
            <a:r>
              <a:rPr/>
              <a:t>: The state of the world that would have occurred in absence of the intervention</a:t>
            </a:r>
          </a:p>
          <a:p>
            <a:pPr lvl="0"/>
            <a:r>
              <a:rPr b="1"/>
              <a:t>Impact</a:t>
            </a:r>
            <a:r>
              <a:rPr/>
              <a:t>: The difference between the actual outcome and the counterfactual</a:t>
            </a:r>
          </a:p>
        </p:txBody>
      </p:sp>
      <p:pic>
        <p:nvPicPr>
          <p:cNvPr descr="session_5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46700" y="1193800"/>
            <a:ext cx="264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Impact = Actual - Counterfactual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Fundamental Problem of Causal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We cannot observe the same unit in both treatment and control states simultaneously.</a:t>
            </a:r>
          </a:p>
          <a:p>
            <a:pPr lvl="0"/>
            <a:r>
              <a:rPr/>
              <a:t>For each unit, we observe either:</a:t>
            </a:r>
          </a:p>
          <a:p>
            <a:pPr lvl="1"/>
            <a:r>
              <a:rPr/>
              <a:t>The outcome with the intervention</a:t>
            </a:r>
          </a:p>
          <a:p>
            <a:pPr lvl="1"/>
            <a:r>
              <a:rPr/>
              <a:t>The outcome without the intervention</a:t>
            </a:r>
          </a:p>
          <a:p>
            <a:pPr lvl="0"/>
            <a:r>
              <a:rPr/>
              <a:t>The challenge: How do we estimate the counterfactual?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Waste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Government program subsidizing innovative waste management technologies</a:t>
            </a:r>
          </a:p>
          <a:p>
            <a:pPr lvl="0"/>
            <a:r>
              <a:rPr/>
              <a:t>Goal: Reduce waste management costs</a:t>
            </a:r>
          </a:p>
          <a:p>
            <a:pPr lvl="0"/>
            <a:r>
              <a:rPr/>
              <a:t>Policy question: Should the program be scaled up nationally?</a:t>
            </a:r>
          </a:p>
          <a:p>
            <a:pPr lvl="0"/>
            <a:r>
              <a:rPr/>
              <a:t>Decision criterion: Program must reduce waste management costs by at least 1,000 AED per year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Variables in Our Example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Outcome Variable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waste_management_costs</a:t>
            </a:r>
            <a:r>
              <a:rPr/>
              <a:t>: Waste management costs incurred yearly per business (AED)</a:t>
            </a:r>
          </a:p>
          <a:p>
            <a:pPr lvl="0" indent="0" marL="0">
              <a:buNone/>
            </a:pPr>
            <a:r>
              <a:rPr b="1"/>
              <a:t>Treatment Variables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treatment_zone</a:t>
            </a:r>
            <a:r>
              <a:rPr/>
              <a:t>: Area selected for program (0/1)</a:t>
            </a:r>
          </a:p>
          <a:p>
            <a:pPr lvl="0"/>
            <a:r>
              <a:rPr>
                <a:latin typeface="Courier"/>
              </a:rPr>
              <a:t>enrolled</a:t>
            </a:r>
            <a:r>
              <a:rPr/>
              <a:t>: Business offered the program (0/1)</a:t>
            </a:r>
          </a:p>
          <a:p>
            <a:pPr lvl="0"/>
            <a:r>
              <a:rPr>
                <a:latin typeface="Courier"/>
              </a:rPr>
              <a:t>eligible</a:t>
            </a:r>
            <a:r>
              <a:rPr/>
              <a:t>: Business eligible for the program (0/1)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Other Variables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round</a:t>
            </a:r>
            <a:r>
              <a:rPr/>
              <a:t>: Survey round (0=baseline, 1=follow-up)</a:t>
            </a:r>
          </a:p>
          <a:p>
            <a:pPr lvl="0"/>
            <a:r>
              <a:rPr>
                <a:latin typeface="Courier"/>
              </a:rPr>
              <a:t>efficiency_index</a:t>
            </a:r>
            <a:r>
              <a:rPr/>
              <a:t>: Score based on industry characteristics</a:t>
            </a:r>
          </a:p>
          <a:p>
            <a:pPr lvl="0"/>
            <a:r>
              <a:rPr/>
              <a:t>Leadership Demographics: Age, education, gender, etc.</a:t>
            </a:r>
          </a:p>
          <a:p>
            <a:pPr lvl="0"/>
            <a:r>
              <a:rPr>
                <a:latin typeface="Courier"/>
              </a:rPr>
              <a:t>recycling_center_distance</a:t>
            </a:r>
            <a:r>
              <a:rPr/>
              <a:t>: Distance to nearest recycling centre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of Impact Evaluation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Experimental Methods</a:t>
            </a:r>
            <a:r>
              <a:rPr/>
              <a:t>:</a:t>
            </a:r>
          </a:p>
          <a:p>
            <a:pPr lvl="0"/>
            <a:r>
              <a:rPr/>
              <a:t>Randomized assignment (gold standard)</a:t>
            </a:r>
          </a:p>
          <a:p>
            <a:pPr lvl="0" indent="0" marL="0">
              <a:buNone/>
            </a:pPr>
            <a:r>
              <a:rPr b="1"/>
              <a:t>Quasi-Experimental Methods</a:t>
            </a:r>
            <a:r>
              <a:rPr/>
              <a:t>:</a:t>
            </a:r>
          </a:p>
          <a:p>
            <a:pPr lvl="0"/>
            <a:r>
              <a:rPr/>
              <a:t>Instrumental Variables</a:t>
            </a:r>
          </a:p>
          <a:p>
            <a:pPr lvl="0"/>
            <a:r>
              <a:rPr/>
              <a:t>Regression Discontinuity</a:t>
            </a:r>
          </a:p>
          <a:p>
            <a:pPr lvl="0"/>
            <a:r>
              <a:rPr/>
              <a:t>Difference-in-Differences</a:t>
            </a:r>
          </a:p>
          <a:p>
            <a:pPr lvl="0"/>
            <a:r>
              <a:rPr/>
              <a:t>Matching Methods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Naive Approaches to Estimating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Before-After Comparison</a:t>
            </a:r>
          </a:p>
          <a:p>
            <a:pPr lvl="1"/>
            <a:r>
              <a:rPr/>
              <a:t>Compare outcomes of beneficiaries before and after the program</a:t>
            </a:r>
          </a:p>
          <a:p>
            <a:pPr lvl="1"/>
            <a:r>
              <a:rPr/>
              <a:t>Problem: Cannot distinguish program effects from other changes over time</a:t>
            </a:r>
          </a:p>
          <a:p>
            <a:pPr lvl="0" indent="-342900" marL="342900">
              <a:buAutoNum type="arabicPeriod"/>
            </a:pPr>
            <a:r>
              <a:rPr b="1"/>
              <a:t>With-Without Comparison</a:t>
            </a:r>
          </a:p>
          <a:p>
            <a:pPr lvl="1"/>
            <a:r>
              <a:rPr/>
              <a:t>Compare beneficiaries to non-beneficiaries</a:t>
            </a:r>
          </a:p>
          <a:p>
            <a:pPr lvl="1"/>
            <a:r>
              <a:rPr/>
              <a:t>Problem: Selection bias if those who receive the program are systematically different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Before-After Comparison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Let's start by uploading our data.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It is important to know in which folder your dataset is so you can use the right path.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df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"./evaluation_data.csv"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We multiply the outcome variable by 100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waste_management_costs&lt;-df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waste_management_costs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New data, with new variable names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df &lt;- read.csv("./evaluation_data_GreenWaste.csv")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waste management costs before and after for enrolled industries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Fit a linear regression model using 'lm_robust' from the 'estimatr' package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'lm_robust' gives regression results with robust (heteroskedasticity-consistent) standard errors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Formula: outcome variable ~ explanatory variable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Clustered standard errors at the 'zone_identifier' level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Filter df to only run the regression on industries in treatment zones AND enrolled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m_ba1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round,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(treatment_zone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enrolled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 b="1"/>
              <a:t>Discussion</a:t>
            </a:r>
          </a:p>
          <a:p>
            <a:pPr lvl="0"/>
            <a:r>
              <a:rPr/>
              <a:t>Is this effect due to the program? What are some other external factors that may cause a change in costs for waste management over time?</a:t>
            </a:r>
          </a:p>
          <a:p>
            <a:pPr lvl="0" indent="0" marL="0">
              <a:buNone/>
            </a:pPr>
            <a:r>
              <a:rPr b="1"/>
              <a:t>Problems</a:t>
            </a:r>
            <a:r>
              <a:rPr/>
              <a:t>:</a:t>
            </a:r>
          </a:p>
          <a:p>
            <a:pPr lvl="0"/>
            <a:r>
              <a:rPr/>
              <a:t>External factors also change over time</a:t>
            </a:r>
          </a:p>
          <a:p>
            <a:pPr lvl="0"/>
            <a:r>
              <a:rPr/>
              <a:t>Cannot attribute all changes to the program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With-Without Comparison (HISP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enrolled vs. non-enrolled households after program implementation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Use lm_robust as before, with clustered std errors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time, we filter df to run the regression on industries in treatment zones AND after the intervention, in the follow-up survey round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m_ba2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enrolled,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(treatment_zone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 b="1"/>
              <a:t>Discussion</a:t>
            </a:r>
          </a:p>
          <a:p>
            <a:pPr lvl="0"/>
            <a:r>
              <a:rPr/>
              <a:t>Are the enrolled industries the same as those that were not enrolled in the program? How might they be different from one another?</a:t>
            </a:r>
          </a:p>
          <a:p>
            <a:pPr lvl="0" indent="0" marL="0">
              <a:buNone/>
            </a:pPr>
            <a:r>
              <a:rPr b="1"/>
              <a:t>Problems</a:t>
            </a:r>
            <a:r>
              <a:rPr/>
              <a:t>:</a:t>
            </a:r>
          </a:p>
          <a:p>
            <a:pPr lvl="0"/>
            <a:r>
              <a:rPr/>
              <a:t>Selection bias: Enrolled industries differ from non-enrolled</a:t>
            </a:r>
          </a:p>
          <a:p>
            <a:pPr lvl="0"/>
            <a:r>
              <a:rPr/>
              <a:t>Cannot attribute all differences to the program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Compare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/>
                <a:gridCol w="2806700"/>
                <a:gridCol w="28067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Before-After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With-Without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1448.969***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2230.491***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(14.596)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(33.742)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-664.952***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(23.002)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-1446.473***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(33.047)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/>
                      <a:r>
                        <a:rPr/>
                        <a:t>p &lt; 0.1, * p &lt; 0.05, ** p &lt; 0.01, *** 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Conditions for Impact Evaluation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certain practical considerations and conditions that need to be met in order to conduct an impact evaluation.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/>
                <a:gridCol w="4508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Intervention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The project, program or policy which is the subject of the impact evaluation. Should be clearly defined, with a known start time and duration as well as clearly defined eligibility criteria.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Outcome(s)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One or more clearly defined, observable, and measurable outcomes of interest.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Problem Diagnosis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 proposed program or intervention should be developed based on a sound analysis of a particular social or development need and the binding constraints and root causes (i.e., to ensure the solution matches the problem).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Theory of Change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 sound, well-constructed theory of change explaining expected causal pathways linking inputs, outputs, and outcomes, including a description and key assumptions associated with each causal step.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Sufficient dose and duration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The intervention should be of a sufficient scope, scale, and duration to theoretically produce the intended effect within the time frame of observation.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Counterfactual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 clearly defined hypothetical counterfactual, operationalized using a credible identification strategy.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Quality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Reasonably accurate, complete data, with minimal or no systematic bias.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Sufficiency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Sufficient data to enable statistical comparison of outcomes between intervention and comparison groups.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Conditions for a Credible Impact Evaluation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Introduction to Impact Evaluation</a:t>
            </a:r>
            <a:r>
              <a:rPr/>
              <a:t> ← </a:t>
            </a:r>
            <a:r>
              <a:rPr i="1"/>
              <a:t>You are here</a:t>
            </a:r>
          </a:p>
          <a:p>
            <a:pPr lvl="0" indent="-342900" marL="342900">
              <a:buAutoNum type="arabicPeriod"/>
            </a:pPr>
            <a:r>
              <a:rPr b="1"/>
              <a:t>Randomized Assignment</a:t>
            </a:r>
          </a:p>
          <a:p>
            <a:pPr lvl="0" indent="-342900" marL="342900">
              <a:buAutoNum type="arabicPeriod"/>
            </a:pPr>
            <a:r>
              <a:rPr b="1"/>
              <a:t>Instrumental Variables</a:t>
            </a:r>
          </a:p>
          <a:p>
            <a:pPr lvl="0" indent="-342900" marL="342900">
              <a:buAutoNum type="arabicPeriod"/>
            </a:pPr>
            <a:r>
              <a:rPr b="1"/>
              <a:t>Regression Discontinuity Designs</a:t>
            </a:r>
          </a:p>
          <a:p>
            <a:pPr lvl="0" indent="-342900" marL="342900">
              <a:buAutoNum type="arabicPeriod"/>
            </a:pPr>
            <a:r>
              <a:rPr b="1"/>
              <a:t>Difference-in-Differences</a:t>
            </a:r>
          </a:p>
          <a:p>
            <a:pPr lvl="0" indent="-342900" marL="342900">
              <a:buAutoNum type="arabicPeriod"/>
            </a:pPr>
            <a:r>
              <a:rPr b="1"/>
              <a:t>Matching Methods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Impact evaluation measures the causal effect of programs or policies</a:t>
            </a:r>
          </a:p>
          <a:p>
            <a:pPr lvl="0"/>
            <a:r>
              <a:rPr/>
              <a:t>The central challenge is estimating the counterfactual</a:t>
            </a:r>
          </a:p>
          <a:p>
            <a:pPr lvl="0"/>
            <a:r>
              <a:rPr/>
              <a:t>Naive before-after or with-without comparisons are susceptible to bias</a:t>
            </a:r>
          </a:p>
          <a:p>
            <a:pPr lvl="0"/>
            <a:r>
              <a:rPr/>
              <a:t>Various experimental and quasi-experimental methods address these challenges</a:t>
            </a:r>
          </a:p>
          <a:p>
            <a:pPr lvl="0"/>
            <a:r>
              <a:rPr/>
              <a:t>The example will illustrate these methods throughout the course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Randomized Assignment</a:t>
            </a:r>
            <a:r>
              <a:rPr/>
              <a:t>: The gold standard for causal inference</a:t>
            </a:r>
          </a:p>
          <a:p>
            <a:pPr lvl="0"/>
            <a:r>
              <a:rPr/>
              <a:t>How randomization creates comparable groups</a:t>
            </a:r>
          </a:p>
          <a:p>
            <a:pPr lvl="0"/>
            <a:r>
              <a:rPr/>
              <a:t>Implementing and analyzing randomized evaluations</a:t>
            </a:r>
          </a:p>
          <a:p>
            <a:pPr lvl="0"/>
            <a:r>
              <a:rPr/>
              <a:t>Interpreting results with confidence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Impact Evaluation</dc:title>
  <dc:creator>Dr. Lucas Sempé</dc:creator>
  <cp:keywords/>
  <dcterms:created xsi:type="dcterms:W3CDTF">2026-09-18T14:09:37Z</dcterms:created>
  <dcterms:modified xsi:type="dcterms:W3CDTF">2026-09-18T14:09:37Z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ways_allow_html">
    <vt:lpwstr>yes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Econometrics with R</vt:lpwstr>
  </property>
  <property fmtid="{D5CDD505-2E9C-101B-9397-08002B2CF9AE}" pid="11" name="toc-title">
    <vt:lpwstr>Table of contents</vt:lpwstr>
  </property>
</Properties>
</file>