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Randomized Assignment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Econometrics with R</a:t>
            </a:r>
            <a:br/>
            <a:br/>
            <a:r>
              <a:rPr/>
              <a:t>Dr. Lucas Sempé</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Randomized Assignment: The Gold Standard</a:t>
            </a:r>
          </a:p>
        </p:txBody>
      </p:sp>
      <p:sp>
        <p:nvSpPr>
          <p:cNvPr id="3" name="Content Placeholder 2"/>
          <p:cNvSpPr>
            <a:spLocks noGrp="1"/>
          </p:cNvSpPr>
          <p:nvPr>
            <p:ph idx="1" sz="half"/>
          </p:nvPr>
        </p:nvSpPr>
        <p:spPr/>
        <p:txBody>
          <a:bodyPr/>
          <a:lstStyle/>
          <a:p>
            <a:pPr lvl="0"/>
            <a:r>
              <a:rPr b="1"/>
              <a:t>Core idea</a:t>
            </a:r>
            <a:r>
              <a:rPr/>
              <a:t>: Randomly select who receives the treatment</a:t>
            </a:r>
          </a:p>
          <a:p>
            <a:pPr lvl="0"/>
            <a:r>
              <a:rPr b="1"/>
              <a:t>Result</a:t>
            </a:r>
            <a:r>
              <a:rPr/>
              <a:t>: Treatment and control groups are statistically identical (in expectation)</a:t>
            </a:r>
          </a:p>
          <a:p>
            <a:pPr lvl="0"/>
            <a:r>
              <a:rPr b="1"/>
              <a:t>Advantage</a:t>
            </a:r>
            <a:r>
              <a:rPr/>
              <a:t>: Differences in outcomes can be attributed to the program</a:t>
            </a:r>
          </a:p>
          <a:p>
            <a:pPr lvl="0"/>
            <a:r>
              <a:rPr b="1"/>
              <a:t>Why it works</a:t>
            </a:r>
            <a:r>
              <a:rPr/>
              <a:t>: Randomization creates a valid counterfactual</a:t>
            </a:r>
          </a:p>
          <a:p>
            <a:pPr lvl="0"/>
            <a:r>
              <a:rPr b="1"/>
              <a:t>Types</a:t>
            </a:r>
            <a:r>
              <a:rPr/>
              <a:t>: Encouragement, lottery, phase-in, etc.</a:t>
            </a:r>
          </a:p>
        </p:txBody>
      </p:sp>
      <p:pic>
        <p:nvPicPr>
          <p:cNvPr descr="session_6_files/figure-pptx/unnamed-chunk-1-1.png" id="0" name="Picture 1"/>
          <p:cNvPicPr>
            <a:picLocks noGrp="1" noChangeAspect="1"/>
          </p:cNvPicPr>
          <p:nvPr/>
        </p:nvPicPr>
        <p:blipFill>
          <a:blip r:embed="rId2"/>
          <a:stretch>
            <a:fillRect/>
          </a:stretch>
        </p:blipFill>
        <p:spPr bwMode="auto">
          <a:xfrm>
            <a:off x="5118100" y="1193800"/>
            <a:ext cx="31115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Does Randomization Work? How Does it Create a Valid Counterfactual?</a:t>
            </a:r>
          </a:p>
        </p:txBody>
      </p:sp>
      <p:sp>
        <p:nvSpPr>
          <p:cNvPr id="3" name="Content Placeholder 2"/>
          <p:cNvSpPr>
            <a:spLocks noGrp="1"/>
          </p:cNvSpPr>
          <p:nvPr>
            <p:ph idx="1"/>
          </p:nvPr>
        </p:nvSpPr>
        <p:spPr/>
        <p:txBody>
          <a:bodyPr/>
          <a:lstStyle/>
          <a:p>
            <a:pPr lvl="0" indent="0" marL="0">
              <a:buNone/>
            </a:pPr>
            <a:r>
              <a:rPr/>
              <a:t>Let’s think through an example.</a:t>
            </a:r>
          </a:p>
          <a:p>
            <a:pPr lvl="0"/>
            <a:r>
              <a:rPr/>
              <a:t>If we randomly choose two people from this room, they will likely have very different characteristics (observable ones such as age, sex, education, and unobservable ones such as innate abilities, motivation, ideas, etc.). </a:t>
            </a:r>
            <a:r>
              <a:rPr b="1"/>
              <a:t>They may not have anything in common at all. They would not make good counterfactuals for each other.</a:t>
            </a:r>
          </a:p>
          <a:p>
            <a:pPr lvl="0"/>
            <a:r>
              <a:rPr/>
              <a:t>However, something different happens when we randomly choose large groups of people. If we were to randomly choose two groups of 1,000 people from across the country, with every person having an equal chance of being chosen, these groups will, </a:t>
            </a:r>
            <a:r>
              <a:rPr i="1"/>
              <a:t>on average</a:t>
            </a:r>
            <a:r>
              <a:rPr/>
              <a:t>, have statistically equivalent characteristics. If you remember from statistics class, </a:t>
            </a:r>
            <a:r>
              <a:rPr b="1"/>
              <a:t>a random sample represents the population from which it is drawn.</a:t>
            </a:r>
            <a:r>
              <a:rPr/>
              <a:t> Therefore, two large random samples will have statistically equivalent characteristics that represent the population from which they were drawn. We would expect these groups to have:</a:t>
            </a:r>
          </a:p>
          <a:p>
            <a:pPr lvl="1"/>
            <a:r>
              <a:rPr/>
              <a:t>Approximately the same average age, sex composition, average level of educational attainment, same average income</a:t>
            </a:r>
          </a:p>
          <a:p>
            <a:pPr lvl="1"/>
            <a:r>
              <a:rPr/>
              <a:t>And they will be approximately equal in characteristics we can’t directly observe or measure: approximately the same ability, the same motivation, etc.</a:t>
            </a:r>
          </a:p>
          <a:p>
            <a:pPr lvl="0"/>
            <a:r>
              <a:rPr/>
              <a:t>Any slight differences will be statistically insignificant</a:t>
            </a:r>
          </a:p>
          <a:p>
            <a:pPr lvl="0" indent="0" marL="0">
              <a:buNone/>
            </a:pPr>
            <a:r>
              <a:rPr b="1"/>
              <a:t>In short:</a:t>
            </a:r>
            <a:r>
              <a:rPr/>
              <a:t> - </a:t>
            </a:r>
            <a:r>
              <a:rPr b="1"/>
              <a:t>If groups are big enough and random assignment is used, the groups will be equivalent on average, even on characteristics we cannot observe.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Randomized Assignment</a:t>
            </a:r>
          </a:p>
        </p:txBody>
      </p:sp>
      <p:sp>
        <p:nvSpPr>
          <p:cNvPr id="3" name="Content Placeholder 2"/>
          <p:cNvSpPr>
            <a:spLocks noGrp="1"/>
          </p:cNvSpPr>
          <p:nvPr>
            <p:ph idx="1"/>
          </p:nvPr>
        </p:nvSpPr>
        <p:spPr/>
        <p:txBody>
          <a:bodyPr/>
          <a:lstStyle/>
          <a:p>
            <a:pPr lvl="0" indent="-342900" marL="342900">
              <a:buAutoNum type="arabicPeriod"/>
            </a:pPr>
            <a:r>
              <a:rPr/>
              <a:t>Define population of eligible units</a:t>
            </a:r>
          </a:p>
          <a:p>
            <a:pPr lvl="0" indent="-342900" marL="342900">
              <a:buAutoNum type="arabicPeriod"/>
            </a:pPr>
            <a:r>
              <a:rPr/>
              <a:t>Decide on level of randomization (individuals, households, villages)</a:t>
            </a:r>
          </a:p>
          <a:p>
            <a:pPr lvl="0" indent="-342900" marL="342900">
              <a:buAutoNum type="arabicPeriod"/>
            </a:pPr>
            <a:r>
              <a:rPr/>
              <a:t>Determine sample size (power calculations)</a:t>
            </a:r>
          </a:p>
          <a:p>
            <a:pPr lvl="0" indent="-342900" marL="342900">
              <a:buAutoNum type="arabicPeriod"/>
            </a:pPr>
            <a:r>
              <a:rPr/>
              <a:t>Randomly select units to receive treatment</a:t>
            </a:r>
          </a:p>
          <a:p>
            <a:pPr lvl="0" indent="-342900" marL="342900">
              <a:buAutoNum type="arabicPeriod"/>
            </a:pPr>
            <a:r>
              <a:rPr/>
              <a:t>Verify balance between treatment and control groups</a:t>
            </a:r>
          </a:p>
          <a:p>
            <a:pPr lvl="0" indent="-342900" marL="342900">
              <a:buAutoNum type="arabicPeriod"/>
            </a:pPr>
            <a:r>
              <a:rPr/>
              <a:t>Implement program and collect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Fictional Case Study: Randomized Industries</a:t>
            </a:r>
          </a:p>
        </p:txBody>
      </p:sp>
      <p:sp>
        <p:nvSpPr>
          <p:cNvPr id="3" name="Content Placeholder 2"/>
          <p:cNvSpPr>
            <a:spLocks noGrp="1"/>
          </p:cNvSpPr>
          <p:nvPr>
            <p:ph idx="1"/>
          </p:nvPr>
        </p:nvSpPr>
        <p:spPr/>
        <p:txBody>
          <a:bodyPr/>
          <a:lstStyle/>
          <a:p>
            <a:pPr lvl="0"/>
            <a:r>
              <a:rPr/>
              <a:t>Program was implemented as a pilot in 100 industries randomly selected from all industries</a:t>
            </a:r>
          </a:p>
          <a:p>
            <a:pPr lvl="0"/>
            <a:r>
              <a:rPr/>
              <a:t>100 additional randomly selected industries serve as controls</a:t>
            </a:r>
          </a:p>
          <a:p>
            <a:pPr lvl="0"/>
            <a:r>
              <a:rPr/>
              <a:t>This design ensures that treatment and control industries are statistically identical</a:t>
            </a:r>
          </a:p>
          <a:p>
            <a:pPr lvl="0"/>
            <a:r>
              <a:rPr/>
              <a:t>Only industries below certain degree of efficiency in treatment industries were eligible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Verifying Balance at Baseline</a:t>
            </a:r>
          </a:p>
        </p:txBody>
      </p:sp>
      <p:sp>
        <p:nvSpPr>
          <p:cNvPr id="3" name="Text Placeholder 2"/>
          <p:cNvSpPr>
            <a:spLocks noGrp="1"/>
          </p:cNvSpPr>
          <p:nvPr>
            <p:ph idx="1" type="body"/>
          </p:nvPr>
        </p:nvSpPr>
        <p:spPr/>
        <p:txBody>
          <a:bodyPr/>
          <a:lstStyle/>
          <a:p>
            <a:pPr lvl="0"/>
            <a:r>
              <a:rPr/>
              <a:t>Results show most characteristics are balanced</a:t>
            </a:r>
          </a:p>
          <a:p>
            <a:pPr lvl="0"/>
            <a:r>
              <a:rPr/>
              <a:t>Small differences in education of industry manager and distance to recycling centre</a:t>
            </a:r>
          </a:p>
          <a:p>
            <a:pPr lvl="0"/>
            <a:r>
              <a:rPr/>
              <a:t>With many characteristics, some differences by chance are expected</a:t>
            </a:r>
          </a:p>
        </p:txBody>
      </p:sp>
      <p:graphicFrame>
        <p:nvGraphicFramePr>
          <p:cNvPr id="6" name="Content Placeholder 5"/>
          <p:cNvGraphicFramePr>
            <a:graphicFrameLocks noGrp="1"/>
          </p:cNvGraphicFramePr>
          <p:nvPr>
            <p:ph idx="1"/>
          </p:nvPr>
        </p:nvGraphicFramePr>
        <p:xfrm>
          <a:off x="457200" y="1625600"/>
          <a:ext cx="4038600" cy="24511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Variable</a:t>
                      </a:r>
                    </a:p>
                  </a:txBody>
                  <a:tcPr/>
                </a:tc>
                <a:tc>
                  <a:txBody>
                    <a:bodyPr/>
                    <a:lstStyle/>
                    <a:p>
                      <a:pPr lvl="0" indent="0" marL="0" algn="ctr">
                        <a:buNone/>
                      </a:pPr>
                      <a:r>
                        <a:rPr/>
                        <a:t>Diff Treat/Control</a:t>
                      </a:r>
                    </a:p>
                  </a:txBody>
                  <a:tcPr/>
                </a:tc>
                <a:tc>
                  <a:txBody>
                    <a:bodyPr/>
                    <a:lstStyle/>
                    <a:p>
                      <a:pPr lvl="0" indent="0" marL="0" algn="ctr">
                        <a:buNone/>
                      </a:pPr>
                      <a:r>
                        <a:rPr/>
                        <a:t>Std. Error</a:t>
                      </a:r>
                    </a:p>
                  </a:txBody>
                  <a:tcPr/>
                </a:tc>
                <a:tc>
                  <a:txBody>
                    <a:bodyPr/>
                    <a:lstStyle/>
                    <a:p>
                      <a:pPr lvl="0" indent="0" marL="0" algn="ctr">
                        <a:buNone/>
                      </a:pPr>
                      <a:r>
                        <a:rPr/>
                        <a:t>P-value</a:t>
                      </a:r>
                    </a:p>
                  </a:txBody>
                  <a:tcPr/>
                </a:tc>
              </a:tr>
              <a:tr h="0">
                <a:tc>
                  <a:txBody>
                    <a:bodyPr/>
                    <a:lstStyle/>
                    <a:p>
                      <a:pPr lvl="0" indent="0" marL="0" algn="l">
                        <a:buNone/>
                      </a:pPr>
                      <a:r>
                        <a:rPr/>
                        <a:t>Advanced Filtration</a:t>
                      </a:r>
                    </a:p>
                  </a:txBody>
                </a:tc>
                <a:tc>
                  <a:txBody>
                    <a:bodyPr/>
                    <a:lstStyle/>
                    <a:p>
                      <a:pPr lvl="0" indent="0" marL="0" algn="ctr">
                        <a:buNone/>
                      </a:pPr>
                      <a:r>
                        <a:rPr/>
                        <a:t>-0.01</a:t>
                      </a:r>
                    </a:p>
                  </a:txBody>
                </a:tc>
                <a:tc>
                  <a:txBody>
                    <a:bodyPr/>
                    <a:lstStyle/>
                    <a:p>
                      <a:pPr lvl="0" indent="0" marL="0" algn="ctr">
                        <a:buNone/>
                      </a:pPr>
                      <a:r>
                        <a:rPr/>
                        <a:t>0.01</a:t>
                      </a:r>
                    </a:p>
                  </a:txBody>
                </a:tc>
                <a:tc>
                  <a:txBody>
                    <a:bodyPr/>
                    <a:lstStyle/>
                    <a:p>
                      <a:pPr lvl="0" indent="0" marL="0" algn="ctr">
                        <a:buNone/>
                      </a:pPr>
                      <a:r>
                        <a:rPr/>
                        <a:t>0.28</a:t>
                      </a:r>
                    </a:p>
                  </a:txBody>
                </a:tc>
              </a:tr>
              <a:tr h="0">
                <a:tc>
                  <a:txBody>
                    <a:bodyPr/>
                    <a:lstStyle/>
                    <a:p>
                      <a:pPr lvl="0" indent="0" marL="0" algn="l">
                        <a:buNone/>
                      </a:pPr>
                      <a:r>
                        <a:rPr/>
                        <a:t>Deputy Age</a:t>
                      </a:r>
                    </a:p>
                  </a:txBody>
                </a:tc>
                <a:tc>
                  <a:txBody>
                    <a:bodyPr/>
                    <a:lstStyle/>
                    <a:p>
                      <a:pPr lvl="0" indent="0" marL="0" algn="ctr">
                        <a:buNone/>
                      </a:pPr>
                      <a:r>
                        <a:rPr/>
                        <a:t>-0.04</a:t>
                      </a:r>
                    </a:p>
                  </a:txBody>
                </a:tc>
                <a:tc>
                  <a:txBody>
                    <a:bodyPr/>
                    <a:lstStyle/>
                    <a:p>
                      <a:pPr lvl="0" indent="0" marL="0" algn="ctr">
                        <a:buNone/>
                      </a:pPr>
                      <a:r>
                        <a:rPr/>
                        <a:t>0.31</a:t>
                      </a:r>
                    </a:p>
                  </a:txBody>
                </a:tc>
                <a:tc>
                  <a:txBody>
                    <a:bodyPr/>
                    <a:lstStyle/>
                    <a:p>
                      <a:pPr lvl="0" indent="0" marL="0" algn="ctr">
                        <a:buNone/>
                      </a:pPr>
                      <a:r>
                        <a:rPr/>
                        <a:t>0.90</a:t>
                      </a:r>
                    </a:p>
                  </a:txBody>
                </a:tc>
              </a:tr>
              <a:tr h="0">
                <a:tc>
                  <a:txBody>
                    <a:bodyPr/>
                    <a:lstStyle/>
                    <a:p>
                      <a:pPr lvl="0" indent="0" marL="0" algn="l">
                        <a:buNone/>
                      </a:pPr>
                      <a:r>
                        <a:rPr/>
                        <a:t>Manager Age</a:t>
                      </a:r>
                    </a:p>
                  </a:txBody>
                </a:tc>
                <a:tc>
                  <a:txBody>
                    <a:bodyPr/>
                    <a:lstStyle/>
                    <a:p>
                      <a:pPr lvl="0" indent="0" marL="0" algn="ctr">
                        <a:buNone/>
                      </a:pPr>
                      <a:r>
                        <a:rPr/>
                        <a:t>-0.64</a:t>
                      </a:r>
                    </a:p>
                  </a:txBody>
                </a:tc>
                <a:tc>
                  <a:txBody>
                    <a:bodyPr/>
                    <a:lstStyle/>
                    <a:p>
                      <a:pPr lvl="0" indent="0" marL="0" algn="ctr">
                        <a:buNone/>
                      </a:pPr>
                      <a:r>
                        <a:rPr/>
                        <a:t>0.38</a:t>
                      </a:r>
                    </a:p>
                  </a:txBody>
                </a:tc>
                <a:tc>
                  <a:txBody>
                    <a:bodyPr/>
                    <a:lstStyle/>
                    <a:p>
                      <a:pPr lvl="0" indent="0" marL="0" algn="ctr">
                        <a:buNone/>
                      </a:pPr>
                      <a:r>
                        <a:rPr/>
                        <a:t>0.09</a:t>
                      </a:r>
                    </a:p>
                  </a:txBody>
                </a:tc>
              </a:tr>
              <a:tr h="0">
                <a:tc>
                  <a:txBody>
                    <a:bodyPr/>
                    <a:lstStyle/>
                    <a:p>
                      <a:pPr lvl="0" indent="0" marL="0" algn="l">
                        <a:buNone/>
                      </a:pPr>
                      <a:r>
                        <a:rPr/>
                        <a:t>Deputy Education</a:t>
                      </a:r>
                    </a:p>
                  </a:txBody>
                </a:tc>
                <a:tc>
                  <a:txBody>
                    <a:bodyPr/>
                    <a:lstStyle/>
                    <a:p>
                      <a:pPr lvl="0" indent="0" marL="0" algn="ctr">
                        <a:buNone/>
                      </a:pPr>
                      <a:r>
                        <a:rPr/>
                        <a:t>0.03</a:t>
                      </a:r>
                    </a:p>
                  </a:txBody>
                </a:tc>
                <a:tc>
                  <a:txBody>
                    <a:bodyPr/>
                    <a:lstStyle/>
                    <a:p>
                      <a:pPr lvl="0" indent="0" marL="0" algn="ctr">
                        <a:buNone/>
                      </a:pPr>
                      <a:r>
                        <a:rPr/>
                        <a:t>0.07</a:t>
                      </a:r>
                    </a:p>
                  </a:txBody>
                </a:tc>
                <a:tc>
                  <a:txBody>
                    <a:bodyPr/>
                    <a:lstStyle/>
                    <a:p>
                      <a:pPr lvl="0" indent="0" marL="0" algn="ctr">
                        <a:buNone/>
                      </a:pPr>
                      <a:r>
                        <a:rPr/>
                        <a:t>0.67</a:t>
                      </a:r>
                    </a:p>
                  </a:txBody>
                </a:tc>
              </a:tr>
              <a:tr h="0">
                <a:tc>
                  <a:txBody>
                    <a:bodyPr/>
                    <a:lstStyle/>
                    <a:p>
                      <a:pPr lvl="0" indent="0" marL="0" algn="l">
                        <a:buNone/>
                      </a:pPr>
                      <a:r>
                        <a:rPr/>
                        <a:t>Manager Education</a:t>
                      </a:r>
                    </a:p>
                  </a:txBody>
                </a:tc>
                <a:tc>
                  <a:txBody>
                    <a:bodyPr/>
                    <a:lstStyle/>
                    <a:p>
                      <a:pPr lvl="0" indent="0" marL="0" algn="ctr">
                        <a:buNone/>
                      </a:pPr>
                      <a:r>
                        <a:rPr/>
                        <a:t>0.16</a:t>
                      </a:r>
                    </a:p>
                  </a:txBody>
                </a:tc>
                <a:tc>
                  <a:txBody>
                    <a:bodyPr/>
                    <a:lstStyle/>
                    <a:p>
                      <a:pPr lvl="0" indent="0" marL="0" algn="ctr">
                        <a:buNone/>
                      </a:pPr>
                      <a:r>
                        <a:rPr/>
                        <a:t>0.07</a:t>
                      </a:r>
                    </a:p>
                  </a:txBody>
                </a:tc>
                <a:tc>
                  <a:txBody>
                    <a:bodyPr/>
                    <a:lstStyle/>
                    <a:p>
                      <a:pPr lvl="0" indent="0" marL="0" algn="ctr">
                        <a:buNone/>
                      </a:pPr>
                      <a:r>
                        <a:rPr/>
                        <a:t>0.02</a:t>
                      </a:r>
                    </a:p>
                  </a:txBody>
                </a:tc>
              </a:tr>
              <a:tr h="0">
                <a:tc>
                  <a:txBody>
                    <a:bodyPr/>
                    <a:lstStyle/>
                    <a:p>
                      <a:pPr lvl="0" indent="0" marL="0" algn="l">
                        <a:buNone/>
                      </a:pPr>
                      <a:r>
                        <a:rPr/>
                        <a:t>Business Area</a:t>
                      </a:r>
                    </a:p>
                  </a:txBody>
                </a:tc>
                <a:tc>
                  <a:txBody>
                    <a:bodyPr/>
                    <a:lstStyle/>
                    <a:p>
                      <a:pPr lvl="0" indent="0" marL="0" algn="ctr">
                        <a:buNone/>
                      </a:pPr>
                      <a:r>
                        <a:rPr/>
                        <a:t>-0.04</a:t>
                      </a:r>
                    </a:p>
                  </a:txBody>
                </a:tc>
                <a:tc>
                  <a:txBody>
                    <a:bodyPr/>
                    <a:lstStyle/>
                    <a:p>
                      <a:pPr lvl="0" indent="0" marL="0" algn="ctr">
                        <a:buNone/>
                      </a:pPr>
                      <a:r>
                        <a:rPr/>
                        <a:t>0.07</a:t>
                      </a:r>
                    </a:p>
                  </a:txBody>
                </a:tc>
                <a:tc>
                  <a:txBody>
                    <a:bodyPr/>
                    <a:lstStyle/>
                    <a:p>
                      <a:pPr lvl="0" indent="0" marL="0" algn="ctr">
                        <a:buNone/>
                      </a:pPr>
                      <a:r>
                        <a:rPr/>
                        <a:t>0.57</a:t>
                      </a:r>
                    </a:p>
                  </a:txBody>
                </a:tc>
              </a:tr>
              <a:tr h="0">
                <a:tc>
                  <a:txBody>
                    <a:bodyPr/>
                    <a:lstStyle/>
                    <a:p>
                      <a:pPr lvl="0" indent="0" marL="0" algn="l">
                        <a:buNone/>
                      </a:pPr>
                      <a:r>
                        <a:rPr/>
                        <a:t>Female Manager</a:t>
                      </a:r>
                    </a:p>
                  </a:txBody>
                </a:tc>
                <a:tc>
                  <a:txBody>
                    <a:bodyPr/>
                    <a:lstStyle/>
                    <a:p>
                      <a:pPr lvl="0" indent="0" marL="0" algn="ctr">
                        <a:buNone/>
                      </a:pPr>
                      <a:r>
                        <a:rPr/>
                        <a:t>0.00</a:t>
                      </a:r>
                    </a:p>
                  </a:txBody>
                </a:tc>
                <a:tc>
                  <a:txBody>
                    <a:bodyPr/>
                    <a:lstStyle/>
                    <a:p>
                      <a:pPr lvl="0" indent="0" marL="0" algn="ctr">
                        <a:buNone/>
                      </a:pPr>
                      <a:r>
                        <a:rPr/>
                        <a:t>0.01</a:t>
                      </a:r>
                    </a:p>
                  </a:txBody>
                </a:tc>
                <a:tc>
                  <a:txBody>
                    <a:bodyPr/>
                    <a:lstStyle/>
                    <a:p>
                      <a:pPr lvl="0" indent="0" marL="0" algn="ctr">
                        <a:buNone/>
                      </a:pPr>
                      <a:r>
                        <a:rPr/>
                        <a:t>0.56</a:t>
                      </a:r>
                    </a:p>
                  </a:txBody>
                </a:tc>
              </a:tr>
              <a:tr h="0">
                <a:tc>
                  <a:txBody>
                    <a:bodyPr/>
                    <a:lstStyle/>
                    <a:p>
                      <a:pPr lvl="0" indent="0" marL="0" algn="l">
                        <a:buNone/>
                      </a:pPr>
                      <a:r>
                        <a:rPr/>
                        <a:t>Foreign Owned</a:t>
                      </a:r>
                    </a:p>
                  </a:txBody>
                </a:tc>
                <a:tc>
                  <a:txBody>
                    <a:bodyPr/>
                    <a:lstStyle/>
                    <a:p>
                      <a:pPr lvl="0" indent="0" marL="0" algn="ctr">
                        <a:buNone/>
                      </a:pPr>
                      <a:r>
                        <a:rPr/>
                        <a:t>0.01</a:t>
                      </a:r>
                    </a:p>
                  </a:txBody>
                </a:tc>
                <a:tc>
                  <a:txBody>
                    <a:bodyPr/>
                    <a:lstStyle/>
                    <a:p>
                      <a:pPr lvl="0" indent="0" marL="0" algn="ctr">
                        <a:buNone/>
                      </a:pPr>
                      <a:r>
                        <a:rPr/>
                        <a:t>0.01</a:t>
                      </a:r>
                    </a:p>
                  </a:txBody>
                </a:tc>
                <a:tc>
                  <a:txBody>
                    <a:bodyPr/>
                    <a:lstStyle/>
                    <a:p>
                      <a:pPr lvl="0" indent="0" marL="0" algn="ctr">
                        <a:buNone/>
                      </a:pPr>
                      <a:r>
                        <a:rPr/>
                        <a:t>0.49</a:t>
                      </a:r>
                    </a:p>
                  </a:txBody>
                </a:tc>
              </a:tr>
              <a:tr h="0">
                <a:tc>
                  <a:txBody>
                    <a:bodyPr/>
                    <a:lstStyle/>
                    <a:p>
                      <a:pPr lvl="0" indent="0" marL="0" algn="l">
                        <a:buNone/>
                      </a:pPr>
                      <a:r>
                        <a:rPr/>
                        <a:t>Distance from Nearest Recycling Center</a:t>
                      </a:r>
                    </a:p>
                  </a:txBody>
                </a:tc>
                <a:tc>
                  <a:txBody>
                    <a:bodyPr/>
                    <a:lstStyle/>
                    <a:p>
                      <a:pPr lvl="0" indent="0" marL="0" algn="ctr">
                        <a:buNone/>
                      </a:pPr>
                      <a:r>
                        <a:rPr/>
                        <a:t>2.91</a:t>
                      </a:r>
                    </a:p>
                  </a:txBody>
                </a:tc>
                <a:tc>
                  <a:txBody>
                    <a:bodyPr/>
                    <a:lstStyle/>
                    <a:p>
                      <a:pPr lvl="0" indent="0" marL="0" algn="ctr">
                        <a:buNone/>
                      </a:pPr>
                      <a:r>
                        <a:rPr/>
                        <a:t>1.13</a:t>
                      </a:r>
                    </a:p>
                  </a:txBody>
                </a:tc>
                <a:tc>
                  <a:txBody>
                    <a:bodyPr/>
                    <a:lstStyle/>
                    <a:p>
                      <a:pPr lvl="0" indent="0" marL="0" algn="ctr">
                        <a:buNone/>
                      </a:pPr>
                      <a:r>
                        <a:rPr/>
                        <a:t>0.01</a:t>
                      </a:r>
                    </a:p>
                  </a:txBody>
                </a:tc>
              </a:tr>
              <a:tr h="0">
                <a:tc>
                  <a:txBody>
                    <a:bodyPr/>
                    <a:lstStyle/>
                    <a:p>
                      <a:pPr lvl="0" indent="0" marL="0" algn="l">
                        <a:buNone/>
                      </a:pPr>
                      <a:r>
                        <a:rPr/>
                        <a:t>Staff Size</a:t>
                      </a:r>
                    </a:p>
                  </a:txBody>
                </a:tc>
                <a:tc>
                  <a:txBody>
                    <a:bodyPr/>
                    <a:lstStyle/>
                    <a:p>
                      <a:pPr lvl="0" indent="0" marL="0" algn="ctr">
                        <a:buNone/>
                      </a:pPr>
                      <a:r>
                        <a:rPr/>
                        <a:t>0.06</a:t>
                      </a:r>
                    </a:p>
                  </a:txBody>
                </a:tc>
                <a:tc>
                  <a:txBody>
                    <a:bodyPr/>
                    <a:lstStyle/>
                    <a:p>
                      <a:pPr lvl="0" indent="0" marL="0" algn="ctr">
                        <a:buNone/>
                      </a:pPr>
                      <a:r>
                        <a:rPr/>
                        <a:t>0.05</a:t>
                      </a:r>
                    </a:p>
                  </a:txBody>
                </a:tc>
                <a:tc>
                  <a:txBody>
                    <a:bodyPr/>
                    <a:lstStyle/>
                    <a:p>
                      <a:pPr lvl="0" indent="0" marL="0" algn="ctr">
                        <a:buNone/>
                      </a:pPr>
                      <a:r>
                        <a:rPr/>
                        <a:t>0.26</a:t>
                      </a:r>
                    </a:p>
                  </a:txBody>
                </a:tc>
              </a:tr>
              <a:tr h="0">
                <a:tc>
                  <a:txBody>
                    <a:bodyPr/>
                    <a:lstStyle/>
                    <a:p>
                      <a:pPr lvl="0" indent="0" marL="0" algn="l">
                        <a:buNone/>
                      </a:pPr>
                      <a:r>
                        <a:rPr/>
                        <a:t>Water Treatment System</a:t>
                      </a:r>
                    </a:p>
                  </a:txBody>
                </a:tc>
                <a:tc>
                  <a:txBody>
                    <a:bodyPr/>
                    <a:lstStyle/>
                    <a:p>
                      <a:pPr lvl="0" indent="0" marL="0" algn="ctr">
                        <a:buNone/>
                      </a:pPr>
                      <a:r>
                        <a:rPr/>
                        <a:t>0.01</a:t>
                      </a:r>
                    </a:p>
                  </a:txBody>
                </a:tc>
                <a:tc>
                  <a:txBody>
                    <a:bodyPr/>
                    <a:lstStyle/>
                    <a:p>
                      <a:pPr lvl="0" indent="0" marL="0" algn="ctr">
                        <a:buNone/>
                      </a:pPr>
                      <a:r>
                        <a:rPr/>
                        <a:t>0.01</a:t>
                      </a:r>
                    </a:p>
                  </a:txBody>
                </a:tc>
                <a:tc>
                  <a:txBody>
                    <a:bodyPr/>
                    <a:lstStyle/>
                    <a:p>
                      <a:pPr lvl="0" indent="0" marL="0" algn="ctr">
                        <a:buNone/>
                      </a:pPr>
                      <a:r>
                        <a:rPr/>
                        <a:t>0.26</a:t>
                      </a:r>
                    </a:p>
                  </a:txBody>
                </a:tc>
              </a:tr>
            </a:tbl>
          </a:graphicData>
        </a:graphic>
      </p:graphicFrame>
      <p:sp>
        <p:nvSpPr>
          <p:cNvPr id="1" name="TextBox 3"/>
          <p:cNvSpPr txBox="1"/>
          <p:nvPr/>
        </p:nvSpPr>
        <p:spPr>
          <a:xfrm>
            <a:off x="457200" y="4076700"/>
            <a:ext cx="4038600" cy="508000"/>
          </a:xfrm>
          <a:prstGeom prst="rect">
            <a:avLst/>
          </a:prstGeom>
          <a:noFill/>
        </p:spPr>
        <p:txBody>
          <a:bodyPr/>
          <a:lstStyle/>
          <a:p>
            <a:pPr lvl="0" indent="0" marL="0" algn="ctr">
              <a:buNone/>
            </a:pPr>
            <a:r>
              <a:rPr/>
              <a:t>**Diff in Treat and Control Baseline Characteristics**</a:t>
            </a:r>
          </a:p>
        </p:txBody>
      </p:sp>
      <p:sp>
        <p:nvSpPr>
          <p:cNvPr id="5" name="Text Placeholder 4"/>
          <p:cNvSpPr>
            <a:spLocks noGrp="1"/>
          </p:cNvSpPr>
          <p:nvPr>
            <p:ph idx="3" sz="quarter" type="body"/>
          </p:nvPr>
        </p:nvSpPr>
        <p:spPr/>
        <p:txBody>
          <a:bodyPr/>
          <a:lstStyle/>
          <a:p>
            <a:pPr lvl="0" indent="0">
              <a:buNone/>
            </a:pPr>
            <a:r>
              <a:rPr>
                <a:solidFill>
                  <a:srgbClr val="5E5E5E"/>
                </a:solidFill>
                <a:latin typeface="Courier"/>
              </a:rPr>
              <a:t># Check if treatment and control industries are balanced at baseline</a:t>
            </a:r>
            <a:br/>
            <a:br/>
            <a:r>
              <a:rPr>
                <a:solidFill>
                  <a:srgbClr val="5E5E5E"/>
                </a:solidFill>
                <a:latin typeface="Courier"/>
              </a:rPr>
              <a:t># Step 1: Filter to only keep baseline (pre-intervention) observations</a:t>
            </a:r>
            <a:br/>
            <a:r>
              <a:rPr>
                <a:solidFill>
                  <a:srgbClr val="5E5E5E"/>
                </a:solidFill>
                <a:latin typeface="Courier"/>
              </a:rPr>
              <a:t># Step 2: Select relevant baseline variables to test for balance</a:t>
            </a:r>
            <a:br/>
            <a:r>
              <a:rPr>
                <a:solidFill>
                  <a:srgbClr val="5E5E5E"/>
                </a:solidFill>
                <a:latin typeface="Courier"/>
              </a:rPr>
              <a:t># Step 3: Reshape data to long format using pivot_longer() so that we have one row per variable per industry, keeping treatment assignment</a:t>
            </a:r>
            <a:br/>
            <a:r>
              <a:rPr>
                <a:solidFill>
                  <a:srgbClr val="5E5E5E"/>
                </a:solidFill>
                <a:latin typeface="Courier"/>
              </a:rPr>
              <a:t># Step 4: Group by each baseline variable</a:t>
            </a:r>
            <a:br/>
            <a:r>
              <a:rPr>
                <a:solidFill>
                  <a:srgbClr val="5E5E5E"/>
                </a:solidFill>
                <a:latin typeface="Courier"/>
              </a:rPr>
              <a:t># Step 5: For each variable, run a simple regression of the baseline variable on treat assignment</a:t>
            </a:r>
            <a:br/>
            <a:r>
              <a:rPr>
                <a:solidFill>
                  <a:srgbClr val="5E5E5E"/>
                </a:solidFill>
                <a:latin typeface="Courier"/>
              </a:rPr>
              <a:t># Step 6: Only keep the coefficient for 'treatment_zone' since we are interested in differences between treatment and control</a:t>
            </a:r>
            <a:br/>
            <a:r>
              <a:rPr>
                <a:solidFill>
                  <a:srgbClr val="5E5E5E"/>
                </a:solidFill>
                <a:latin typeface="Courier"/>
              </a:rPr>
              <a:t># Step 7: Select key results to display (variable name, estimated difference, standard error, and p-value)</a:t>
            </a:r>
            <a:br/>
            <a:r>
              <a:rPr>
                <a:solidFill>
                  <a:srgbClr val="003B4F"/>
                </a:solidFill>
                <a:latin typeface="Courier"/>
              </a:rPr>
              <a:t>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select</a:t>
            </a:r>
            <a:r>
              <a:rPr>
                <a:solidFill>
                  <a:srgbClr val="003B4F"/>
                </a:solidFill>
                <a:latin typeface="Courier"/>
              </a:rPr>
              <a:t>(treatment_zone, age_manager, age_deputy,</a:t>
            </a:r>
            <a:br/>
            <a:r>
              <a:rPr>
                <a:solidFill>
                  <a:srgbClr val="003B4F"/>
                </a:solidFill>
                <a:latin typeface="Courier"/>
              </a:rPr>
              <a:t>         educ_manager, educ_deputy, </a:t>
            </a:r>
            <a:br/>
            <a:r>
              <a:rPr>
                <a:solidFill>
                  <a:srgbClr val="003B4F"/>
                </a:solidFill>
                <a:latin typeface="Courier"/>
              </a:rPr>
              <a:t>         female_manager, foreign_owned, staff_size,</a:t>
            </a:r>
            <a:br/>
            <a:r>
              <a:rPr>
                <a:solidFill>
                  <a:srgbClr val="003B4F"/>
                </a:solidFill>
                <a:latin typeface="Courier"/>
              </a:rPr>
              <a:t>         advanced_filtration, water_treatment_system, </a:t>
            </a:r>
            <a:br/>
            <a:r>
              <a:rPr>
                <a:solidFill>
                  <a:srgbClr val="003B4F"/>
                </a:solidFill>
                <a:latin typeface="Courier"/>
              </a:rPr>
              <a:t>         facility_area, recycling_center_distance) </a:t>
            </a:r>
            <a:r>
              <a:rPr>
                <a:solidFill>
                  <a:srgbClr val="5E5E5E"/>
                </a:solidFill>
                <a:latin typeface="Courier"/>
              </a:rPr>
              <a:t>%&gt;%</a:t>
            </a:r>
            <a:br/>
            <a:r>
              <a:rPr>
                <a:solidFill>
                  <a:srgbClr val="003B4F"/>
                </a:solidFill>
                <a:latin typeface="Courier"/>
              </a:rPr>
              <a:t>  </a:t>
            </a:r>
            <a:r>
              <a:rPr>
                <a:solidFill>
                  <a:srgbClr val="4758AB"/>
                </a:solidFill>
                <a:latin typeface="Courier"/>
              </a:rPr>
              <a:t>pivot_longer</a:t>
            </a:r>
            <a:r>
              <a:rPr>
                <a:solidFill>
                  <a:srgbClr val="003B4F"/>
                </a:solidFill>
                <a:latin typeface="Courier"/>
              </a:rPr>
              <a:t>(</a:t>
            </a:r>
            <a:r>
              <a:rPr>
                <a:solidFill>
                  <a:srgbClr val="5E5E5E"/>
                </a:solidFill>
                <a:latin typeface="Courier"/>
              </a:rPr>
              <a:t>-</a:t>
            </a:r>
            <a:r>
              <a:rPr>
                <a:solidFill>
                  <a:srgbClr val="4758AB"/>
                </a:solidFill>
                <a:latin typeface="Courier"/>
              </a:rPr>
              <a:t>c</a:t>
            </a:r>
            <a:r>
              <a:rPr>
                <a:solidFill>
                  <a:srgbClr val="003B4F"/>
                </a:solidFill>
                <a:latin typeface="Courier"/>
              </a:rPr>
              <a:t>(</a:t>
            </a:r>
            <a:r>
              <a:rPr>
                <a:solidFill>
                  <a:srgbClr val="20794D"/>
                </a:solidFill>
                <a:latin typeface="Courier"/>
              </a:rPr>
              <a:t>"treatment_zone"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(name) </a:t>
            </a:r>
            <a:r>
              <a:rPr>
                <a:solidFill>
                  <a:srgbClr val="5E5E5E"/>
                </a:solidFill>
                <a:latin typeface="Courier"/>
              </a:rPr>
              <a:t>%&gt;%</a:t>
            </a:r>
            <a:br/>
            <a:r>
              <a:rPr>
                <a:solidFill>
                  <a:srgbClr val="003B4F"/>
                </a:solidFill>
                <a:latin typeface="Courier"/>
              </a:rPr>
              <a:t>  </a:t>
            </a:r>
            <a:r>
              <a:rPr>
                <a:solidFill>
                  <a:srgbClr val="4758AB"/>
                </a:solidFill>
                <a:latin typeface="Courier"/>
              </a:rPr>
              <a:t>do</a:t>
            </a:r>
            <a:r>
              <a:rPr>
                <a:solidFill>
                  <a:srgbClr val="003B4F"/>
                </a:solidFill>
                <a:latin typeface="Courier"/>
              </a:rPr>
              <a:t>(</a:t>
            </a:r>
            <a:r>
              <a:rPr>
                <a:solidFill>
                  <a:srgbClr val="4758AB"/>
                </a:solidFill>
                <a:latin typeface="Courier"/>
              </a:rPr>
              <a:t>tidy</a:t>
            </a:r>
            <a:r>
              <a:rPr>
                <a:solidFill>
                  <a:srgbClr val="003B4F"/>
                </a:solidFill>
                <a:latin typeface="Courier"/>
              </a:rPr>
              <a:t>(</a:t>
            </a:r>
            <a:r>
              <a:rPr>
                <a:solidFill>
                  <a:srgbClr val="4758AB"/>
                </a:solidFill>
                <a:latin typeface="Courier"/>
              </a:rPr>
              <a:t>lm_robust</a:t>
            </a:r>
            <a:r>
              <a:rPr>
                <a:solidFill>
                  <a:srgbClr val="003B4F"/>
                </a:solidFill>
                <a:latin typeface="Courier"/>
              </a:rPr>
              <a:t>(value </a:t>
            </a:r>
            <a:r>
              <a:rPr>
                <a:solidFill>
                  <a:srgbClr val="5E5E5E"/>
                </a:solidFill>
                <a:latin typeface="Courier"/>
              </a:rPr>
              <a:t>~</a:t>
            </a:r>
            <a:r>
              <a:rPr>
                <a:solidFill>
                  <a:srgbClr val="003B4F"/>
                </a:solidFill>
                <a:latin typeface="Courier"/>
              </a:rPr>
              <a:t> treatment_zone, </a:t>
            </a:r>
            <a:r>
              <a:rPr>
                <a:solidFill>
                  <a:srgbClr val="657422"/>
                </a:solidFill>
                <a:latin typeface="Courier"/>
              </a:rPr>
              <a:t>data =</a:t>
            </a: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(term </a:t>
            </a:r>
            <a:r>
              <a:rPr>
                <a:solidFill>
                  <a:srgbClr val="5E5E5E"/>
                </a:solidFill>
                <a:latin typeface="Courier"/>
              </a:rPr>
              <a:t>==</a:t>
            </a:r>
            <a:r>
              <a:rPr>
                <a:solidFill>
                  <a:srgbClr val="003B4F"/>
                </a:solidFill>
                <a:latin typeface="Courier"/>
              </a:rPr>
              <a:t> </a:t>
            </a:r>
            <a:r>
              <a:rPr>
                <a:solidFill>
                  <a:srgbClr val="20794D"/>
                </a:solidFill>
                <a:latin typeface="Courier"/>
              </a:rPr>
              <a:t>"treatment_zone"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(name, estimate, std.error, p.value)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Estimating Program Impact: Simple Comparison of Means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Compare waste expenditures in treatment and control industries at follow-up</a:t>
            </a:r>
            <a:br/>
            <a:r>
              <a:rPr>
                <a:solidFill>
                  <a:srgbClr val="5E5E5E"/>
                </a:solidFill>
                <a:latin typeface="Courier"/>
              </a:rPr>
              <a:t># Regression at baseline: are waste expenditures different between treatment and control groups before intervention?</a:t>
            </a:r>
            <a:br/>
            <a:r>
              <a:rPr>
                <a:solidFill>
                  <a:srgbClr val="003B4F"/>
                </a:solidFill>
                <a:latin typeface="Courier"/>
              </a:rPr>
              <a:t>out_round0 &lt;- </a:t>
            </a:r>
            <a:r>
              <a:rPr>
                <a:solidFill>
                  <a:srgbClr val="4758AB"/>
                </a:solidFill>
                <a:latin typeface="Courier"/>
              </a:rPr>
              <a:t>lm_robust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treatment_zone,</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&amp;</a:t>
            </a:r>
            <a:r>
              <a:rPr>
                <a:solidFill>
                  <a:srgbClr val="003B4F"/>
                </a:solidFill>
                <a:latin typeface="Courier"/>
              </a:rPr>
              <a:t> eligible </a:t>
            </a:r>
            <a:r>
              <a:rPr>
                <a:solidFill>
                  <a:srgbClr val="5E5E5E"/>
                </a:solidFill>
                <a:latin typeface="Courier"/>
              </a:rPr>
              <a:t>==</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br/>
            <a:br/>
            <a:r>
              <a:rPr>
                <a:solidFill>
                  <a:srgbClr val="5E5E5E"/>
                </a:solidFill>
                <a:latin typeface="Courier"/>
              </a:rPr>
              <a:t># Regression at follow-up: are waste expenditures different between treatment and control groups after intervention?</a:t>
            </a:r>
            <a:br/>
            <a:r>
              <a:rPr>
                <a:solidFill>
                  <a:srgbClr val="003B4F"/>
                </a:solidFill>
                <a:latin typeface="Courier"/>
              </a:rPr>
              <a:t>out_round1 &lt;- </a:t>
            </a:r>
            <a:r>
              <a:rPr>
                <a:solidFill>
                  <a:srgbClr val="4758AB"/>
                </a:solidFill>
                <a:latin typeface="Courier"/>
              </a:rPr>
              <a:t>lm_robust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treatment_zone,</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&amp;</a:t>
            </a:r>
            <a:r>
              <a:rPr>
                <a:solidFill>
                  <a:srgbClr val="003B4F"/>
                </a:solidFill>
                <a:latin typeface="Courier"/>
              </a:rPr>
              <a:t> eligible </a:t>
            </a:r>
            <a:r>
              <a:rPr>
                <a:solidFill>
                  <a:srgbClr val="5E5E5E"/>
                </a:solidFill>
                <a:latin typeface="Courier"/>
              </a:rPr>
              <a:t>==</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ctr">
                        <a:buNone/>
                      </a:pPr>
                      <a:r>
                        <a:rPr/>
                        <a:t>Round 0</a:t>
                      </a:r>
                    </a:p>
                  </a:txBody>
                  <a:tcPr/>
                </a:tc>
                <a:tc>
                  <a:txBody>
                    <a:bodyPr/>
                    <a:lstStyle/>
                    <a:p>
                      <a:pPr lvl="0" indent="0" marL="0" algn="ctr">
                        <a:buNone/>
                      </a:pPr>
                      <a:r>
                        <a:rPr/>
                        <a:t>Round 1</a:t>
                      </a:r>
                    </a:p>
                  </a:txBody>
                  <a:tcPr/>
                </a:tc>
              </a:tr>
              <a:tr h="0">
                <a:tc>
                  <a:txBody>
                    <a:bodyPr/>
                    <a:lstStyle/>
                    <a:p>
                      <a:pPr lvl="0" indent="0" marL="0" algn="l">
                        <a:buNone/>
                      </a:pPr>
                      <a:r>
                        <a:rPr/>
                        <a:t>(Intercept)</a:t>
                      </a:r>
                    </a:p>
                  </a:txBody>
                </a:tc>
                <a:tc>
                  <a:txBody>
                    <a:bodyPr/>
                    <a:lstStyle/>
                    <a:p>
                      <a:pPr lvl="0" indent="0" marL="0" algn="ctr">
                        <a:buNone/>
                      </a:pPr>
                      <a:r>
                        <a:rPr/>
                        <a:t>1457.385***</a:t>
                      </a:r>
                    </a:p>
                  </a:txBody>
                </a:tc>
                <a:tc>
                  <a:txBody>
                    <a:bodyPr/>
                    <a:lstStyle/>
                    <a:p>
                      <a:pPr lvl="0" indent="0" marL="0" algn="ctr">
                        <a:buNone/>
                      </a:pPr>
                      <a:r>
                        <a:rPr/>
                        <a:t>1798.055***</a:t>
                      </a:r>
                    </a:p>
                  </a:txBody>
                </a:tc>
              </a:tr>
              <a:tr h="0">
                <a:tc>
                  <a:txBody>
                    <a:bodyPr/>
                    <a:lstStyle/>
                    <a:p>
                      <a:endParaRPr/>
                    </a:p>
                  </a:txBody>
                </a:tc>
                <a:tc>
                  <a:txBody>
                    <a:bodyPr/>
                    <a:lstStyle/>
                    <a:p>
                      <a:pPr lvl="0" indent="0" marL="0" algn="ctr">
                        <a:buNone/>
                      </a:pPr>
                      <a:r>
                        <a:rPr/>
                        <a:t>(15.726)</a:t>
                      </a:r>
                    </a:p>
                  </a:txBody>
                </a:tc>
                <a:tc>
                  <a:txBody>
                    <a:bodyPr/>
                    <a:lstStyle/>
                    <a:p>
                      <a:pPr lvl="0" indent="0" marL="0" algn="ctr">
                        <a:buNone/>
                      </a:pPr>
                      <a:r>
                        <a:rPr/>
                        <a:t>(30.912)</a:t>
                      </a:r>
                    </a:p>
                  </a:txBody>
                </a:tc>
              </a:tr>
              <a:tr h="0">
                <a:tc>
                  <a:txBody>
                    <a:bodyPr/>
                    <a:lstStyle/>
                    <a:p>
                      <a:pPr lvl="0" indent="0" marL="0" algn="l">
                        <a:buNone/>
                      </a:pPr>
                      <a:r>
                        <a:rPr/>
                        <a:t>treatment_zone</a:t>
                      </a:r>
                    </a:p>
                  </a:txBody>
                </a:tc>
                <a:tc>
                  <a:txBody>
                    <a:bodyPr/>
                    <a:lstStyle/>
                    <a:p>
                      <a:pPr lvl="0" indent="0" marL="0" algn="ctr">
                        <a:buNone/>
                      </a:pPr>
                      <a:r>
                        <a:rPr/>
                        <a:t>−8.415</a:t>
                      </a:r>
                    </a:p>
                  </a:txBody>
                </a:tc>
                <a:tc>
                  <a:txBody>
                    <a:bodyPr/>
                    <a:lstStyle/>
                    <a:p>
                      <a:pPr lvl="0" indent="0" marL="0" algn="ctr">
                        <a:buNone/>
                      </a:pPr>
                      <a:r>
                        <a:rPr/>
                        <a:t>−1014.037***</a:t>
                      </a:r>
                    </a:p>
                  </a:txBody>
                </a:tc>
              </a:tr>
              <a:tr h="0">
                <a:tc>
                  <a:txBody>
                    <a:bodyPr/>
                    <a:lstStyle/>
                    <a:p>
                      <a:endParaRPr/>
                    </a:p>
                  </a:txBody>
                </a:tc>
                <a:tc>
                  <a:txBody>
                    <a:bodyPr/>
                    <a:lstStyle/>
                    <a:p>
                      <a:pPr lvl="0" indent="0" marL="0" algn="ctr">
                        <a:buNone/>
                      </a:pPr>
                      <a:r>
                        <a:rPr/>
                        <a:t>(21.456)</a:t>
                      </a:r>
                    </a:p>
                  </a:txBody>
                </a:tc>
                <a:tc>
                  <a:txBody>
                    <a:bodyPr/>
                    <a:lstStyle/>
                    <a:p>
                      <a:pPr lvl="0" indent="0" marL="0" algn="ctr">
                        <a:buNone/>
                      </a:pPr>
                      <a:r>
                        <a:rPr/>
                        <a:t>(39.890)</a:t>
                      </a:r>
                    </a:p>
                  </a:txBody>
                </a:tc>
              </a:tr>
              <a:tr h="0">
                <a:tc>
                  <a:txBody>
                    <a:bodyPr/>
                    <a:lstStyle/>
                    <a:p>
                      <a:pPr lvl="0" indent="0" marL="0" algn="l">
                        <a:buNone/>
                      </a:pPr>
                      <a:r>
                        <a:rPr/>
                        <a:t>Num.Obs.</a:t>
                      </a:r>
                    </a:p>
                  </a:txBody>
                </a:tc>
                <a:tc>
                  <a:txBody>
                    <a:bodyPr/>
                    <a:lstStyle/>
                    <a:p>
                      <a:pPr lvl="0" indent="0" marL="0" algn="ctr">
                        <a:buNone/>
                      </a:pPr>
                      <a:r>
                        <a:rPr/>
                        <a:t>5628</a:t>
                      </a:r>
                    </a:p>
                  </a:txBody>
                </a:tc>
                <a:tc>
                  <a:txBody>
                    <a:bodyPr/>
                    <a:lstStyle/>
                    <a:p>
                      <a:pPr lvl="0" indent="0" marL="0" algn="ctr">
                        <a:buNone/>
                      </a:pPr>
                      <a:r>
                        <a:rPr/>
                        <a:t>5629</a:t>
                      </a:r>
                    </a:p>
                  </a:txBody>
                </a:tc>
              </a:tr>
              <a:tr h="0">
                <a:tc>
                  <a:txBody>
                    <a:bodyPr/>
                    <a:lstStyle/>
                    <a:p>
                      <a:pPr lvl="0" indent="0" marL="0" algn="l">
                        <a:buNone/>
                      </a:pPr>
                      <a:r>
                        <a:rPr/>
                        <a:t>R2</a:t>
                      </a:r>
                    </a:p>
                  </a:txBody>
                </a:tc>
                <a:tc>
                  <a:txBody>
                    <a:bodyPr/>
                    <a:lstStyle/>
                    <a:p>
                      <a:pPr lvl="0" indent="0" marL="0" algn="ctr">
                        <a:buNone/>
                      </a:pPr>
                      <a:r>
                        <a:rPr/>
                        <a:t>0.000</a:t>
                      </a:r>
                    </a:p>
                  </a:txBody>
                </a:tc>
                <a:tc>
                  <a:txBody>
                    <a:bodyPr/>
                    <a:lstStyle/>
                    <a:p>
                      <a:pPr lvl="0" indent="0" marL="0" algn="ctr">
                        <a:buNone/>
                      </a:pPr>
                      <a:r>
                        <a:rPr/>
                        <a:t>0.300</a:t>
                      </a:r>
                    </a:p>
                  </a:txBody>
                </a:tc>
              </a:tr>
              <a:tr h="0">
                <a:tc>
                  <a:txBody>
                    <a:bodyPr/>
                    <a:lstStyle/>
                    <a:p>
                      <a:pPr lvl="0" indent="0" marL="0" algn="l">
                        <a:buNone/>
                      </a:pPr>
                      <a:r>
                        <a:rPr/>
                        <a:t>R2 Adj.</a:t>
                      </a:r>
                    </a:p>
                  </a:txBody>
                </a:tc>
                <a:tc>
                  <a:txBody>
                    <a:bodyPr/>
                    <a:lstStyle/>
                    <a:p>
                      <a:pPr lvl="0" indent="0" marL="0" algn="ctr">
                        <a:buNone/>
                      </a:pPr>
                      <a:r>
                        <a:rPr/>
                        <a:t>−0.000</a:t>
                      </a:r>
                    </a:p>
                  </a:txBody>
                </a:tc>
                <a:tc>
                  <a:txBody>
                    <a:bodyPr/>
                    <a:lstStyle/>
                    <a:p>
                      <a:pPr lvl="0" indent="0" marL="0" algn="ctr">
                        <a:buNone/>
                      </a:pPr>
                      <a:r>
                        <a:rPr/>
                        <a:t>0.300</a:t>
                      </a:r>
                    </a:p>
                  </a:txBody>
                </a:tc>
              </a:tr>
              <a:tr h="0">
                <a:tc>
                  <a:txBody>
                    <a:bodyPr/>
                    <a:lstStyle/>
                    <a:p>
                      <a:pPr lvl="0" indent="0" marL="0" algn="l">
                        <a:buNone/>
                      </a:pPr>
                      <a:r>
                        <a:rPr/>
                        <a:t> + p &lt; 0.1, * p &lt; 0.05, ** p &lt; 0.01, *** p &lt; 0.001</a:t>
                      </a:r>
                    </a:p>
                  </a:txBody>
                </a:tc>
                <a:tc>
                  <a:txBody>
                    <a:bodyPr/>
                    <a:lstStyle/>
                    <a:p>
                      <a:endParaRPr/>
                    </a:p>
                  </a:txBody>
                </a:tc>
                <a:tc>
                  <a:txBody>
                    <a:bodyPr/>
                    <a:lstStyle/>
                    <a:p>
                      <a:endParaRP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Regression Analysis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Compare waste expenditures in T and C industries at follow-up with additional covariates</a:t>
            </a:r>
            <a:br/>
            <a:r>
              <a:rPr>
                <a:solidFill>
                  <a:srgbClr val="003B4F"/>
                </a:solidFill>
                <a:latin typeface="Courier"/>
              </a:rPr>
              <a:t>out_round2 &lt;- </a:t>
            </a:r>
            <a:r>
              <a:rPr>
                <a:solidFill>
                  <a:srgbClr val="4758AB"/>
                </a:solidFill>
                <a:latin typeface="Courier"/>
              </a:rPr>
              <a:t>lm_robust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treatment_zone </a:t>
            </a:r>
            <a:r>
              <a:rPr>
                <a:solidFill>
                  <a:srgbClr val="5E5E5E"/>
                </a:solidFill>
                <a:latin typeface="Courier"/>
              </a:rPr>
              <a:t>+</a:t>
            </a:r>
            <a:br/>
            <a:r>
              <a:rPr>
                <a:solidFill>
                  <a:srgbClr val="003B4F"/>
                </a:solidFill>
                <a:latin typeface="Courier"/>
              </a:rPr>
              <a:t>                    age_manager </a:t>
            </a:r>
            <a:r>
              <a:rPr>
                <a:solidFill>
                  <a:srgbClr val="5E5E5E"/>
                </a:solidFill>
                <a:latin typeface="Courier"/>
              </a:rPr>
              <a:t>+</a:t>
            </a:r>
            <a:r>
              <a:rPr>
                <a:solidFill>
                  <a:srgbClr val="003B4F"/>
                </a:solidFill>
                <a:latin typeface="Courier"/>
              </a:rPr>
              <a:t> age_deputy </a:t>
            </a:r>
            <a:r>
              <a:rPr>
                <a:solidFill>
                  <a:srgbClr val="5E5E5E"/>
                </a:solidFill>
                <a:latin typeface="Courier"/>
              </a:rPr>
              <a:t>+</a:t>
            </a:r>
            <a:br/>
            <a:r>
              <a:rPr>
                <a:solidFill>
                  <a:srgbClr val="003B4F"/>
                </a:solidFill>
                <a:latin typeface="Courier"/>
              </a:rPr>
              <a:t>                    female_manager </a:t>
            </a:r>
            <a:r>
              <a:rPr>
                <a:solidFill>
                  <a:srgbClr val="5E5E5E"/>
                </a:solidFill>
                <a:latin typeface="Courier"/>
              </a:rPr>
              <a:t>+</a:t>
            </a:r>
            <a:r>
              <a:rPr>
                <a:solidFill>
                  <a:srgbClr val="003B4F"/>
                </a:solidFill>
                <a:latin typeface="Courier"/>
              </a:rPr>
              <a:t> foreign_owned </a:t>
            </a:r>
            <a:r>
              <a:rPr>
                <a:solidFill>
                  <a:srgbClr val="5E5E5E"/>
                </a:solidFill>
                <a:latin typeface="Courier"/>
              </a:rPr>
              <a:t>+</a:t>
            </a:r>
            <a:r>
              <a:rPr>
                <a:solidFill>
                  <a:srgbClr val="003B4F"/>
                </a:solidFill>
                <a:latin typeface="Courier"/>
              </a:rPr>
              <a:t> </a:t>
            </a:r>
            <a:br/>
            <a:r>
              <a:rPr>
                <a:solidFill>
                  <a:srgbClr val="003B4F"/>
                </a:solidFill>
                <a:latin typeface="Courier"/>
              </a:rPr>
              <a:t>                    staff_size </a:t>
            </a:r>
            <a:r>
              <a:rPr>
                <a:solidFill>
                  <a:srgbClr val="5E5E5E"/>
                </a:solidFill>
                <a:latin typeface="Courier"/>
              </a:rPr>
              <a:t>+</a:t>
            </a:r>
            <a:br/>
            <a:r>
              <a:rPr>
                <a:solidFill>
                  <a:srgbClr val="003B4F"/>
                </a:solidFill>
                <a:latin typeface="Courier"/>
              </a:rPr>
              <a:t>                    advanced_filtration </a:t>
            </a:r>
            <a:r>
              <a:rPr>
                <a:solidFill>
                  <a:srgbClr val="5E5E5E"/>
                </a:solidFill>
                <a:latin typeface="Courier"/>
              </a:rPr>
              <a:t>+</a:t>
            </a:r>
            <a:r>
              <a:rPr>
                <a:solidFill>
                  <a:srgbClr val="003B4F"/>
                </a:solidFill>
                <a:latin typeface="Courier"/>
              </a:rPr>
              <a:t> facility_area </a:t>
            </a:r>
            <a:r>
              <a:rPr>
                <a:solidFill>
                  <a:srgbClr val="5E5E5E"/>
                </a:solidFill>
                <a:latin typeface="Courier"/>
              </a:rPr>
              <a:t>+</a:t>
            </a:r>
            <a:br/>
            <a:r>
              <a:rPr>
                <a:solidFill>
                  <a:srgbClr val="003B4F"/>
                </a:solidFill>
                <a:latin typeface="Courier"/>
              </a:rPr>
              <a:t>                    recycling_center_distance,</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&amp;</a:t>
            </a:r>
            <a:r>
              <a:rPr>
                <a:solidFill>
                  <a:srgbClr val="003B4F"/>
                </a:solidFill>
                <a:latin typeface="Courier"/>
              </a:rPr>
              <a:t> eligible </a:t>
            </a:r>
            <a:r>
              <a:rPr>
                <a:solidFill>
                  <a:srgbClr val="5E5E5E"/>
                </a:solidFill>
                <a:latin typeface="Courier"/>
              </a:rPr>
              <a:t>==</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ctr">
                        <a:buNone/>
                      </a:pPr>
                      <a:r>
                        <a:rPr/>
                        <a:t>No covariate adj.</a:t>
                      </a:r>
                    </a:p>
                  </a:txBody>
                  <a:tcPr/>
                </a:tc>
                <a:tc>
                  <a:txBody>
                    <a:bodyPr/>
                    <a:lstStyle/>
                    <a:p>
                      <a:pPr lvl="0" indent="0" marL="0" algn="ctr">
                        <a:buNone/>
                      </a:pPr>
                      <a:r>
                        <a:rPr/>
                        <a:t>With covariate adj.</a:t>
                      </a:r>
                    </a:p>
                  </a:txBody>
                  <a:tcPr/>
                </a:tc>
              </a:tr>
              <a:tr h="0">
                <a:tc>
                  <a:txBody>
                    <a:bodyPr/>
                    <a:lstStyle/>
                    <a:p>
                      <a:pPr lvl="0" indent="0" marL="0" algn="l">
                        <a:buNone/>
                      </a:pPr>
                      <a:r>
                        <a:rPr/>
                        <a:t>(Intercept)</a:t>
                      </a:r>
                    </a:p>
                  </a:txBody>
                </a:tc>
                <a:tc>
                  <a:txBody>
                    <a:bodyPr/>
                    <a:lstStyle/>
                    <a:p>
                      <a:pPr lvl="0" indent="0" marL="0" algn="ctr">
                        <a:buNone/>
                      </a:pPr>
                      <a:r>
                        <a:rPr/>
                        <a:t>1798.055***</a:t>
                      </a:r>
                    </a:p>
                  </a:txBody>
                </a:tc>
                <a:tc>
                  <a:txBody>
                    <a:bodyPr/>
                    <a:lstStyle/>
                    <a:p>
                      <a:pPr lvl="0" indent="0" marL="0" algn="ctr">
                        <a:buNone/>
                      </a:pPr>
                      <a:r>
                        <a:rPr/>
                        <a:t>2722.356***</a:t>
                      </a:r>
                    </a:p>
                  </a:txBody>
                </a:tc>
              </a:tr>
              <a:tr h="0">
                <a:tc>
                  <a:txBody>
                    <a:bodyPr/>
                    <a:lstStyle/>
                    <a:p>
                      <a:endParaRPr/>
                    </a:p>
                  </a:txBody>
                </a:tc>
                <a:tc>
                  <a:txBody>
                    <a:bodyPr/>
                    <a:lstStyle/>
                    <a:p>
                      <a:pPr lvl="0" indent="0" marL="0" algn="ctr">
                        <a:buNone/>
                      </a:pPr>
                      <a:r>
                        <a:rPr/>
                        <a:t>(30.912)</a:t>
                      </a:r>
                    </a:p>
                  </a:txBody>
                </a:tc>
                <a:tc>
                  <a:txBody>
                    <a:bodyPr/>
                    <a:lstStyle/>
                    <a:p>
                      <a:pPr lvl="0" indent="0" marL="0" algn="ctr">
                        <a:buNone/>
                      </a:pPr>
                      <a:r>
                        <a:rPr/>
                        <a:t>(70.976)</a:t>
                      </a:r>
                    </a:p>
                  </a:txBody>
                </a:tc>
              </a:tr>
              <a:tr h="0">
                <a:tc>
                  <a:txBody>
                    <a:bodyPr/>
                    <a:lstStyle/>
                    <a:p>
                      <a:pPr lvl="0" indent="0" marL="0" algn="l">
                        <a:buNone/>
                      </a:pPr>
                      <a:r>
                        <a:rPr/>
                        <a:t>treatment_zone</a:t>
                      </a:r>
                    </a:p>
                  </a:txBody>
                </a:tc>
                <a:tc>
                  <a:txBody>
                    <a:bodyPr/>
                    <a:lstStyle/>
                    <a:p>
                      <a:pPr lvl="0" indent="0" marL="0" algn="ctr">
                        <a:buNone/>
                      </a:pPr>
                      <a:r>
                        <a:rPr/>
                        <a:t>−1014.037***</a:t>
                      </a:r>
                    </a:p>
                  </a:txBody>
                </a:tc>
                <a:tc>
                  <a:txBody>
                    <a:bodyPr/>
                    <a:lstStyle/>
                    <a:p>
                      <a:pPr lvl="0" indent="0" marL="0" algn="ctr">
                        <a:buNone/>
                      </a:pPr>
                      <a:r>
                        <a:rPr/>
                        <a:t>−1001.150***</a:t>
                      </a:r>
                    </a:p>
                  </a:txBody>
                </a:tc>
              </a:tr>
              <a:tr h="0">
                <a:tc>
                  <a:txBody>
                    <a:bodyPr/>
                    <a:lstStyle/>
                    <a:p>
                      <a:endParaRPr/>
                    </a:p>
                  </a:txBody>
                </a:tc>
                <a:tc>
                  <a:txBody>
                    <a:bodyPr/>
                    <a:lstStyle/>
                    <a:p>
                      <a:pPr lvl="0" indent="0" marL="0" algn="ctr">
                        <a:buNone/>
                      </a:pPr>
                      <a:r>
                        <a:rPr/>
                        <a:t>(39.890)</a:t>
                      </a:r>
                    </a:p>
                  </a:txBody>
                </a:tc>
                <a:tc>
                  <a:txBody>
                    <a:bodyPr/>
                    <a:lstStyle/>
                    <a:p>
                      <a:pPr lvl="0" indent="0" marL="0" algn="ctr">
                        <a:buNone/>
                      </a:pPr>
                      <a:r>
                        <a:rPr/>
                        <a:t>(34.588)</a:t>
                      </a:r>
                    </a:p>
                  </a:txBody>
                </a:tc>
              </a:tr>
              <a:tr h="0">
                <a:tc>
                  <a:txBody>
                    <a:bodyPr/>
                    <a:lstStyle/>
                    <a:p>
                      <a:pPr lvl="0" indent="0" marL="0" algn="l">
                        <a:buNone/>
                      </a:pPr>
                      <a:r>
                        <a:rPr/>
                        <a:t>age_manager</a:t>
                      </a:r>
                    </a:p>
                  </a:txBody>
                </a:tc>
                <a:tc>
                  <a:txBody>
                    <a:bodyPr/>
                    <a:lstStyle/>
                    <a:p>
                      <a:endParaRPr/>
                    </a:p>
                  </a:txBody>
                </a:tc>
                <a:tc>
                  <a:txBody>
                    <a:bodyPr/>
                    <a:lstStyle/>
                    <a:p>
                      <a:pPr lvl="0" indent="0" marL="0" algn="ctr">
                        <a:buNone/>
                      </a:pPr>
                      <a:r>
                        <a:rPr/>
                        <a:t>4.470**</a:t>
                      </a:r>
                    </a:p>
                  </a:txBody>
                </a:tc>
              </a:tr>
              <a:tr h="0">
                <a:tc>
                  <a:txBody>
                    <a:bodyPr/>
                    <a:lstStyle/>
                    <a:p>
                      <a:endParaRPr/>
                    </a:p>
                  </a:txBody>
                </a:tc>
                <a:tc>
                  <a:txBody>
                    <a:bodyPr/>
                    <a:lstStyle/>
                    <a:p>
                      <a:endParaRPr/>
                    </a:p>
                  </a:txBody>
                </a:tc>
                <a:tc>
                  <a:txBody>
                    <a:bodyPr/>
                    <a:lstStyle/>
                    <a:p>
                      <a:pPr lvl="0" indent="0" marL="0" algn="ctr">
                        <a:buNone/>
                      </a:pPr>
                      <a:r>
                        <a:rPr/>
                        <a:t>(1.491)</a:t>
                      </a:r>
                    </a:p>
                  </a:txBody>
                </a:tc>
              </a:tr>
              <a:tr h="0">
                <a:tc>
                  <a:txBody>
                    <a:bodyPr/>
                    <a:lstStyle/>
                    <a:p>
                      <a:pPr lvl="0" indent="0" marL="0" algn="l">
                        <a:buNone/>
                      </a:pPr>
                      <a:r>
                        <a:rPr/>
                        <a:t>age_deputy</a:t>
                      </a:r>
                    </a:p>
                  </a:txBody>
                </a:tc>
                <a:tc>
                  <a:txBody>
                    <a:bodyPr/>
                    <a:lstStyle/>
                    <a:p>
                      <a:endParaRPr/>
                    </a:p>
                  </a:txBody>
                </a:tc>
                <a:tc>
                  <a:txBody>
                    <a:bodyPr/>
                    <a:lstStyle/>
                    <a:p>
                      <a:pPr lvl="0" indent="0" marL="0" algn="ctr">
                        <a:buNone/>
                      </a:pPr>
                      <a:r>
                        <a:rPr/>
                        <a:t>0.568</a:t>
                      </a:r>
                    </a:p>
                  </a:txBody>
                </a:tc>
              </a:tr>
              <a:tr h="0">
                <a:tc>
                  <a:txBody>
                    <a:bodyPr/>
                    <a:lstStyle/>
                    <a:p>
                      <a:endParaRPr/>
                    </a:p>
                  </a:txBody>
                </a:tc>
                <a:tc>
                  <a:txBody>
                    <a:bodyPr/>
                    <a:lstStyle/>
                    <a:p>
                      <a:endParaRPr/>
                    </a:p>
                  </a:txBody>
                </a:tc>
                <a:tc>
                  <a:txBody>
                    <a:bodyPr/>
                    <a:lstStyle/>
                    <a:p>
                      <a:pPr lvl="0" indent="0" marL="0" algn="ctr">
                        <a:buNone/>
                      </a:pPr>
                      <a:r>
                        <a:rPr/>
                        <a:t>(1.656)</a:t>
                      </a:r>
                    </a:p>
                  </a:txBody>
                </a:tc>
              </a:tr>
              <a:tr h="0">
                <a:tc>
                  <a:txBody>
                    <a:bodyPr/>
                    <a:lstStyle/>
                    <a:p>
                      <a:pPr lvl="0" indent="0" marL="0" algn="l">
                        <a:buNone/>
                      </a:pPr>
                      <a:r>
                        <a:rPr/>
                        <a:t>female_manager</a:t>
                      </a:r>
                    </a:p>
                  </a:txBody>
                </a:tc>
                <a:tc>
                  <a:txBody>
                    <a:bodyPr/>
                    <a:lstStyle/>
                    <a:p>
                      <a:endParaRPr/>
                    </a:p>
                  </a:txBody>
                </a:tc>
                <a:tc>
                  <a:txBody>
                    <a:bodyPr/>
                    <a:lstStyle/>
                    <a:p>
                      <a:pPr lvl="0" indent="0" marL="0" algn="ctr">
                        <a:buNone/>
                      </a:pPr>
                      <a:r>
                        <a:rPr/>
                        <a:t>65.686</a:t>
                      </a:r>
                    </a:p>
                  </a:txBody>
                </a:tc>
              </a:tr>
              <a:tr h="0">
                <a:tc>
                  <a:txBody>
                    <a:bodyPr/>
                    <a:lstStyle/>
                    <a:p>
                      <a:endParaRPr/>
                    </a:p>
                  </a:txBody>
                </a:tc>
                <a:tc>
                  <a:txBody>
                    <a:bodyPr/>
                    <a:lstStyle/>
                    <a:p>
                      <a:endParaRPr/>
                    </a:p>
                  </a:txBody>
                </a:tc>
                <a:tc>
                  <a:txBody>
                    <a:bodyPr/>
                    <a:lstStyle/>
                    <a:p>
                      <a:pPr lvl="0" indent="0" marL="0" algn="ctr">
                        <a:buNone/>
                      </a:pPr>
                      <a:r>
                        <a:rPr/>
                        <a:t>(45.064)</a:t>
                      </a:r>
                    </a:p>
                  </a:txBody>
                </a:tc>
              </a:tr>
              <a:tr h="0">
                <a:tc>
                  <a:txBody>
                    <a:bodyPr/>
                    <a:lstStyle/>
                    <a:p>
                      <a:pPr lvl="0" indent="0" marL="0" algn="l">
                        <a:buNone/>
                      </a:pPr>
                      <a:r>
                        <a:rPr/>
                        <a:t>foreign_owned</a:t>
                      </a:r>
                    </a:p>
                  </a:txBody>
                </a:tc>
                <a:tc>
                  <a:txBody>
                    <a:bodyPr/>
                    <a:lstStyle/>
                    <a:p>
                      <a:endParaRPr/>
                    </a:p>
                  </a:txBody>
                </a:tc>
                <a:tc>
                  <a:txBody>
                    <a:bodyPr/>
                    <a:lstStyle/>
                    <a:p>
                      <a:pPr lvl="0" indent="0" marL="0" algn="ctr">
                        <a:buNone/>
                      </a:pPr>
                      <a:r>
                        <a:rPr/>
                        <a:t>−186.650***</a:t>
                      </a:r>
                    </a:p>
                  </a:txBody>
                </a:tc>
              </a:tr>
              <a:tr h="0">
                <a:tc>
                  <a:txBody>
                    <a:bodyPr/>
                    <a:lstStyle/>
                    <a:p>
                      <a:endParaRPr/>
                    </a:p>
                  </a:txBody>
                </a:tc>
                <a:tc>
                  <a:txBody>
                    <a:bodyPr/>
                    <a:lstStyle/>
                    <a:p>
                      <a:endParaRPr/>
                    </a:p>
                  </a:txBody>
                </a:tc>
                <a:tc>
                  <a:txBody>
                    <a:bodyPr/>
                    <a:lstStyle/>
                    <a:p>
                      <a:pPr lvl="0" indent="0" marL="0" algn="ctr">
                        <a:buNone/>
                      </a:pPr>
                      <a:r>
                        <a:rPr/>
                        <a:t>(35.774)</a:t>
                      </a:r>
                    </a:p>
                  </a:txBody>
                </a:tc>
              </a:tr>
              <a:tr h="0">
                <a:tc>
                  <a:txBody>
                    <a:bodyPr/>
                    <a:lstStyle/>
                    <a:p>
                      <a:pPr lvl="0" indent="0" marL="0" algn="l">
                        <a:buNone/>
                      </a:pPr>
                      <a:r>
                        <a:rPr/>
                        <a:t>staff_size</a:t>
                      </a:r>
                    </a:p>
                  </a:txBody>
                </a:tc>
                <a:tc>
                  <a:txBody>
                    <a:bodyPr/>
                    <a:lstStyle/>
                    <a:p>
                      <a:endParaRPr/>
                    </a:p>
                  </a:txBody>
                </a:tc>
                <a:tc>
                  <a:txBody>
                    <a:bodyPr/>
                    <a:lstStyle/>
                    <a:p>
                      <a:pPr lvl="0" indent="0" marL="0" algn="ctr">
                        <a:buNone/>
                      </a:pPr>
                      <a:r>
                        <a:rPr/>
                        <a:t>−159.393***</a:t>
                      </a:r>
                    </a:p>
                  </a:txBody>
                </a:tc>
              </a:tr>
              <a:tr h="0">
                <a:tc>
                  <a:txBody>
                    <a:bodyPr/>
                    <a:lstStyle/>
                    <a:p>
                      <a:endParaRPr/>
                    </a:p>
                  </a:txBody>
                </a:tc>
                <a:tc>
                  <a:txBody>
                    <a:bodyPr/>
                    <a:lstStyle/>
                    <a:p>
                      <a:endParaRPr/>
                    </a:p>
                  </a:txBody>
                </a:tc>
                <a:tc>
                  <a:txBody>
                    <a:bodyPr/>
                    <a:lstStyle/>
                    <a:p>
                      <a:pPr lvl="0" indent="0" marL="0" algn="ctr">
                        <a:buNone/>
                      </a:pPr>
                      <a:r>
                        <a:rPr/>
                        <a:t>(6.565)</a:t>
                      </a:r>
                    </a:p>
                  </a:txBody>
                </a:tc>
              </a:tr>
              <a:tr h="0">
                <a:tc>
                  <a:txBody>
                    <a:bodyPr/>
                    <a:lstStyle/>
                    <a:p>
                      <a:pPr lvl="0" indent="0" marL="0" algn="l">
                        <a:buNone/>
                      </a:pPr>
                      <a:r>
                        <a:rPr/>
                        <a:t>advanced_filtration</a:t>
                      </a:r>
                    </a:p>
                  </a:txBody>
                </a:tc>
                <a:tc>
                  <a:txBody>
                    <a:bodyPr/>
                    <a:lstStyle/>
                    <a:p>
                      <a:endParaRPr/>
                    </a:p>
                  </a:txBody>
                </a:tc>
                <a:tc>
                  <a:txBody>
                    <a:bodyPr/>
                    <a:lstStyle/>
                    <a:p>
                      <a:pPr lvl="0" indent="0" marL="0" algn="ctr">
                        <a:buNone/>
                      </a:pPr>
                      <a:r>
                        <a:rPr/>
                        <a:t>−184.731***</a:t>
                      </a:r>
                    </a:p>
                  </a:txBody>
                </a:tc>
              </a:tr>
              <a:tr h="0">
                <a:tc>
                  <a:txBody>
                    <a:bodyPr/>
                    <a:lstStyle/>
                    <a:p>
                      <a:endParaRPr/>
                    </a:p>
                  </a:txBody>
                </a:tc>
                <a:tc>
                  <a:txBody>
                    <a:bodyPr/>
                    <a:lstStyle/>
                    <a:p>
                      <a:endParaRPr/>
                    </a:p>
                  </a:txBody>
                </a:tc>
                <a:tc>
                  <a:txBody>
                    <a:bodyPr/>
                    <a:lstStyle/>
                    <a:p>
                      <a:pPr lvl="0" indent="0" marL="0" algn="ctr">
                        <a:buNone/>
                      </a:pPr>
                      <a:r>
                        <a:rPr/>
                        <a:t>(27.952)</a:t>
                      </a:r>
                    </a:p>
                  </a:txBody>
                </a:tc>
              </a:tr>
              <a:tr h="0">
                <a:tc>
                  <a:txBody>
                    <a:bodyPr/>
                    <a:lstStyle/>
                    <a:p>
                      <a:pPr lvl="0" indent="0" marL="0" algn="l">
                        <a:buNone/>
                      </a:pPr>
                      <a:r>
                        <a:rPr/>
                        <a:t>facility_area</a:t>
                      </a:r>
                    </a:p>
                  </a:txBody>
                </a:tc>
                <a:tc>
                  <a:txBody>
                    <a:bodyPr/>
                    <a:lstStyle/>
                    <a:p>
                      <a:endParaRPr/>
                    </a:p>
                  </a:txBody>
                </a:tc>
                <a:tc>
                  <a:txBody>
                    <a:bodyPr/>
                    <a:lstStyle/>
                    <a:p>
                      <a:pPr lvl="0" indent="0" marL="0" algn="ctr">
                        <a:buNone/>
                      </a:pPr>
                      <a:r>
                        <a:rPr/>
                        <a:t>4.007</a:t>
                      </a:r>
                    </a:p>
                  </a:txBody>
                </a:tc>
              </a:tr>
              <a:tr h="0">
                <a:tc>
                  <a:txBody>
                    <a:bodyPr/>
                    <a:lstStyle/>
                    <a:p>
                      <a:endParaRPr/>
                    </a:p>
                  </a:txBody>
                </a:tc>
                <a:tc>
                  <a:txBody>
                    <a:bodyPr/>
                    <a:lstStyle/>
                    <a:p>
                      <a:endParaRPr/>
                    </a:p>
                  </a:txBody>
                </a:tc>
                <a:tc>
                  <a:txBody>
                    <a:bodyPr/>
                    <a:lstStyle/>
                    <a:p>
                      <a:pPr lvl="0" indent="0" marL="0" algn="ctr">
                        <a:buNone/>
                      </a:pPr>
                      <a:r>
                        <a:rPr/>
                        <a:t>(3.836)</a:t>
                      </a:r>
                    </a:p>
                  </a:txBody>
                </a:tc>
              </a:tr>
              <a:tr h="0">
                <a:tc>
                  <a:txBody>
                    <a:bodyPr/>
                    <a:lstStyle/>
                    <a:p>
                      <a:pPr lvl="0" indent="0" marL="0" algn="l">
                        <a:buNone/>
                      </a:pPr>
                      <a:r>
                        <a:rPr/>
                        <a:t>recycling_center_distance</a:t>
                      </a:r>
                    </a:p>
                  </a:txBody>
                </a:tc>
                <a:tc>
                  <a:txBody>
                    <a:bodyPr/>
                    <a:lstStyle/>
                    <a:p>
                      <a:endParaRPr/>
                    </a:p>
                  </a:txBody>
                </a:tc>
                <a:tc>
                  <a:txBody>
                    <a:bodyPr/>
                    <a:lstStyle/>
                    <a:p>
                      <a:pPr lvl="0" indent="0" marL="0" algn="ctr">
                        <a:buNone/>
                      </a:pPr>
                      <a:r>
                        <a:rPr/>
                        <a:t>−0.252</a:t>
                      </a:r>
                    </a:p>
                  </a:txBody>
                </a:tc>
              </a:tr>
              <a:tr h="0">
                <a:tc>
                  <a:txBody>
                    <a:bodyPr/>
                    <a:lstStyle/>
                    <a:p>
                      <a:endParaRPr/>
                    </a:p>
                  </a:txBody>
                </a:tc>
                <a:tc>
                  <a:txBody>
                    <a:bodyPr/>
                    <a:lstStyle/>
                    <a:p>
                      <a:endParaRPr/>
                    </a:p>
                  </a:txBody>
                </a:tc>
                <a:tc>
                  <a:txBody>
                    <a:bodyPr/>
                    <a:lstStyle/>
                    <a:p>
                      <a:pPr lvl="0" indent="0" marL="0" algn="ctr">
                        <a:buNone/>
                      </a:pPr>
                      <a:r>
                        <a:rPr/>
                        <a:t>(0.426)</a:t>
                      </a:r>
                    </a:p>
                  </a:txBody>
                </a:tc>
              </a:tr>
              <a:tr h="0">
                <a:tc>
                  <a:txBody>
                    <a:bodyPr/>
                    <a:lstStyle/>
                    <a:p>
                      <a:pPr lvl="0" indent="0" marL="0" algn="l">
                        <a:buNone/>
                      </a:pPr>
                      <a:r>
                        <a:rPr/>
                        <a:t>Num.Obs.</a:t>
                      </a:r>
                    </a:p>
                  </a:txBody>
                </a:tc>
                <a:tc>
                  <a:txBody>
                    <a:bodyPr/>
                    <a:lstStyle/>
                    <a:p>
                      <a:pPr lvl="0" indent="0" marL="0" algn="ctr">
                        <a:buNone/>
                      </a:pPr>
                      <a:r>
                        <a:rPr/>
                        <a:t>5629</a:t>
                      </a:r>
                    </a:p>
                  </a:txBody>
                </a:tc>
                <a:tc>
                  <a:txBody>
                    <a:bodyPr/>
                    <a:lstStyle/>
                    <a:p>
                      <a:pPr lvl="0" indent="0" marL="0" algn="ctr">
                        <a:buNone/>
                      </a:pPr>
                      <a:r>
                        <a:rPr/>
                        <a:t>5629</a:t>
                      </a:r>
                    </a:p>
                  </a:txBody>
                </a:tc>
              </a:tr>
              <a:tr h="0">
                <a:tc>
                  <a:txBody>
                    <a:bodyPr/>
                    <a:lstStyle/>
                    <a:p>
                      <a:pPr lvl="0" indent="0" marL="0" algn="l">
                        <a:buNone/>
                      </a:pPr>
                      <a:r>
                        <a:rPr/>
                        <a:t>R2</a:t>
                      </a:r>
                    </a:p>
                  </a:txBody>
                </a:tc>
                <a:tc>
                  <a:txBody>
                    <a:bodyPr/>
                    <a:lstStyle/>
                    <a:p>
                      <a:pPr lvl="0" indent="0" marL="0" algn="ctr">
                        <a:buNone/>
                      </a:pPr>
                      <a:r>
                        <a:rPr/>
                        <a:t>0.300</a:t>
                      </a:r>
                    </a:p>
                  </a:txBody>
                </a:tc>
                <a:tc>
                  <a:txBody>
                    <a:bodyPr/>
                    <a:lstStyle/>
                    <a:p>
                      <a:pPr lvl="0" indent="0" marL="0" algn="ctr">
                        <a:buNone/>
                      </a:pPr>
                      <a:r>
                        <a:rPr/>
                        <a:t>0.429</a:t>
                      </a:r>
                    </a:p>
                  </a:txBody>
                </a:tc>
              </a:tr>
              <a:tr h="0">
                <a:tc>
                  <a:txBody>
                    <a:bodyPr/>
                    <a:lstStyle/>
                    <a:p>
                      <a:pPr lvl="0" indent="0" marL="0" algn="l">
                        <a:buNone/>
                      </a:pPr>
                      <a:r>
                        <a:rPr/>
                        <a:t>R2 Adj.</a:t>
                      </a:r>
                    </a:p>
                  </a:txBody>
                </a:tc>
                <a:tc>
                  <a:txBody>
                    <a:bodyPr/>
                    <a:lstStyle/>
                    <a:p>
                      <a:pPr lvl="0" indent="0" marL="0" algn="ctr">
                        <a:buNone/>
                      </a:pPr>
                      <a:r>
                        <a:rPr/>
                        <a:t>0.300</a:t>
                      </a:r>
                    </a:p>
                  </a:txBody>
                </a:tc>
                <a:tc>
                  <a:txBody>
                    <a:bodyPr/>
                    <a:lstStyle/>
                    <a:p>
                      <a:pPr lvl="0" indent="0" marL="0" algn="ctr">
                        <a:buNone/>
                      </a:pPr>
                      <a:r>
                        <a:rPr/>
                        <a:t>0.428</a:t>
                      </a:r>
                    </a:p>
                  </a:txBody>
                </a:tc>
              </a:tr>
              <a:tr h="0">
                <a:tc>
                  <a:txBody>
                    <a:bodyPr/>
                    <a:lstStyle/>
                    <a:p>
                      <a:pPr lvl="0" indent="0" marL="0" algn="l">
                        <a:buNone/>
                      </a:pPr>
                      <a:r>
                        <a:rPr/>
                        <a:t> + p &lt; 0.1, * p &lt; 0.05, ** p &lt; 0.01, *** p &lt; 0.001</a:t>
                      </a:r>
                    </a:p>
                  </a:txBody>
                </a:tc>
                <a:tc>
                  <a:txBody>
                    <a:bodyPr/>
                    <a:lstStyle/>
                    <a:p>
                      <a:endParaRPr/>
                    </a:p>
                  </a:txBody>
                </a:tc>
                <a:tc>
                  <a:txBody>
                    <a:bodyPr/>
                    <a:lstStyle/>
                    <a:p>
                      <a:endParaRP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Covariates Don’t Change the Estimate Much</a:t>
            </a:r>
          </a:p>
        </p:txBody>
      </p:sp>
      <p:sp>
        <p:nvSpPr>
          <p:cNvPr id="3" name="Content Placeholder 2"/>
          <p:cNvSpPr>
            <a:spLocks noGrp="1"/>
          </p:cNvSpPr>
          <p:nvPr>
            <p:ph idx="1"/>
          </p:nvPr>
        </p:nvSpPr>
        <p:spPr/>
        <p:txBody>
          <a:bodyPr/>
          <a:lstStyle/>
          <a:p>
            <a:pPr lvl="0" indent="0" marL="0">
              <a:buNone/>
            </a:pPr>
            <a:r>
              <a:rPr/>
              <a:t>In randomized experiments:</a:t>
            </a:r>
          </a:p>
          <a:p>
            <a:pPr lvl="0" indent="-342900" marL="342900">
              <a:buAutoNum type="arabicPeriod"/>
            </a:pPr>
            <a:r>
              <a:rPr/>
              <a:t>Treatment assignment is independent of observed and unobserved characteristics</a:t>
            </a:r>
          </a:p>
          <a:p>
            <a:pPr lvl="0" indent="-342900" marL="342900">
              <a:buAutoNum type="arabicPeriod"/>
            </a:pPr>
            <a:r>
              <a:rPr/>
              <a:t>Control variables are uncorrelated with treatment status (in expectation)</a:t>
            </a:r>
          </a:p>
          <a:p>
            <a:pPr lvl="0" indent="-342900" marL="342900">
              <a:buAutoNum type="arabicPeriod"/>
            </a:pPr>
            <a:r>
              <a:rPr/>
              <a:t>Including controls may:</a:t>
            </a:r>
          </a:p>
          <a:p>
            <a:pPr lvl="1"/>
            <a:r>
              <a:rPr/>
              <a:t>Increase precision (reduce standard errors)</a:t>
            </a:r>
          </a:p>
          <a:p>
            <a:pPr lvl="1"/>
            <a:r>
              <a:rPr/>
              <a:t>Account for any chance imbalances</a:t>
            </a:r>
          </a:p>
          <a:p>
            <a:pPr lvl="1"/>
            <a:r>
              <a:rPr/>
              <a:t>But should not substantially change the point estimate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Visualizing the Results</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Step 1: Group the data by enrollment status (treatment vs. control) and round (before vs. after)</a:t>
            </a:r>
            <a:br/>
            <a:r>
              <a:rPr>
                <a:solidFill>
                  <a:srgbClr val="5E5E5E"/>
                </a:solidFill>
                <a:latin typeface="Courier"/>
              </a:rPr>
              <a:t># Step 2: Relabel variables to make the plot labels easier to understand ("0" becomes "Control" or "Before", "1" becomes "Treatment" or "After")</a:t>
            </a:r>
            <a:br/>
            <a:r>
              <a:rPr>
                <a:solidFill>
                  <a:srgbClr val="5E5E5E"/>
                </a:solidFill>
                <a:latin typeface="Courier"/>
              </a:rPr>
              <a:t># Step 3: Summarize the data by calculating the average waste management cost for each group and time period</a:t>
            </a:r>
            <a:br/>
            <a:r>
              <a:rPr>
                <a:solidFill>
                  <a:srgbClr val="5E5E5E"/>
                </a:solidFill>
                <a:latin typeface="Courier"/>
              </a:rPr>
              <a:t># Step 4: Plot the average costs over time, drawing separate lines for treatment and control groups</a:t>
            </a:r>
            <a:br/>
            <a:r>
              <a:rPr>
                <a:solidFill>
                  <a:srgbClr val="5E5E5E"/>
                </a:solidFill>
                <a:latin typeface="Courier"/>
              </a:rPr>
              <a:t>#Step 5: Customize the plot with titles, axis labels, colors, and a clean minimal theme</a:t>
            </a:r>
            <a:br/>
            <a:br/>
            <a:r>
              <a:rPr>
                <a:solidFill>
                  <a:srgbClr val="003B4F"/>
                </a:solidFill>
                <a:latin typeface="Courier"/>
              </a:rPr>
              <a:t>df </a:t>
            </a:r>
            <a:r>
              <a:rPr>
                <a:solidFill>
                  <a:srgbClr val="5E5E5E"/>
                </a:solidFill>
                <a:latin typeface="Courier"/>
              </a:rPr>
              <a:t>%&gt;%</a:t>
            </a:r>
            <a:r>
              <a:rPr>
                <a:solidFill>
                  <a:srgbClr val="003B4F"/>
                </a:solidFill>
                <a:latin typeface="Courier"/>
              </a:rPr>
              <a:t> </a:t>
            </a:r>
            <a:r>
              <a:rPr>
                <a:solidFill>
                  <a:srgbClr val="4758AB"/>
                </a:solidFill>
                <a:latin typeface="Courier"/>
              </a:rPr>
              <a:t>group_by</a:t>
            </a:r>
            <a:r>
              <a:rPr>
                <a:solidFill>
                  <a:srgbClr val="003B4F"/>
                </a:solidFill>
                <a:latin typeface="Courier"/>
              </a:rPr>
              <a:t>(enrolled, round)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enrolled =</a:t>
            </a:r>
            <a:r>
              <a:rPr>
                <a:solidFill>
                  <a:srgbClr val="003B4F"/>
                </a:solidFill>
                <a:latin typeface="Courier"/>
              </a:rPr>
              <a:t> </a:t>
            </a:r>
            <a:r>
              <a:rPr>
                <a:solidFill>
                  <a:srgbClr val="4758AB"/>
                </a:solidFill>
                <a:latin typeface="Courier"/>
              </a:rPr>
              <a:t>recode</a:t>
            </a:r>
            <a:r>
              <a:rPr>
                <a:solidFill>
                  <a:srgbClr val="003B4F"/>
                </a:solidFill>
                <a:latin typeface="Courier"/>
              </a:rPr>
              <a:t>(</a:t>
            </a:r>
            <a:r>
              <a:rPr>
                <a:solidFill>
                  <a:srgbClr val="4758AB"/>
                </a:solidFill>
                <a:latin typeface="Courier"/>
              </a:rPr>
              <a:t>as.factor</a:t>
            </a:r>
            <a:r>
              <a:rPr>
                <a:solidFill>
                  <a:srgbClr val="003B4F"/>
                </a:solidFill>
                <a:latin typeface="Courier"/>
              </a:rPr>
              <a:t>(enrolled), </a:t>
            </a:r>
            <a:r>
              <a:rPr>
                <a:solidFill>
                  <a:srgbClr val="20794D"/>
                </a:solidFill>
                <a:latin typeface="Courier"/>
              </a:rPr>
              <a:t>`</a:t>
            </a:r>
            <a:r>
              <a:rPr>
                <a:solidFill>
                  <a:srgbClr val="657422"/>
                </a:solidFill>
                <a:latin typeface="Courier"/>
              </a:rPr>
              <a:t>0</a:t>
            </a:r>
            <a:r>
              <a:rPr>
                <a:solidFill>
                  <a:srgbClr val="20794D"/>
                </a:solidFill>
                <a:latin typeface="Courier"/>
              </a:rPr>
              <a:t>`</a:t>
            </a:r>
            <a:r>
              <a:rPr>
                <a:solidFill>
                  <a:srgbClr val="003B4F"/>
                </a:solidFill>
                <a:latin typeface="Courier"/>
              </a:rPr>
              <a:t> = </a:t>
            </a:r>
            <a:r>
              <a:rPr>
                <a:solidFill>
                  <a:srgbClr val="20794D"/>
                </a:solidFill>
                <a:latin typeface="Courier"/>
              </a:rPr>
              <a:t>"Control"</a:t>
            </a:r>
            <a:r>
              <a:rPr>
                <a:solidFill>
                  <a:srgbClr val="003B4F"/>
                </a:solidFill>
                <a:latin typeface="Courier"/>
              </a:rPr>
              <a:t>, </a:t>
            </a:r>
            <a:r>
              <a:rPr>
                <a:solidFill>
                  <a:srgbClr val="20794D"/>
                </a:solidFill>
                <a:latin typeface="Courier"/>
              </a:rPr>
              <a:t>`</a:t>
            </a:r>
            <a:r>
              <a:rPr>
                <a:solidFill>
                  <a:srgbClr val="657422"/>
                </a:solidFill>
                <a:latin typeface="Courier"/>
              </a:rPr>
              <a:t>1</a:t>
            </a:r>
            <a:r>
              <a:rPr>
                <a:solidFill>
                  <a:srgbClr val="20794D"/>
                </a:solidFill>
                <a:latin typeface="Courier"/>
              </a:rPr>
              <a:t>`</a:t>
            </a:r>
            <a:r>
              <a:rPr>
                <a:solidFill>
                  <a:srgbClr val="003B4F"/>
                </a:solidFill>
                <a:latin typeface="Courier"/>
              </a:rPr>
              <a:t> = </a:t>
            </a:r>
            <a:r>
              <a:rPr>
                <a:solidFill>
                  <a:srgbClr val="20794D"/>
                </a:solidFill>
                <a:latin typeface="Courier"/>
              </a:rPr>
              <a:t>"Treatment"</a:t>
            </a:r>
            <a:r>
              <a:rPr>
                <a:solidFill>
                  <a:srgbClr val="003B4F"/>
                </a:solidFill>
                <a:latin typeface="Courier"/>
              </a:rPr>
              <a:t>),</a:t>
            </a:r>
            <a:br/>
            <a:r>
              <a:rPr>
                <a:solidFill>
                  <a:srgbClr val="003B4F"/>
                </a:solidFill>
                <a:latin typeface="Courier"/>
              </a:rPr>
              <a:t>             </a:t>
            </a:r>
            <a:r>
              <a:rPr>
                <a:solidFill>
                  <a:srgbClr val="657422"/>
                </a:solidFill>
                <a:latin typeface="Courier"/>
              </a:rPr>
              <a:t>round =</a:t>
            </a:r>
            <a:r>
              <a:rPr>
                <a:solidFill>
                  <a:srgbClr val="003B4F"/>
                </a:solidFill>
                <a:latin typeface="Courier"/>
              </a:rPr>
              <a:t> </a:t>
            </a:r>
            <a:r>
              <a:rPr>
                <a:solidFill>
                  <a:srgbClr val="4758AB"/>
                </a:solidFill>
                <a:latin typeface="Courier"/>
              </a:rPr>
              <a:t>recode</a:t>
            </a:r>
            <a:r>
              <a:rPr>
                <a:solidFill>
                  <a:srgbClr val="003B4F"/>
                </a:solidFill>
                <a:latin typeface="Courier"/>
              </a:rPr>
              <a:t>(</a:t>
            </a:r>
            <a:r>
              <a:rPr>
                <a:solidFill>
                  <a:srgbClr val="4758AB"/>
                </a:solidFill>
                <a:latin typeface="Courier"/>
              </a:rPr>
              <a:t>as.factor</a:t>
            </a:r>
            <a:r>
              <a:rPr>
                <a:solidFill>
                  <a:srgbClr val="003B4F"/>
                </a:solidFill>
                <a:latin typeface="Courier"/>
              </a:rPr>
              <a:t>(round), </a:t>
            </a:r>
            <a:r>
              <a:rPr>
                <a:solidFill>
                  <a:srgbClr val="20794D"/>
                </a:solidFill>
                <a:latin typeface="Courier"/>
              </a:rPr>
              <a:t>`</a:t>
            </a:r>
            <a:r>
              <a:rPr>
                <a:solidFill>
                  <a:srgbClr val="657422"/>
                </a:solidFill>
                <a:latin typeface="Courier"/>
              </a:rPr>
              <a:t>0</a:t>
            </a:r>
            <a:r>
              <a:rPr>
                <a:solidFill>
                  <a:srgbClr val="20794D"/>
                </a:solidFill>
                <a:latin typeface="Courier"/>
              </a:rPr>
              <a:t>`</a:t>
            </a:r>
            <a:r>
              <a:rPr>
                <a:solidFill>
                  <a:srgbClr val="003B4F"/>
                </a:solidFill>
                <a:latin typeface="Courier"/>
              </a:rPr>
              <a:t> = </a:t>
            </a:r>
            <a:r>
              <a:rPr>
                <a:solidFill>
                  <a:srgbClr val="20794D"/>
                </a:solidFill>
                <a:latin typeface="Courier"/>
              </a:rPr>
              <a:t>"Before"</a:t>
            </a:r>
            <a:r>
              <a:rPr>
                <a:solidFill>
                  <a:srgbClr val="003B4F"/>
                </a:solidFill>
                <a:latin typeface="Courier"/>
              </a:rPr>
              <a:t>, </a:t>
            </a:r>
            <a:r>
              <a:rPr>
                <a:solidFill>
                  <a:srgbClr val="20794D"/>
                </a:solidFill>
                <a:latin typeface="Courier"/>
              </a:rPr>
              <a:t>`</a:t>
            </a:r>
            <a:r>
              <a:rPr>
                <a:solidFill>
                  <a:srgbClr val="657422"/>
                </a:solidFill>
                <a:latin typeface="Courier"/>
              </a:rPr>
              <a:t>1</a:t>
            </a:r>
            <a:r>
              <a:rPr>
                <a:solidFill>
                  <a:srgbClr val="20794D"/>
                </a:solidFill>
                <a:latin typeface="Courier"/>
              </a:rPr>
              <a:t>`</a:t>
            </a:r>
            <a:r>
              <a:rPr>
                <a:solidFill>
                  <a:srgbClr val="003B4F"/>
                </a:solidFill>
                <a:latin typeface="Courier"/>
              </a:rPr>
              <a:t> = </a:t>
            </a:r>
            <a:r>
              <a:rPr>
                <a:solidFill>
                  <a:srgbClr val="20794D"/>
                </a:solidFill>
                <a:latin typeface="Courier"/>
              </a:rPr>
              <a:t>"After"</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waste_management_costs =</a:t>
            </a:r>
            <a:r>
              <a:rPr>
                <a:solidFill>
                  <a:srgbClr val="003B4F"/>
                </a:solidFill>
                <a:latin typeface="Courier"/>
              </a:rPr>
              <a:t> </a:t>
            </a:r>
            <a:r>
              <a:rPr>
                <a:solidFill>
                  <a:srgbClr val="4758AB"/>
                </a:solidFill>
                <a:latin typeface="Courier"/>
              </a:rPr>
              <a:t>mean</a:t>
            </a:r>
            <a:r>
              <a:rPr>
                <a:solidFill>
                  <a:srgbClr val="003B4F"/>
                </a:solidFill>
                <a:latin typeface="Courier"/>
              </a:rPr>
              <a:t>(waste_management_costs))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round, </a:t>
            </a:r>
            <a:r>
              <a:rPr>
                <a:solidFill>
                  <a:srgbClr val="657422"/>
                </a:solidFill>
                <a:latin typeface="Courier"/>
              </a:rPr>
              <a:t>y =</a:t>
            </a:r>
            <a:r>
              <a:rPr>
                <a:solidFill>
                  <a:srgbClr val="003B4F"/>
                </a:solidFill>
                <a:latin typeface="Courier"/>
              </a:rPr>
              <a:t> waste_management_costs, </a:t>
            </a:r>
            <a:r>
              <a:rPr>
                <a:solidFill>
                  <a:srgbClr val="657422"/>
                </a:solidFill>
                <a:latin typeface="Courier"/>
              </a:rPr>
              <a:t>group =</a:t>
            </a:r>
            <a:r>
              <a:rPr>
                <a:solidFill>
                  <a:srgbClr val="003B4F"/>
                </a:solidFill>
                <a:latin typeface="Courier"/>
              </a:rPr>
              <a:t> enrolled, </a:t>
            </a:r>
            <a:r>
              <a:rPr>
                <a:solidFill>
                  <a:srgbClr val="657422"/>
                </a:solidFill>
                <a:latin typeface="Courier"/>
              </a:rPr>
              <a:t>color =</a:t>
            </a:r>
            <a:r>
              <a:rPr>
                <a:solidFill>
                  <a:srgbClr val="003B4F"/>
                </a:solidFill>
                <a:latin typeface="Courier"/>
              </a:rPr>
              <a:t> enrolled))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"Program Impact on Waste Expenditures"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"Round"</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"Waste Expenditures (USD)"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"bottom"</a:t>
            </a:r>
            <a:r>
              <a:rPr>
                <a:solidFill>
                  <a:srgbClr val="003B4F"/>
                </a:solidFill>
                <a:latin typeface="Courier"/>
              </a:rPr>
              <a:t>)</a:t>
            </a:r>
          </a:p>
        </p:txBody>
      </p:sp>
      <p:pic>
        <p:nvPicPr>
          <p:cNvPr descr="session_6_files/figure-pptx/unnamed-chunk-12-1.png" id="0" name="Picture 1"/>
          <p:cNvPicPr>
            <a:picLocks noGrp="1" noChangeAspect="1"/>
          </p:cNvPicPr>
          <p:nvPr/>
        </p:nvPicPr>
        <p:blipFill>
          <a:blip r:embed="rId2"/>
          <a:stretch>
            <a:fillRect/>
          </a:stretch>
        </p:blipFill>
        <p:spPr bwMode="auto">
          <a:xfrm>
            <a:off x="4648200" y="1600200"/>
            <a:ext cx="4038600" cy="2565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Strength of the Results</a:t>
            </a:r>
          </a:p>
        </p:txBody>
      </p:sp>
      <p:sp>
        <p:nvSpPr>
          <p:cNvPr id="3" name="Content Placeholder 2"/>
          <p:cNvSpPr>
            <a:spLocks noGrp="1"/>
          </p:cNvSpPr>
          <p:nvPr>
            <p:ph idx="1"/>
          </p:nvPr>
        </p:nvSpPr>
        <p:spPr/>
        <p:txBody>
          <a:bodyPr/>
          <a:lstStyle/>
          <a:p>
            <a:pPr lvl="0"/>
            <a:r>
              <a:rPr b="1"/>
              <a:t>Internal validity</a:t>
            </a:r>
            <a:r>
              <a:rPr/>
              <a:t>: Strong - randomization ensures that the impact is attributable to the program</a:t>
            </a:r>
          </a:p>
          <a:p>
            <a:pPr lvl="0"/>
            <a:r>
              <a:rPr b="1"/>
              <a:t>External validity</a:t>
            </a:r>
            <a:r>
              <a:rPr/>
              <a:t>: Limited to similar contexts</a:t>
            </a:r>
          </a:p>
          <a:p>
            <a:pPr lvl="0"/>
            <a:r>
              <a:rPr b="1"/>
              <a:t>Precision</a:t>
            </a:r>
            <a:r>
              <a:rPr/>
              <a:t>: High - narrow confidence intervals</a:t>
            </a:r>
          </a:p>
          <a:p>
            <a:pPr lvl="0"/>
            <a:r>
              <a:rPr b="1"/>
              <a:t>Policy relevance</a:t>
            </a:r>
            <a:r>
              <a:rPr/>
              <a:t>: Impact exceeds the 1,000 AED threshold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Analysis to Policy Decision</a:t>
            </a:r>
          </a:p>
        </p:txBody>
      </p:sp>
      <p:sp>
        <p:nvSpPr>
          <p:cNvPr id="3" name="Content Placeholder 2"/>
          <p:cNvSpPr>
            <a:spLocks noGrp="1"/>
          </p:cNvSpPr>
          <p:nvPr>
            <p:ph idx="1"/>
          </p:nvPr>
        </p:nvSpPr>
        <p:spPr/>
        <p:txBody>
          <a:bodyPr/>
          <a:lstStyle/>
          <a:p>
            <a:pPr lvl="0" indent="0" marL="0">
              <a:buNone/>
            </a:pPr>
            <a:r>
              <a:rPr b="1"/>
              <a:t>Policy question</a:t>
            </a:r>
            <a:r>
              <a:rPr/>
              <a:t>: Should the Programe be scaled up nationally?</a:t>
            </a:r>
          </a:p>
          <a:p>
            <a:pPr lvl="0" indent="0" marL="0">
              <a:buNone/>
            </a:pPr>
            <a:r>
              <a:rPr b="1"/>
              <a:t>Decision criterion</a:t>
            </a:r>
            <a:r>
              <a:rPr/>
              <a:t>: Program must reduce waste expenditures by at least 1,000 AED.</a:t>
            </a:r>
          </a:p>
          <a:p>
            <a:pPr lvl="0" indent="0" marL="0">
              <a:buNone/>
            </a:pPr>
            <a:r>
              <a:rPr b="1"/>
              <a:t>Results from randomized evaluation</a:t>
            </a:r>
            <a:r>
              <a:rPr/>
              <a:t>:</a:t>
            </a:r>
          </a:p>
          <a:p>
            <a:pPr lvl="0"/>
            <a:r>
              <a:rPr/>
              <a:t>Impact: -1,014 (95% CI: [-1,093, -935])</a:t>
            </a:r>
          </a:p>
          <a:p>
            <a:pPr lvl="0"/>
            <a:r>
              <a:rPr/>
              <a:t>Exceeds threshold of 1,000 AED reduction</a:t>
            </a:r>
          </a:p>
          <a:p>
            <a:pPr lvl="0" indent="0" marL="0">
              <a:buNone/>
            </a:pPr>
            <a:r>
              <a:rPr b="1"/>
              <a:t>Recommendation</a:t>
            </a:r>
            <a:r>
              <a:rPr/>
              <a:t>: The program should be scaled up nationally.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of Randomized Assignment</a:t>
            </a:r>
          </a:p>
        </p:txBody>
      </p:sp>
      <p:sp>
        <p:nvSpPr>
          <p:cNvPr id="3" name="Content Placeholder 2"/>
          <p:cNvSpPr>
            <a:spLocks noGrp="1"/>
          </p:cNvSpPr>
          <p:nvPr>
            <p:ph idx="1" sz="half"/>
          </p:nvPr>
        </p:nvSpPr>
        <p:spPr/>
        <p:txBody>
          <a:bodyPr/>
          <a:lstStyle/>
          <a:p>
            <a:pPr lvl="0" indent="-342900" marL="342900">
              <a:buAutoNum type="arabicPeriod"/>
            </a:pPr>
            <a:r>
              <a:rPr b="1"/>
              <a:t>Ethical concerns</a:t>
            </a:r>
          </a:p>
          <a:p>
            <a:pPr lvl="1"/>
            <a:r>
              <a:rPr/>
              <a:t>Denying benefits to control group</a:t>
            </a:r>
          </a:p>
          <a:p>
            <a:pPr lvl="1"/>
            <a:r>
              <a:rPr/>
              <a:t>Informed consent issues</a:t>
            </a:r>
          </a:p>
          <a:p>
            <a:pPr lvl="0" indent="-342900" marL="342900">
              <a:buAutoNum type="arabicPeriod"/>
            </a:pPr>
            <a:r>
              <a:rPr b="1"/>
              <a:t>Practical challenges</a:t>
            </a:r>
          </a:p>
          <a:p>
            <a:pPr lvl="1"/>
            <a:r>
              <a:rPr/>
              <a:t>Political constraints</a:t>
            </a:r>
          </a:p>
          <a:p>
            <a:pPr lvl="1"/>
            <a:r>
              <a:rPr/>
              <a:t>Implementation costs</a:t>
            </a:r>
          </a:p>
          <a:p>
            <a:pPr lvl="1"/>
            <a:r>
              <a:rPr/>
              <a:t>Scale vs. pilot differences</a:t>
            </a:r>
          </a:p>
        </p:txBody>
      </p:sp>
      <p:sp>
        <p:nvSpPr>
          <p:cNvPr id="4" name="Content Placeholder 3"/>
          <p:cNvSpPr>
            <a:spLocks noGrp="1"/>
          </p:cNvSpPr>
          <p:nvPr>
            <p:ph idx="2" sz="half"/>
          </p:nvPr>
        </p:nvSpPr>
        <p:spPr/>
        <p:txBody>
          <a:bodyPr/>
          <a:lstStyle/>
          <a:p>
            <a:pPr lvl="0" indent="-342900" marL="342900">
              <a:buAutoNum startAt="3" type="arabicPeriod"/>
            </a:pPr>
            <a:r>
              <a:rPr b="1"/>
              <a:t>Technical issues</a:t>
            </a:r>
          </a:p>
          <a:p>
            <a:pPr lvl="1"/>
            <a:r>
              <a:rPr/>
              <a:t>Spillover effects</a:t>
            </a:r>
          </a:p>
          <a:p>
            <a:pPr lvl="1"/>
            <a:r>
              <a:rPr/>
              <a:t>Hawthorne effects</a:t>
            </a:r>
          </a:p>
          <a:p>
            <a:pPr lvl="1"/>
            <a:r>
              <a:rPr/>
              <a:t>Attrition and non-compliance</a:t>
            </a:r>
          </a:p>
          <a:p>
            <a:pPr lvl="1"/>
            <a:r>
              <a:rPr/>
              <a:t>External validity</a:t>
            </a:r>
          </a:p>
          <a:p>
            <a:pPr lvl="0" indent="-342900" marL="342900">
              <a:buAutoNum startAt="3" type="arabicPeriod"/>
            </a:pPr>
            <a:r>
              <a:rPr b="1"/>
              <a:t>Timing</a:t>
            </a:r>
          </a:p>
          <a:p>
            <a:pPr lvl="1"/>
            <a:r>
              <a:rPr/>
              <a:t>Long-term outcomes</a:t>
            </a:r>
          </a:p>
          <a:p>
            <a:pPr lvl="1"/>
            <a:r>
              <a:rPr/>
              <a:t>Delay in results for urgent policies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Types of Randomization</a:t>
            </a:r>
          </a:p>
        </p:txBody>
      </p:sp>
      <p:sp>
        <p:nvSpPr>
          <p:cNvPr id="3" name="Content Placeholder 2"/>
          <p:cNvSpPr>
            <a:spLocks noGrp="1"/>
          </p:cNvSpPr>
          <p:nvPr>
            <p:ph idx="1"/>
          </p:nvPr>
        </p:nvSpPr>
        <p:spPr/>
        <p:txBody>
          <a:bodyPr/>
          <a:lstStyle/>
          <a:p>
            <a:pPr lvl="0" indent="0" marL="0">
              <a:buNone/>
            </a:pPr>
            <a:r>
              <a:rPr/>
              <a:t>Different types of randomization can help address some of the ethical and practical challenges.</a:t>
            </a:r>
          </a:p>
          <a:p>
            <a:pPr lvl="0" indent="-342900" marL="342900">
              <a:buAutoNum type="arabicPeriod"/>
            </a:pPr>
            <a:r>
              <a:rPr b="1"/>
              <a:t>Lottery</a:t>
            </a:r>
          </a:p>
          <a:p>
            <a:pPr lvl="1"/>
            <a:r>
              <a:rPr/>
              <a:t>Use random number generator to select eligible units to receive treatment.</a:t>
            </a:r>
          </a:p>
          <a:p>
            <a:pPr lvl="1"/>
            <a:r>
              <a:rPr/>
              <a:t>Useful when there are insufficient resources to meet demand and is logistically simple.</a:t>
            </a:r>
          </a:p>
          <a:p>
            <a:pPr lvl="1"/>
            <a:r>
              <a:rPr/>
              <a:t>Some eligible units do not receive treatment (control).</a:t>
            </a:r>
          </a:p>
          <a:p>
            <a:pPr lvl="0" indent="-342900" marL="342900">
              <a:buAutoNum type="arabicPeriod"/>
            </a:pPr>
            <a:r>
              <a:rPr b="1"/>
              <a:t>Multiple Treatments</a:t>
            </a:r>
          </a:p>
          <a:p>
            <a:pPr lvl="1"/>
            <a:r>
              <a:rPr/>
              <a:t>Randomly assign units to different treatment arms.</a:t>
            </a:r>
          </a:p>
          <a:p>
            <a:pPr lvl="1"/>
            <a:r>
              <a:rPr/>
              <a:t>Useful when we are interested in the comparative effectiveness of different intervention approaches or methods of service delivery.</a:t>
            </a:r>
          </a:p>
          <a:p>
            <a:pPr lvl="1"/>
            <a:r>
              <a:rPr/>
              <a:t>Complex to implement and requires even larger sample.</a:t>
            </a:r>
          </a:p>
          <a:p>
            <a:pPr lvl="0" indent="-342900" marL="342900">
              <a:buAutoNum type="arabicPeriod"/>
            </a:pPr>
            <a:r>
              <a:rPr b="1"/>
              <a:t>Phase-in</a:t>
            </a:r>
          </a:p>
          <a:p>
            <a:pPr lvl="1"/>
            <a:r>
              <a:rPr/>
              <a:t>Randomly assign units to receive treatment at different times.</a:t>
            </a:r>
          </a:p>
          <a:p>
            <a:pPr lvl="1"/>
            <a:r>
              <a:rPr/>
              <a:t>Useful when we want all eligible units to receive treatment eventually, and can help us understand impact of program over time.</a:t>
            </a:r>
          </a:p>
          <a:p>
            <a:pPr lvl="1"/>
            <a:r>
              <a:rPr/>
              <a:t>Susceptible to anticipation bias.</a:t>
            </a:r>
          </a:p>
          <a:p>
            <a:pPr lvl="0" indent="-342900" marL="342900">
              <a:buAutoNum type="arabicPeriod"/>
            </a:pPr>
            <a:r>
              <a:rPr b="1"/>
              <a:t>Encouragement</a:t>
            </a:r>
          </a:p>
          <a:p>
            <a:pPr lvl="1"/>
            <a:r>
              <a:rPr/>
              <a:t>Treatment is randomly encouraged rather than assigned.</a:t>
            </a:r>
          </a:p>
          <a:p>
            <a:pPr lvl="1"/>
            <a:r>
              <a:rPr/>
              <a:t>Useful when we want all units to have the option to receive treatment, and can help us understand if encouragement mechanisms improve outcomes.</a:t>
            </a:r>
          </a:p>
          <a:p>
            <a:pPr lvl="1"/>
            <a:r>
              <a:rPr/>
              <a:t>Requires larger sample and assesses impact only for those that respond to encouragement.</a:t>
            </a:r>
          </a:p>
          <a:p>
            <a:pPr lvl="1"/>
            <a:r>
              <a:rPr/>
              <a:t>Instrumental variables, covered in the next session, is an example of this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Randomization Isn’t Possible</a:t>
            </a:r>
          </a:p>
        </p:txBody>
      </p:sp>
      <p:sp>
        <p:nvSpPr>
          <p:cNvPr id="3" name="Content Placeholder 2"/>
          <p:cNvSpPr>
            <a:spLocks noGrp="1"/>
          </p:cNvSpPr>
          <p:nvPr>
            <p:ph idx="1"/>
          </p:nvPr>
        </p:nvSpPr>
        <p:spPr/>
        <p:txBody>
          <a:bodyPr/>
          <a:lstStyle/>
          <a:p>
            <a:pPr lvl="0" indent="0" marL="0">
              <a:buNone/>
            </a:pPr>
            <a:r>
              <a:rPr/>
              <a:t>When randomization is not feasible, we can use quasi-experimental methods:</a:t>
            </a:r>
          </a:p>
          <a:p>
            <a:pPr lvl="0" indent="-342900" marL="342900">
              <a:buAutoNum type="arabicPeriod"/>
            </a:pPr>
            <a:r>
              <a:rPr b="1"/>
              <a:t>Instrumental Variables</a:t>
            </a:r>
            <a:r>
              <a:rPr/>
              <a:t>: Using random encouragement</a:t>
            </a:r>
          </a:p>
          <a:p>
            <a:pPr lvl="0" indent="-342900" marL="342900">
              <a:buAutoNum type="arabicPeriod"/>
            </a:pPr>
            <a:r>
              <a:rPr b="1"/>
              <a:t>Regression Discontinuity</a:t>
            </a:r>
            <a:r>
              <a:rPr/>
              <a:t>: Exploiting eligibility thresholds</a:t>
            </a:r>
          </a:p>
          <a:p>
            <a:pPr lvl="0" indent="-342900" marL="342900">
              <a:buAutoNum type="arabicPeriod"/>
            </a:pPr>
            <a:r>
              <a:rPr b="1"/>
              <a:t>Difference-in-Differences</a:t>
            </a:r>
            <a:r>
              <a:rPr/>
              <a:t>: Comparing changes over time</a:t>
            </a:r>
          </a:p>
          <a:p>
            <a:pPr lvl="0" indent="-342900" marL="342900">
              <a:buAutoNum type="arabicPeriod"/>
            </a:pPr>
            <a:r>
              <a:rPr b="1"/>
              <a:t>Matching Methods</a:t>
            </a:r>
            <a:r>
              <a:rPr/>
              <a:t>: Creating comparable groups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Takeaways</a:t>
            </a:r>
          </a:p>
        </p:txBody>
      </p:sp>
      <p:sp>
        <p:nvSpPr>
          <p:cNvPr id="3" name="Content Placeholder 2"/>
          <p:cNvSpPr>
            <a:spLocks noGrp="1"/>
          </p:cNvSpPr>
          <p:nvPr>
            <p:ph idx="1"/>
          </p:nvPr>
        </p:nvSpPr>
        <p:spPr/>
        <p:txBody>
          <a:bodyPr/>
          <a:lstStyle/>
          <a:p>
            <a:pPr lvl="0" indent="-342900" marL="342900">
              <a:buAutoNum type="arabicPeriod"/>
            </a:pPr>
            <a:r>
              <a:rPr/>
              <a:t>Randomization creates comparable treatment and control groups</a:t>
            </a:r>
          </a:p>
          <a:p>
            <a:pPr lvl="0" indent="-342900" marL="342900">
              <a:buAutoNum type="arabicPeriod"/>
            </a:pPr>
            <a:r>
              <a:rPr/>
              <a:t>With randomization, differences in outcomes can be attributed to the program</a:t>
            </a:r>
          </a:p>
          <a:p>
            <a:pPr lvl="0" indent="-342900" marL="342900">
              <a:buAutoNum type="arabicPeriod"/>
            </a:pPr>
            <a:r>
              <a:rPr/>
              <a:t>Including covariates doesn’t substantially change estimates but can improve precision</a:t>
            </a:r>
          </a:p>
          <a:p>
            <a:pPr lvl="0" indent="-342900" marL="342900">
              <a:buAutoNum type="arabicPeriod"/>
            </a:pPr>
            <a:r>
              <a:rPr/>
              <a:t>The program reduces waste expenditures by 1,014 AED, exceeding the threshold</a:t>
            </a:r>
          </a:p>
          <a:p>
            <a:pPr lvl="0" indent="-342900" marL="342900">
              <a:buAutoNum type="arabicPeriod"/>
            </a:pPr>
            <a:r>
              <a:rPr/>
              <a:t>Based on the randomized evaluation, HISP should be scaled up nationally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Session</a:t>
            </a:r>
          </a:p>
        </p:txBody>
      </p:sp>
      <p:sp>
        <p:nvSpPr>
          <p:cNvPr id="3" name="Content Placeholder 2"/>
          <p:cNvSpPr>
            <a:spLocks noGrp="1"/>
          </p:cNvSpPr>
          <p:nvPr>
            <p:ph idx="1"/>
          </p:nvPr>
        </p:nvSpPr>
        <p:spPr/>
        <p:txBody>
          <a:bodyPr/>
          <a:lstStyle/>
          <a:p>
            <a:pPr lvl="0" indent="0" marL="0">
              <a:buNone/>
            </a:pPr>
            <a:r>
              <a:rPr b="1"/>
              <a:t>Instrumental Variables</a:t>
            </a:r>
            <a:r>
              <a:rPr/>
              <a:t>: Leveraging randomized promotion to evaluate programs with imperfect compliance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Randomized Assignment</dc:title>
  <dc:creator>Dr. Lucas Sempé</dc:creator>
  <cp:keywords/>
  <dcterms:created xsi:type="dcterms:W3CDTF">2026-09-18T15:12:10Z</dcterms:created>
  <dcterms:modified xsi:type="dcterms:W3CDTF">2026-09-18T15:12:10Z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ways_allow_html">
    <vt:lpwstr>yes</vt:lpwstr>
  </property>
  <property fmtid="{D5CDD505-2E9C-101B-9397-08002B2CF9AE}" pid="3" name="authors">
    <vt:lpwstr/>
  </property>
  <property fmtid="{D5CDD505-2E9C-101B-9397-08002B2CF9AE}" pid="4" name="biblio-config">
    <vt:lpwstr>True</vt:lpwstr>
  </property>
  <property fmtid="{D5CDD505-2E9C-101B-9397-08002B2CF9AE}" pid="5" name="by-author">
    <vt:lpwstr/>
  </property>
  <property fmtid="{D5CDD505-2E9C-101B-9397-08002B2CF9AE}" pid="6" name="editor_option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Econometrics with R</vt:lpwstr>
  </property>
  <property fmtid="{D5CDD505-2E9C-101B-9397-08002B2CF9AE}" pid="12" name="toc-title">
    <vt:lpwstr>Table of contents</vt:lpwstr>
  </property>
</Properties>
</file>