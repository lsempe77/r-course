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kosukeimai.github.io/MatchIt/" TargetMode="Externa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Matching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Econometrics with R</a:t>
            </a:r>
            <a:br/>
            <a:br/>
            <a:r>
              <a:rPr/>
              <a:t>Dr. Lucas Sempé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Matching Methods: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Core idea</a:t>
            </a:r>
            <a:r>
              <a:rPr/>
              <a:t>: Create comparable treatment and control groups based on observable characteristics</a:t>
            </a:r>
          </a:p>
          <a:p>
            <a:pPr lvl="0"/>
            <a:r>
              <a:rPr b="1"/>
              <a:t>Setting</a:t>
            </a:r>
            <a:r>
              <a:rPr/>
              <a:t>: When treatment assignment is related to observable factors</a:t>
            </a:r>
          </a:p>
          <a:p>
            <a:pPr lvl="0"/>
            <a:r>
              <a:rPr b="1"/>
              <a:t>Advantage</a:t>
            </a:r>
            <a:r>
              <a:rPr/>
              <a:t>: Reduces selection bias from observable differences</a:t>
            </a:r>
          </a:p>
          <a:p>
            <a:pPr lvl="0"/>
            <a:r>
              <a:rPr b="1"/>
              <a:t>Assumption</a:t>
            </a:r>
            <a:r>
              <a:rPr/>
              <a:t>: No unobserved differences affecting both treatment and outcomes</a:t>
            </a:r>
          </a:p>
          <a:p>
            <a:pPr lvl="0"/>
            <a:r>
              <a:rPr b="1"/>
              <a:t>Types</a:t>
            </a:r>
            <a:r>
              <a:rPr/>
              <a:t>: Exact matching, propensity score matching, nearest neighbor, etc.</a:t>
            </a:r>
          </a:p>
        </p:txBody>
      </p:sp>
      <p:pic>
        <p:nvPicPr>
          <p:cNvPr descr="session_10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2159000"/>
            <a:ext cx="40386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Matching?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Problem</a:t>
            </a:r>
            <a:r>
              <a:rPr/>
              <a:t>: Selection bias</a:t>
            </a:r>
          </a:p>
          <a:p>
            <a:pPr lvl="0"/>
            <a:r>
              <a:rPr/>
              <a:t>Treatment group systematically differs from control group</a:t>
            </a:r>
          </a:p>
          <a:p>
            <a:pPr lvl="0"/>
            <a:r>
              <a:rPr/>
              <a:t>Direct comparison leads to biased impact estimates</a:t>
            </a:r>
          </a:p>
          <a:p>
            <a:pPr lvl="0" indent="0" marL="0">
              <a:buNone/>
            </a:pPr>
            <a:r>
              <a:rPr b="1"/>
              <a:t>Solution</a:t>
            </a:r>
            <a:r>
              <a:rPr/>
              <a:t>: Matching</a:t>
            </a:r>
          </a:p>
          <a:p>
            <a:pPr lvl="0"/>
            <a:r>
              <a:rPr/>
              <a:t>Select control units similar to treated units</a:t>
            </a:r>
          </a:p>
          <a:p>
            <a:pPr lvl="0"/>
            <a:r>
              <a:rPr/>
              <a:t>Create balance on observable characteristics</a:t>
            </a:r>
          </a:p>
          <a:p>
            <a:pPr lvl="0"/>
            <a:r>
              <a:rPr/>
              <a:t>Approximates an experimental setting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Preparing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Converting from long to wide format: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wide-format dataset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df_w &lt;- 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Then create wide format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id_cols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(zone_identifier, facility_identifier, treatment_zone,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promotion_zone, eligible, enrolled, enrolled_rp),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round, </a:t>
            </a:r>
            <a:r>
              <a:rPr>
                <a:solidFill>
                  <a:srgbClr val="5E5E5E"/>
                </a:solidFill>
                <a:latin typeface="Courier"/>
              </a:rPr>
              <a:t># variable that determines new columns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variables that should be made "wide"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efficiency_index, age_manager, age_deputy,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educ_manager, educ_deputy, female_manager,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foreign_owned, staff_size, advanced_filtration,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water_treatment_system, facility_area,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recycling_center_distance, recycling_compliance))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remove the industries that has missing values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as missing values are not allowed when using matchit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(waste_management_costs_0)) 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Also check the first few rows to confirm format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(df_w, facility_identifier, enrolled,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waste_management_costs_0, waste_management_costs_1))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facility_identifier enrolled waste_management_costs_0 waste_management_costs_1
                &lt;int&gt;    &lt;int&gt;                    &lt;dbl&gt;                    &lt;dbl&gt;
1                   5        1                    1519.                   1958. 
2                  11        1                    1308.                    240. 
3                  13        1                    1529.                      0  
4                  16        1                    1131.                   2003. 
5                  21        1                    1122.                   1666. 
6                  22        1                     888.                     11.6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Propensity Score Matching (PSM)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Propensity Score Matching (PSM) is when we predict the probability of each unit receiving treatment and then compare those with similar propensity scores. There are two scenarios for predicting enrollment:</a:t>
            </a:r>
          </a:p>
          <a:p>
            <a:pPr lvl="0" indent="-342900" marL="342900">
              <a:buAutoNum type="arabicPeriod"/>
            </a:pPr>
            <a:r>
              <a:rPr b="1"/>
              <a:t>Limited set of variables</a:t>
            </a:r>
            <a:r>
              <a:rPr/>
              <a:t>:</a:t>
            </a:r>
          </a:p>
          <a:p>
            <a:pPr lvl="1"/>
            <a:r>
              <a:rPr/>
              <a:t>Only age and education of facility manager</a:t>
            </a:r>
          </a:p>
          <a:p>
            <a:pPr lvl="0" indent="-342900" marL="342900">
              <a:buAutoNum type="arabicPeriod"/>
            </a:pPr>
            <a:r>
              <a:rPr b="1"/>
              <a:t>Full set of variables</a:t>
            </a:r>
            <a:r>
              <a:rPr/>
              <a:t>:</a:t>
            </a:r>
          </a:p>
          <a:p>
            <a:pPr lvl="1"/>
            <a:r>
              <a:rPr/>
              <a:t>All available baseline characteristics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Estimating Propensity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Limited set of variables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psm_r &lt;- </a:t>
            </a:r>
            <a:r>
              <a:rPr>
                <a:solidFill>
                  <a:srgbClr val="4758AB"/>
                </a:solidFill>
                <a:latin typeface="Courier"/>
              </a:rPr>
              <a:t>matchit</a:t>
            </a:r>
            <a:r>
              <a:rPr>
                <a:solidFill>
                  <a:srgbClr val="003B4F"/>
                </a:solidFill>
                <a:latin typeface="Courier"/>
              </a:rPr>
              <a:t>(enrolled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age_manager_0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educ_manager_0,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df_w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recycling_compliance_0,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recycling_compliance_1),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distance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"glm"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link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"probit"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Full set of variables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psm_ur &lt;- </a:t>
            </a:r>
            <a:r>
              <a:rPr>
                <a:solidFill>
                  <a:srgbClr val="4758AB"/>
                </a:solidFill>
                <a:latin typeface="Courier"/>
              </a:rPr>
              <a:t>matchit</a:t>
            </a:r>
            <a:r>
              <a:rPr>
                <a:solidFill>
                  <a:srgbClr val="003B4F"/>
                </a:solidFill>
                <a:latin typeface="Courier"/>
              </a:rPr>
              <a:t>(enrolled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age_manager_0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educ_manager_0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age_deputy_0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educ_deputy_0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female_manager_0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foreign_owned_0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staff_size_0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advanced_filtration_0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water_treatment_system_0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facility_area_0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recycling_center_distance_0,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df_w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recycling_compliance_0,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recycling_compliance_1),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657422"/>
                </a:solidFill>
                <a:latin typeface="Courier"/>
              </a:rPr>
              <a:t>distance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"glm"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657422"/>
                </a:solidFill>
                <a:latin typeface="Courier"/>
              </a:rPr>
              <a:t>link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"probit"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Propensity Score Models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model summary table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modelsummary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"Limited Set"</a:t>
            </a:r>
            <a:r>
              <a:rPr>
                <a:solidFill>
                  <a:srgbClr val="003B4F"/>
                </a:solidFill>
                <a:latin typeface="Courier"/>
              </a:rPr>
              <a:t> = psm_r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model,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20794D"/>
                </a:solidFill>
                <a:latin typeface="Courier"/>
              </a:rPr>
              <a:t>"Full Set"</a:t>
            </a:r>
            <a:r>
              <a:rPr>
                <a:solidFill>
                  <a:srgbClr val="003B4F"/>
                </a:solidFill>
                <a:latin typeface="Courier"/>
              </a:rPr>
              <a:t> = psm_ur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model),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coef_map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'age_manager_0'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"Age (Manager) at Baseline"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'educ_manager_0'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"Education (Manager) at Baseline"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'age_deputy_0'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"Age (Deputy) at Baseline"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'educ_deputy_0'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"Education (Deputy) at Baseline"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'female_manager_0'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"Female Manager at Baseline"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'foreign_owned_0'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"Foreign Owned at Baseline"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'staff_size_0'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"Number of Staff at Baseline"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'advanced_filtration_0'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"Advanced Filtration at Baseline"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'water_treatment_system_0'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"Water Treatment System at Baseline"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'facility_area_0'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"Facility Area at Baseline"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'recycling_center_distance_0'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"Distance From Recycling Center"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"Estimating the Propensity Score Based on Baseline Characteristics"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38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00"/>
                <a:gridCol w="1130300"/>
                <a:gridCol w="9779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Limited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Set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 (Manager) at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(0.001)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(0.002)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Education (Manager) at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(0.006)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(0.006)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 (Deputy) at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(0.002)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Education (Deputy) at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(0.007)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Female Manager at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(0.052)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Foreign Owned at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(0.031)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 of Staff at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(0.007)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Advanced Filtration at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(0.031)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Water Treatment System at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(0.029)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Facility Area at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-0.028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(0.005)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Distance From Recycling Center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(0.000)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Num.Obs.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11658.4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11037.0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11680.0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11123.5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Log.Lik.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-5826.175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-5506.520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211.091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87.937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RMSE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0.43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Estimating the Propensity Score Based on Baseline Characteristics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Interpreting the Propensity Score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Which characteristics predict program enrollment?</a:t>
            </a:r>
          </a:p>
          <a:p>
            <a:pPr lvl="0"/>
            <a:r>
              <a:rPr/>
              <a:t>Are facilities with certain characteristics more likely to enroll?</a:t>
            </a:r>
          </a:p>
          <a:p>
            <a:pPr lvl="0"/>
            <a:r>
              <a:rPr/>
              <a:t>Does this align with program objectives?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Common Support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plot the distribution of propensity scores by enrollment status: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propensity scores to our dataset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df_w &lt;- df_w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ps_ur =</a:t>
            </a:r>
            <a:r>
              <a:rPr>
                <a:solidFill>
                  <a:srgbClr val="003B4F"/>
                </a:solidFill>
                <a:latin typeface="Courier"/>
              </a:rPr>
              <a:t> psm_ur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fitted.values)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Plot the distribution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df_w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enrolled_lab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(enrolled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"Enrolled"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"Not Enrolled"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ps_ur,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enrolled_lab,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enrolled_lab,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enrolled_lab))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geom_density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xlab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"Propensity Score"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"Distribution of Propensity Score by Enrollment Status"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scale_fill_viridis_d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"Status:"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scale_colour_viridis_d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"Status:"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"bottom"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session_10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Common Support?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Common support</a:t>
            </a:r>
            <a:r>
              <a:rPr/>
              <a:t> = overlap in propensity scores between groups</a:t>
            </a:r>
          </a:p>
          <a:p>
            <a:pPr lvl="0"/>
            <a:r>
              <a:rPr/>
              <a:t>Essential for valid comparisons</a:t>
            </a:r>
          </a:p>
          <a:p>
            <a:pPr lvl="0"/>
            <a:r>
              <a:rPr/>
              <a:t>Without common support, we can’t find comparable units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Balance Before Matching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kableExtra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kable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(psm_ur)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sum.all,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caption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"Balance Before Matching"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kable_styling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font_size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38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Means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Std. Mean Diff.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Var.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eCDF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eCDF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Std. Pair Dist.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distance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0.3694119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0.2683525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0.7780852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0.8189848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0.2003240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0.3118783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age_manager_0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41.6565796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48.1384372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-0.4731180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0.7797904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0.0881294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0.2074113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educ_manager_0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2.9711803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2.7744736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0.0742925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0.8959873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0.0218441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0.0622731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age_deputy_0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36.8363698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41.6117427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-0.4098452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0.8042407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0.0647834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0.2100395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educ_deputy_0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2.7032726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2.5810189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0.0494165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0.9256881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0.0141252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0.0689847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female_manager_0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0.0732119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0.1100878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-0.1415669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0.0368759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0.0368759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foreign_owned_0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0.4291498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0.3203339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0.2198503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0.1088159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0.1088159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staff_size_0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5.7699055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4.9263203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0.4225943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0.8029708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0.0651539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0.1833283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advanced_filtration_0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0.7216599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0.5533170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0.3756130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0.1683429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0.1683429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water_treatment_system_0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0.5735493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0.6340481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-0.1223283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0.0604988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0.0604988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facility_area_0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1.6771255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2.2511153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-0.2172044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0.6390513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0.0240692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0.0881821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recycling_center_distance_0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109.2043122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103.6626222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0.1323667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0.9916816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0.0395806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0.0829805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Balance Before Matching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Balance After Matching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kableExtra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kable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(psm_ur)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sum.matched,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caption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"Balance After Matching"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kable_styling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font_size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38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Means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Std. Mean Diff.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Var.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eCDF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eCDF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Std. Pair Dist.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distance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0.3694119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0.3687162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0.0053561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1.0138523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0.0007394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0.0084345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0.0055861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age_manager_0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41.6565796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41.7867746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-0.0095031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1.0867281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0.0114843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0.0381242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0.9086975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educ_manager_0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2.9711803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2.9549320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0.0061367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0.9271782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0.0094467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0.0239541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1.0892771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age_deputy_0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36.8363698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36.9915655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-0.0133196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1.1143952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0.0104041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0.0371120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0.9332429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educ_deputy_0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2.7032726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2.7128880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-0.0038867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0.8918377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0.0072981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0.0215924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1.0663763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female_manager_0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0.0732119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0.0732119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0.0000000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0.0000000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0.0000000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0.1288799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foreign_owned_0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0.4291498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0.4234143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0.0115879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0.0057355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0.0057355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0.9031755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staff_size_0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5.7699055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5.7884615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-0.0092956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0.8691665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0.0105626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0.0229420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0.9946331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advanced_filtration_0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0.7216599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0.7253711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-0.0082806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0.0037112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0.0037112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0.6857819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water_treatment_system_0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0.5735493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0.5732119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0.0006822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0.0003374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0.0003374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0.9816638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facility_area_0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1.6771255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1.7010796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-0.0090645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1.0159498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0.0045968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0.0276653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0.8103167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recycling_center_distance_0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109.2043122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108.5100383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0.0165832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0.9993878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0.0104486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0.0485830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1.0886493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Balance After Matching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Understanding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Mean Diff</a:t>
            </a:r>
            <a:r>
              <a:rPr/>
              <a:t> should be closer to zero after matching</a:t>
            </a:r>
          </a:p>
          <a:p>
            <a:pPr lvl="0"/>
            <a:r>
              <a:rPr/>
              <a:t>Standardized mean differences (not shown) should be &lt; 0.25</a:t>
            </a:r>
          </a:p>
          <a:p>
            <a:pPr lvl="0"/>
            <a:r>
              <a:rPr/>
              <a:t>Good balance ensures we’re comparing similar facilities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Estimating Program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First, extract the matched dataset: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matched datasets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match_df_r &lt;- </a:t>
            </a:r>
            <a:r>
              <a:rPr>
                <a:solidFill>
                  <a:srgbClr val="4758AB"/>
                </a:solidFill>
                <a:latin typeface="Courier"/>
              </a:rPr>
              <a:t>match.data</a:t>
            </a:r>
            <a:r>
              <a:rPr>
                <a:solidFill>
                  <a:srgbClr val="003B4F"/>
                </a:solidFill>
                <a:latin typeface="Courier"/>
              </a:rPr>
              <a:t>(psm_r)   </a:t>
            </a:r>
            <a:r>
              <a:rPr>
                <a:solidFill>
                  <a:srgbClr val="5E5E5E"/>
                </a:solidFill>
                <a:latin typeface="Courier"/>
              </a:rPr>
              <a:t># Limited set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match_df_ur &lt;- </a:t>
            </a:r>
            <a:r>
              <a:rPr>
                <a:solidFill>
                  <a:srgbClr val="4758AB"/>
                </a:solidFill>
                <a:latin typeface="Courier"/>
              </a:rPr>
              <a:t>match.data</a:t>
            </a:r>
            <a:r>
              <a:rPr>
                <a:solidFill>
                  <a:srgbClr val="003B4F"/>
                </a:solidFill>
                <a:latin typeface="Courier"/>
              </a:rPr>
              <a:t>(psm_ur) </a:t>
            </a:r>
            <a:r>
              <a:rPr>
                <a:solidFill>
                  <a:srgbClr val="5E5E5E"/>
                </a:solidFill>
                <a:latin typeface="Courier"/>
              </a:rPr>
              <a:t># Full set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Regression with Matched Data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Regression with matched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out_lm_r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(waste_management_costs_1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enrolled,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match_df_r,  </a:t>
            </a:r>
            <a:r>
              <a:rPr>
                <a:solidFill>
                  <a:srgbClr val="657422"/>
                </a:solidFill>
                <a:latin typeface="Courier"/>
              </a:rPr>
              <a:t>weights =</a:t>
            </a:r>
            <a:r>
              <a:rPr>
                <a:solidFill>
                  <a:srgbClr val="003B4F"/>
                </a:solidFill>
                <a:latin typeface="Courier"/>
              </a:rPr>
              <a:t> weights,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clusters =</a:t>
            </a:r>
            <a:r>
              <a:rPr>
                <a:solidFill>
                  <a:srgbClr val="003B4F"/>
                </a:solidFill>
                <a:latin typeface="Courier"/>
              </a:rPr>
              <a:t> zone_identifier)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out_lm_ur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(waste_management_costs_1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enrolled,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match_df_ur, </a:t>
            </a:r>
            <a:r>
              <a:rPr>
                <a:solidFill>
                  <a:srgbClr val="657422"/>
                </a:solidFill>
                <a:latin typeface="Courier"/>
              </a:rPr>
              <a:t>weights =</a:t>
            </a:r>
            <a:r>
              <a:rPr>
                <a:solidFill>
                  <a:srgbClr val="003B4F"/>
                </a:solidFill>
                <a:latin typeface="Courier"/>
              </a:rPr>
              <a:t> weights,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clusters =</a:t>
            </a:r>
            <a:r>
              <a:rPr>
                <a:solidFill>
                  <a:srgbClr val="003B4F"/>
                </a:solidFill>
                <a:latin typeface="Courier"/>
              </a:rPr>
              <a:t> zone_identifier)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Show results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modelsummary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"Limited Set"</a:t>
            </a:r>
            <a:r>
              <a:rPr>
                <a:solidFill>
                  <a:srgbClr val="003B4F"/>
                </a:solidFill>
                <a:latin typeface="Courier"/>
              </a:rPr>
              <a:t> = out_lm_r,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20794D"/>
                </a:solidFill>
                <a:latin typeface="Courier"/>
              </a:rPr>
              <a:t>"Full Set"</a:t>
            </a:r>
            <a:r>
              <a:rPr>
                <a:solidFill>
                  <a:srgbClr val="003B4F"/>
                </a:solidFill>
                <a:latin typeface="Courier"/>
              </a:rPr>
              <a:t> = out_lm_ur),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"Impact on Waste Management Costs: Matching Approach"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38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900"/>
                <a:gridCol w="1930400"/>
                <a:gridCol w="1930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Limited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Set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(Intercept)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1900.249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1784.038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(30.125)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(28.583)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enrolled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-1116.272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-1000.061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(38.359)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(36.900)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Num.Obs.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5928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0.280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R2 Adj.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0.280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96836.9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96118.5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96857.0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96138.5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RMSE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852.62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802.49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Std.Errors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by: zone_identifier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by: zone_identifier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Impact on Waste Management Costs: Matching Approach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# Simplified version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library(tinytable)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modelsummary(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list("Limited Covs PSM" = out_lm_r, "All Covs PSM"= out_lm_ur),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stars = TRUE,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gof_map = c("nobs"),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title = "Matching Regression Results",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coef_map = c(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  "enrolled" = "Matching Effect",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  "(Intercept)" = "(Intercept)"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),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coef_omit = NULL,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notes = "Standard errors are in parenthesis",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output = "tinytable"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) |&gt;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style_tt(bootstrap_class = "table caption-top")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## Output for case study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library(flextable)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library(officer)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# Build the table as a flextable (editable in Word/PowerPoint)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ft &lt;- modelsummary(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list("Limited Covs PSM" = out_lm_r, "All Covs PSM"= out_lm_ur),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stars = TRUE,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gof_map = c("nobs"),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title = "Matching Regression Results",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coef_map = c(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  "enrolled" = "Matching Effect",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  "(Intercept)" = "(Intercept)"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),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notes = "Standard errors are in parentheses",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fmt = 2,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output = "flextable"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# let flextable size to content, then stretch to a target width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ft &lt;- autofit(ft)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ft &lt;- fit_to_width(ft, max_width = 9)  # inches; ~content area on a PPT slide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ft &lt;- width(ft, j = 1, width = 2.5)    # widen the left/stub column (adjust as needed)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## 1) Save to Word (.docx)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doc &lt;- read_docx()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doc &lt;- body_add_flextable(doc, ft)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print(doc, target = "C:/Users/FionaKastel/OneDrive - 3ie/Documents/GitHub/R-course/sessions_in_Abu_Dhabi/case_study_outputs/session10_PSM.docx")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Matched Difference-in-Differences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Combine matching with difference-in-differences: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Merge matching weights back into long format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df_long_match_r &lt;- 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(match_df_r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(facility_identifier, weights))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(weights))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df_long_match_ur &lt;- 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(match_df_ur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(facility_identifier, weights))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(weights))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Difference-in-Differences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Run DiD regression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did_reg_r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enrolled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round,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df_long_match_r, </a:t>
            </a:r>
            <a:r>
              <a:rPr>
                <a:solidFill>
                  <a:srgbClr val="657422"/>
                </a:solidFill>
                <a:latin typeface="Courier"/>
              </a:rPr>
              <a:t>weights =</a:t>
            </a:r>
            <a:r>
              <a:rPr>
                <a:solidFill>
                  <a:srgbClr val="003B4F"/>
                </a:solidFill>
                <a:latin typeface="Courier"/>
              </a:rPr>
              <a:t> weights,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clusters =</a:t>
            </a:r>
            <a:r>
              <a:rPr>
                <a:solidFill>
                  <a:srgbClr val="003B4F"/>
                </a:solidFill>
                <a:latin typeface="Courier"/>
              </a:rPr>
              <a:t> zone_identifier)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did_reg_ur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enrolled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round,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df_long_match_ur, </a:t>
            </a:r>
            <a:r>
              <a:rPr>
                <a:solidFill>
                  <a:srgbClr val="657422"/>
                </a:solidFill>
                <a:latin typeface="Courier"/>
              </a:rPr>
              <a:t>weights =</a:t>
            </a:r>
            <a:r>
              <a:rPr>
                <a:solidFill>
                  <a:srgbClr val="003B4F"/>
                </a:solidFill>
                <a:latin typeface="Courier"/>
              </a:rPr>
              <a:t> weights,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clusters =</a:t>
            </a:r>
            <a:r>
              <a:rPr>
                <a:solidFill>
                  <a:srgbClr val="003B4F"/>
                </a:solidFill>
                <a:latin typeface="Courier"/>
              </a:rPr>
              <a:t> zone_identifier)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Show results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modelsummary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"Limited Set"</a:t>
            </a:r>
            <a:r>
              <a:rPr>
                <a:solidFill>
                  <a:srgbClr val="003B4F"/>
                </a:solidFill>
                <a:latin typeface="Courier"/>
              </a:rPr>
              <a:t> = did_reg_r,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20794D"/>
                </a:solidFill>
                <a:latin typeface="Courier"/>
              </a:rPr>
              <a:t>"Full Set"</a:t>
            </a:r>
            <a:r>
              <a:rPr>
                <a:solidFill>
                  <a:srgbClr val="003B4F"/>
                </a:solidFill>
                <a:latin typeface="Courier"/>
              </a:rPr>
              <a:t> = did_reg_ur),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coef_map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'enrolled'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"Enrollment"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'round'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"Round"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'enrolled:round'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"Enrollment × Round"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"Impact on Waste Management Costs: Matched DiD Approach"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38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727200"/>
                <a:gridCol w="1727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Limited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Set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Enrollment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-144.185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-54.474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(26.444)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(23.703)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307.094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280.594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(23.581)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(22.671)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Enrollment × Round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-972.086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-945.587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(30.155)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(29.768)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Num.Obs.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11856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11856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R2 Adj.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188583.0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187359.8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188619.9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187396.7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RMSE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687.94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653.35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Std.Errors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by: zone_identifier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by: zone_identifier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Impact on Waste Management Costs: Matched DiD Approach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Interpretation of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Enrolled</a:t>
            </a:r>
            <a:r>
              <a:rPr/>
              <a:t> coefficient: Baseline difference between groups</a:t>
            </a:r>
          </a:p>
          <a:p>
            <a:pPr lvl="0"/>
            <a:r>
              <a:rPr b="1"/>
              <a:t>Round</a:t>
            </a:r>
            <a:r>
              <a:rPr/>
              <a:t> coefficient: Time trend for all facilities</a:t>
            </a:r>
          </a:p>
          <a:p>
            <a:pPr lvl="0"/>
            <a:r>
              <a:rPr b="1"/>
              <a:t>Enrollment × Round</a:t>
            </a:r>
            <a:r>
              <a:rPr/>
              <a:t>: The program’s causal effect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The interaction coefficient (Enrollment × Round) represents our estimate of the causal impact of the program on waste management costs.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Advantages of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selection bias</a:t>
            </a:r>
          </a:p>
          <a:p>
            <a:pPr lvl="0"/>
            <a:r>
              <a:rPr/>
              <a:t>Makes treatment and control groups comparable</a:t>
            </a:r>
          </a:p>
          <a:p>
            <a:pPr lvl="0"/>
            <a:r>
              <a:rPr/>
              <a:t>Can combine with difference-in-differences for robust estimation</a:t>
            </a:r>
          </a:p>
          <a:p>
            <a:pPr lvl="0"/>
            <a:r>
              <a:rPr/>
              <a:t>Works even without baseline randomization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of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Only controls for </a:t>
            </a:r>
            <a:r>
              <a:rPr b="1"/>
              <a:t>observed</a:t>
            </a:r>
            <a:r>
              <a:rPr/>
              <a:t> variables</a:t>
            </a:r>
          </a:p>
          <a:p>
            <a:pPr lvl="0"/>
            <a:r>
              <a:rPr/>
              <a:t>Cannot account for unobserved confounders</a:t>
            </a:r>
          </a:p>
          <a:p>
            <a:pPr lvl="0"/>
            <a:r>
              <a:rPr/>
              <a:t>Requires good data on pre-treatment characteristics</a:t>
            </a:r>
          </a:p>
          <a:p>
            <a:pPr lvl="0"/>
            <a:r>
              <a:rPr/>
              <a:t>Common support may be limited in some contexts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Propensity Score Matching</a:t>
            </a:r>
            <a:r>
              <a:rPr/>
              <a:t> helps create comparable groups</a:t>
            </a:r>
          </a:p>
          <a:p>
            <a:pPr lvl="0" indent="-342900" marL="342900">
              <a:buAutoNum type="arabicPeriod"/>
            </a:pPr>
            <a:r>
              <a:rPr/>
              <a:t>First </a:t>
            </a:r>
            <a:r>
              <a:rPr b="1"/>
              <a:t>estimate propensity scores</a:t>
            </a:r>
            <a:r>
              <a:rPr/>
              <a:t> based on baseline characteristics</a:t>
            </a:r>
          </a:p>
          <a:p>
            <a:pPr lvl="0" indent="-342900" marL="342900">
              <a:buAutoNum type="arabicPeriod"/>
            </a:pPr>
            <a:r>
              <a:rPr/>
              <a:t>Check for </a:t>
            </a:r>
            <a:r>
              <a:rPr b="1"/>
              <a:t>common support</a:t>
            </a:r>
            <a:r>
              <a:rPr/>
              <a:t> and </a:t>
            </a:r>
            <a:r>
              <a:rPr b="1"/>
              <a:t>balance</a:t>
            </a:r>
            <a:r>
              <a:rPr/>
              <a:t> after matching</a:t>
            </a:r>
          </a:p>
          <a:p>
            <a:pPr lvl="0" indent="-342900" marL="342900">
              <a:buAutoNum type="arabicPeriod"/>
            </a:pPr>
            <a:r>
              <a:rPr/>
              <a:t>Combine with </a:t>
            </a:r>
            <a:r>
              <a:rPr b="1"/>
              <a:t>regression</a:t>
            </a:r>
            <a:r>
              <a:rPr/>
              <a:t> or </a:t>
            </a:r>
            <a:r>
              <a:rPr b="1"/>
              <a:t>difference-in-differences</a:t>
            </a:r>
            <a:r>
              <a:rPr/>
              <a:t> to estimate impacts</a:t>
            </a:r>
          </a:p>
          <a:p>
            <a:pPr lvl="0" indent="-342900" marL="342900">
              <a:buAutoNum type="arabicPeriod"/>
            </a:pPr>
            <a:r>
              <a:rPr/>
              <a:t>Interpret results with appropriate caution about unobserved confounders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 for Further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Ho, Imai, King, and Stuart (2007)</a:t>
            </a:r>
            <a:r>
              <a:rPr/>
              <a:t>: “Matching as Nonparametric Preprocessing for Reducing Model Dependence in Parametric Causal Inference”</a:t>
            </a:r>
          </a:p>
          <a:p>
            <a:pPr lvl="0"/>
            <a:r>
              <a:rPr b="1"/>
              <a:t>Stuart (2010)</a:t>
            </a:r>
            <a:r>
              <a:rPr/>
              <a:t>: “Matching Methods for Causal Inference: A Review and a Look Forward”</a:t>
            </a:r>
          </a:p>
          <a:p>
            <a:pPr lvl="0"/>
            <a:r>
              <a:rPr/>
              <a:t>The </a:t>
            </a:r>
            <a:r>
              <a:rPr b="1"/>
              <a:t>MatchIt</a:t>
            </a:r>
            <a:r>
              <a:rPr/>
              <a:t> package documentation: </a:t>
            </a:r>
            <a:r>
              <a:rPr>
                <a:hlinkClick r:id="rId2"/>
              </a:rPr>
              <a:t>https://kosukeimai.github.io/MatchIt/</a:t>
            </a:r>
          </a:p>
          <a:p>
            <a:pPr lvl="0"/>
            <a:r>
              <a:rPr b="1"/>
              <a:t>“Mastering Metrics”</a:t>
            </a:r>
            <a:r>
              <a:rPr/>
              <a:t> by Angrist and Pischke (Chapter 3)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Matching Methods</dc:title>
  <dc:creator>Dr. Lucas Sempé</dc:creator>
  <cp:keywords/>
  <dcterms:created xsi:type="dcterms:W3CDTF">2026-09-18T13:40:17Z</dcterms:created>
  <dcterms:modified xsi:type="dcterms:W3CDTF">2026-09-18T13:40:17Z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ways_allow_html">
    <vt:lpwstr>yes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editor_option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Econometrics with R</vt:lpwstr>
  </property>
  <property fmtid="{D5CDD505-2E9C-101B-9397-08002B2CF9AE}" pid="12" name="toc-title">
    <vt:lpwstr>Table of contents</vt:lpwstr>
  </property>
</Properties>
</file>