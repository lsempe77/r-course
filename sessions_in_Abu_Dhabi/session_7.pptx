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2" Type="http://schemas.openxmlformats.org/officeDocument/2006/relationships/viewProps" Target="viewProps.xml" /><Relationship Id="rId21" Type="http://schemas.openxmlformats.org/officeDocument/2006/relationships/presProps" Target="presProps.xml" /><Relationship Id="rId1" Type="http://schemas.openxmlformats.org/officeDocument/2006/relationships/slideMaster" Target="slideMasters/slideMaster1.xml" /><Relationship Id="rId24" Type="http://schemas.openxmlformats.org/officeDocument/2006/relationships/tableStyles" Target="tableStyles.xml" /><Relationship Id="rId2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Instrumental Variables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Econometrics with R</a:t>
            </a:r>
            <a:br/>
            <a:br/>
            <a:r>
              <a:rPr/>
              <a:t>Dr. Lucas Sempé</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Challenge of Imperfect Compliance</a:t>
            </a:r>
          </a:p>
        </p:txBody>
      </p:sp>
      <p:sp>
        <p:nvSpPr>
          <p:cNvPr id="3" name="Content Placeholder 2"/>
          <p:cNvSpPr>
            <a:spLocks noGrp="1"/>
          </p:cNvSpPr>
          <p:nvPr>
            <p:ph idx="1"/>
          </p:nvPr>
        </p:nvSpPr>
        <p:spPr/>
        <p:txBody>
          <a:bodyPr/>
          <a:lstStyle/>
          <a:p>
            <a:pPr lvl="0"/>
            <a:r>
              <a:rPr/>
              <a:t>Sometimes we can’t randomly assign the treatment itself</a:t>
            </a:r>
          </a:p>
          <a:p>
            <a:pPr lvl="0"/>
            <a:r>
              <a:rPr/>
              <a:t>But we can randomly assign encouragement to take up the treatment</a:t>
            </a:r>
          </a:p>
          <a:p>
            <a:pPr lvl="0"/>
            <a:r>
              <a:rPr/>
              <a:t>Example: National scale-up of the Program means we can’t deny eligibility</a:t>
            </a:r>
          </a:p>
          <a:p>
            <a:pPr lvl="0"/>
            <a:r>
              <a:rPr/>
              <a:t>But we can randomly promote the program in some industries</a:t>
            </a:r>
          </a:p>
          <a:p>
            <a:pPr lvl="0" indent="0" marL="0">
              <a:buNone/>
            </a:pPr>
            <a:r>
              <a:rPr b="1"/>
              <a:t>Central question:</a:t>
            </a:r>
            <a:r>
              <a:rPr/>
              <a:t> How do we measure impact when actual participation is voluntary?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Instrumental Variables Framework</a:t>
            </a:r>
          </a:p>
        </p:txBody>
      </p:sp>
      <p:sp>
        <p:nvSpPr>
          <p:cNvPr id="3" name="Content Placeholder 2"/>
          <p:cNvSpPr>
            <a:spLocks noGrp="1"/>
          </p:cNvSpPr>
          <p:nvPr>
            <p:ph idx="1" sz="half"/>
          </p:nvPr>
        </p:nvSpPr>
        <p:spPr/>
        <p:txBody>
          <a:bodyPr/>
          <a:lstStyle/>
          <a:p>
            <a:pPr lvl="0" indent="0" marL="0">
              <a:buNone/>
            </a:pPr>
            <a:r>
              <a:rPr b="1"/>
              <a:t>Instrumental Variable (IV)</a:t>
            </a:r>
            <a:r>
              <a:rPr/>
              <a:t> must:</a:t>
            </a:r>
          </a:p>
          <a:p>
            <a:pPr lvl="0" indent="-342900" marL="342900">
              <a:buAutoNum type="arabicPeriod"/>
            </a:pPr>
            <a:r>
              <a:rPr b="1"/>
              <a:t>Affect participation</a:t>
            </a:r>
            <a:r>
              <a:rPr/>
              <a:t>: The instrument increases likelihood of enrollment</a:t>
            </a:r>
          </a:p>
          <a:p>
            <a:pPr lvl="0" indent="-342900" marL="342900">
              <a:buAutoNum type="arabicPeriod"/>
            </a:pPr>
            <a:r>
              <a:rPr b="1"/>
              <a:t>Exclusion restriction</a:t>
            </a:r>
            <a:r>
              <a:rPr/>
              <a:t>: The instrument affects outcomes only through enrollment</a:t>
            </a:r>
          </a:p>
          <a:p>
            <a:pPr lvl="0" indent="-342900" marL="342900">
              <a:buAutoNum type="arabicPeriod"/>
            </a:pPr>
            <a:r>
              <a:rPr b="1"/>
              <a:t>Independence</a:t>
            </a:r>
            <a:r>
              <a:rPr/>
              <a:t>: The instrument is as good as randomly assigned</a:t>
            </a:r>
          </a:p>
          <a:p>
            <a:pPr lvl="0" indent="-342900" marL="342900">
              <a:buAutoNum type="arabicPeriod"/>
            </a:pPr>
            <a:r>
              <a:rPr b="1"/>
              <a:t>Monotonicity</a:t>
            </a:r>
            <a:r>
              <a:rPr/>
              <a:t>: The instrument doesn’t discourage anyone from enrolling</a:t>
            </a:r>
          </a:p>
        </p:txBody>
      </p:sp>
      <p:sp>
        <p:nvSpPr>
          <p:cNvPr id="4" name="Content Placeholder 3"/>
          <p:cNvSpPr>
            <a:spLocks noGrp="1"/>
          </p:cNvSpPr>
          <p:nvPr>
            <p:ph idx="2" sz="half"/>
          </p:nvPr>
        </p:nvSpPr>
        <p:spPr/>
        <p:txBody>
          <a:bodyPr/>
          <a:lstStyle/>
          <a:p>
            <a:pPr lvl="0" indent="0" marL="0">
              <a:buNone/>
            </a:pPr>
            <a:r>
              <a:rPr/>
              <a:t>B(Treatment) –&gt;   C –&gt; </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Case: Randomized Promotion Design</a:t>
            </a:r>
          </a:p>
        </p:txBody>
      </p:sp>
      <p:sp>
        <p:nvSpPr>
          <p:cNvPr id="3" name="Content Placeholder 2"/>
          <p:cNvSpPr>
            <a:spLocks noGrp="1"/>
          </p:cNvSpPr>
          <p:nvPr>
            <p:ph idx="1"/>
          </p:nvPr>
        </p:nvSpPr>
        <p:spPr/>
        <p:txBody>
          <a:bodyPr/>
          <a:lstStyle/>
          <a:p>
            <a:pPr lvl="0"/>
            <a:r>
              <a:rPr/>
              <a:t>The ministry wants to make the program available to all industries</a:t>
            </a:r>
          </a:p>
          <a:p>
            <a:pPr lvl="0"/>
            <a:r>
              <a:rPr/>
              <a:t>We design an evaluation with random promotion in some zones of the Emirate</a:t>
            </a:r>
          </a:p>
          <a:p>
            <a:pPr lvl="0"/>
            <a:r>
              <a:rPr/>
              <a:t>Promotion includes communication and social marketing</a:t>
            </a:r>
          </a:p>
          <a:p>
            <a:pPr lvl="0"/>
            <a:r>
              <a:rPr/>
              <a:t>This creates exogenous variation in enrollment</a:t>
            </a:r>
          </a:p>
          <a:p>
            <a:pPr lvl="0" indent="0" marL="0">
              <a:buNone/>
            </a:pPr>
            <a:r>
              <a:rPr/>
              <a:t>If the promotion is effective, then we should have a higher likelihood of participation in the intervention for those who received it. If we are just interested in the question of whether encouraging enrollment in the project using messages improved our outcomes compared to providing the program without messaging, then we can run the regression for those that randomly received messaging versus those that did not. This is what we learned about randomization so far.</a:t>
            </a:r>
          </a:p>
          <a:p>
            <a:pPr lvl="0" indent="0" marL="0">
              <a:buNone/>
            </a:pPr>
            <a:r>
              <a:rPr/>
              <a:t>However, we ideally want an estimate of the program not the messaging, and there also may be some individuals that received the promotion but still didn’t take up the program. This creates selection bias since those that actually take up the program may have higher outcomes to begin with. We want to run our analyses to see if receiving the promotion encouraged participants to take part in the project AND if that participation impacted their crop yields.</a:t>
            </a:r>
          </a:p>
          <a:p>
            <a:pPr lvl="0" indent="0" marL="0">
              <a:buNone/>
            </a:pPr>
            <a:r>
              <a:rPr/>
              <a:t>How do we do this? In two stages.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First Stage: Effect of Promotion on Enrollment</a:t>
            </a:r>
          </a:p>
        </p:txBody>
      </p:sp>
      <p:sp>
        <p:nvSpPr>
          <p:cNvPr id="3" name="Content Placeholder 2"/>
          <p:cNvSpPr>
            <a:spLocks noGrp="1"/>
          </p:cNvSpPr>
          <p:nvPr>
            <p:ph idx="1" sz="half"/>
          </p:nvPr>
        </p:nvSpPr>
        <p:spPr/>
        <p:txBody>
          <a:bodyPr/>
          <a:lstStyle/>
          <a:p>
            <a:pPr lvl="0" indent="0" marL="0">
              <a:buNone/>
            </a:pPr>
            <a:r>
              <a:rPr/>
              <a:t>In the first stage, we measure the effect of encouragement on participation in program (e.g., how much more likely someone is to participate due to the encouragement).</a:t>
            </a:r>
          </a:p>
          <a:p>
            <a:pPr lvl="0" indent="0">
              <a:buNone/>
            </a:pPr>
            <a:r>
              <a:rPr>
                <a:solidFill>
                  <a:srgbClr val="5E5E5E"/>
                </a:solidFill>
                <a:latin typeface="Courier"/>
              </a:rPr>
              <a:t># Estimate effect of promotion on enrollment (First Stage)</a:t>
            </a:r>
            <a:br/>
            <a:r>
              <a:rPr>
                <a:solidFill>
                  <a:srgbClr val="003B4F"/>
                </a:solidFill>
                <a:latin typeface="Courier"/>
              </a:rPr>
              <a:t>m_first_stage &lt;- </a:t>
            </a:r>
            <a:r>
              <a:rPr>
                <a:solidFill>
                  <a:srgbClr val="4758AB"/>
                </a:solidFill>
                <a:latin typeface="Courier"/>
              </a:rPr>
              <a:t>lm_robust</a:t>
            </a:r>
            <a:r>
              <a:rPr>
                <a:solidFill>
                  <a:srgbClr val="003B4F"/>
                </a:solidFill>
                <a:latin typeface="Courier"/>
              </a:rPr>
              <a:t>(enrolled_rp </a:t>
            </a:r>
            <a:r>
              <a:rPr>
                <a:solidFill>
                  <a:srgbClr val="5E5E5E"/>
                </a:solidFill>
                <a:latin typeface="Courier"/>
              </a:rPr>
              <a:t>~</a:t>
            </a:r>
            <a:r>
              <a:rPr>
                <a:solidFill>
                  <a:srgbClr val="003B4F"/>
                </a:solidFill>
                <a:latin typeface="Courier"/>
              </a:rPr>
              <a:t> promotion_zone,</a:t>
            </a:r>
            <a:br/>
            <a:r>
              <a:rPr>
                <a:solidFill>
                  <a:srgbClr val="003B4F"/>
                </a:solidFill>
                <a:latin typeface="Courier"/>
              </a:rPr>
              <a:t>                      </a:t>
            </a:r>
            <a:r>
              <a:rPr>
                <a:solidFill>
                  <a:srgbClr val="657422"/>
                </a:solidFill>
                <a:latin typeface="Courier"/>
              </a:rPr>
              <a:t>clusters =</a:t>
            </a:r>
            <a:r>
              <a:rPr>
                <a:solidFill>
                  <a:srgbClr val="003B4F"/>
                </a:solidFill>
                <a:latin typeface="Courier"/>
              </a:rPr>
              <a:t> facility_identifier,</a:t>
            </a:r>
            <a:br/>
            <a:r>
              <a:rPr>
                <a:solidFill>
                  <a:srgbClr val="003B4F"/>
                </a:solidFill>
                <a:latin typeface="Courier"/>
              </a:rPr>
              <a:t>                      </a:t>
            </a:r>
            <a:r>
              <a:rPr>
                <a:solidFill>
                  <a:srgbClr val="657422"/>
                </a:solidFill>
                <a:latin typeface="Courier"/>
              </a:rPr>
              <a:t>data =</a:t>
            </a:r>
            <a:r>
              <a:rPr>
                <a:solidFill>
                  <a:srgbClr val="003B4F"/>
                </a:solidFill>
                <a:latin typeface="Courier"/>
              </a:rPr>
              <a:t> 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(round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p>
          <a:p>
            <a:pPr lvl="0" indent="0" marL="0">
              <a:buNone/>
            </a:pPr>
            <a:r>
              <a:rPr b="1"/>
              <a:t>First Stage Results</a:t>
            </a:r>
            <a:r>
              <a:rPr/>
              <a:t>:</a:t>
            </a:r>
          </a:p>
          <a:p>
            <a:pPr lvl="0"/>
            <a:r>
              <a:rPr/>
              <a:t>Promotion increases enrollment by 40.8 percentage points</a:t>
            </a:r>
          </a:p>
          <a:p>
            <a:pPr lvl="0"/>
            <a:r>
              <a:rPr/>
              <a:t>Without promotion, only 8.4% enroll</a:t>
            </a:r>
          </a:p>
          <a:p>
            <a:pPr lvl="0"/>
            <a:r>
              <a:rPr/>
              <a:t>With promotion, 49.2% enroll</a:t>
            </a:r>
          </a:p>
          <a:p>
            <a:pPr lvl="0"/>
            <a:r>
              <a:rPr/>
              <a:t>Strong first stage (F-statistic &gt; 10): 2552.2</a:t>
            </a:r>
          </a:p>
          <a:p>
            <a:pPr lvl="0" indent="0" marL="1270000">
              <a:buNone/>
            </a:pPr>
            <a:r>
              <a:rPr sz="2000" b="1"/>
              <a:t>What is the F-statistic?</a:t>
            </a:r>
            <a:br/>
            <a:r>
              <a:rPr sz="2000"/>
              <a:t>The F-statistic tests whether the instrument (promotion) is a </a:t>
            </a:r>
            <a:r>
              <a:rPr sz="2000" b="1"/>
              <a:t>strong predictor</a:t>
            </a:r>
            <a:r>
              <a:rPr sz="2000"/>
              <a:t> of the endogenous variable (enrollment).</a:t>
            </a:r>
            <a:br/>
            <a:r>
              <a:rPr sz="2000"/>
              <a:t>- A </a:t>
            </a:r>
            <a:r>
              <a:rPr sz="2000" b="1"/>
              <a:t>high F-statistic</a:t>
            </a:r>
            <a:r>
              <a:rPr sz="2000"/>
              <a:t> (greater than 10) suggests the instrument is strong and relevant.</a:t>
            </a:r>
            <a:br/>
            <a:r>
              <a:rPr sz="2000"/>
              <a:t>- A </a:t>
            </a:r>
            <a:r>
              <a:rPr sz="2000" b="1"/>
              <a:t>low F-statistic</a:t>
            </a:r>
            <a:r>
              <a:rPr sz="2000"/>
              <a:t> (below 10) would indicate a </a:t>
            </a:r>
            <a:r>
              <a:rPr sz="2000" b="1"/>
              <a:t>weak instrument</a:t>
            </a:r>
            <a:r>
              <a:rPr sz="2000"/>
              <a:t>, which could bias IV estimates and make them unreliable.</a:t>
            </a:r>
          </a:p>
        </p:txBody>
      </p:sp>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2019300"/>
                <a:gridCol w="2019300"/>
              </a:tblGrid>
              <a:tr h="0">
                <a:tc>
                  <a:txBody>
                    <a:bodyPr/>
                    <a:lstStyle/>
                    <a:p>
                      <a:endParaRPr/>
                    </a:p>
                  </a:txBody>
                  <a:tcPr/>
                </a:tc>
                <a:tc>
                  <a:txBody>
                    <a:bodyPr/>
                    <a:lstStyle/>
                    <a:p>
                      <a:pPr lvl="0" indent="0" marL="0" algn="ctr">
                        <a:buNone/>
                      </a:pPr>
                      <a:r>
                        <a:rPr/>
                        <a:t>Enrollment</a:t>
                      </a:r>
                    </a:p>
                  </a:txBody>
                  <a:tcPr/>
                </a:tc>
              </a:tr>
              <a:tr h="0">
                <a:tc>
                  <a:txBody>
                    <a:bodyPr/>
                    <a:lstStyle/>
                    <a:p>
                      <a:pPr lvl="0" indent="0" marL="0" algn="l">
                        <a:buNone/>
                      </a:pPr>
                      <a:r>
                        <a:rPr/>
                        <a:t>(Intercept)</a:t>
                      </a:r>
                    </a:p>
                  </a:txBody>
                </a:tc>
                <a:tc>
                  <a:txBody>
                    <a:bodyPr/>
                    <a:lstStyle/>
                    <a:p>
                      <a:pPr lvl="0" indent="0" marL="0" algn="ctr">
                        <a:buNone/>
                      </a:pPr>
                      <a:r>
                        <a:rPr/>
                        <a:t>0.084***</a:t>
                      </a:r>
                    </a:p>
                  </a:txBody>
                </a:tc>
              </a:tr>
              <a:tr h="0">
                <a:tc>
                  <a:txBody>
                    <a:bodyPr/>
                    <a:lstStyle/>
                    <a:p>
                      <a:endParaRPr/>
                    </a:p>
                  </a:txBody>
                </a:tc>
                <a:tc>
                  <a:txBody>
                    <a:bodyPr/>
                    <a:lstStyle/>
                    <a:p>
                      <a:pPr lvl="0" indent="0" marL="0" algn="ctr">
                        <a:buNone/>
                      </a:pPr>
                      <a:r>
                        <a:rPr/>
                        <a:t>(0.004)</a:t>
                      </a:r>
                    </a:p>
                  </a:txBody>
                </a:tc>
              </a:tr>
              <a:tr h="0">
                <a:tc>
                  <a:txBody>
                    <a:bodyPr/>
                    <a:lstStyle/>
                    <a:p>
                      <a:pPr lvl="0" indent="0" marL="0" algn="l">
                        <a:buNone/>
                      </a:pPr>
                      <a:r>
                        <a:rPr/>
                        <a:t>promotion_zone</a:t>
                      </a:r>
                    </a:p>
                  </a:txBody>
                </a:tc>
                <a:tc>
                  <a:txBody>
                    <a:bodyPr/>
                    <a:lstStyle/>
                    <a:p>
                      <a:pPr lvl="0" indent="0" marL="0" algn="ctr">
                        <a:buNone/>
                      </a:pPr>
                      <a:r>
                        <a:rPr/>
                        <a:t>0.408***</a:t>
                      </a:r>
                    </a:p>
                  </a:txBody>
                </a:tc>
              </a:tr>
              <a:tr h="0">
                <a:tc>
                  <a:txBody>
                    <a:bodyPr/>
                    <a:lstStyle/>
                    <a:p>
                      <a:endParaRPr/>
                    </a:p>
                  </a:txBody>
                </a:tc>
                <a:tc>
                  <a:txBody>
                    <a:bodyPr/>
                    <a:lstStyle/>
                    <a:p>
                      <a:pPr lvl="0" indent="0" marL="0" algn="ctr">
                        <a:buNone/>
                      </a:pPr>
                      <a:r>
                        <a:rPr/>
                        <a:t>(0.008)</a:t>
                      </a:r>
                    </a:p>
                  </a:txBody>
                </a:tc>
              </a:tr>
              <a:tr h="0">
                <a:tc>
                  <a:txBody>
                    <a:bodyPr/>
                    <a:lstStyle/>
                    <a:p>
                      <a:pPr lvl="0" indent="0" marL="0" algn="l">
                        <a:buNone/>
                      </a:pPr>
                      <a:r>
                        <a:rPr/>
                        <a:t>Num.Obs.</a:t>
                      </a:r>
                    </a:p>
                  </a:txBody>
                </a:tc>
                <a:tc>
                  <a:txBody>
                    <a:bodyPr/>
                    <a:lstStyle/>
                    <a:p>
                      <a:pPr lvl="0" indent="0" marL="0" algn="ctr">
                        <a:buNone/>
                      </a:pPr>
                      <a:r>
                        <a:rPr/>
                        <a:t>9914</a:t>
                      </a:r>
                    </a:p>
                  </a:txBody>
                </a:tc>
              </a:tr>
              <a:tr h="0">
                <a:tc>
                  <a:txBody>
                    <a:bodyPr/>
                    <a:lstStyle/>
                    <a:p>
                      <a:pPr lvl="0" indent="0" marL="0" algn="l">
                        <a:buNone/>
                      </a:pPr>
                      <a:r>
                        <a:rPr/>
                        <a:t>R2</a:t>
                      </a:r>
                    </a:p>
                  </a:txBody>
                </a:tc>
                <a:tc>
                  <a:txBody>
                    <a:bodyPr/>
                    <a:lstStyle/>
                    <a:p>
                      <a:pPr lvl="0" indent="0" marL="0" algn="ctr">
                        <a:buNone/>
                      </a:pPr>
                      <a:r>
                        <a:rPr/>
                        <a:t>0.200</a:t>
                      </a:r>
                    </a:p>
                  </a:txBody>
                </a:tc>
              </a:tr>
              <a:tr h="0">
                <a:tc>
                  <a:txBody>
                    <a:bodyPr/>
                    <a:lstStyle/>
                    <a:p>
                      <a:pPr lvl="0" indent="0" marL="0" algn="l">
                        <a:buNone/>
                      </a:pPr>
                      <a:r>
                        <a:rPr/>
                        <a:t>R2 Adj.</a:t>
                      </a:r>
                    </a:p>
                  </a:txBody>
                </a:tc>
                <a:tc>
                  <a:txBody>
                    <a:bodyPr/>
                    <a:lstStyle/>
                    <a:p>
                      <a:pPr lvl="0" indent="0" marL="0" algn="ctr">
                        <a:buNone/>
                      </a:pPr>
                      <a:r>
                        <a:rPr/>
                        <a:t>0.200</a:t>
                      </a:r>
                    </a:p>
                  </a:txBody>
                </a:tc>
              </a:tr>
              <a:tr h="0">
                <a:tc>
                  <a:txBody>
                    <a:bodyPr/>
                    <a:lstStyle/>
                    <a:p>
                      <a:pPr lvl="0" indent="0" marL="0" algn="l">
                        <a:buNone/>
                      </a:pPr>
                      <a:r>
                        <a:rPr/>
                        <a:t> + p &lt; 0.1, * p &lt; 0.05, ** p &lt; 0.01, *** p &lt; 0.001</a:t>
                      </a:r>
                    </a:p>
                  </a:txBody>
                </a:tc>
                <a:tc>
                  <a:txBody>
                    <a:bodyPr/>
                    <a:lstStyle/>
                    <a:p>
                      <a:endParaRPr/>
                    </a:p>
                  </a:txBody>
                </a:tc>
              </a:tr>
            </a:tbl>
          </a:graphicData>
        </a:graphic>
      </p:graphicFrame>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Intention-to-Treat (ITT) Effect</a:t>
            </a:r>
          </a:p>
        </p:txBody>
      </p:sp>
      <p:sp>
        <p:nvSpPr>
          <p:cNvPr id="3" name="Content Placeholder 2"/>
          <p:cNvSpPr>
            <a:spLocks noGrp="1"/>
          </p:cNvSpPr>
          <p:nvPr>
            <p:ph idx="1"/>
          </p:nvPr>
        </p:nvSpPr>
        <p:spPr/>
        <p:txBody>
          <a:bodyPr/>
          <a:lstStyle/>
          <a:p>
            <a:pPr lvl="0" indent="0" marL="0">
              <a:buNone/>
            </a:pPr>
            <a:r>
              <a:rPr/>
              <a:t>The second stage is the link between participation on our outcomes of interest. This second stage is the effect of the </a:t>
            </a:r>
            <a:r>
              <a:rPr i="1"/>
              <a:t>encouragement</a:t>
            </a:r>
            <a:r>
              <a:rPr/>
              <a:t> on the outcome (referred to as the “reduced form”). This is also known as the Intention-to-Treat (ITT) Effect or the effect on outcomes based on the original randomization, regardless of the actual treatment or compliance with the program.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a:buNone/>
            </a:pPr>
            <a:r>
              <a:rPr>
                <a:solidFill>
                  <a:srgbClr val="5E5E5E"/>
                </a:solidFill>
                <a:latin typeface="Courier"/>
              </a:rPr>
              <a:t># Estimate ITT effect (reduced form)</a:t>
            </a:r>
            <a:br/>
            <a:r>
              <a:rPr>
                <a:solidFill>
                  <a:srgbClr val="003B4F"/>
                </a:solidFill>
                <a:latin typeface="Courier"/>
              </a:rPr>
              <a:t>m_itt &lt;- </a:t>
            </a:r>
            <a:r>
              <a:rPr>
                <a:solidFill>
                  <a:srgbClr val="4758AB"/>
                </a:solidFill>
                <a:latin typeface="Courier"/>
              </a:rPr>
              <a:t>lm_robust</a:t>
            </a:r>
            <a:r>
              <a:rPr>
                <a:solidFill>
                  <a:srgbClr val="003B4F"/>
                </a:solidFill>
                <a:latin typeface="Courier"/>
              </a:rPr>
              <a:t>(waste_management_costs </a:t>
            </a:r>
            <a:r>
              <a:rPr>
                <a:solidFill>
                  <a:srgbClr val="5E5E5E"/>
                </a:solidFill>
                <a:latin typeface="Courier"/>
              </a:rPr>
              <a:t>~</a:t>
            </a:r>
            <a:r>
              <a:rPr>
                <a:solidFill>
                  <a:srgbClr val="003B4F"/>
                </a:solidFill>
                <a:latin typeface="Courier"/>
              </a:rPr>
              <a:t> promotion_zone,</a:t>
            </a:r>
            <a:br/>
            <a:r>
              <a:rPr>
                <a:solidFill>
                  <a:srgbClr val="003B4F"/>
                </a:solidFill>
                <a:latin typeface="Courier"/>
              </a:rPr>
              <a:t>                   </a:t>
            </a:r>
            <a:r>
              <a:rPr>
                <a:solidFill>
                  <a:srgbClr val="657422"/>
                </a:solidFill>
                <a:latin typeface="Courier"/>
              </a:rPr>
              <a:t>clusters =</a:t>
            </a:r>
            <a:r>
              <a:rPr>
                <a:solidFill>
                  <a:srgbClr val="003B4F"/>
                </a:solidFill>
                <a:latin typeface="Courier"/>
              </a:rPr>
              <a:t> zone_identifier,</a:t>
            </a:r>
            <a:br/>
            <a:r>
              <a:rPr>
                <a:solidFill>
                  <a:srgbClr val="003B4F"/>
                </a:solidFill>
                <a:latin typeface="Courier"/>
              </a:rPr>
              <a:t>                   </a:t>
            </a:r>
            <a:r>
              <a:rPr>
                <a:solidFill>
                  <a:srgbClr val="657422"/>
                </a:solidFill>
                <a:latin typeface="Courier"/>
              </a:rPr>
              <a:t>data =</a:t>
            </a:r>
            <a:r>
              <a:rPr>
                <a:solidFill>
                  <a:srgbClr val="003B4F"/>
                </a:solidFill>
                <a:latin typeface="Courier"/>
              </a:rPr>
              <a:t> 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(round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br/>
            <a:br/>
            <a:r>
              <a:rPr>
                <a:solidFill>
                  <a:srgbClr val="5E5E5E"/>
                </a:solidFill>
                <a:latin typeface="Courier"/>
              </a:rPr>
              <a:t># With covariate adjustment</a:t>
            </a:r>
            <a:br/>
            <a:r>
              <a:rPr>
                <a:solidFill>
                  <a:srgbClr val="003B4F"/>
                </a:solidFill>
                <a:latin typeface="Courier"/>
              </a:rPr>
              <a:t>m_itt_wcov &lt;- </a:t>
            </a:r>
            <a:r>
              <a:rPr>
                <a:solidFill>
                  <a:srgbClr val="4758AB"/>
                </a:solidFill>
                <a:latin typeface="Courier"/>
              </a:rPr>
              <a:t>lm_robust</a:t>
            </a:r>
            <a:r>
              <a:rPr>
                <a:solidFill>
                  <a:srgbClr val="003B4F"/>
                </a:solidFill>
                <a:latin typeface="Courier"/>
              </a:rPr>
              <a:t>(waste_management_costs </a:t>
            </a:r>
            <a:r>
              <a:rPr>
                <a:solidFill>
                  <a:srgbClr val="5E5E5E"/>
                </a:solidFill>
                <a:latin typeface="Courier"/>
              </a:rPr>
              <a:t>~</a:t>
            </a:r>
            <a:r>
              <a:rPr>
                <a:solidFill>
                  <a:srgbClr val="003B4F"/>
                </a:solidFill>
                <a:latin typeface="Courier"/>
              </a:rPr>
              <a:t> promotion_zone </a:t>
            </a:r>
            <a:r>
              <a:rPr>
                <a:solidFill>
                  <a:srgbClr val="5E5E5E"/>
                </a:solidFill>
                <a:latin typeface="Courier"/>
              </a:rPr>
              <a:t>+</a:t>
            </a:r>
            <a:r>
              <a:rPr>
                <a:solidFill>
                  <a:srgbClr val="003B4F"/>
                </a:solidFill>
                <a:latin typeface="Courier"/>
              </a:rPr>
              <a:t> </a:t>
            </a:r>
            <a:br/>
            <a:r>
              <a:rPr>
                <a:solidFill>
                  <a:srgbClr val="003B4F"/>
                </a:solidFill>
                <a:latin typeface="Courier"/>
              </a:rPr>
              <a:t>                        age_manager </a:t>
            </a:r>
            <a:r>
              <a:rPr>
                <a:solidFill>
                  <a:srgbClr val="5E5E5E"/>
                </a:solidFill>
                <a:latin typeface="Courier"/>
              </a:rPr>
              <a:t>+</a:t>
            </a:r>
            <a:r>
              <a:rPr>
                <a:solidFill>
                  <a:srgbClr val="003B4F"/>
                </a:solidFill>
                <a:latin typeface="Courier"/>
              </a:rPr>
              <a:t> age_deputy </a:t>
            </a:r>
            <a:r>
              <a:rPr>
                <a:solidFill>
                  <a:srgbClr val="5E5E5E"/>
                </a:solidFill>
                <a:latin typeface="Courier"/>
              </a:rPr>
              <a:t>+</a:t>
            </a:r>
            <a:br/>
            <a:r>
              <a:rPr>
                <a:solidFill>
                  <a:srgbClr val="003B4F"/>
                </a:solidFill>
                <a:latin typeface="Courier"/>
              </a:rPr>
              <a:t>                        female_manager </a:t>
            </a:r>
            <a:r>
              <a:rPr>
                <a:solidFill>
                  <a:srgbClr val="5E5E5E"/>
                </a:solidFill>
                <a:latin typeface="Courier"/>
              </a:rPr>
              <a:t>+</a:t>
            </a:r>
            <a:r>
              <a:rPr>
                <a:solidFill>
                  <a:srgbClr val="003B4F"/>
                </a:solidFill>
                <a:latin typeface="Courier"/>
              </a:rPr>
              <a:t> foreign_owned </a:t>
            </a:r>
            <a:r>
              <a:rPr>
                <a:solidFill>
                  <a:srgbClr val="5E5E5E"/>
                </a:solidFill>
                <a:latin typeface="Courier"/>
              </a:rPr>
              <a:t>+</a:t>
            </a:r>
            <a:r>
              <a:rPr>
                <a:solidFill>
                  <a:srgbClr val="003B4F"/>
                </a:solidFill>
                <a:latin typeface="Courier"/>
              </a:rPr>
              <a:t> </a:t>
            </a:r>
            <a:br/>
            <a:r>
              <a:rPr>
                <a:solidFill>
                  <a:srgbClr val="003B4F"/>
                </a:solidFill>
                <a:latin typeface="Courier"/>
              </a:rPr>
              <a:t>                        staff_size </a:t>
            </a:r>
            <a:r>
              <a:rPr>
                <a:solidFill>
                  <a:srgbClr val="5E5E5E"/>
                </a:solidFill>
                <a:latin typeface="Courier"/>
              </a:rPr>
              <a:t>+</a:t>
            </a:r>
            <a:br/>
            <a:r>
              <a:rPr>
                <a:solidFill>
                  <a:srgbClr val="003B4F"/>
                </a:solidFill>
                <a:latin typeface="Courier"/>
              </a:rPr>
              <a:t>                        advanced_filtration </a:t>
            </a:r>
            <a:r>
              <a:rPr>
                <a:solidFill>
                  <a:srgbClr val="5E5E5E"/>
                </a:solidFill>
                <a:latin typeface="Courier"/>
              </a:rPr>
              <a:t>+</a:t>
            </a:r>
            <a:r>
              <a:rPr>
                <a:solidFill>
                  <a:srgbClr val="003B4F"/>
                </a:solidFill>
                <a:latin typeface="Courier"/>
              </a:rPr>
              <a:t> </a:t>
            </a:r>
            <a:br/>
            <a:r>
              <a:rPr>
                <a:solidFill>
                  <a:srgbClr val="003B4F"/>
                </a:solidFill>
                <a:latin typeface="Courier"/>
              </a:rPr>
              <a:t>                        facility_area </a:t>
            </a:r>
            <a:r>
              <a:rPr>
                <a:solidFill>
                  <a:srgbClr val="5E5E5E"/>
                </a:solidFill>
                <a:latin typeface="Courier"/>
              </a:rPr>
              <a:t>+</a:t>
            </a:r>
            <a:br/>
            <a:r>
              <a:rPr>
                <a:solidFill>
                  <a:srgbClr val="003B4F"/>
                </a:solidFill>
                <a:latin typeface="Courier"/>
              </a:rPr>
              <a:t>                        recycling_center_distance,</a:t>
            </a:r>
            <a:br/>
            <a:r>
              <a:rPr>
                <a:solidFill>
                  <a:srgbClr val="003B4F"/>
                </a:solidFill>
                <a:latin typeface="Courier"/>
              </a:rPr>
              <a:t>                        </a:t>
            </a:r>
            <a:r>
              <a:rPr>
                <a:solidFill>
                  <a:srgbClr val="657422"/>
                </a:solidFill>
                <a:latin typeface="Courier"/>
              </a:rPr>
              <a:t>clusters =</a:t>
            </a:r>
            <a:r>
              <a:rPr>
                <a:solidFill>
                  <a:srgbClr val="003B4F"/>
                </a:solidFill>
                <a:latin typeface="Courier"/>
              </a:rPr>
              <a:t> zone_identifier,</a:t>
            </a:r>
            <a:br/>
            <a:r>
              <a:rPr>
                <a:solidFill>
                  <a:srgbClr val="003B4F"/>
                </a:solidFill>
                <a:latin typeface="Courier"/>
              </a:rPr>
              <a:t>                        </a:t>
            </a:r>
            <a:r>
              <a:rPr>
                <a:solidFill>
                  <a:srgbClr val="657422"/>
                </a:solidFill>
                <a:latin typeface="Courier"/>
              </a:rPr>
              <a:t>data =</a:t>
            </a:r>
            <a:r>
              <a:rPr>
                <a:solidFill>
                  <a:srgbClr val="003B4F"/>
                </a:solidFill>
                <a:latin typeface="Courier"/>
              </a:rPr>
              <a:t> 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(round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p>
          <a:p>
            <a:pPr lvl="0" indent="0" marL="0">
              <a:buNone/>
            </a:pPr>
            <a:r>
              <a:rPr b="1"/>
              <a:t>ITT Results</a:t>
            </a:r>
            <a:r>
              <a:rPr/>
              <a:t>:</a:t>
            </a:r>
          </a:p>
          <a:p>
            <a:pPr lvl="0"/>
            <a:r>
              <a:rPr/>
              <a:t>Promotion directly reduces waste management costs by -387 units</a:t>
            </a:r>
          </a:p>
          <a:p>
            <a:pPr lvl="0"/>
            <a:r>
              <a:rPr/>
              <a:t>Promotion directly reduces waste management costs</a:t>
            </a:r>
          </a:p>
          <a:p>
            <a:pPr lvl="0"/>
            <a:r>
              <a:rPr/>
              <a:t>This is the policy-relevant effect of offering promotion</a:t>
            </a:r>
          </a:p>
          <a:p>
            <a:pPr lvl="0"/>
            <a:r>
              <a:rPr/>
              <a:t>But this underestimates the effect on those who actually enroll</a:t>
            </a:r>
          </a:p>
        </p:txBody>
      </p:sp>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endParaRPr/>
                    </a:p>
                  </a:txBody>
                  <a:tcPr/>
                </a:tc>
                <a:tc>
                  <a:txBody>
                    <a:bodyPr/>
                    <a:lstStyle/>
                    <a:p>
                      <a:pPr lvl="0" indent="0" marL="0" algn="ctr">
                        <a:buNone/>
                      </a:pPr>
                      <a:r>
                        <a:rPr/>
                        <a:t>No covariate adj.</a:t>
                      </a:r>
                    </a:p>
                  </a:txBody>
                  <a:tcPr/>
                </a:tc>
                <a:tc>
                  <a:txBody>
                    <a:bodyPr/>
                    <a:lstStyle/>
                    <a:p>
                      <a:pPr lvl="0" indent="0" marL="0" algn="ctr">
                        <a:buNone/>
                      </a:pPr>
                      <a:r>
                        <a:rPr/>
                        <a:t>With covariate adj.</a:t>
                      </a:r>
                    </a:p>
                  </a:txBody>
                  <a:tcPr/>
                </a:tc>
              </a:tr>
              <a:tr h="0">
                <a:tc>
                  <a:txBody>
                    <a:bodyPr/>
                    <a:lstStyle/>
                    <a:p>
                      <a:pPr lvl="0" indent="0" marL="0" algn="l">
                        <a:buNone/>
                      </a:pPr>
                      <a:r>
                        <a:rPr/>
                        <a:t>(Intercept)</a:t>
                      </a:r>
                    </a:p>
                  </a:txBody>
                </a:tc>
                <a:tc>
                  <a:txBody>
                    <a:bodyPr/>
                    <a:lstStyle/>
                    <a:p>
                      <a:pPr lvl="0" indent="0" marL="0" algn="ctr">
                        <a:buNone/>
                      </a:pPr>
                      <a:r>
                        <a:rPr/>
                        <a:t>1884.538***</a:t>
                      </a:r>
                    </a:p>
                  </a:txBody>
                </a:tc>
                <a:tc>
                  <a:txBody>
                    <a:bodyPr/>
                    <a:lstStyle/>
                    <a:p>
                      <a:pPr lvl="0" indent="0" marL="0" algn="ctr">
                        <a:buNone/>
                      </a:pPr>
                      <a:r>
                        <a:rPr/>
                        <a:t>2948.054***</a:t>
                      </a:r>
                    </a:p>
                  </a:txBody>
                </a:tc>
              </a:tr>
              <a:tr h="0">
                <a:tc>
                  <a:txBody>
                    <a:bodyPr/>
                    <a:lstStyle/>
                    <a:p>
                      <a:endParaRPr/>
                    </a:p>
                  </a:txBody>
                </a:tc>
                <a:tc>
                  <a:txBody>
                    <a:bodyPr/>
                    <a:lstStyle/>
                    <a:p>
                      <a:pPr lvl="0" indent="0" marL="0" algn="ctr">
                        <a:buNone/>
                      </a:pPr>
                      <a:r>
                        <a:rPr/>
                        <a:t>(48.382)</a:t>
                      </a:r>
                    </a:p>
                  </a:txBody>
                </a:tc>
                <a:tc>
                  <a:txBody>
                    <a:bodyPr/>
                    <a:lstStyle/>
                    <a:p>
                      <a:pPr lvl="0" indent="0" marL="0" algn="ctr">
                        <a:buNone/>
                      </a:pPr>
                      <a:r>
                        <a:rPr/>
                        <a:t>(71.439)</a:t>
                      </a:r>
                    </a:p>
                  </a:txBody>
                </a:tc>
              </a:tr>
              <a:tr h="0">
                <a:tc>
                  <a:txBody>
                    <a:bodyPr/>
                    <a:lstStyle/>
                    <a:p>
                      <a:pPr lvl="0" indent="0" marL="0" algn="l">
                        <a:buNone/>
                      </a:pPr>
                      <a:r>
                        <a:rPr/>
                        <a:t>promotion_zone</a:t>
                      </a:r>
                    </a:p>
                  </a:txBody>
                </a:tc>
                <a:tc>
                  <a:txBody>
                    <a:bodyPr/>
                    <a:lstStyle/>
                    <a:p>
                      <a:pPr lvl="0" indent="0" marL="0" algn="ctr">
                        <a:buNone/>
                      </a:pPr>
                      <a:r>
                        <a:rPr/>
                        <a:t>−387.386***</a:t>
                      </a:r>
                    </a:p>
                  </a:txBody>
                </a:tc>
                <a:tc>
                  <a:txBody>
                    <a:bodyPr/>
                    <a:lstStyle/>
                    <a:p>
                      <a:pPr lvl="0" indent="0" marL="0" algn="ctr">
                        <a:buNone/>
                      </a:pPr>
                      <a:r>
                        <a:rPr/>
                        <a:t>−402.509***</a:t>
                      </a:r>
                    </a:p>
                  </a:txBody>
                </a:tc>
              </a:tr>
              <a:tr h="0">
                <a:tc>
                  <a:txBody>
                    <a:bodyPr/>
                    <a:lstStyle/>
                    <a:p>
                      <a:endParaRPr/>
                    </a:p>
                  </a:txBody>
                </a:tc>
                <a:tc>
                  <a:txBody>
                    <a:bodyPr/>
                    <a:lstStyle/>
                    <a:p>
                      <a:pPr lvl="0" indent="0" marL="0" algn="ctr">
                        <a:buNone/>
                      </a:pPr>
                      <a:r>
                        <a:rPr/>
                        <a:t>(63.733)</a:t>
                      </a:r>
                    </a:p>
                  </a:txBody>
                </a:tc>
                <a:tc>
                  <a:txBody>
                    <a:bodyPr/>
                    <a:lstStyle/>
                    <a:p>
                      <a:pPr lvl="0" indent="0" marL="0" algn="ctr">
                        <a:buNone/>
                      </a:pPr>
                      <a:r>
                        <a:rPr/>
                        <a:t>(52.253)</a:t>
                      </a:r>
                    </a:p>
                  </a:txBody>
                </a:tc>
              </a:tr>
              <a:tr h="0">
                <a:tc>
                  <a:txBody>
                    <a:bodyPr/>
                    <a:lstStyle/>
                    <a:p>
                      <a:pPr lvl="0" indent="0" marL="0" algn="l">
                        <a:buNone/>
                      </a:pPr>
                      <a:r>
                        <a:rPr/>
                        <a:t>age_manager</a:t>
                      </a:r>
                    </a:p>
                  </a:txBody>
                </a:tc>
                <a:tc>
                  <a:txBody>
                    <a:bodyPr/>
                    <a:lstStyle/>
                    <a:p>
                      <a:endParaRPr/>
                    </a:p>
                  </a:txBody>
                </a:tc>
                <a:tc>
                  <a:txBody>
                    <a:bodyPr/>
                    <a:lstStyle/>
                    <a:p>
                      <a:pPr lvl="0" indent="0" marL="0" algn="ctr">
                        <a:buNone/>
                      </a:pPr>
                      <a:r>
                        <a:rPr/>
                        <a:t>10.505***</a:t>
                      </a:r>
                    </a:p>
                  </a:txBody>
                </a:tc>
              </a:tr>
              <a:tr h="0">
                <a:tc>
                  <a:txBody>
                    <a:bodyPr/>
                    <a:lstStyle/>
                    <a:p>
                      <a:endParaRPr/>
                    </a:p>
                  </a:txBody>
                </a:tc>
                <a:tc>
                  <a:txBody>
                    <a:bodyPr/>
                    <a:lstStyle/>
                    <a:p>
                      <a:endParaRPr/>
                    </a:p>
                  </a:txBody>
                </a:tc>
                <a:tc>
                  <a:txBody>
                    <a:bodyPr/>
                    <a:lstStyle/>
                    <a:p>
                      <a:pPr lvl="0" indent="0" marL="0" algn="ctr">
                        <a:buNone/>
                      </a:pPr>
                      <a:r>
                        <a:rPr/>
                        <a:t>(1.535)</a:t>
                      </a:r>
                    </a:p>
                  </a:txBody>
                </a:tc>
              </a:tr>
              <a:tr h="0">
                <a:tc>
                  <a:txBody>
                    <a:bodyPr/>
                    <a:lstStyle/>
                    <a:p>
                      <a:pPr lvl="0" indent="0" marL="0" algn="l">
                        <a:buNone/>
                      </a:pPr>
                      <a:r>
                        <a:rPr/>
                        <a:t>age_deputy</a:t>
                      </a:r>
                    </a:p>
                  </a:txBody>
                </a:tc>
                <a:tc>
                  <a:txBody>
                    <a:bodyPr/>
                    <a:lstStyle/>
                    <a:p>
                      <a:endParaRPr/>
                    </a:p>
                  </a:txBody>
                </a:tc>
                <a:tc>
                  <a:txBody>
                    <a:bodyPr/>
                    <a:lstStyle/>
                    <a:p>
                      <a:pPr lvl="0" indent="0" marL="0" algn="ctr">
                        <a:buNone/>
                      </a:pPr>
                      <a:r>
                        <a:rPr/>
                        <a:t>0.461</a:t>
                      </a:r>
                    </a:p>
                  </a:txBody>
                </a:tc>
              </a:tr>
              <a:tr h="0">
                <a:tc>
                  <a:txBody>
                    <a:bodyPr/>
                    <a:lstStyle/>
                    <a:p>
                      <a:endParaRPr/>
                    </a:p>
                  </a:txBody>
                </a:tc>
                <a:tc>
                  <a:txBody>
                    <a:bodyPr/>
                    <a:lstStyle/>
                    <a:p>
                      <a:endParaRPr/>
                    </a:p>
                  </a:txBody>
                </a:tc>
                <a:tc>
                  <a:txBody>
                    <a:bodyPr/>
                    <a:lstStyle/>
                    <a:p>
                      <a:pPr lvl="0" indent="0" marL="0" algn="ctr">
                        <a:buNone/>
                      </a:pPr>
                      <a:r>
                        <a:rPr/>
                        <a:t>(1.691)</a:t>
                      </a:r>
                    </a:p>
                  </a:txBody>
                </a:tc>
              </a:tr>
              <a:tr h="0">
                <a:tc>
                  <a:txBody>
                    <a:bodyPr/>
                    <a:lstStyle/>
                    <a:p>
                      <a:pPr lvl="0" indent="0" marL="0" algn="l">
                        <a:buNone/>
                      </a:pPr>
                      <a:r>
                        <a:rPr/>
                        <a:t>female_manager</a:t>
                      </a:r>
                    </a:p>
                  </a:txBody>
                </a:tc>
                <a:tc>
                  <a:txBody>
                    <a:bodyPr/>
                    <a:lstStyle/>
                    <a:p>
                      <a:endParaRPr/>
                    </a:p>
                  </a:txBody>
                </a:tc>
                <a:tc>
                  <a:txBody>
                    <a:bodyPr/>
                    <a:lstStyle/>
                    <a:p>
                      <a:pPr lvl="0" indent="0" marL="0" algn="ctr">
                        <a:buNone/>
                      </a:pPr>
                      <a:r>
                        <a:rPr/>
                        <a:t>92.953+</a:t>
                      </a:r>
                    </a:p>
                  </a:txBody>
                </a:tc>
              </a:tr>
              <a:tr h="0">
                <a:tc>
                  <a:txBody>
                    <a:bodyPr/>
                    <a:lstStyle/>
                    <a:p>
                      <a:endParaRPr/>
                    </a:p>
                  </a:txBody>
                </a:tc>
                <a:tc>
                  <a:txBody>
                    <a:bodyPr/>
                    <a:lstStyle/>
                    <a:p>
                      <a:endParaRPr/>
                    </a:p>
                  </a:txBody>
                </a:tc>
                <a:tc>
                  <a:txBody>
                    <a:bodyPr/>
                    <a:lstStyle/>
                    <a:p>
                      <a:pPr lvl="0" indent="0" marL="0" algn="ctr">
                        <a:buNone/>
                      </a:pPr>
                      <a:r>
                        <a:rPr/>
                        <a:t>(48.965)</a:t>
                      </a:r>
                    </a:p>
                  </a:txBody>
                </a:tc>
              </a:tr>
              <a:tr h="0">
                <a:tc>
                  <a:txBody>
                    <a:bodyPr/>
                    <a:lstStyle/>
                    <a:p>
                      <a:pPr lvl="0" indent="0" marL="0" algn="l">
                        <a:buNone/>
                      </a:pPr>
                      <a:r>
                        <a:rPr/>
                        <a:t>foreign_owned</a:t>
                      </a:r>
                    </a:p>
                  </a:txBody>
                </a:tc>
                <a:tc>
                  <a:txBody>
                    <a:bodyPr/>
                    <a:lstStyle/>
                    <a:p>
                      <a:endParaRPr/>
                    </a:p>
                  </a:txBody>
                </a:tc>
                <a:tc>
                  <a:txBody>
                    <a:bodyPr/>
                    <a:lstStyle/>
                    <a:p>
                      <a:pPr lvl="0" indent="0" marL="0" algn="ctr">
                        <a:buNone/>
                      </a:pPr>
                      <a:r>
                        <a:rPr/>
                        <a:t>−317.771***</a:t>
                      </a:r>
                    </a:p>
                  </a:txBody>
                </a:tc>
              </a:tr>
              <a:tr h="0">
                <a:tc>
                  <a:txBody>
                    <a:bodyPr/>
                    <a:lstStyle/>
                    <a:p>
                      <a:endParaRPr/>
                    </a:p>
                  </a:txBody>
                </a:tc>
                <a:tc>
                  <a:txBody>
                    <a:bodyPr/>
                    <a:lstStyle/>
                    <a:p>
                      <a:endParaRPr/>
                    </a:p>
                  </a:txBody>
                </a:tc>
                <a:tc>
                  <a:txBody>
                    <a:bodyPr/>
                    <a:lstStyle/>
                    <a:p>
                      <a:pPr lvl="0" indent="0" marL="0" algn="ctr">
                        <a:buNone/>
                      </a:pPr>
                      <a:r>
                        <a:rPr/>
                        <a:t>(47.308)</a:t>
                      </a:r>
                    </a:p>
                  </a:txBody>
                </a:tc>
              </a:tr>
              <a:tr h="0">
                <a:tc>
                  <a:txBody>
                    <a:bodyPr/>
                    <a:lstStyle/>
                    <a:p>
                      <a:pPr lvl="0" indent="0" marL="0" algn="l">
                        <a:buNone/>
                      </a:pPr>
                      <a:r>
                        <a:rPr/>
                        <a:t>staff_size</a:t>
                      </a:r>
                    </a:p>
                  </a:txBody>
                </a:tc>
                <a:tc>
                  <a:txBody>
                    <a:bodyPr/>
                    <a:lstStyle/>
                    <a:p>
                      <a:endParaRPr/>
                    </a:p>
                  </a:txBody>
                </a:tc>
                <a:tc>
                  <a:txBody>
                    <a:bodyPr/>
                    <a:lstStyle/>
                    <a:p>
                      <a:pPr lvl="0" indent="0" marL="0" algn="ctr">
                        <a:buNone/>
                      </a:pPr>
                      <a:r>
                        <a:rPr/>
                        <a:t>−238.508***</a:t>
                      </a:r>
                    </a:p>
                  </a:txBody>
                </a:tc>
              </a:tr>
              <a:tr h="0">
                <a:tc>
                  <a:txBody>
                    <a:bodyPr/>
                    <a:lstStyle/>
                    <a:p>
                      <a:endParaRPr/>
                    </a:p>
                  </a:txBody>
                </a:tc>
                <a:tc>
                  <a:txBody>
                    <a:bodyPr/>
                    <a:lstStyle/>
                    <a:p>
                      <a:endParaRPr/>
                    </a:p>
                  </a:txBody>
                </a:tc>
                <a:tc>
                  <a:txBody>
                    <a:bodyPr/>
                    <a:lstStyle/>
                    <a:p>
                      <a:pPr lvl="0" indent="0" marL="0" algn="ctr">
                        <a:buNone/>
                      </a:pPr>
                      <a:r>
                        <a:rPr/>
                        <a:t>(7.040)</a:t>
                      </a:r>
                    </a:p>
                  </a:txBody>
                </a:tc>
              </a:tr>
              <a:tr h="0">
                <a:tc>
                  <a:txBody>
                    <a:bodyPr/>
                    <a:lstStyle/>
                    <a:p>
                      <a:pPr lvl="0" indent="0" marL="0" algn="l">
                        <a:buNone/>
                      </a:pPr>
                      <a:r>
                        <a:rPr/>
                        <a:t>advanced_filtration</a:t>
                      </a:r>
                    </a:p>
                  </a:txBody>
                </a:tc>
                <a:tc>
                  <a:txBody>
                    <a:bodyPr/>
                    <a:lstStyle/>
                    <a:p>
                      <a:endParaRPr/>
                    </a:p>
                  </a:txBody>
                </a:tc>
                <a:tc>
                  <a:txBody>
                    <a:bodyPr/>
                    <a:lstStyle/>
                    <a:p>
                      <a:pPr lvl="0" indent="0" marL="0" algn="ctr">
                        <a:buNone/>
                      </a:pPr>
                      <a:r>
                        <a:rPr/>
                        <a:t>−323.317***</a:t>
                      </a:r>
                    </a:p>
                  </a:txBody>
                </a:tc>
              </a:tr>
              <a:tr h="0">
                <a:tc>
                  <a:txBody>
                    <a:bodyPr/>
                    <a:lstStyle/>
                    <a:p>
                      <a:endParaRPr/>
                    </a:p>
                  </a:txBody>
                </a:tc>
                <a:tc>
                  <a:txBody>
                    <a:bodyPr/>
                    <a:lstStyle/>
                    <a:p>
                      <a:endParaRPr/>
                    </a:p>
                  </a:txBody>
                </a:tc>
                <a:tc>
                  <a:txBody>
                    <a:bodyPr/>
                    <a:lstStyle/>
                    <a:p>
                      <a:pPr lvl="0" indent="0" marL="0" algn="ctr">
                        <a:buNone/>
                      </a:pPr>
                      <a:r>
                        <a:rPr/>
                        <a:t>(31.162)</a:t>
                      </a:r>
                    </a:p>
                  </a:txBody>
                </a:tc>
              </a:tr>
              <a:tr h="0">
                <a:tc>
                  <a:txBody>
                    <a:bodyPr/>
                    <a:lstStyle/>
                    <a:p>
                      <a:pPr lvl="0" indent="0" marL="0" algn="l">
                        <a:buNone/>
                      </a:pPr>
                      <a:r>
                        <a:rPr/>
                        <a:t>facility_area</a:t>
                      </a:r>
                    </a:p>
                  </a:txBody>
                </a:tc>
                <a:tc>
                  <a:txBody>
                    <a:bodyPr/>
                    <a:lstStyle/>
                    <a:p>
                      <a:endParaRPr/>
                    </a:p>
                  </a:txBody>
                </a:tc>
                <a:tc>
                  <a:txBody>
                    <a:bodyPr/>
                    <a:lstStyle/>
                    <a:p>
                      <a:pPr lvl="0" indent="0" marL="0" algn="ctr">
                        <a:buNone/>
                      </a:pPr>
                      <a:r>
                        <a:rPr/>
                        <a:t>15.568**</a:t>
                      </a:r>
                    </a:p>
                  </a:txBody>
                </a:tc>
              </a:tr>
              <a:tr h="0">
                <a:tc>
                  <a:txBody>
                    <a:bodyPr/>
                    <a:lstStyle/>
                    <a:p>
                      <a:endParaRPr/>
                    </a:p>
                  </a:txBody>
                </a:tc>
                <a:tc>
                  <a:txBody>
                    <a:bodyPr/>
                    <a:lstStyle/>
                    <a:p>
                      <a:endParaRPr/>
                    </a:p>
                  </a:txBody>
                </a:tc>
                <a:tc>
                  <a:txBody>
                    <a:bodyPr/>
                    <a:lstStyle/>
                    <a:p>
                      <a:pPr lvl="0" indent="0" marL="0" algn="ctr">
                        <a:buNone/>
                      </a:pPr>
                      <a:r>
                        <a:rPr/>
                        <a:t>(4.790)</a:t>
                      </a:r>
                    </a:p>
                  </a:txBody>
                </a:tc>
              </a:tr>
              <a:tr h="0">
                <a:tc>
                  <a:txBody>
                    <a:bodyPr/>
                    <a:lstStyle/>
                    <a:p>
                      <a:pPr lvl="0" indent="0" marL="0" algn="l">
                        <a:buNone/>
                      </a:pPr>
                      <a:r>
                        <a:rPr/>
                        <a:t>recycling_center_distance</a:t>
                      </a:r>
                    </a:p>
                  </a:txBody>
                </a:tc>
                <a:tc>
                  <a:txBody>
                    <a:bodyPr/>
                    <a:lstStyle/>
                    <a:p>
                      <a:endParaRPr/>
                    </a:p>
                  </a:txBody>
                </a:tc>
                <a:tc>
                  <a:txBody>
                    <a:bodyPr/>
                    <a:lstStyle/>
                    <a:p>
                      <a:pPr lvl="0" indent="0" marL="0" algn="ctr">
                        <a:buNone/>
                      </a:pPr>
                      <a:r>
                        <a:rPr/>
                        <a:t>−0.658</a:t>
                      </a:r>
                    </a:p>
                  </a:txBody>
                </a:tc>
              </a:tr>
              <a:tr h="0">
                <a:tc>
                  <a:txBody>
                    <a:bodyPr/>
                    <a:lstStyle/>
                    <a:p>
                      <a:endParaRPr/>
                    </a:p>
                  </a:txBody>
                </a:tc>
                <a:tc>
                  <a:txBody>
                    <a:bodyPr/>
                    <a:lstStyle/>
                    <a:p>
                      <a:endParaRPr/>
                    </a:p>
                  </a:txBody>
                </a:tc>
                <a:tc>
                  <a:txBody>
                    <a:bodyPr/>
                    <a:lstStyle/>
                    <a:p>
                      <a:pPr lvl="0" indent="0" marL="0" algn="ctr">
                        <a:buNone/>
                      </a:pPr>
                      <a:r>
                        <a:rPr/>
                        <a:t>(0.526)</a:t>
                      </a:r>
                    </a:p>
                  </a:txBody>
                </a:tc>
              </a:tr>
              <a:tr h="0">
                <a:tc>
                  <a:txBody>
                    <a:bodyPr/>
                    <a:lstStyle/>
                    <a:p>
                      <a:pPr lvl="0" indent="0" marL="0" algn="l">
                        <a:buNone/>
                      </a:pPr>
                      <a:r>
                        <a:rPr/>
                        <a:t>Num.Obs.</a:t>
                      </a:r>
                    </a:p>
                  </a:txBody>
                </a:tc>
                <a:tc>
                  <a:txBody>
                    <a:bodyPr/>
                    <a:lstStyle/>
                    <a:p>
                      <a:pPr lvl="0" indent="0" marL="0" algn="ctr">
                        <a:buNone/>
                      </a:pPr>
                      <a:r>
                        <a:rPr/>
                        <a:t>9914</a:t>
                      </a:r>
                    </a:p>
                  </a:txBody>
                </a:tc>
                <a:tc>
                  <a:txBody>
                    <a:bodyPr/>
                    <a:lstStyle/>
                    <a:p>
                      <a:pPr lvl="0" indent="0" marL="0" algn="ctr">
                        <a:buNone/>
                      </a:pPr>
                      <a:r>
                        <a:rPr/>
                        <a:t>9914</a:t>
                      </a:r>
                    </a:p>
                  </a:txBody>
                </a:tc>
              </a:tr>
              <a:tr h="0">
                <a:tc>
                  <a:txBody>
                    <a:bodyPr/>
                    <a:lstStyle/>
                    <a:p>
                      <a:pPr lvl="0" indent="0" marL="0" algn="l">
                        <a:buNone/>
                      </a:pPr>
                      <a:r>
                        <a:rPr/>
                        <a:t>R2</a:t>
                      </a:r>
                    </a:p>
                  </a:txBody>
                </a:tc>
                <a:tc>
                  <a:txBody>
                    <a:bodyPr/>
                    <a:lstStyle/>
                    <a:p>
                      <a:pPr lvl="0" indent="0" marL="0" algn="ctr">
                        <a:buNone/>
                      </a:pPr>
                      <a:r>
                        <a:rPr/>
                        <a:t>0.027</a:t>
                      </a:r>
                    </a:p>
                  </a:txBody>
                </a:tc>
                <a:tc>
                  <a:txBody>
                    <a:bodyPr/>
                    <a:lstStyle/>
                    <a:p>
                      <a:pPr lvl="0" indent="0" marL="0" algn="ctr">
                        <a:buNone/>
                      </a:pPr>
                      <a:r>
                        <a:rPr/>
                        <a:t>0.304</a:t>
                      </a:r>
                    </a:p>
                  </a:txBody>
                </a:tc>
              </a:tr>
              <a:tr h="0">
                <a:tc>
                  <a:txBody>
                    <a:bodyPr/>
                    <a:lstStyle/>
                    <a:p>
                      <a:pPr lvl="0" indent="0" marL="0" algn="l">
                        <a:buNone/>
                      </a:pPr>
                      <a:r>
                        <a:rPr/>
                        <a:t>R2 Adj.</a:t>
                      </a:r>
                    </a:p>
                  </a:txBody>
                </a:tc>
                <a:tc>
                  <a:txBody>
                    <a:bodyPr/>
                    <a:lstStyle/>
                    <a:p>
                      <a:pPr lvl="0" indent="0" marL="0" algn="ctr">
                        <a:buNone/>
                      </a:pPr>
                      <a:r>
                        <a:rPr/>
                        <a:t>0.026</a:t>
                      </a:r>
                    </a:p>
                  </a:txBody>
                </a:tc>
                <a:tc>
                  <a:txBody>
                    <a:bodyPr/>
                    <a:lstStyle/>
                    <a:p>
                      <a:pPr lvl="0" indent="0" marL="0" algn="ctr">
                        <a:buNone/>
                      </a:pPr>
                      <a:r>
                        <a:rPr/>
                        <a:t>0.304</a:t>
                      </a:r>
                    </a:p>
                  </a:txBody>
                </a:tc>
              </a:tr>
              <a:tr h="0">
                <a:tc>
                  <a:txBody>
                    <a:bodyPr/>
                    <a:lstStyle/>
                    <a:p>
                      <a:pPr lvl="0" indent="0" marL="0" algn="l">
                        <a:buNone/>
                      </a:pPr>
                      <a:r>
                        <a:rPr/>
                        <a:t> + p &lt; 0.1, * p &lt; 0.05, ** p &lt; 0.01, *** p &lt; 0.001</a:t>
                      </a:r>
                    </a:p>
                  </a:txBody>
                </a:tc>
                <a:tc>
                  <a:txBody>
                    <a:bodyPr/>
                    <a:lstStyle/>
                    <a:p>
                      <a:endParaRPr/>
                    </a:p>
                  </a:txBody>
                </a:tc>
                <a:tc>
                  <a:txBody>
                    <a:bodyPr/>
                    <a:lstStyle/>
                    <a:p>
                      <a:endParaRPr/>
                    </a:p>
                  </a:txBody>
                </a:tc>
              </a:tr>
            </a:tbl>
          </a:graphicData>
        </a:graphic>
      </p:graphicFrame>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Local Average Treatment Effect (LATE)</a:t>
            </a:r>
          </a:p>
        </p:txBody>
      </p:sp>
      <p:sp>
        <p:nvSpPr>
          <p:cNvPr id="3" name="Content Placeholder 2"/>
          <p:cNvSpPr>
            <a:spLocks noGrp="1"/>
          </p:cNvSpPr>
          <p:nvPr>
            <p:ph idx="1"/>
          </p:nvPr>
        </p:nvSpPr>
        <p:spPr/>
        <p:txBody>
          <a:bodyPr/>
          <a:lstStyle/>
          <a:p>
            <a:pPr lvl="0" indent="0" marL="0">
              <a:buNone/>
            </a:pPr>
            <a:r>
              <a:rPr/>
              <a:t>We still don’t know the effect of the participation on outcomes, which is what we want. To get the estimate of interest (effect of participation on outcomes), we need to divide the “reduced form” (the effect of encouragement on outcomes) by the first stage (effect of encouragement on participation).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a:buNone/>
            </a:pPr>
            <a:r>
              <a:rPr>
                <a:solidFill>
                  <a:srgbClr val="5E5E5E"/>
                </a:solidFill>
                <a:latin typeface="Courier"/>
              </a:rPr>
              <a:t># Estimate LATE using IV regression (2SLS)</a:t>
            </a:r>
            <a:br/>
            <a:r>
              <a:rPr>
                <a:solidFill>
                  <a:srgbClr val="003B4F"/>
                </a:solidFill>
                <a:latin typeface="Courier"/>
              </a:rPr>
              <a:t>m_late &lt;- </a:t>
            </a:r>
            <a:r>
              <a:rPr>
                <a:solidFill>
                  <a:srgbClr val="4758AB"/>
                </a:solidFill>
                <a:latin typeface="Courier"/>
              </a:rPr>
              <a:t>iv_robust</a:t>
            </a:r>
            <a:r>
              <a:rPr>
                <a:solidFill>
                  <a:srgbClr val="003B4F"/>
                </a:solidFill>
                <a:latin typeface="Courier"/>
              </a:rPr>
              <a:t>(waste_management_costs </a:t>
            </a:r>
            <a:r>
              <a:rPr>
                <a:solidFill>
                  <a:srgbClr val="5E5E5E"/>
                </a:solidFill>
                <a:latin typeface="Courier"/>
              </a:rPr>
              <a:t>~</a:t>
            </a:r>
            <a:r>
              <a:rPr>
                <a:solidFill>
                  <a:srgbClr val="003B4F"/>
                </a:solidFill>
                <a:latin typeface="Courier"/>
              </a:rPr>
              <a:t> enrolled_rp </a:t>
            </a:r>
            <a:r>
              <a:rPr>
                <a:solidFill>
                  <a:srgbClr val="5E5E5E"/>
                </a:solidFill>
                <a:latin typeface="Courier"/>
              </a:rPr>
              <a:t>|</a:t>
            </a:r>
            <a:br/>
            <a:r>
              <a:rPr>
                <a:solidFill>
                  <a:srgbClr val="003B4F"/>
                </a:solidFill>
                <a:latin typeface="Courier"/>
              </a:rPr>
              <a:t>                     promotion_zone,</a:t>
            </a:r>
            <a:br/>
            <a:r>
              <a:rPr>
                <a:solidFill>
                  <a:srgbClr val="003B4F"/>
                </a:solidFill>
                <a:latin typeface="Courier"/>
              </a:rPr>
              <a:t>                   </a:t>
            </a:r>
            <a:r>
              <a:rPr>
                <a:solidFill>
                  <a:srgbClr val="657422"/>
                </a:solidFill>
                <a:latin typeface="Courier"/>
              </a:rPr>
              <a:t>clusters =</a:t>
            </a:r>
            <a:r>
              <a:rPr>
                <a:solidFill>
                  <a:srgbClr val="003B4F"/>
                </a:solidFill>
                <a:latin typeface="Courier"/>
              </a:rPr>
              <a:t> zone_identifier,</a:t>
            </a:r>
            <a:br/>
            <a:r>
              <a:rPr>
                <a:solidFill>
                  <a:srgbClr val="003B4F"/>
                </a:solidFill>
                <a:latin typeface="Courier"/>
              </a:rPr>
              <a:t>                   </a:t>
            </a:r>
            <a:r>
              <a:rPr>
                <a:solidFill>
                  <a:srgbClr val="657422"/>
                </a:solidFill>
                <a:latin typeface="Courier"/>
              </a:rPr>
              <a:t>data =</a:t>
            </a:r>
            <a:r>
              <a:rPr>
                <a:solidFill>
                  <a:srgbClr val="003B4F"/>
                </a:solidFill>
                <a:latin typeface="Courier"/>
              </a:rPr>
              <a:t> 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(round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br/>
            <a:br/>
            <a:r>
              <a:rPr>
                <a:solidFill>
                  <a:srgbClr val="5E5E5E"/>
                </a:solidFill>
                <a:latin typeface="Courier"/>
              </a:rPr>
              <a:t># With covariate adjustment</a:t>
            </a:r>
            <a:br/>
            <a:r>
              <a:rPr>
                <a:solidFill>
                  <a:srgbClr val="003B4F"/>
                </a:solidFill>
                <a:latin typeface="Courier"/>
              </a:rPr>
              <a:t>m_late_wcov &lt;- </a:t>
            </a:r>
            <a:r>
              <a:rPr>
                <a:solidFill>
                  <a:srgbClr val="4758AB"/>
                </a:solidFill>
                <a:latin typeface="Courier"/>
              </a:rPr>
              <a:t>iv_robust</a:t>
            </a:r>
            <a:r>
              <a:rPr>
                <a:solidFill>
                  <a:srgbClr val="003B4F"/>
                </a:solidFill>
                <a:latin typeface="Courier"/>
              </a:rPr>
              <a:t>(waste_management_costs </a:t>
            </a:r>
            <a:r>
              <a:rPr>
                <a:solidFill>
                  <a:srgbClr val="5E5E5E"/>
                </a:solidFill>
                <a:latin typeface="Courier"/>
              </a:rPr>
              <a:t>~</a:t>
            </a:r>
            <a:r>
              <a:rPr>
                <a:solidFill>
                  <a:srgbClr val="003B4F"/>
                </a:solidFill>
                <a:latin typeface="Courier"/>
              </a:rPr>
              <a:t> enrolled_rp </a:t>
            </a:r>
            <a:r>
              <a:rPr>
                <a:solidFill>
                  <a:srgbClr val="5E5E5E"/>
                </a:solidFill>
                <a:latin typeface="Courier"/>
              </a:rPr>
              <a:t>+</a:t>
            </a:r>
            <a:r>
              <a:rPr>
                <a:solidFill>
                  <a:srgbClr val="003B4F"/>
                </a:solidFill>
                <a:latin typeface="Courier"/>
              </a:rPr>
              <a:t> </a:t>
            </a:r>
            <a:br/>
            <a:r>
              <a:rPr>
                <a:solidFill>
                  <a:srgbClr val="003B4F"/>
                </a:solidFill>
                <a:latin typeface="Courier"/>
              </a:rPr>
              <a:t>                         age_manager </a:t>
            </a:r>
            <a:r>
              <a:rPr>
                <a:solidFill>
                  <a:srgbClr val="5E5E5E"/>
                </a:solidFill>
                <a:latin typeface="Courier"/>
              </a:rPr>
              <a:t>+</a:t>
            </a:r>
            <a:r>
              <a:rPr>
                <a:solidFill>
                  <a:srgbClr val="003B4F"/>
                </a:solidFill>
                <a:latin typeface="Courier"/>
              </a:rPr>
              <a:t> age_deputy </a:t>
            </a:r>
            <a:r>
              <a:rPr>
                <a:solidFill>
                  <a:srgbClr val="5E5E5E"/>
                </a:solidFill>
                <a:latin typeface="Courier"/>
              </a:rPr>
              <a:t>+</a:t>
            </a:r>
            <a:br/>
            <a:r>
              <a:rPr>
                <a:solidFill>
                  <a:srgbClr val="003B4F"/>
                </a:solidFill>
                <a:latin typeface="Courier"/>
              </a:rPr>
              <a:t>                         female_manager </a:t>
            </a:r>
            <a:r>
              <a:rPr>
                <a:solidFill>
                  <a:srgbClr val="5E5E5E"/>
                </a:solidFill>
                <a:latin typeface="Courier"/>
              </a:rPr>
              <a:t>+</a:t>
            </a:r>
            <a:r>
              <a:rPr>
                <a:solidFill>
                  <a:srgbClr val="003B4F"/>
                </a:solidFill>
                <a:latin typeface="Courier"/>
              </a:rPr>
              <a:t> foreign_owned </a:t>
            </a:r>
            <a:r>
              <a:rPr>
                <a:solidFill>
                  <a:srgbClr val="5E5E5E"/>
                </a:solidFill>
                <a:latin typeface="Courier"/>
              </a:rPr>
              <a:t>+</a:t>
            </a:r>
            <a:r>
              <a:rPr>
                <a:solidFill>
                  <a:srgbClr val="003B4F"/>
                </a:solidFill>
                <a:latin typeface="Courier"/>
              </a:rPr>
              <a:t> </a:t>
            </a:r>
            <a:br/>
            <a:r>
              <a:rPr>
                <a:solidFill>
                  <a:srgbClr val="003B4F"/>
                </a:solidFill>
                <a:latin typeface="Courier"/>
              </a:rPr>
              <a:t>                         staff_size </a:t>
            </a:r>
            <a:r>
              <a:rPr>
                <a:solidFill>
                  <a:srgbClr val="5E5E5E"/>
                </a:solidFill>
                <a:latin typeface="Courier"/>
              </a:rPr>
              <a:t>+</a:t>
            </a:r>
            <a:br/>
            <a:r>
              <a:rPr>
                <a:solidFill>
                  <a:srgbClr val="003B4F"/>
                </a:solidFill>
                <a:latin typeface="Courier"/>
              </a:rPr>
              <a:t>                         advanced_filtration </a:t>
            </a:r>
            <a:r>
              <a:rPr>
                <a:solidFill>
                  <a:srgbClr val="5E5E5E"/>
                </a:solidFill>
                <a:latin typeface="Courier"/>
              </a:rPr>
              <a:t>+</a:t>
            </a:r>
            <a:r>
              <a:rPr>
                <a:solidFill>
                  <a:srgbClr val="003B4F"/>
                </a:solidFill>
                <a:latin typeface="Courier"/>
              </a:rPr>
              <a:t> </a:t>
            </a:r>
            <a:br/>
            <a:r>
              <a:rPr>
                <a:solidFill>
                  <a:srgbClr val="003B4F"/>
                </a:solidFill>
                <a:latin typeface="Courier"/>
              </a:rPr>
              <a:t>                         facility_area </a:t>
            </a:r>
            <a:r>
              <a:rPr>
                <a:solidFill>
                  <a:srgbClr val="5E5E5E"/>
                </a:solidFill>
                <a:latin typeface="Courier"/>
              </a:rPr>
              <a:t>+</a:t>
            </a:r>
            <a:br/>
            <a:r>
              <a:rPr>
                <a:solidFill>
                  <a:srgbClr val="003B4F"/>
                </a:solidFill>
                <a:latin typeface="Courier"/>
              </a:rPr>
              <a:t>                         recycling_center_distance </a:t>
            </a:r>
            <a:r>
              <a:rPr>
                <a:solidFill>
                  <a:srgbClr val="5E5E5E"/>
                </a:solidFill>
                <a:latin typeface="Courier"/>
              </a:rPr>
              <a:t>|</a:t>
            </a:r>
            <a:r>
              <a:rPr>
                <a:solidFill>
                  <a:srgbClr val="003B4F"/>
                </a:solidFill>
                <a:latin typeface="Courier"/>
              </a:rPr>
              <a:t> </a:t>
            </a:r>
            <a:br/>
            <a:r>
              <a:rPr>
                <a:solidFill>
                  <a:srgbClr val="003B4F"/>
                </a:solidFill>
                <a:latin typeface="Courier"/>
              </a:rPr>
              <a:t>                         promotion_zone </a:t>
            </a:r>
            <a:r>
              <a:rPr>
                <a:solidFill>
                  <a:srgbClr val="5E5E5E"/>
                </a:solidFill>
                <a:latin typeface="Courier"/>
              </a:rPr>
              <a:t>+</a:t>
            </a:r>
            <a:r>
              <a:rPr>
                <a:solidFill>
                  <a:srgbClr val="003B4F"/>
                </a:solidFill>
                <a:latin typeface="Courier"/>
              </a:rPr>
              <a:t> </a:t>
            </a:r>
            <a:br/>
            <a:r>
              <a:rPr>
                <a:solidFill>
                  <a:srgbClr val="003B4F"/>
                </a:solidFill>
                <a:latin typeface="Courier"/>
              </a:rPr>
              <a:t>                         age_manager </a:t>
            </a:r>
            <a:r>
              <a:rPr>
                <a:solidFill>
                  <a:srgbClr val="5E5E5E"/>
                </a:solidFill>
                <a:latin typeface="Courier"/>
              </a:rPr>
              <a:t>+</a:t>
            </a:r>
            <a:r>
              <a:rPr>
                <a:solidFill>
                  <a:srgbClr val="003B4F"/>
                </a:solidFill>
                <a:latin typeface="Courier"/>
              </a:rPr>
              <a:t> age_deputy </a:t>
            </a:r>
            <a:r>
              <a:rPr>
                <a:solidFill>
                  <a:srgbClr val="5E5E5E"/>
                </a:solidFill>
                <a:latin typeface="Courier"/>
              </a:rPr>
              <a:t>+</a:t>
            </a:r>
            <a:br/>
            <a:r>
              <a:rPr>
                <a:solidFill>
                  <a:srgbClr val="003B4F"/>
                </a:solidFill>
                <a:latin typeface="Courier"/>
              </a:rPr>
              <a:t>                         female_manager </a:t>
            </a:r>
            <a:r>
              <a:rPr>
                <a:solidFill>
                  <a:srgbClr val="5E5E5E"/>
                </a:solidFill>
                <a:latin typeface="Courier"/>
              </a:rPr>
              <a:t>+</a:t>
            </a:r>
            <a:r>
              <a:rPr>
                <a:solidFill>
                  <a:srgbClr val="003B4F"/>
                </a:solidFill>
                <a:latin typeface="Courier"/>
              </a:rPr>
              <a:t> foreign_owned </a:t>
            </a:r>
            <a:r>
              <a:rPr>
                <a:solidFill>
                  <a:srgbClr val="5E5E5E"/>
                </a:solidFill>
                <a:latin typeface="Courier"/>
              </a:rPr>
              <a:t>+</a:t>
            </a:r>
            <a:r>
              <a:rPr>
                <a:solidFill>
                  <a:srgbClr val="003B4F"/>
                </a:solidFill>
                <a:latin typeface="Courier"/>
              </a:rPr>
              <a:t> </a:t>
            </a:r>
            <a:br/>
            <a:r>
              <a:rPr>
                <a:solidFill>
                  <a:srgbClr val="003B4F"/>
                </a:solidFill>
                <a:latin typeface="Courier"/>
              </a:rPr>
              <a:t>                         staff_size </a:t>
            </a:r>
            <a:r>
              <a:rPr>
                <a:solidFill>
                  <a:srgbClr val="5E5E5E"/>
                </a:solidFill>
                <a:latin typeface="Courier"/>
              </a:rPr>
              <a:t>+</a:t>
            </a:r>
            <a:br/>
            <a:r>
              <a:rPr>
                <a:solidFill>
                  <a:srgbClr val="003B4F"/>
                </a:solidFill>
                <a:latin typeface="Courier"/>
              </a:rPr>
              <a:t>                         advanced_filtration </a:t>
            </a:r>
            <a:r>
              <a:rPr>
                <a:solidFill>
                  <a:srgbClr val="5E5E5E"/>
                </a:solidFill>
                <a:latin typeface="Courier"/>
              </a:rPr>
              <a:t>+</a:t>
            </a:r>
            <a:r>
              <a:rPr>
                <a:solidFill>
                  <a:srgbClr val="003B4F"/>
                </a:solidFill>
                <a:latin typeface="Courier"/>
              </a:rPr>
              <a:t> facility_area </a:t>
            </a:r>
            <a:r>
              <a:rPr>
                <a:solidFill>
                  <a:srgbClr val="5E5E5E"/>
                </a:solidFill>
                <a:latin typeface="Courier"/>
              </a:rPr>
              <a:t>+</a:t>
            </a:r>
            <a:br/>
            <a:r>
              <a:rPr>
                <a:solidFill>
                  <a:srgbClr val="003B4F"/>
                </a:solidFill>
                <a:latin typeface="Courier"/>
              </a:rPr>
              <a:t>                         recycling_center_distance,</a:t>
            </a:r>
            <a:br/>
            <a:r>
              <a:rPr>
                <a:solidFill>
                  <a:srgbClr val="003B4F"/>
                </a:solidFill>
                <a:latin typeface="Courier"/>
              </a:rPr>
              <a:t>                         </a:t>
            </a:r>
            <a:r>
              <a:rPr>
                <a:solidFill>
                  <a:srgbClr val="657422"/>
                </a:solidFill>
                <a:latin typeface="Courier"/>
              </a:rPr>
              <a:t>clusters =</a:t>
            </a:r>
            <a:r>
              <a:rPr>
                <a:solidFill>
                  <a:srgbClr val="003B4F"/>
                </a:solidFill>
                <a:latin typeface="Courier"/>
              </a:rPr>
              <a:t> zone_identifier,</a:t>
            </a:r>
            <a:br/>
            <a:r>
              <a:rPr>
                <a:solidFill>
                  <a:srgbClr val="003B4F"/>
                </a:solidFill>
                <a:latin typeface="Courier"/>
              </a:rPr>
              <a:t>                         </a:t>
            </a:r>
            <a:r>
              <a:rPr>
                <a:solidFill>
                  <a:srgbClr val="657422"/>
                </a:solidFill>
                <a:latin typeface="Courier"/>
              </a:rPr>
              <a:t>data =</a:t>
            </a:r>
            <a:r>
              <a:rPr>
                <a:solidFill>
                  <a:srgbClr val="003B4F"/>
                </a:solidFill>
                <a:latin typeface="Courier"/>
              </a:rPr>
              <a:t> df </a:t>
            </a:r>
            <a:r>
              <a:rPr>
                <a:solidFill>
                  <a:srgbClr val="5E5E5E"/>
                </a:solidFill>
                <a:latin typeface="Courier"/>
              </a:rPr>
              <a:t>%&gt;%</a:t>
            </a:r>
            <a:r>
              <a:rPr>
                <a:solidFill>
                  <a:srgbClr val="003B4F"/>
                </a:solidFill>
                <a:latin typeface="Courier"/>
              </a:rPr>
              <a:t> </a:t>
            </a:r>
            <a:r>
              <a:rPr>
                <a:solidFill>
                  <a:srgbClr val="4758AB"/>
                </a:solidFill>
                <a:latin typeface="Courier"/>
              </a:rPr>
              <a:t>filter</a:t>
            </a:r>
            <a:r>
              <a:rPr>
                <a:solidFill>
                  <a:srgbClr val="003B4F"/>
                </a:solidFill>
                <a:latin typeface="Courier"/>
              </a:rPr>
              <a:t>(round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003B4F"/>
                </a:solidFill>
                <a:latin typeface="Courier"/>
              </a:rPr>
              <a:t>))</a:t>
            </a:r>
          </a:p>
        </p:txBody>
      </p:sp>
      <p:graphicFrame>
        <p:nvGraphicFramePr>
          <p:cNvPr id="6" name="Content Placeholder 5"/>
          <p:cNvGraphicFramePr>
            <a:graphicFrameLocks noGrp="1"/>
          </p:cNvGraphicFramePr>
          <p:nvPr>
            <p:ph idx="1"/>
          </p:nvPr>
        </p:nvGraphicFramePr>
        <p:xfrm>
          <a:off x="4648200" y="1193800"/>
          <a:ext cx="4038600" cy="33909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endParaRPr/>
                    </a:p>
                  </a:txBody>
                  <a:tcPr/>
                </a:tc>
                <a:tc>
                  <a:txBody>
                    <a:bodyPr/>
                    <a:lstStyle/>
                    <a:p>
                      <a:pPr lvl="0" indent="0" marL="0" algn="ctr">
                        <a:buNone/>
                      </a:pPr>
                      <a:r>
                        <a:rPr/>
                        <a:t>No covariate adj.</a:t>
                      </a:r>
                    </a:p>
                  </a:txBody>
                  <a:tcPr/>
                </a:tc>
                <a:tc>
                  <a:txBody>
                    <a:bodyPr/>
                    <a:lstStyle/>
                    <a:p>
                      <a:pPr lvl="0" indent="0" marL="0" algn="ctr">
                        <a:buNone/>
                      </a:pPr>
                      <a:r>
                        <a:rPr/>
                        <a:t>With covariate adj.</a:t>
                      </a:r>
                    </a:p>
                  </a:txBody>
                  <a:tcPr/>
                </a:tc>
              </a:tr>
              <a:tr h="0">
                <a:tc>
                  <a:txBody>
                    <a:bodyPr/>
                    <a:lstStyle/>
                    <a:p>
                      <a:pPr lvl="0" indent="0" marL="0" algn="l">
                        <a:buNone/>
                      </a:pPr>
                      <a:r>
                        <a:rPr/>
                        <a:t>(Intercept)</a:t>
                      </a:r>
                    </a:p>
                  </a:txBody>
                </a:tc>
                <a:tc>
                  <a:txBody>
                    <a:bodyPr/>
                    <a:lstStyle/>
                    <a:p>
                      <a:pPr lvl="0" indent="0" marL="0" algn="ctr">
                        <a:buNone/>
                      </a:pPr>
                      <a:r>
                        <a:rPr/>
                        <a:t>1964.571***</a:t>
                      </a:r>
                    </a:p>
                  </a:txBody>
                </a:tc>
                <a:tc>
                  <a:txBody>
                    <a:bodyPr/>
                    <a:lstStyle/>
                    <a:p>
                      <a:pPr lvl="0" indent="0" marL="0" algn="ctr">
                        <a:buNone/>
                      </a:pPr>
                      <a:r>
                        <a:rPr/>
                        <a:t>2938.574***</a:t>
                      </a:r>
                    </a:p>
                  </a:txBody>
                </a:tc>
              </a:tr>
              <a:tr h="0">
                <a:tc>
                  <a:txBody>
                    <a:bodyPr/>
                    <a:lstStyle/>
                    <a:p>
                      <a:endParaRPr/>
                    </a:p>
                  </a:txBody>
                </a:tc>
                <a:tc>
                  <a:txBody>
                    <a:bodyPr/>
                    <a:lstStyle/>
                    <a:p>
                      <a:pPr lvl="0" indent="0" marL="0" algn="ctr">
                        <a:buNone/>
                      </a:pPr>
                      <a:r>
                        <a:rPr/>
                        <a:t>(47.009)</a:t>
                      </a:r>
                    </a:p>
                  </a:txBody>
                </a:tc>
                <a:tc>
                  <a:txBody>
                    <a:bodyPr/>
                    <a:lstStyle/>
                    <a:p>
                      <a:pPr lvl="0" indent="0" marL="0" algn="ctr">
                        <a:buNone/>
                      </a:pPr>
                      <a:r>
                        <a:rPr/>
                        <a:t>(67.184)</a:t>
                      </a:r>
                    </a:p>
                  </a:txBody>
                </a:tc>
              </a:tr>
              <a:tr h="0">
                <a:tc>
                  <a:txBody>
                    <a:bodyPr/>
                    <a:lstStyle/>
                    <a:p>
                      <a:pPr lvl="0" indent="0" marL="0" algn="l">
                        <a:buNone/>
                      </a:pPr>
                      <a:r>
                        <a:rPr/>
                        <a:t>enrolled_rp</a:t>
                      </a:r>
                    </a:p>
                  </a:txBody>
                </a:tc>
                <a:tc>
                  <a:txBody>
                    <a:bodyPr/>
                    <a:lstStyle/>
                    <a:p>
                      <a:pPr lvl="0" indent="0" marL="0" algn="ctr">
                        <a:buNone/>
                      </a:pPr>
                      <a:r>
                        <a:rPr/>
                        <a:t>−949.977***</a:t>
                      </a:r>
                    </a:p>
                  </a:txBody>
                </a:tc>
                <a:tc>
                  <a:txBody>
                    <a:bodyPr/>
                    <a:lstStyle/>
                    <a:p>
                      <a:pPr lvl="0" indent="0" marL="0" algn="ctr">
                        <a:buNone/>
                      </a:pPr>
                      <a:r>
                        <a:rPr/>
                        <a:t>−982.878***</a:t>
                      </a:r>
                    </a:p>
                  </a:txBody>
                </a:tc>
              </a:tr>
              <a:tr h="0">
                <a:tc>
                  <a:txBody>
                    <a:bodyPr/>
                    <a:lstStyle/>
                    <a:p>
                      <a:endParaRPr/>
                    </a:p>
                  </a:txBody>
                </a:tc>
                <a:tc>
                  <a:txBody>
                    <a:bodyPr/>
                    <a:lstStyle/>
                    <a:p>
                      <a:pPr lvl="0" indent="0" marL="0" algn="ctr">
                        <a:buNone/>
                      </a:pPr>
                      <a:r>
                        <a:rPr/>
                        <a:t>(114.223)</a:t>
                      </a:r>
                    </a:p>
                  </a:txBody>
                </a:tc>
                <a:tc>
                  <a:txBody>
                    <a:bodyPr/>
                    <a:lstStyle/>
                    <a:p>
                      <a:pPr lvl="0" indent="0" marL="0" algn="ctr">
                        <a:buNone/>
                      </a:pPr>
                      <a:r>
                        <a:rPr/>
                        <a:t>(94.670)</a:t>
                      </a:r>
                    </a:p>
                  </a:txBody>
                </a:tc>
              </a:tr>
              <a:tr h="0">
                <a:tc>
                  <a:txBody>
                    <a:bodyPr/>
                    <a:lstStyle/>
                    <a:p>
                      <a:pPr lvl="0" indent="0" marL="0" algn="l">
                        <a:buNone/>
                      </a:pPr>
                      <a:r>
                        <a:rPr/>
                        <a:t>age_manager</a:t>
                      </a:r>
                    </a:p>
                  </a:txBody>
                </a:tc>
                <a:tc>
                  <a:txBody>
                    <a:bodyPr/>
                    <a:lstStyle/>
                    <a:p>
                      <a:endParaRPr/>
                    </a:p>
                  </a:txBody>
                </a:tc>
                <a:tc>
                  <a:txBody>
                    <a:bodyPr/>
                    <a:lstStyle/>
                    <a:p>
                      <a:pPr lvl="0" indent="0" marL="0" algn="ctr">
                        <a:buNone/>
                      </a:pPr>
                      <a:r>
                        <a:rPr/>
                        <a:t>7.304***</a:t>
                      </a:r>
                    </a:p>
                  </a:txBody>
                </a:tc>
              </a:tr>
              <a:tr h="0">
                <a:tc>
                  <a:txBody>
                    <a:bodyPr/>
                    <a:lstStyle/>
                    <a:p>
                      <a:endParaRPr/>
                    </a:p>
                  </a:txBody>
                </a:tc>
                <a:tc>
                  <a:txBody>
                    <a:bodyPr/>
                    <a:lstStyle/>
                    <a:p>
                      <a:endParaRPr/>
                    </a:p>
                  </a:txBody>
                </a:tc>
                <a:tc>
                  <a:txBody>
                    <a:bodyPr/>
                    <a:lstStyle/>
                    <a:p>
                      <a:pPr lvl="0" indent="0" marL="0" algn="ctr">
                        <a:buNone/>
                      </a:pPr>
                      <a:r>
                        <a:rPr/>
                        <a:t>(1.406)</a:t>
                      </a:r>
                    </a:p>
                  </a:txBody>
                </a:tc>
              </a:tr>
              <a:tr h="0">
                <a:tc>
                  <a:txBody>
                    <a:bodyPr/>
                    <a:lstStyle/>
                    <a:p>
                      <a:pPr lvl="0" indent="0" marL="0" algn="l">
                        <a:buNone/>
                      </a:pPr>
                      <a:r>
                        <a:rPr/>
                        <a:t>age_deputy</a:t>
                      </a:r>
                    </a:p>
                  </a:txBody>
                </a:tc>
                <a:tc>
                  <a:txBody>
                    <a:bodyPr/>
                    <a:lstStyle/>
                    <a:p>
                      <a:endParaRPr/>
                    </a:p>
                  </a:txBody>
                </a:tc>
                <a:tc>
                  <a:txBody>
                    <a:bodyPr/>
                    <a:lstStyle/>
                    <a:p>
                      <a:pPr lvl="0" indent="0" marL="0" algn="ctr">
                        <a:buNone/>
                      </a:pPr>
                      <a:r>
                        <a:rPr/>
                        <a:t>−1.031</a:t>
                      </a:r>
                    </a:p>
                  </a:txBody>
                </a:tc>
              </a:tr>
              <a:tr h="0">
                <a:tc>
                  <a:txBody>
                    <a:bodyPr/>
                    <a:lstStyle/>
                    <a:p>
                      <a:endParaRPr/>
                    </a:p>
                  </a:txBody>
                </a:tc>
                <a:tc>
                  <a:txBody>
                    <a:bodyPr/>
                    <a:lstStyle/>
                    <a:p>
                      <a:endParaRPr/>
                    </a:p>
                  </a:txBody>
                </a:tc>
                <a:tc>
                  <a:txBody>
                    <a:bodyPr/>
                    <a:lstStyle/>
                    <a:p>
                      <a:pPr lvl="0" indent="0" marL="0" algn="ctr">
                        <a:buNone/>
                      </a:pPr>
                      <a:r>
                        <a:rPr/>
                        <a:t>(1.671)</a:t>
                      </a:r>
                    </a:p>
                  </a:txBody>
                </a:tc>
              </a:tr>
              <a:tr h="0">
                <a:tc>
                  <a:txBody>
                    <a:bodyPr/>
                    <a:lstStyle/>
                    <a:p>
                      <a:pPr lvl="0" indent="0" marL="0" algn="l">
                        <a:buNone/>
                      </a:pPr>
                      <a:r>
                        <a:rPr/>
                        <a:t>female_manager</a:t>
                      </a:r>
                    </a:p>
                  </a:txBody>
                </a:tc>
                <a:tc>
                  <a:txBody>
                    <a:bodyPr/>
                    <a:lstStyle/>
                    <a:p>
                      <a:endParaRPr/>
                    </a:p>
                  </a:txBody>
                </a:tc>
                <a:tc>
                  <a:txBody>
                    <a:bodyPr/>
                    <a:lstStyle/>
                    <a:p>
                      <a:pPr lvl="0" indent="0" marL="0" algn="ctr">
                        <a:buNone/>
                      </a:pPr>
                      <a:r>
                        <a:rPr/>
                        <a:t>97.258*</a:t>
                      </a:r>
                    </a:p>
                  </a:txBody>
                </a:tc>
              </a:tr>
              <a:tr h="0">
                <a:tc>
                  <a:txBody>
                    <a:bodyPr/>
                    <a:lstStyle/>
                    <a:p>
                      <a:endParaRPr/>
                    </a:p>
                  </a:txBody>
                </a:tc>
                <a:tc>
                  <a:txBody>
                    <a:bodyPr/>
                    <a:lstStyle/>
                    <a:p>
                      <a:endParaRPr/>
                    </a:p>
                  </a:txBody>
                </a:tc>
                <a:tc>
                  <a:txBody>
                    <a:bodyPr/>
                    <a:lstStyle/>
                    <a:p>
                      <a:pPr lvl="0" indent="0" marL="0" algn="ctr">
                        <a:buNone/>
                      </a:pPr>
                      <a:r>
                        <a:rPr/>
                        <a:t>(45.709)</a:t>
                      </a:r>
                    </a:p>
                  </a:txBody>
                </a:tc>
              </a:tr>
              <a:tr h="0">
                <a:tc>
                  <a:txBody>
                    <a:bodyPr/>
                    <a:lstStyle/>
                    <a:p>
                      <a:pPr lvl="0" indent="0" marL="0" algn="l">
                        <a:buNone/>
                      </a:pPr>
                      <a:r>
                        <a:rPr/>
                        <a:t>foreign_owned</a:t>
                      </a:r>
                    </a:p>
                  </a:txBody>
                </a:tc>
                <a:tc>
                  <a:txBody>
                    <a:bodyPr/>
                    <a:lstStyle/>
                    <a:p>
                      <a:endParaRPr/>
                    </a:p>
                  </a:txBody>
                </a:tc>
                <a:tc>
                  <a:txBody>
                    <a:bodyPr/>
                    <a:lstStyle/>
                    <a:p>
                      <a:pPr lvl="0" indent="0" marL="0" algn="ctr">
                        <a:buNone/>
                      </a:pPr>
                      <a:r>
                        <a:rPr/>
                        <a:t>−227.702***</a:t>
                      </a:r>
                    </a:p>
                  </a:txBody>
                </a:tc>
              </a:tr>
              <a:tr h="0">
                <a:tc>
                  <a:txBody>
                    <a:bodyPr/>
                    <a:lstStyle/>
                    <a:p>
                      <a:endParaRPr/>
                    </a:p>
                  </a:txBody>
                </a:tc>
                <a:tc>
                  <a:txBody>
                    <a:bodyPr/>
                    <a:lstStyle/>
                    <a:p>
                      <a:endParaRPr/>
                    </a:p>
                  </a:txBody>
                </a:tc>
                <a:tc>
                  <a:txBody>
                    <a:bodyPr/>
                    <a:lstStyle/>
                    <a:p>
                      <a:pPr lvl="0" indent="0" marL="0" algn="ctr">
                        <a:buNone/>
                      </a:pPr>
                      <a:r>
                        <a:rPr/>
                        <a:t>(38.752)</a:t>
                      </a:r>
                    </a:p>
                  </a:txBody>
                </a:tc>
              </a:tr>
              <a:tr h="0">
                <a:tc>
                  <a:txBody>
                    <a:bodyPr/>
                    <a:lstStyle/>
                    <a:p>
                      <a:pPr lvl="0" indent="0" marL="0" algn="l">
                        <a:buNone/>
                      </a:pPr>
                      <a:r>
                        <a:rPr/>
                        <a:t>staff_size</a:t>
                      </a:r>
                    </a:p>
                  </a:txBody>
                </a:tc>
                <a:tc>
                  <a:txBody>
                    <a:bodyPr/>
                    <a:lstStyle/>
                    <a:p>
                      <a:endParaRPr/>
                    </a:p>
                  </a:txBody>
                </a:tc>
                <a:tc>
                  <a:txBody>
                    <a:bodyPr/>
                    <a:lstStyle/>
                    <a:p>
                      <a:pPr lvl="0" indent="0" marL="0" algn="ctr">
                        <a:buNone/>
                      </a:pPr>
                      <a:r>
                        <a:rPr/>
                        <a:t>−202.957***</a:t>
                      </a:r>
                    </a:p>
                  </a:txBody>
                </a:tc>
              </a:tr>
              <a:tr h="0">
                <a:tc>
                  <a:txBody>
                    <a:bodyPr/>
                    <a:lstStyle/>
                    <a:p>
                      <a:endParaRPr/>
                    </a:p>
                  </a:txBody>
                </a:tc>
                <a:tc>
                  <a:txBody>
                    <a:bodyPr/>
                    <a:lstStyle/>
                    <a:p>
                      <a:endParaRPr/>
                    </a:p>
                  </a:txBody>
                </a:tc>
                <a:tc>
                  <a:txBody>
                    <a:bodyPr/>
                    <a:lstStyle/>
                    <a:p>
                      <a:pPr lvl="0" indent="0" marL="0" algn="ctr">
                        <a:buNone/>
                      </a:pPr>
                      <a:r>
                        <a:rPr/>
                        <a:t>(6.708)</a:t>
                      </a:r>
                    </a:p>
                  </a:txBody>
                </a:tc>
              </a:tr>
              <a:tr h="0">
                <a:tc>
                  <a:txBody>
                    <a:bodyPr/>
                    <a:lstStyle/>
                    <a:p>
                      <a:pPr lvl="0" indent="0" marL="0" algn="l">
                        <a:buNone/>
                      </a:pPr>
                      <a:r>
                        <a:rPr/>
                        <a:t>advanced_filtration</a:t>
                      </a:r>
                    </a:p>
                  </a:txBody>
                </a:tc>
                <a:tc>
                  <a:txBody>
                    <a:bodyPr/>
                    <a:lstStyle/>
                    <a:p>
                      <a:endParaRPr/>
                    </a:p>
                  </a:txBody>
                </a:tc>
                <a:tc>
                  <a:txBody>
                    <a:bodyPr/>
                    <a:lstStyle/>
                    <a:p>
                      <a:pPr lvl="0" indent="0" marL="0" algn="ctr">
                        <a:buNone/>
                      </a:pPr>
                      <a:r>
                        <a:rPr/>
                        <a:t>−216.624***</a:t>
                      </a:r>
                    </a:p>
                  </a:txBody>
                </a:tc>
              </a:tr>
              <a:tr h="0">
                <a:tc>
                  <a:txBody>
                    <a:bodyPr/>
                    <a:lstStyle/>
                    <a:p>
                      <a:endParaRPr/>
                    </a:p>
                  </a:txBody>
                </a:tc>
                <a:tc>
                  <a:txBody>
                    <a:bodyPr/>
                    <a:lstStyle/>
                    <a:p>
                      <a:endParaRPr/>
                    </a:p>
                  </a:txBody>
                </a:tc>
                <a:tc>
                  <a:txBody>
                    <a:bodyPr/>
                    <a:lstStyle/>
                    <a:p>
                      <a:pPr lvl="0" indent="0" marL="0" algn="ctr">
                        <a:buNone/>
                      </a:pPr>
                      <a:r>
                        <a:rPr/>
                        <a:t>(26.332)</a:t>
                      </a:r>
                    </a:p>
                  </a:txBody>
                </a:tc>
              </a:tr>
              <a:tr h="0">
                <a:tc>
                  <a:txBody>
                    <a:bodyPr/>
                    <a:lstStyle/>
                    <a:p>
                      <a:pPr lvl="0" indent="0" marL="0" algn="l">
                        <a:buNone/>
                      </a:pPr>
                      <a:r>
                        <a:rPr/>
                        <a:t>facility_area</a:t>
                      </a:r>
                    </a:p>
                  </a:txBody>
                </a:tc>
                <a:tc>
                  <a:txBody>
                    <a:bodyPr/>
                    <a:lstStyle/>
                    <a:p>
                      <a:endParaRPr/>
                    </a:p>
                  </a:txBody>
                </a:tc>
                <a:tc>
                  <a:txBody>
                    <a:bodyPr/>
                    <a:lstStyle/>
                    <a:p>
                      <a:pPr lvl="0" indent="0" marL="0" algn="ctr">
                        <a:buNone/>
                      </a:pPr>
                      <a:r>
                        <a:rPr/>
                        <a:t>10.232*</a:t>
                      </a:r>
                    </a:p>
                  </a:txBody>
                </a:tc>
              </a:tr>
              <a:tr h="0">
                <a:tc>
                  <a:txBody>
                    <a:bodyPr/>
                    <a:lstStyle/>
                    <a:p>
                      <a:endParaRPr/>
                    </a:p>
                  </a:txBody>
                </a:tc>
                <a:tc>
                  <a:txBody>
                    <a:bodyPr/>
                    <a:lstStyle/>
                    <a:p>
                      <a:endParaRPr/>
                    </a:p>
                  </a:txBody>
                </a:tc>
                <a:tc>
                  <a:txBody>
                    <a:bodyPr/>
                    <a:lstStyle/>
                    <a:p>
                      <a:pPr lvl="0" indent="0" marL="0" algn="ctr">
                        <a:buNone/>
                      </a:pPr>
                      <a:r>
                        <a:rPr/>
                        <a:t>(4.567)</a:t>
                      </a:r>
                    </a:p>
                  </a:txBody>
                </a:tc>
              </a:tr>
              <a:tr h="0">
                <a:tc>
                  <a:txBody>
                    <a:bodyPr/>
                    <a:lstStyle/>
                    <a:p>
                      <a:pPr lvl="0" indent="0" marL="0" algn="l">
                        <a:buNone/>
                      </a:pPr>
                      <a:r>
                        <a:rPr/>
                        <a:t>recycling_center_distance</a:t>
                      </a:r>
                    </a:p>
                  </a:txBody>
                </a:tc>
                <a:tc>
                  <a:txBody>
                    <a:bodyPr/>
                    <a:lstStyle/>
                    <a:p>
                      <a:endParaRPr/>
                    </a:p>
                  </a:txBody>
                </a:tc>
                <a:tc>
                  <a:txBody>
                    <a:bodyPr/>
                    <a:lstStyle/>
                    <a:p>
                      <a:pPr lvl="0" indent="0" marL="0" algn="ctr">
                        <a:buNone/>
                      </a:pPr>
                      <a:r>
                        <a:rPr/>
                        <a:t>−0.335</a:t>
                      </a:r>
                    </a:p>
                  </a:txBody>
                </a:tc>
              </a:tr>
              <a:tr h="0">
                <a:tc>
                  <a:txBody>
                    <a:bodyPr/>
                    <a:lstStyle/>
                    <a:p>
                      <a:endParaRPr/>
                    </a:p>
                  </a:txBody>
                </a:tc>
                <a:tc>
                  <a:txBody>
                    <a:bodyPr/>
                    <a:lstStyle/>
                    <a:p>
                      <a:endParaRPr/>
                    </a:p>
                  </a:txBody>
                </a:tc>
                <a:tc>
                  <a:txBody>
                    <a:bodyPr/>
                    <a:lstStyle/>
                    <a:p>
                      <a:pPr lvl="0" indent="0" marL="0" algn="ctr">
                        <a:buNone/>
                      </a:pPr>
                      <a:r>
                        <a:rPr/>
                        <a:t>(0.468)</a:t>
                      </a:r>
                    </a:p>
                  </a:txBody>
                </a:tc>
              </a:tr>
              <a:tr h="0">
                <a:tc>
                  <a:txBody>
                    <a:bodyPr/>
                    <a:lstStyle/>
                    <a:p>
                      <a:pPr lvl="0" indent="0" marL="0" algn="l">
                        <a:buNone/>
                      </a:pPr>
                      <a:r>
                        <a:rPr/>
                        <a:t>Num.Obs.</a:t>
                      </a:r>
                    </a:p>
                  </a:txBody>
                </a:tc>
                <a:tc>
                  <a:txBody>
                    <a:bodyPr/>
                    <a:lstStyle/>
                    <a:p>
                      <a:pPr lvl="0" indent="0" marL="0" algn="ctr">
                        <a:buNone/>
                      </a:pPr>
                      <a:r>
                        <a:rPr/>
                        <a:t>9914</a:t>
                      </a:r>
                    </a:p>
                  </a:txBody>
                </a:tc>
                <a:tc>
                  <a:txBody>
                    <a:bodyPr/>
                    <a:lstStyle/>
                    <a:p>
                      <a:pPr lvl="0" indent="0" marL="0" algn="ctr">
                        <a:buNone/>
                      </a:pPr>
                      <a:r>
                        <a:rPr/>
                        <a:t>9914</a:t>
                      </a:r>
                    </a:p>
                  </a:txBody>
                </a:tc>
              </a:tr>
              <a:tr h="0">
                <a:tc>
                  <a:txBody>
                    <a:bodyPr/>
                    <a:lstStyle/>
                    <a:p>
                      <a:pPr lvl="0" indent="0" marL="0" algn="l">
                        <a:buNone/>
                      </a:pPr>
                      <a:r>
                        <a:rPr/>
                        <a:t>R2</a:t>
                      </a:r>
                    </a:p>
                  </a:txBody>
                </a:tc>
                <a:tc>
                  <a:txBody>
                    <a:bodyPr/>
                    <a:lstStyle/>
                    <a:p>
                      <a:pPr lvl="0" indent="0" marL="0" algn="ctr">
                        <a:buNone/>
                      </a:pPr>
                      <a:r>
                        <a:rPr/>
                        <a:t>0.222</a:t>
                      </a:r>
                    </a:p>
                  </a:txBody>
                </a:tc>
                <a:tc>
                  <a:txBody>
                    <a:bodyPr/>
                    <a:lstStyle/>
                    <a:p>
                      <a:pPr lvl="0" indent="0" marL="0" algn="ctr">
                        <a:buNone/>
                      </a:pPr>
                      <a:r>
                        <a:rPr/>
                        <a:t>0.405</a:t>
                      </a:r>
                    </a:p>
                  </a:txBody>
                </a:tc>
              </a:tr>
              <a:tr h="0">
                <a:tc>
                  <a:txBody>
                    <a:bodyPr/>
                    <a:lstStyle/>
                    <a:p>
                      <a:pPr lvl="0" indent="0" marL="0" algn="l">
                        <a:buNone/>
                      </a:pPr>
                      <a:r>
                        <a:rPr/>
                        <a:t>R2 Adj.</a:t>
                      </a:r>
                    </a:p>
                  </a:txBody>
                </a:tc>
                <a:tc>
                  <a:txBody>
                    <a:bodyPr/>
                    <a:lstStyle/>
                    <a:p>
                      <a:pPr lvl="0" indent="0" marL="0" algn="ctr">
                        <a:buNone/>
                      </a:pPr>
                      <a:r>
                        <a:rPr/>
                        <a:t>0.222</a:t>
                      </a:r>
                    </a:p>
                  </a:txBody>
                </a:tc>
                <a:tc>
                  <a:txBody>
                    <a:bodyPr/>
                    <a:lstStyle/>
                    <a:p>
                      <a:pPr lvl="0" indent="0" marL="0" algn="ctr">
                        <a:buNone/>
                      </a:pPr>
                      <a:r>
                        <a:rPr/>
                        <a:t>0.404</a:t>
                      </a:r>
                    </a:p>
                  </a:txBody>
                </a:tc>
              </a:tr>
              <a:tr h="0">
                <a:tc>
                  <a:txBody>
                    <a:bodyPr/>
                    <a:lstStyle/>
                    <a:p>
                      <a:pPr lvl="0" indent="0" marL="0" algn="l">
                        <a:buNone/>
                      </a:pPr>
                      <a:r>
                        <a:rPr/>
                        <a:t> + p &lt; 0.1, * p &lt; 0.05, ** p &lt; 0.01, *** p &lt; 0.001</a:t>
                      </a:r>
                    </a:p>
                  </a:txBody>
                </a:tc>
                <a:tc>
                  <a:txBody>
                    <a:bodyPr/>
                    <a:lstStyle/>
                    <a:p>
                      <a:endParaRPr/>
                    </a:p>
                  </a:txBody>
                </a:tc>
                <a:tc>
                  <a:txBody>
                    <a:bodyPr/>
                    <a:lstStyle/>
                    <a:p>
                      <a:endParaRP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Understanding LATE: The Complier Effect</a:t>
            </a:r>
          </a:p>
        </p:txBody>
      </p:sp>
      <p:sp>
        <p:nvSpPr>
          <p:cNvPr id="3" name="Content Placeholder 2"/>
          <p:cNvSpPr>
            <a:spLocks noGrp="1"/>
          </p:cNvSpPr>
          <p:nvPr>
            <p:ph idx="1"/>
          </p:nvPr>
        </p:nvSpPr>
        <p:spPr/>
        <p:txBody>
          <a:bodyPr/>
          <a:lstStyle/>
          <a:p>
            <a:pPr lvl="0" indent="0" marL="0">
              <a:buNone/>
            </a:pPr>
            <a:r>
              <a:rPr/>
              <a:t>The IV estimate (LATE) applies to compliers only: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Types of industries:</a:t>
            </a:r>
          </a:p>
          <a:p>
            <a:pPr lvl="0"/>
            <a:r>
              <a:rPr/>
              <a:t>Always-takers: Enroll regardless of promotion (8%)</a:t>
            </a:r>
          </a:p>
          <a:p>
            <a:pPr lvl="0"/>
            <a:r>
              <a:rPr/>
              <a:t>Compliers: Enroll only with promotion (41%)</a:t>
            </a:r>
          </a:p>
          <a:p>
            <a:pPr lvl="0"/>
            <a:r>
              <a:rPr/>
              <a:t>Never-takers: Don’t enroll regardless of promotion (51%)</a:t>
            </a:r>
          </a:p>
          <a:p>
            <a:pPr lvl="0"/>
            <a:r>
              <a:rPr/>
              <a:t>Defiers: Enroll only without promotion (0% by assumption)</a:t>
            </a:r>
          </a:p>
        </p:txBody>
      </p:sp>
      <p:sp>
        <p:nvSpPr>
          <p:cNvPr id="4" name="Content Placeholder 3"/>
          <p:cNvSpPr>
            <a:spLocks noGrp="1"/>
          </p:cNvSpPr>
          <p:nvPr>
            <p:ph idx="2" sz="half"/>
          </p:nvPr>
        </p:nvSpPr>
        <p:spPr/>
        <p:txBody>
          <a:bodyPr/>
          <a:lstStyle/>
          <a:p>
            <a:pPr lvl="0" indent="0" marL="0">
              <a:buNone/>
            </a:pPr>
            <a:r>
              <a:rPr b="1"/>
              <a:t>Implications:</a:t>
            </a:r>
          </a:p>
          <a:p>
            <a:pPr lvl="0"/>
            <a:r>
              <a:rPr/>
              <a:t>If treatment effects vary, LATE may not generalize</a:t>
            </a:r>
          </a:p>
          <a:p>
            <a:pPr lvl="0"/>
            <a:r>
              <a:rPr/>
              <a:t>External validity depends on how representative compliers are</a:t>
            </a:r>
          </a:p>
          <a:p>
            <a:pPr lvl="0"/>
            <a:r>
              <a:rPr/>
              <a:t>Policy relevant if we care about those influenced by promotion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Assumptions of IV</a:t>
            </a:r>
          </a:p>
        </p:txBody>
      </p:sp>
      <p:sp>
        <p:nvSpPr>
          <p:cNvPr id="3" name="Content Placeholder 2"/>
          <p:cNvSpPr>
            <a:spLocks noGrp="1"/>
          </p:cNvSpPr>
          <p:nvPr>
            <p:ph idx="1"/>
          </p:nvPr>
        </p:nvSpPr>
        <p:spPr/>
        <p:txBody>
          <a:bodyPr/>
          <a:lstStyle/>
          <a:p>
            <a:pPr lvl="0"/>
            <a:r>
              <a:rPr/>
              <a:t>Relevance: Promotion effectively increases enrollment (✓ Strong first stage)</a:t>
            </a:r>
          </a:p>
          <a:p>
            <a:pPr lvl="0"/>
            <a:r>
              <a:rPr/>
              <a:t>Exclusion restriction: Promotion affects outcomes only through enrollment</a:t>
            </a:r>
          </a:p>
          <a:p>
            <a:pPr lvl="1"/>
            <a:r>
              <a:rPr/>
              <a:t>Promotion must not directly affect waste management costs</a:t>
            </a:r>
          </a:p>
          <a:p>
            <a:pPr lvl="1"/>
            <a:r>
              <a:rPr/>
              <a:t>Careful design focused only on awareness, not waste management behaviors</a:t>
            </a:r>
          </a:p>
          <a:p>
            <a:pPr lvl="0"/>
            <a:r>
              <a:rPr/>
              <a:t>Independence: Promotion randomly assigned (✓ Baseline balance)</a:t>
            </a:r>
          </a:p>
          <a:p>
            <a:pPr lvl="0"/>
            <a:r>
              <a:rPr/>
              <a:t>Monotonicity: Promotion doesn’t discourage anyone from enrolling</a:t>
            </a:r>
          </a:p>
          <a:p>
            <a:pPr lvl="1"/>
            <a:r>
              <a:rPr/>
              <a:t>No “defiers” who would enroll only without promotion</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Analysis to Policy Decision</a:t>
            </a:r>
          </a:p>
        </p:txBody>
      </p:sp>
      <p:sp>
        <p:nvSpPr>
          <p:cNvPr id="3" name="Content Placeholder 2"/>
          <p:cNvSpPr>
            <a:spLocks noGrp="1"/>
          </p:cNvSpPr>
          <p:nvPr>
            <p:ph idx="1"/>
          </p:nvPr>
        </p:nvSpPr>
        <p:spPr/>
        <p:txBody>
          <a:bodyPr/>
          <a:lstStyle/>
          <a:p>
            <a:pPr lvl="0" indent="0" marL="0">
              <a:buNone/>
            </a:pPr>
            <a:r>
              <a:rPr b="1"/>
              <a:t>Policy question:</a:t>
            </a:r>
            <a:r>
              <a:rPr/>
              <a:t> Should the program be scaled up nationally?</a:t>
            </a:r>
          </a:p>
          <a:p>
            <a:pPr lvl="0" indent="0" marL="0">
              <a:buNone/>
            </a:pPr>
            <a:r>
              <a:rPr b="1"/>
              <a:t>Decision criterion:</a:t>
            </a:r>
            <a:r>
              <a:rPr/>
              <a:t> Program must reduce waste management costs by at least 1,000 AED.</a:t>
            </a:r>
          </a:p>
          <a:p>
            <a:pPr lvl="0" indent="0" marL="0">
              <a:buNone/>
            </a:pPr>
            <a:r>
              <a:rPr b="1"/>
              <a:t>Results from IV estimation:</a:t>
            </a:r>
          </a:p>
          <a:p>
            <a:pPr lvl="0"/>
            <a:r>
              <a:rPr/>
              <a:t>LATE: -1,033 AED (from our calculation above)</a:t>
            </a:r>
          </a:p>
          <a:p>
            <a:pPr lvl="0"/>
            <a:r>
              <a:rPr/>
              <a:t>Point estimate is above the 1,000 AED threshold</a:t>
            </a:r>
          </a:p>
          <a:p>
            <a:pPr lvl="0"/>
            <a:r>
              <a:rPr/>
              <a:t>The IV estimate represents the effect on compliers only</a:t>
            </a:r>
          </a:p>
          <a:p>
            <a:pPr lvl="0" indent="0" marL="0">
              <a:buNone/>
            </a:pPr>
            <a:r>
              <a:rPr b="1"/>
              <a:t>Recommendation:</a:t>
            </a:r>
            <a:r>
              <a:rPr/>
              <a:t> Based strictly on the estimate, the program should be scaled up nationally.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IV vs. Randomized Assignment</a:t>
            </a:r>
          </a:p>
        </p:txBody>
      </p:sp>
      <p:sp>
        <p:nvSpPr>
          <p:cNvPr id="3" name="Content Placeholder 2"/>
          <p:cNvSpPr>
            <a:spLocks noGrp="1"/>
          </p:cNvSpPr>
          <p:nvPr>
            <p:ph idx="1" sz="half"/>
          </p:nvPr>
        </p:nvSpPr>
        <p:spPr/>
        <p:txBody>
          <a:bodyPr/>
          <a:lstStyle/>
          <a:p>
            <a:pPr lvl="0" indent="0" marL="0">
              <a:buNone/>
            </a:pPr>
            <a:r>
              <a:rPr b="1"/>
              <a:t>IV Estimate:</a:t>
            </a:r>
          </a:p>
          <a:p>
            <a:pPr lvl="0"/>
            <a:r>
              <a:rPr/>
              <a:t>LATE = -1,033 AED</a:t>
            </a:r>
          </a:p>
          <a:p>
            <a:pPr lvl="0"/>
            <a:r>
              <a:rPr/>
              <a:t>Effect on compliers only</a:t>
            </a:r>
          </a:p>
          <a:p>
            <a:pPr lvl="0"/>
            <a:r>
              <a:rPr/>
              <a:t>Larger standard errors</a:t>
            </a:r>
          </a:p>
          <a:p>
            <a:pPr lvl="0" indent="0" marL="0">
              <a:buNone/>
            </a:pPr>
            <a:r>
              <a:rPr b="1"/>
              <a:t>Policy recommendation:</a:t>
            </a:r>
            <a:r>
              <a:rPr/>
              <a:t> Scale up since above threshold</a:t>
            </a:r>
          </a:p>
        </p:txBody>
      </p:sp>
      <p:sp>
        <p:nvSpPr>
          <p:cNvPr id="4" name="Content Placeholder 3"/>
          <p:cNvSpPr>
            <a:spLocks noGrp="1"/>
          </p:cNvSpPr>
          <p:nvPr>
            <p:ph idx="2" sz="half"/>
          </p:nvPr>
        </p:nvSpPr>
        <p:spPr/>
        <p:txBody>
          <a:bodyPr/>
          <a:lstStyle/>
          <a:p>
            <a:pPr lvl="0" indent="0" marL="0">
              <a:buNone/>
            </a:pPr>
            <a:r>
              <a:rPr b="1"/>
              <a:t>Randomized Assignment:</a:t>
            </a:r>
          </a:p>
          <a:p>
            <a:pPr lvl="0"/>
            <a:r>
              <a:rPr/>
              <a:t>ATE = -1,014 AED</a:t>
            </a:r>
          </a:p>
          <a:p>
            <a:pPr lvl="0"/>
            <a:r>
              <a:rPr/>
              <a:t>Effect on all eligible facilities</a:t>
            </a:r>
          </a:p>
          <a:p>
            <a:pPr lvl="0"/>
            <a:r>
              <a:rPr/>
              <a:t>More precise estimate</a:t>
            </a:r>
          </a:p>
          <a:p>
            <a:pPr lvl="0" indent="0" marL="0">
              <a:buNone/>
            </a:pPr>
            <a:r>
              <a:rPr b="1"/>
              <a:t>Policy recommendation:</a:t>
            </a:r>
            <a:r>
              <a:rPr/>
              <a:t> Scale up nationally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Why the difference?</a:t>
            </a:r>
          </a:p>
          <a:p>
            <a:pPr lvl="0"/>
            <a:r>
              <a:rPr/>
              <a:t>Different populations: LATE vs. ATE</a:t>
            </a:r>
          </a:p>
          <a:p>
            <a:pPr lvl="0"/>
            <a:r>
              <a:rPr/>
              <a:t>Different precision: IV is less efficient</a:t>
            </a:r>
          </a:p>
          <a:p>
            <a:pPr lvl="0"/>
            <a:r>
              <a:rPr/>
              <a:t>Different contexts: National scale-up vs. pilot program</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When to Use Instrumental Variables</a:t>
            </a:r>
          </a:p>
        </p:txBody>
      </p:sp>
      <p:sp>
        <p:nvSpPr>
          <p:cNvPr id="3" name="Content Placeholder 2"/>
          <p:cNvSpPr>
            <a:spLocks noGrp="1"/>
          </p:cNvSpPr>
          <p:nvPr>
            <p:ph idx="1"/>
          </p:nvPr>
        </p:nvSpPr>
        <p:spPr/>
        <p:txBody>
          <a:bodyPr/>
          <a:lstStyle/>
          <a:p>
            <a:pPr lvl="0" indent="0" marL="0">
              <a:buNone/>
            </a:pPr>
            <a:r>
              <a:rPr/>
              <a:t>Use when:</a:t>
            </a:r>
          </a:p>
          <a:p>
            <a:pPr lvl="0"/>
            <a:r>
              <a:rPr/>
              <a:t>Random assignment of the actual treatment is not possible</a:t>
            </a:r>
          </a:p>
          <a:p>
            <a:pPr lvl="0"/>
            <a:r>
              <a:rPr/>
              <a:t>You have access to a valid instrument</a:t>
            </a:r>
          </a:p>
          <a:p>
            <a:pPr lvl="0"/>
            <a:r>
              <a:rPr/>
              <a:t>Partial compliance is expected</a:t>
            </a:r>
          </a:p>
          <a:p>
            <a:pPr lvl="0"/>
            <a:r>
              <a:rPr/>
              <a:t>You focus on the effect for compliers</a:t>
            </a:r>
          </a:p>
          <a:p>
            <a:pPr lvl="0" indent="0" marL="0">
              <a:buNone/>
            </a:pPr>
            <a:r>
              <a:rPr/>
              <a:t>Common applications:</a:t>
            </a:r>
          </a:p>
          <a:p>
            <a:pPr lvl="0"/>
            <a:r>
              <a:rPr/>
              <a:t>Randomized encouragement designs</a:t>
            </a:r>
          </a:p>
          <a:p>
            <a:pPr lvl="0"/>
            <a:r>
              <a:rPr/>
              <a:t>Natural experiments (lotteries, policy changes)</a:t>
            </a:r>
          </a:p>
          <a:p>
            <a:pPr lvl="0"/>
            <a:r>
              <a:rPr/>
              <a:t>Geographic or administrative discontinuities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Common Pitfalls in IV Analysis</a:t>
            </a:r>
          </a:p>
        </p:txBody>
      </p:sp>
      <p:sp>
        <p:nvSpPr>
          <p:cNvPr id="3" name="Content Placeholder 2"/>
          <p:cNvSpPr>
            <a:spLocks noGrp="1"/>
          </p:cNvSpPr>
          <p:nvPr>
            <p:ph idx="1"/>
          </p:nvPr>
        </p:nvSpPr>
        <p:spPr/>
        <p:txBody>
          <a:bodyPr/>
          <a:lstStyle/>
          <a:p>
            <a:pPr lvl="0" indent="0" marL="0">
              <a:buNone/>
            </a:pPr>
            <a:r>
              <a:rPr/>
              <a:t>Weak instruments (First-stage F-statistic &lt; 10):</a:t>
            </a:r>
          </a:p>
          <a:p>
            <a:pPr lvl="0"/>
            <a:r>
              <a:rPr/>
              <a:t>Leads to biased estimates and poor inference</a:t>
            </a:r>
          </a:p>
          <a:p>
            <a:pPr lvl="0"/>
            <a:r>
              <a:rPr/>
              <a:t>Solution: Find stronger instruments or use weak-IV robust methods</a:t>
            </a:r>
          </a:p>
          <a:p>
            <a:pPr lvl="0" indent="0" marL="0">
              <a:buNone/>
            </a:pPr>
            <a:r>
              <a:rPr/>
              <a:t>Violation of exclusion restriction:</a:t>
            </a:r>
          </a:p>
          <a:p>
            <a:pPr lvl="0"/>
            <a:r>
              <a:rPr/>
              <a:t>Instrument affects outcome through other channels</a:t>
            </a:r>
          </a:p>
          <a:p>
            <a:pPr lvl="0"/>
            <a:r>
              <a:rPr/>
              <a:t>Often untestable; requires strong theoretical justification</a:t>
            </a:r>
          </a:p>
          <a:p>
            <a:pPr lvl="0" indent="0" marL="0">
              <a:buNone/>
            </a:pPr>
            <a:r>
              <a:rPr/>
              <a:t>Heterogeneous treatment effects:</a:t>
            </a:r>
          </a:p>
          <a:p>
            <a:pPr lvl="0"/>
            <a:r>
              <a:rPr/>
              <a:t>LATE may not generalize to other populations</a:t>
            </a:r>
          </a:p>
          <a:p>
            <a:pPr lvl="0"/>
            <a:r>
              <a:rPr/>
              <a:t>Be careful about policy recommendations</a:t>
            </a:r>
          </a:p>
          <a:p>
            <a:pPr lvl="0" indent="0" marL="0">
              <a:buNone/>
            </a:pPr>
            <a:r>
              <a:rPr/>
              <a:t>Improper standard errors:</a:t>
            </a:r>
          </a:p>
          <a:p>
            <a:pPr lvl="0"/>
            <a:r>
              <a:rPr/>
              <a:t>Remember to cluster standard errors when appropriate</a:t>
            </a:r>
          </a:p>
          <a:p>
            <a:pPr lvl="0"/>
            <a:r>
              <a:rPr/>
              <a:t>Use robust methods for inference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Takeaways</a:t>
            </a:r>
          </a:p>
        </p:txBody>
      </p:sp>
      <p:sp>
        <p:nvSpPr>
          <p:cNvPr id="3" name="Content Placeholder 2"/>
          <p:cNvSpPr>
            <a:spLocks noGrp="1"/>
          </p:cNvSpPr>
          <p:nvPr>
            <p:ph idx="1"/>
          </p:nvPr>
        </p:nvSpPr>
        <p:spPr/>
        <p:txBody>
          <a:bodyPr/>
          <a:lstStyle/>
          <a:p>
            <a:pPr lvl="0"/>
            <a:r>
              <a:rPr/>
              <a:t>IV addresses selection bias when randomization of treatment isn’t possible</a:t>
            </a:r>
          </a:p>
          <a:p>
            <a:pPr lvl="0"/>
            <a:r>
              <a:rPr/>
              <a:t>LATE estimates the effect for compliers only</a:t>
            </a:r>
          </a:p>
          <a:p>
            <a:pPr lvl="0"/>
            <a:r>
              <a:rPr/>
              <a:t>IV requires strong assumptions, especially exclusion restriction</a:t>
            </a:r>
          </a:p>
          <a:p>
            <a:pPr lvl="0"/>
            <a:r>
              <a:rPr/>
              <a:t>The program reduced waste management costs by 1,033 AED for compliers, above the threshold</a:t>
            </a:r>
          </a:p>
          <a:p>
            <a:pPr lvl="0"/>
            <a:r>
              <a:rPr/>
              <a:t>IV estimates are less precise than randomized assignment estimates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Session</a:t>
            </a:r>
          </a:p>
        </p:txBody>
      </p:sp>
      <p:sp>
        <p:nvSpPr>
          <p:cNvPr id="3" name="Content Placeholder 2"/>
          <p:cNvSpPr>
            <a:spLocks noGrp="1"/>
          </p:cNvSpPr>
          <p:nvPr>
            <p:ph idx="1"/>
          </p:nvPr>
        </p:nvSpPr>
        <p:spPr/>
        <p:txBody>
          <a:bodyPr/>
          <a:lstStyle/>
          <a:p>
            <a:pPr lvl="0" indent="0" marL="0">
              <a:buNone/>
            </a:pPr>
            <a:r>
              <a:rPr/>
              <a:t>Regression Discontinuity Design: Exploiting eligibility thresholds to estimate program effects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Instrumental Variables</dc:title>
  <dc:creator>Dr. Lucas Sempé</dc:creator>
  <cp:keywords/>
  <dcterms:created xsi:type="dcterms:W3CDTF">2026-09-18T13:35:13Z</dcterms:created>
  <dcterms:modified xsi:type="dcterms:W3CDTF">2026-09-18T13:35:13Z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ways_allow_html">
    <vt:lpwstr>yes</vt:lpwstr>
  </property>
  <property fmtid="{D5CDD505-2E9C-101B-9397-08002B2CF9AE}" pid="3" name="authors">
    <vt:lpwstr/>
  </property>
  <property fmtid="{D5CDD505-2E9C-101B-9397-08002B2CF9AE}" pid="4" name="biblio-config">
    <vt:lpwstr>True</vt:lpwstr>
  </property>
  <property fmtid="{D5CDD505-2E9C-101B-9397-08002B2CF9AE}" pid="5" name="by-author">
    <vt:lpwstr/>
  </property>
  <property fmtid="{D5CDD505-2E9C-101B-9397-08002B2CF9AE}" pid="6" name="editor_options">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Econometrics with R</vt:lpwstr>
  </property>
  <property fmtid="{D5CDD505-2E9C-101B-9397-08002B2CF9AE}" pid="12" name="toc-title">
    <vt:lpwstr>Table of contents</vt:lpwstr>
  </property>
</Properties>
</file>