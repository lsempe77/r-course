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notesMaster" Target="notesMasters/notesMaster1.xml" /><Relationship Id="rId44" Type="http://schemas.openxmlformats.org/officeDocument/2006/relationships/viewProps" Target="viewProps.xml" /><Relationship Id="rId4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6" Type="http://schemas.openxmlformats.org/officeDocument/2006/relationships/tableStyles" Target="tableStyles.xml" /><Relationship Id="rId45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0:00 · One minute. This is the last session of Day 1 and the pay-off for Session 1. Today they learn to distrust two comparisons they will see constantly, then meet the one design that fixes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0:01 · Land the decision rule now and repeat it all afternoon. Every number today gets judged against 1,000 AED, not against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0:03 · Say the story the way an evaluator might: “costs fell by 665 after we ran the programme.” Do not challenge it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0:05 · Same programme, a much bigger number. Note the two numbers out loud: minus 665 from A, minus 1,446 from B. Hold the tension.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0:07 · Resist explaining. The whole point is that they pick one, then discover in Section 2 that both are biased. A split room is the ideal starting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0:09 · Collect the words. If “other things changed” and “different groups” surface, you have the two answers already; use their words in the next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0:10 · The comparison group’s costs drifted up. So the eligible group’s own costs would probably not have stayed flat either. A raw before-and-after therefore understates the true reduction. Keep it intuitive, no DiD arithmetic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0:13 · This is selection. The “without” group is not a stand-in for what the “with” group would have looked like, because they were never comparable. Overstates.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0:15 · Foreshadow: minus 665 and minus 1,446 bracket something. In a few minutes a fair comparison lands between them, near minus 1,000.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0:16 · Short and personal. Makes the trap concrete before the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0:18 · Hard stop at 5 minutes. Resume promptly.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0:19 · The one sentence to remember. Random assignment balances the things we can see and the things we cannot: motivation, management quality, luck.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0:21 · This is the whole intuition for an RCT. Numbers are not needed here; the crowd-versus-pair contrast does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0:24 · Item 1 is the common misconception; spend the most time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0:25 · Walk one row aloud, e.g. manager age. Treated and control almost identical, p-value not small. Say what a small p-value here would have meant: a failed draw. The code above is the same short, checkable calculation that produced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0:31 · One estimate, no covariate model, no robustness zoo. Point to the “Treated vs. control” row: that number is the impact. Next slide names the mis-reads.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0:33 · The two classic mis-reads: quoting the intercept as if it were the effect, and treating significance as sufficiency. Both come back on Day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0:35 · Say it plainly: this design says scale up. Do not mention that other methods will disagree; that is Day 2’s reveal. Just note the interval sits past the bar, so it is not a borderline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0:37 · The gap between two comparable groups is the effect. Contrast in one line with the two naive charts from Section 1: same programme, but now the comparison is fair.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0:38 · Hand out the printed copy. This is a placeholder example, invented for now. Standing task: when Fiona runs this prompt herself and the model slips, screenshot it into AI_failure_exs/ and swap the real capture in. Real captures beat invented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0:43 · Take them in order. Error 2 is the dangerous one: the model recommended the exact design the session exists to warn against, in fluent, confident prose.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29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0:45 · The meta-point. If they remember one thing about AI this week, this is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30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0:47 · The highest-leverage line is “ask me any questions before you answer.” It turns the model from a guesser into an interviewer. Walk through each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31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0:49 to 0:55 · Six minutes of group work. Circulate, collect one good and one bad example for the debrief. Screenshot any genuinely new failure for the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32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0:56 · Keep it to two minutes. Land the two habits; they recur every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33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0:58 · Bridge from Session 2: same programme, now the causal question. Flag that the numbers are placeholders so nothing fake is ever read as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35</a:t>
            </a:fld>
            <a:endParaRPr lang="en-US"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1:00 · Same three-step reading they just used on GreenWaste. When the real data lands, replace this with the actual table and a short worked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36</a:t>
            </a:fld>
            <a:endParaRPr lang="en-US"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1:03 · Keep report-backs tight. This is where you see whether the reading skills landed.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37</a:t>
            </a:fld>
            <a:endParaRPr lang="en-US"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1:04 · The standing closing slide, tuned to today. These three questions carry straight into Day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39</a:t>
            </a:fld>
            <a:endParaRPr lang="en-US"/>
          </a:p>
        </p:txBody>
      </p:sp>
    </p:spTree>
  </p:cSld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1:06 · Close Day 1 here. Tomorrow: what to do when you cannot draw lots. Same programme, methods that try to rebuild a fair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40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5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6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7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4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21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2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26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Spot the Problem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 2 · Day 1, Session 3: Naive Comparisons and Reading an RCT</a:t>
            </a:r>
            <a:br/>
            <a:br/>
            <a:r>
              <a:rPr/>
              <a:t>3ie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this session gives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the end of this session you will be able to:</a:t>
            </a:r>
          </a:p>
          <a:p>
            <a:pPr lvl="0"/>
            <a:r>
              <a:rPr/>
              <a:t>Put Session 1’s question, </a:t>
            </a:r>
            <a:r>
              <a:rPr b="1"/>
              <a:t>compared to what?</a:t>
            </a:r>
            <a:r>
              <a:rPr/>
              <a:t>, to work on two comparisons that both look convincing</a:t>
            </a:r>
          </a:p>
          <a:p>
            <a:pPr lvl="0"/>
            <a:r>
              <a:rPr/>
              <a:t>Name the hidden problem in a </a:t>
            </a:r>
            <a:r>
              <a:rPr b="1"/>
              <a:t>before-and-after</a:t>
            </a:r>
            <a:r>
              <a:rPr/>
              <a:t> claim and in a </a:t>
            </a:r>
            <a:r>
              <a:rPr b="1"/>
              <a:t>with-and-without</a:t>
            </a:r>
            <a:r>
              <a:rPr/>
              <a:t> claim</a:t>
            </a:r>
          </a:p>
          <a:p>
            <a:pPr lvl="0"/>
            <a:r>
              <a:rPr/>
              <a:t>Explain, in plain terms, how </a:t>
            </a:r>
            <a:r>
              <a:rPr b="1"/>
              <a:t>randomisation</a:t>
            </a:r>
            <a:r>
              <a:rPr/>
              <a:t> removes the difference between the groups</a:t>
            </a:r>
          </a:p>
          <a:p>
            <a:pPr lvl="0"/>
            <a:r>
              <a:rPr/>
              <a:t>Read a randomised result: which number is the impact, and does it clear the decision rule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1 · Two comparisons, both convincing 18 min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GreenWaste programme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GreenWaste Program</a:t>
            </a:r>
            <a:r>
              <a:rPr/>
              <a:t> helped businesses cut waste-management costs. A pilot ran, data was collected before and after, and now someone has to decide whether to take it national.</a:t>
            </a:r>
          </a:p>
          <a:p>
            <a:pPr lvl="0" indent="0" marL="0">
              <a:buNone/>
            </a:pPr>
            <a:r>
              <a:rPr/>
              <a:t>The bar it has to clear is fixed for the whole week at 1,000 AED.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Comparison A: before and after</a:t>
            </a:r>
          </a:p>
        </p:txBody>
      </p:sp>
      <p:pic>
        <p:nvPicPr>
          <p:cNvPr descr="Oct12_session3_files/figure-pptx/unnamed-chunk-1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1612900"/>
            <a:ext cx="40386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Businesses that took part paid </a:t>
            </a:r>
            <a:r>
              <a:rPr b="1"/>
              <a:t>1,449 AED</a:t>
            </a:r>
            <a:r>
              <a:rPr/>
              <a:t> before and </a:t>
            </a:r>
            <a:r>
              <a:rPr b="1"/>
              <a:t>784 AED</a:t>
            </a:r>
            <a:r>
              <a:rPr/>
              <a:t> after.</a:t>
            </a:r>
          </a:p>
          <a:p>
            <a:pPr lvl="0" indent="0" marL="0">
              <a:buNone/>
            </a:pPr>
            <a:r>
              <a:rPr/>
              <a:t>-665 AED</a:t>
            </a:r>
          </a:p>
          <a:p>
            <a:pPr lvl="0" indent="0" marL="0">
              <a:buNone/>
            </a:pPr>
            <a:r>
              <a:rPr/>
              <a:t>Fall in costs, before to after</a:t>
            </a:r>
          </a:p>
          <a:p>
            <a:pPr lvl="0" indent="0" marL="0">
              <a:buNone/>
            </a:pPr>
            <a:r>
              <a:rPr/>
              <a:t>The programme looks like it cut costs by 665 AED.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Comparison B: with and without</a:t>
            </a:r>
          </a:p>
        </p:txBody>
      </p:sp>
      <p:pic>
        <p:nvPicPr>
          <p:cNvPr descr="Oct12_session3_files/figure-pptx/unnamed-chunk-2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1612900"/>
            <a:ext cx="40386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the end, businesses that took part paid </a:t>
            </a:r>
            <a:r>
              <a:rPr b="1"/>
              <a:t>784 AED</a:t>
            </a:r>
            <a:r>
              <a:rPr/>
              <a:t>; those that did not paid </a:t>
            </a:r>
            <a:r>
              <a:rPr b="1"/>
              <a:t>2,230 AED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-1,446 AED</a:t>
            </a:r>
          </a:p>
          <a:p>
            <a:pPr lvl="0" indent="0" marL="0">
              <a:buNone/>
            </a:pPr>
            <a:r>
              <a:rPr/>
              <a:t>Gap between the two groups</a:t>
            </a:r>
          </a:p>
          <a:p>
            <a:pPr lvl="0" indent="0" marL="0">
              <a:buNone/>
            </a:pPr>
            <a:r>
              <a:rPr/>
              <a:t>This comparison makes the programme look more than twice as good.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[MENTI PLACEHOLDER]</a:t>
            </a:r>
            <a:r>
              <a:rPr/>
              <a:t> Which would you trust?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Both comparisons say GreenWaste worked. </a:t>
            </a:r>
            <a:r>
              <a:rPr b="1"/>
              <a:t>Which would you trust more, and why?</a:t>
            </a:r>
          </a:p>
          <a:p>
            <a:pPr lvl="0" indent="0" marL="0">
              <a:buNone/>
            </a:pPr>
            <a:r>
              <a:rPr/>
              <a:t>Before-and-after  ·  With-and-without  ·  Neither on its own</a:t>
            </a:r>
          </a:p>
          <a:p>
            <a:pPr lvl="0" indent="0" marL="0">
              <a:buNone/>
            </a:pPr>
            <a:r>
              <a:rPr/>
              <a:t>Live poll. Let the room commit before anything is revealed. Take two or three “why” answers out loud, do not correct them yet.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[MENTI PLACEHOLDER]</a:t>
            </a:r>
            <a:r>
              <a:rPr/>
              <a:t> What might be wrong?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text, shown as a live word cloud: </a:t>
            </a:r>
            <a:r>
              <a:rPr b="1"/>
              <a:t>in one phrase, what might be wrong with each of these comparisons?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2 · The hidden problem in each 15 min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Before-and-after compares to the past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before-and-after number compares the programme to </a:t>
            </a:r>
            <a:r>
              <a:rPr b="1"/>
              <a:t>what came before</a:t>
            </a:r>
            <a:r>
              <a:rPr/>
              <a:t>, not to what would have happened anyway. Anything else that changed over the same period is included in that number.</a:t>
            </a:r>
          </a:p>
          <a:p>
            <a:pPr lvl="0" indent="0" marL="0">
              <a:buNone/>
            </a:pPr>
            <a:r>
              <a:rPr/>
              <a:t>Over these same two rounds, similar businesses that did </a:t>
            </a:r>
            <a:r>
              <a:rPr b="1"/>
              <a:t>not</a:t>
            </a:r>
            <a:r>
              <a:rPr/>
              <a:t> take part saw costs move from 2,079 to 2,230 AED on their own. Time was not standing still, so a plain before-and-after does not tell you what the programme alone did.</a:t>
            </a:r>
          </a:p>
        </p:txBody>
      </p:sp>
      <p:pic>
        <p:nvPicPr>
          <p:cNvPr descr="Oct12_session3_files/figure-pptx/unnamed-chunk-3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435100"/>
            <a:ext cx="4038600" cy="292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With-and-without compares different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with-and-without number compares people who took part to people who did not. But the two groups were </a:t>
            </a:r>
            <a:r>
              <a:rPr b="1"/>
              <a:t>already different before the programme started</a:t>
            </a:r>
            <a:r>
              <a:rPr/>
              <a:t>. The businesses that did not take part were not eligible: they were larger, less efficient, more costly to begin with.</a:t>
            </a:r>
          </a:p>
          <a:p>
            <a:pPr lvl="0" indent="0" marL="0">
              <a:buNone/>
            </a:pPr>
            <a:r>
              <a:rPr/>
              <a:t>So the -1,446 AED gap mixes two things together: any real effect of the programme, </a:t>
            </a:r>
            <a:r>
              <a:rPr b="1"/>
              <a:t>and</a:t>
            </a:r>
            <a:r>
              <a:rPr/>
              <a:t> the head start the eligible group already had. It overestimates the effect of the programme.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biases, opposite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truth is not halfway by coincidence. Each naive comparison is wrong for a different reason, and they are incorrect in </a:t>
            </a:r>
            <a:r>
              <a:rPr b="1"/>
              <a:t>opposite directions</a:t>
            </a:r>
            <a:r>
              <a:rPr/>
              <a:t>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.ask</a:t>
            </a:r>
            <a:r>
              <a:rPr/>
              <a:t> On your desk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Think of an evaluation you have received. Was its headline a before-and-after number, or a with-and-without one? Which of these two problems could it have had?</a:t>
            </a:r>
          </a:p>
          <a:p>
            <a:pPr lvl="0" indent="0" marL="0">
              <a:buNone/>
            </a:pPr>
            <a:r>
              <a:rPr/>
              <a:t>Ninety seconds with your neighbour. Two or three examples to the room.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Break 5 min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Five-minute 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 in five minutes. When we return: the one design that removes the difference between the groups.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3 · How randomisation fixes it 15 min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Random draw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Both problems come from the same root: the group that took part and the group that did not were </a:t>
            </a:r>
            <a:r>
              <a:rPr b="1"/>
              <a:t>not comparable</a:t>
            </a:r>
            <a:r>
              <a:rPr/>
              <a:t>. Randomisation fixes it at the source. Decide who is offered the programme by </a:t>
            </a:r>
            <a:r>
              <a:rPr b="1"/>
              <a:t>random draw</a:t>
            </a:r>
            <a:r>
              <a:rPr/>
              <a:t>, not by who is eligible, keen, or easy to reach.</a:t>
            </a:r>
          </a:p>
          <a:p>
            <a:pPr lvl="0" indent="0" marL="0">
              <a:buNone/>
            </a:pPr>
            <a:r>
              <a:rPr/>
              <a:t>Same on average, even on what we cannot measure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it works: two people versus two crowds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Pick </a:t>
            </a:r>
            <a:r>
              <a:rPr b="1"/>
              <a:t>two people</a:t>
            </a:r>
            <a:r>
              <a:rPr/>
              <a:t> at random from this room. They could differ in almost every way. Neither is a fair stand-in for the other.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Pick </a:t>
            </a:r>
            <a:r>
              <a:rPr b="1"/>
              <a:t>two large groups</a:t>
            </a:r>
            <a:r>
              <a:rPr/>
              <a:t> at random. On average they look alike: same mix of ages, sizes, experience, and the same mix of things you never measured. Any leftover difference is small and down to chance.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 when we compare two large randomly-formed groups, any real gap in the outcome is the programme, not some other factor that could give one group a head start over the other.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[MENTI PLACEHOLDER]</a:t>
            </a:r>
            <a:r>
              <a:rPr/>
              <a:t> True or false?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Randomisation makes the two groups similar only on things we can measure.</a:t>
            </a:r>
          </a:p>
          <a:p>
            <a:pPr lvl="0" indent="-342900" marL="342900">
              <a:buAutoNum type="arabicPeriod"/>
            </a:pPr>
            <a:r>
              <a:rPr/>
              <a:t>With enough units, random assignment balances unmeasured things too.</a:t>
            </a:r>
          </a:p>
          <a:p>
            <a:pPr lvl="0" indent="-342900" marL="342900">
              <a:buAutoNum type="arabicPeriod"/>
            </a:pPr>
            <a:r>
              <a:rPr/>
              <a:t>A randomised comparison still needs the groups to have started out alike.</a:t>
            </a:r>
          </a:p>
          <a:p>
            <a:pPr lvl="0" indent="0" marL="0">
              <a:buNone/>
            </a:pPr>
            <a:r>
              <a:rPr/>
              <a:t>Live quiz, revealed one at a time. (1) False (2) True (3) It creates that, which is the point.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4 · Reading the randomised result 18 min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First check: did the random draw work?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 the two groups really did start out alike. A </a:t>
            </a:r>
            <a:r>
              <a:rPr b="1"/>
              <a:t>balance table</a:t>
            </a:r>
            <a:r>
              <a:rPr/>
              <a:t> compares them on their starting characteristics: read for whether the differences are small, with p-values that are </a:t>
            </a:r>
            <a:r>
              <a:rPr b="1"/>
              <a:t>not</a:t>
            </a:r>
            <a:r>
              <a:rPr/>
              <a:t> tiny.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Compare treated vs control neighbourhoods on each starting characteristic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(round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eligible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(treatment_neighborhood, age_manager, educ_manager,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staff_size, foreign_owned, recycling_center_distance)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pivot_longer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treatment_neighborhood)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(name)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tidy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lm_robust</a:t>
            </a:r>
            <a:r>
              <a:rPr>
                <a:solidFill>
                  <a:srgbClr val="003B4F"/>
                </a:solidFill>
                <a:latin typeface="Courier"/>
              </a:rPr>
              <a:t>(value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treatment_neighborhood)))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(term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"treatment_neighborhood"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Characteristic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Difference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p-value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Manager 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41.7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42.3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-0.64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Manager education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Foreign owned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Distance to recycling centre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109.2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106.3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Staff size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estimate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Compare costs in treated vs control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neighbourhoods at follow-up, among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eligible businesses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lm_robust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waste_management_costs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treatment_neighborhood,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(df, round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eligible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clusters =</a:t>
            </a:r>
            <a:r>
              <a:rPr>
                <a:solidFill>
                  <a:srgbClr val="003B4F"/>
                </a:solidFill>
                <a:latin typeface="Courier"/>
              </a:rPr>
              <a:t> neighborhood_identifier)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48200" y="1193800"/>
          <a:ext cx="4038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Follow-up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Treated vs. control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−1014.078***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(39.889)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Control group average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1798.055***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(30.912)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Num.Obs.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5628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0.300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 + p &lt; 0.1, * p &lt; 0.05, ** p &lt; 0.01, *** p &lt; 0.001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Which number is the impact?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impact</a:t>
            </a:r>
            <a:r>
              <a:rPr/>
              <a:t> is the “Treated vs. control” row: about </a:t>
            </a:r>
            <a:r>
              <a:rPr b="1"/>
              <a:t>-1,014 AED</a:t>
            </a:r>
            <a:r>
              <a:rPr/>
              <a:t>. That is the whole result. Everything else is supporting detail.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Not</a:t>
            </a:r>
            <a:r>
              <a:rPr/>
              <a:t> the “control group average” (1,798): that is just where the comparison group sat, not an effect.</a:t>
            </a:r>
          </a:p>
          <a:p>
            <a:pPr lvl="0" indent="0" marL="0">
              <a:buNone/>
            </a:pPr>
            <a:r>
              <a:rPr b="1"/>
              <a:t>Not</a:t>
            </a:r>
            <a:r>
              <a:rPr/>
              <a:t> the stars on their own: they say the effect is unlikely to be zero, not that it is big enough to matter.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Does it clear the rule?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-1,014 AED</a:t>
            </a:r>
          </a:p>
          <a:p>
            <a:pPr lvl="0" indent="0" marL="0">
              <a:buNone/>
            </a:pPr>
            <a:r>
              <a:rPr/>
              <a:t>Estimated cut in costs (95% CI: -1,093 to -935)</a:t>
            </a:r>
          </a:p>
          <a:p>
            <a:pPr lvl="0" indent="0" marL="0">
              <a:buNone/>
            </a:pPr>
            <a:r>
              <a:rPr/>
              <a:t>1,000The rule: cut by at least</a:t>
            </a:r>
          </a:p>
          <a:p>
            <a:pPr lvl="0" indent="0" marL="0">
              <a:buNone/>
            </a:pPr>
            <a:r>
              <a:rPr/>
              <a:t>1,014Estimated cut</a:t>
            </a:r>
          </a:p>
          <a:p>
            <a:pPr lvl="0" indent="0" marL="0">
              <a:buNone/>
            </a:pPr>
            <a:r>
              <a:rPr/>
              <a:t>YesClears the bar</a:t>
            </a:r>
          </a:p>
          <a:p>
            <a:pPr lvl="0" indent="0" marL="0">
              <a:buNone/>
            </a:pPr>
            <a:r>
              <a:rPr/>
              <a:t>The randomised estimate is about 1,014 AED, and the confidence interval stays beyond the 1,000 AED bar. On this evidence, GreenWaste clears the rule.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</a:t>
            </a:r>
          </a:p>
        </p:txBody>
      </p:sp>
      <p:pic>
        <p:nvPicPr>
          <p:cNvPr descr="Oct12_session3_files/figure-pptx/unnamed-chunk-9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65200" y="1193800"/>
            <a:ext cx="720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5 · AI Snapshot 18 min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Asking AI to explain the pitfall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Suppose we ask AI: </a:t>
            </a:r>
            <a:r>
              <a:rPr i="1"/>
              <a:t>“Explain in plain language why a before-and-after comparison can be misleading.”</a:t>
            </a:r>
            <a:r>
              <a:rPr/>
              <a:t> Here is the kind of answer it might give. Some of what it says may be wrong.</a:t>
            </a:r>
          </a:p>
          <a:p>
            <a:pPr lvl="0" indent="0" marL="0">
              <a:buNone/>
            </a:pPr>
            <a:r>
              <a:rPr/>
              <a:t>A before-and-after comparison looks at the outcome before a programme and after it, and treats the difference as the programme’s effect. It can mislead because if the numbers changed, the programme is what changed them.</a:t>
            </a:r>
          </a:p>
          <a:p>
            <a:pPr lvl="0" indent="0" marL="0">
              <a:buNone/>
            </a:pPr>
            <a:r>
              <a:rPr/>
              <a:t>The fix is simple: as long as you measure the same group before and after, a before-and-after comparison gives you the true effect. To be safe, you can also run a statistical test, and if the change is significant then the programme worked.</a:t>
            </a:r>
          </a:p>
          <a:p>
            <a:pPr lvl="0" indent="0" marL="0">
              <a:buNone/>
            </a:pPr>
            <a:r>
              <a:rPr/>
              <a:t>In this case costs fell, so we can conclude the programme caused the full fall of 665 AED.</a:t>
            </a:r>
          </a:p>
          <a:p>
            <a:pPr lvl="0" indent="0" marL="0">
              <a:buNone/>
            </a:pPr>
            <a:r>
              <a:rPr/>
              <a:t>In your groups, mark anything that looks wrong. Three minutes.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might be wrong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 · It assumed away the whole problem.</a:t>
            </a:r>
            <a:r>
              <a:rPr/>
              <a:t> “If the numbers changed, the programme changed them” ignores everything else that moved over the same period.</a:t>
            </a:r>
          </a:p>
          <a:p>
            <a:pPr lvl="0" indent="0" marL="0">
              <a:buNone/>
            </a:pPr>
            <a:r>
              <a:rPr b="1"/>
              <a:t>2 · It called before-and-after a true-effect method.</a:t>
            </a:r>
            <a:r>
              <a:rPr/>
              <a:t> It is exactly the comparison we just showed is biased. There is no comparison group in it.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3 · It confused significant with correct.</a:t>
            </a:r>
            <a:r>
              <a:rPr/>
              <a:t> A significant before-and-after change is still a biased number. Significance does not repair the design.</a:t>
            </a:r>
          </a:p>
          <a:p>
            <a:pPr lvl="0" indent="0" marL="0">
              <a:buNone/>
            </a:pPr>
            <a:r>
              <a:rPr b="1"/>
              <a:t>4 · It quoted the 665 as the causal effect.</a:t>
            </a:r>
            <a:r>
              <a:rPr/>
              <a:t> That is the naive figure. The fair estimate is about 1,014 AED, and the model had no way to know that.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Fluent, confident, and wrong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Notice: nothing in the tone flags the invented parts. No hedge, no hesitation.</a:t>
            </a:r>
          </a:p>
          <a:p>
            <a:pPr lvl="0" indent="0" marL="0">
              <a:buNone/>
            </a:pPr>
            <a:r>
              <a:rPr/>
              <a:t>The wrong sentences read exactly like the right ones. In a briefing note you would not be able to tell them apart. Fluency is not accuracy, and confidence is not a signal.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same question, a better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people type</a:t>
            </a:r>
          </a:p>
          <a:p>
            <a:pPr lvl="0" indent="0" marL="0">
              <a:buNone/>
            </a:pPr>
            <a:r>
              <a:rPr i="1"/>
              <a:t>“Explain why a before-and-after comparison can be misleading.”</a:t>
            </a:r>
          </a:p>
          <a:p>
            <a:pPr lvl="0"/>
            <a:r>
              <a:rPr/>
              <a:t>No context about the case</a:t>
            </a:r>
          </a:p>
          <a:p>
            <a:pPr lvl="0"/>
            <a:r>
              <a:rPr/>
              <a:t>No decision rule</a:t>
            </a:r>
          </a:p>
          <a:p>
            <a:pPr lvl="0"/>
            <a:r>
              <a:rPr/>
              <a:t>No invitation to say what it is unsure of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to type instead</a:t>
            </a:r>
          </a:p>
          <a:p>
            <a:pPr lvl="0" indent="0" marL="0">
              <a:buNone/>
            </a:pPr>
            <a:r>
              <a:rPr i="1"/>
              <a:t>I am a commissioner, not an analyst. A programme’s costs fell from 1,449 to 784 AED after it ran, before-and-after, with no comparison group. Our decision rule: it must cut costs by at least 1,000 AED to justify scale-up.</a:t>
            </a:r>
          </a:p>
          <a:p>
            <a:pPr lvl="0" indent="0" marL="0">
              <a:buNone/>
            </a:pPr>
            <a:r>
              <a:rPr i="1"/>
              <a:t>Before you answer, ask me any questions you need about what else changed over the same period and who was in each group.</a:t>
            </a:r>
          </a:p>
          <a:p>
            <a:pPr lvl="0" indent="0" marL="0">
              <a:buNone/>
            </a:pPr>
            <a:r>
              <a:rPr i="1"/>
              <a:t>Then explain, in plain language: what this before-and-after number can and cannot tell me, and what comparison I would need to trust it.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your groups:</a:t>
            </a:r>
          </a:p>
          <a:p>
            <a:pPr lvl="0" indent="-342900" marL="342900">
              <a:buAutoNum type="arabicPeriod"/>
            </a:pPr>
            <a:r>
              <a:rPr/>
              <a:t>Run the </a:t>
            </a:r>
            <a:r>
              <a:rPr b="1"/>
              <a:t>short prompt</a:t>
            </a:r>
            <a:r>
              <a:rPr/>
              <a:t>. Read what you get.</a:t>
            </a:r>
          </a:p>
          <a:p>
            <a:pPr lvl="0" indent="-342900" marL="342900">
              <a:buAutoNum type="arabicPeriod"/>
            </a:pPr>
            <a:r>
              <a:rPr/>
              <a:t>Run the </a:t>
            </a:r>
            <a:r>
              <a:rPr b="1"/>
              <a:t>full prompt card</a:t>
            </a:r>
            <a:r>
              <a:rPr/>
              <a:t>. Answer the questions it asks you.</a:t>
            </a:r>
          </a:p>
          <a:p>
            <a:pPr lvl="0" indent="-342900" marL="342900">
              <a:buAutoNum type="arabicPeriod"/>
            </a:pPr>
            <a:r>
              <a:rPr/>
              <a:t>Compare: what did the second answer add, remove, or hedge?</a:t>
            </a:r>
          </a:p>
          <a:p>
            <a:pPr lvl="0" indent="-342900" marL="342900">
              <a:buAutoNum type="arabicPeriod"/>
            </a:pPr>
            <a:r>
              <a:rPr/>
              <a:t>Paste the second answer into a </a:t>
            </a:r>
            <a:r>
              <a:rPr b="1"/>
              <a:t>fresh chat</a:t>
            </a:r>
            <a:r>
              <a:rPr/>
              <a:t> and ask: </a:t>
            </a:r>
            <a:r>
              <a:rPr i="1"/>
              <a:t>“Review this for errors and overstatement.”</a:t>
            </a:r>
          </a:p>
          <a:p>
            <a:pPr lvl="0" indent="0" marL="0">
              <a:buNone/>
            </a:pPr>
            <a:r>
              <a:rPr/>
              <a:t>Step 4 matters: a clean second conversation catches what the first is already committed to.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 did AI </a:t>
            </a:r>
            <a:r>
              <a:rPr b="1"/>
              <a:t>overstate</a:t>
            </a:r>
            <a:r>
              <a:rPr/>
              <a:t>?</a:t>
            </a:r>
          </a:p>
          <a:p>
            <a:pPr lvl="0"/>
            <a:r>
              <a:rPr/>
              <a:t>What did it </a:t>
            </a:r>
            <a:r>
              <a:rPr b="1"/>
              <a:t>soften</a:t>
            </a:r>
            <a:r>
              <a:rPr/>
              <a:t> or leave out?</a:t>
            </a:r>
          </a:p>
          <a:p>
            <a:pPr lvl="0"/>
            <a:r>
              <a:rPr/>
              <a:t>Did it </a:t>
            </a:r>
            <a:r>
              <a:rPr b="1"/>
              <a:t>invent</a:t>
            </a:r>
            <a:r>
              <a:rPr/>
              <a:t> anything: a test, a number, a caveat?</a:t>
            </a:r>
          </a:p>
          <a:p>
            <a:pPr lvl="0" indent="0" marL="0">
              <a:buNone/>
            </a:pPr>
            <a:r>
              <a:rPr/>
              <a:t>Two habits, every time: tell the AI your decision rule, and make it ask you questions before it answers.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6 · The real case: Abu Dhabi Police 15 min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[PLACEHOLDER]</a:t>
            </a:r>
            <a:r>
              <a:rPr/>
              <a:t> The Abu Dhabi Police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same reading skills, now on a real Abu Dhabi case. The Police ran a randomised evaluation of </a:t>
            </a:r>
            <a:r>
              <a:rPr>
                <a:latin typeface="Courier"/>
              </a:rPr>
              <a:t>[programme name]</a:t>
            </a:r>
            <a:r>
              <a:rPr/>
              <a:t>. You saw its descriptive results in Session 2; here you read its randomised estimate.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[PLACEHOLDER]</a:t>
            </a:r>
            <a:r>
              <a:rPr/>
              <a:t> Figures below are dummy values, marked, until the real findings are loaded. Nothing here is a real result yet.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[PLACEHOLDER]</a:t>
            </a:r>
            <a:r>
              <a:rPr/>
              <a:t> Read it in three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Using the printed output, in your groups:</a:t>
            </a:r>
          </a:p>
          <a:p>
            <a:pPr lvl="0" indent="-342900" marL="342900">
              <a:buAutoNum type="arabicPeriod"/>
            </a:pPr>
            <a:r>
              <a:rPr b="1"/>
              <a:t>Balance:</a:t>
            </a:r>
            <a:r>
              <a:rPr/>
              <a:t> did the two groups start out alike? Where do you look?</a:t>
            </a:r>
          </a:p>
          <a:p>
            <a:pPr lvl="0" indent="-342900" marL="342900">
              <a:buAutoNum type="arabicPeriod"/>
            </a:pPr>
            <a:r>
              <a:rPr b="1"/>
              <a:t>The estimate:</a:t>
            </a:r>
            <a:r>
              <a:rPr/>
              <a:t> which single number is the impact? Which numbers are not?</a:t>
            </a:r>
          </a:p>
          <a:p>
            <a:pPr lvl="0" indent="-342900" marL="342900">
              <a:buAutoNum type="arabicPeriod"/>
            </a:pPr>
            <a:r>
              <a:rPr b="1"/>
              <a:t>The rule:</a:t>
            </a:r>
            <a:r>
              <a:rPr/>
              <a:t> does the estimate, and its confidence interval, clear the bar?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[PLACEHOLDER]</a:t>
            </a:r>
            <a:r>
              <a:rPr/>
              <a:t> Then: what is the one thing you would ask the evaluator before acting on this number?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.ask</a:t>
            </a:r>
            <a:r>
              <a:rPr/>
              <a:t> Group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group reports back: does this evaluation clear the bar, and how confident are you? What would change your mind?</a:t>
            </a:r>
          </a:p>
          <a:p>
            <a:pPr lvl="0" indent="0" marL="0">
              <a:buNone/>
            </a:pPr>
            <a:r>
              <a:rPr/>
              <a:t>Two minutes per group. Look for groups that quote the intercept, or that read the stars as the whole answer: those are today’s traps in the wild.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7 · Close 6 min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questions to ask the evaluator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 these back to your desk. For any headline number: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Before-and-after folds in everything else that changed. It can understate.</a:t>
            </a:r>
          </a:p>
          <a:p>
            <a:pPr lvl="0"/>
            <a:r>
              <a:rPr/>
              <a:t>With-and-without compares groups that already differed. It can overstate.</a:t>
            </a:r>
          </a:p>
          <a:p>
            <a:pPr lvl="0"/>
            <a:r>
              <a:rPr/>
              <a:t>Randomisation makes the groups alike on average, even on what we cannot measure.</a:t>
            </a:r>
          </a:p>
          <a:p>
            <a:pPr lvl="0"/>
            <a:r>
              <a:rPr/>
              <a:t>Read for the one number that is the impact, and judge it against the rule, not zero.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 the Problem</dc:title>
  <dc:creator>3ie</dc:creator>
  <cp:keywords/>
  <dcterms:created xsi:type="dcterms:W3CDTF">2026-09-17T09:53:52Z</dcterms:created>
  <dcterms:modified xsi:type="dcterms:W3CDTF">2026-09-17T09:53:52Z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lways_allow_html">
    <vt:lpwstr>yes</vt:lpwstr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uthor">
    <vt:lpwstr/>
  </property>
  <property fmtid="{D5CDD505-2E9C-101B-9397-08002B2CF9AE}" pid="6" name="editor_option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subtitle">
    <vt:lpwstr>Module 2 · Day 1, Session 3: Naive Comparisons and Reading an RCT</vt:lpwstr>
  </property>
  <property fmtid="{D5CDD505-2E9C-101B-9397-08002B2CF9AE}" pid="13" name="toc-title">
    <vt:lpwstr>Table of contents</vt:lpwstr>
  </property>
</Properties>
</file>